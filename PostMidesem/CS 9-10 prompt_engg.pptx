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7" r:id="rId2"/>
  </p:sldMasterIdLst>
  <p:notesMasterIdLst>
    <p:notesMasterId r:id="rId56"/>
  </p:notesMasterIdLst>
  <p:sldIdLst>
    <p:sldId id="257" r:id="rId3"/>
    <p:sldId id="258" r:id="rId4"/>
    <p:sldId id="326" r:id="rId5"/>
    <p:sldId id="261" r:id="rId6"/>
    <p:sldId id="321" r:id="rId7"/>
    <p:sldId id="264" r:id="rId8"/>
    <p:sldId id="330" r:id="rId9"/>
    <p:sldId id="296" r:id="rId10"/>
    <p:sldId id="305" r:id="rId11"/>
    <p:sldId id="307" r:id="rId12"/>
    <p:sldId id="298" r:id="rId13"/>
    <p:sldId id="267" r:id="rId14"/>
    <p:sldId id="268" r:id="rId15"/>
    <p:sldId id="271" r:id="rId16"/>
    <p:sldId id="269" r:id="rId17"/>
    <p:sldId id="322" r:id="rId18"/>
    <p:sldId id="300" r:id="rId19"/>
    <p:sldId id="294" r:id="rId20"/>
    <p:sldId id="293" r:id="rId21"/>
    <p:sldId id="310" r:id="rId22"/>
    <p:sldId id="311" r:id="rId23"/>
    <p:sldId id="266" r:id="rId24"/>
    <p:sldId id="302" r:id="rId25"/>
    <p:sldId id="308" r:id="rId26"/>
    <p:sldId id="301" r:id="rId27"/>
    <p:sldId id="283" r:id="rId28"/>
    <p:sldId id="285" r:id="rId29"/>
    <p:sldId id="289" r:id="rId30"/>
    <p:sldId id="290" r:id="rId31"/>
    <p:sldId id="340" r:id="rId32"/>
    <p:sldId id="333" r:id="rId33"/>
    <p:sldId id="331" r:id="rId34"/>
    <p:sldId id="332" r:id="rId35"/>
    <p:sldId id="334" r:id="rId36"/>
    <p:sldId id="335" r:id="rId37"/>
    <p:sldId id="354" r:id="rId38"/>
    <p:sldId id="336" r:id="rId39"/>
    <p:sldId id="316" r:id="rId40"/>
    <p:sldId id="291" r:id="rId41"/>
    <p:sldId id="317" r:id="rId42"/>
    <p:sldId id="274" r:id="rId43"/>
    <p:sldId id="325" r:id="rId44"/>
    <p:sldId id="341" r:id="rId45"/>
    <p:sldId id="256" r:id="rId46"/>
    <p:sldId id="343" r:id="rId47"/>
    <p:sldId id="348" r:id="rId48"/>
    <p:sldId id="349" r:id="rId49"/>
    <p:sldId id="350" r:id="rId50"/>
    <p:sldId id="351" r:id="rId51"/>
    <p:sldId id="352" r:id="rId52"/>
    <p:sldId id="353" r:id="rId53"/>
    <p:sldId id="297" r:id="rId54"/>
    <p:sldId id="279"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94404" autoAdjust="0"/>
  </p:normalViewPr>
  <p:slideViewPr>
    <p:cSldViewPr snapToGrid="0">
      <p:cViewPr varScale="1">
        <p:scale>
          <a:sx n="74" d="100"/>
          <a:sy n="74" d="100"/>
        </p:scale>
        <p:origin x="26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viewProps" Target="viewProp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24375A-915B-4559-AA94-E24CF1BB924E}" type="datetimeFigureOut">
              <a:rPr lang="en-IN" smtClean="0"/>
              <a:t>03-07-2026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8AD0F5-8485-4A45-94EC-BD2E49049E62}" type="slidenum">
              <a:rPr lang="en-IN" smtClean="0"/>
              <a:t>‹#›</a:t>
            </a:fld>
            <a:endParaRPr lang="en-IN"/>
          </a:p>
        </p:txBody>
      </p:sp>
    </p:spTree>
    <p:extLst>
      <p:ext uri="{BB962C8B-B14F-4D97-AF65-F5344CB8AC3E}">
        <p14:creationId xmlns:p14="http://schemas.microsoft.com/office/powerpoint/2010/main" val="3723462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5910924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198AD0F5-8485-4A45-94EC-BD2E49049E62}" type="slidenum">
              <a:rPr lang="en-IN" smtClean="0"/>
              <a:t>8</a:t>
            </a:fld>
            <a:endParaRPr lang="en-IN"/>
          </a:p>
        </p:txBody>
      </p:sp>
    </p:spTree>
    <p:extLst>
      <p:ext uri="{BB962C8B-B14F-4D97-AF65-F5344CB8AC3E}">
        <p14:creationId xmlns:p14="http://schemas.microsoft.com/office/powerpoint/2010/main" val="1455428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198AD0F5-8485-4A45-94EC-BD2E49049E62}" type="slidenum">
              <a:rPr lang="en-IN" smtClean="0"/>
              <a:t>13</a:t>
            </a:fld>
            <a:endParaRPr lang="en-IN"/>
          </a:p>
        </p:txBody>
      </p:sp>
    </p:spTree>
    <p:extLst>
      <p:ext uri="{BB962C8B-B14F-4D97-AF65-F5344CB8AC3E}">
        <p14:creationId xmlns:p14="http://schemas.microsoft.com/office/powerpoint/2010/main" val="35504357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198AD0F5-8485-4A45-94EC-BD2E49049E62}" type="slidenum">
              <a:rPr lang="en-IN" smtClean="0"/>
              <a:t>15</a:t>
            </a:fld>
            <a:endParaRPr lang="en-IN"/>
          </a:p>
        </p:txBody>
      </p:sp>
    </p:spTree>
    <p:extLst>
      <p:ext uri="{BB962C8B-B14F-4D97-AF65-F5344CB8AC3E}">
        <p14:creationId xmlns:p14="http://schemas.microsoft.com/office/powerpoint/2010/main" val="3599047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198AD0F5-8485-4A45-94EC-BD2E49049E62}" type="slidenum">
              <a:rPr lang="en-IN" smtClean="0"/>
              <a:t>18</a:t>
            </a:fld>
            <a:endParaRPr lang="en-IN"/>
          </a:p>
        </p:txBody>
      </p:sp>
    </p:spTree>
    <p:extLst>
      <p:ext uri="{BB962C8B-B14F-4D97-AF65-F5344CB8AC3E}">
        <p14:creationId xmlns:p14="http://schemas.microsoft.com/office/powerpoint/2010/main" val="13445136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98AD0F5-8485-4A45-94EC-BD2E49049E62}" type="slidenum">
              <a:rPr lang="en-IN" smtClean="0"/>
              <a:t>21</a:t>
            </a:fld>
            <a:endParaRPr lang="en-IN"/>
          </a:p>
        </p:txBody>
      </p:sp>
    </p:spTree>
    <p:extLst>
      <p:ext uri="{BB962C8B-B14F-4D97-AF65-F5344CB8AC3E}">
        <p14:creationId xmlns:p14="http://schemas.microsoft.com/office/powerpoint/2010/main" val="14473738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198AD0F5-8485-4A45-94EC-BD2E49049E62}" type="slidenum">
              <a:rPr lang="en-IN" smtClean="0"/>
              <a:t>22</a:t>
            </a:fld>
            <a:endParaRPr lang="en-IN"/>
          </a:p>
        </p:txBody>
      </p:sp>
    </p:spTree>
    <p:extLst>
      <p:ext uri="{BB962C8B-B14F-4D97-AF65-F5344CB8AC3E}">
        <p14:creationId xmlns:p14="http://schemas.microsoft.com/office/powerpoint/2010/main" val="25972496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198AD0F5-8485-4A45-94EC-BD2E49049E62}" type="slidenum">
              <a:rPr lang="en-IN" smtClean="0"/>
              <a:t>23</a:t>
            </a:fld>
            <a:endParaRPr lang="en-IN"/>
          </a:p>
        </p:txBody>
      </p:sp>
    </p:spTree>
    <p:extLst>
      <p:ext uri="{BB962C8B-B14F-4D97-AF65-F5344CB8AC3E}">
        <p14:creationId xmlns:p14="http://schemas.microsoft.com/office/powerpoint/2010/main" val="32056307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198AD0F5-8485-4A45-94EC-BD2E49049E62}" type="slidenum">
              <a:rPr lang="en-IN" smtClean="0"/>
              <a:t>25</a:t>
            </a:fld>
            <a:endParaRPr lang="en-IN"/>
          </a:p>
        </p:txBody>
      </p:sp>
    </p:spTree>
    <p:extLst>
      <p:ext uri="{BB962C8B-B14F-4D97-AF65-F5344CB8AC3E}">
        <p14:creationId xmlns:p14="http://schemas.microsoft.com/office/powerpoint/2010/main" val="335743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7727494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40242313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98AD0F5-8485-4A45-94EC-BD2E49049E62}" type="slidenum">
              <a:rPr lang="en-IN" smtClean="0"/>
              <a:t>30</a:t>
            </a:fld>
            <a:endParaRPr lang="en-IN"/>
          </a:p>
        </p:txBody>
      </p:sp>
    </p:spTree>
    <p:extLst>
      <p:ext uri="{BB962C8B-B14F-4D97-AF65-F5344CB8AC3E}">
        <p14:creationId xmlns:p14="http://schemas.microsoft.com/office/powerpoint/2010/main" val="4176537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A7D67-8258-42AD-674C-3BE624EDB2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84AB85-6D0D-F06F-77D2-7D16130E09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D55FDA-D0C9-6894-ED08-B00774EC58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7F9898-8F37-203B-5324-64593C3F82F5}"/>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9441276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38651327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9116068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7796246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198AD0F5-8485-4A45-94EC-BD2E49049E62}" type="slidenum">
              <a:rPr lang="en-IN" smtClean="0"/>
              <a:t>39</a:t>
            </a:fld>
            <a:endParaRPr lang="en-IN"/>
          </a:p>
        </p:txBody>
      </p:sp>
    </p:spTree>
    <p:extLst>
      <p:ext uri="{BB962C8B-B14F-4D97-AF65-F5344CB8AC3E}">
        <p14:creationId xmlns:p14="http://schemas.microsoft.com/office/powerpoint/2010/main" val="21485734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98AD0F5-8485-4A45-94EC-BD2E49049E62}" type="slidenum">
              <a:rPr lang="en-IN" smtClean="0"/>
              <a:t>40</a:t>
            </a:fld>
            <a:endParaRPr lang="en-IN"/>
          </a:p>
        </p:txBody>
      </p:sp>
    </p:spTree>
    <p:extLst>
      <p:ext uri="{BB962C8B-B14F-4D97-AF65-F5344CB8AC3E}">
        <p14:creationId xmlns:p14="http://schemas.microsoft.com/office/powerpoint/2010/main" val="30016124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98AD0F5-8485-4A45-94EC-BD2E49049E62}" type="slidenum">
              <a:rPr lang="en-IN" smtClean="0"/>
              <a:t>42</a:t>
            </a:fld>
            <a:endParaRPr lang="en-IN"/>
          </a:p>
        </p:txBody>
      </p:sp>
    </p:spTree>
    <p:extLst>
      <p:ext uri="{BB962C8B-B14F-4D97-AF65-F5344CB8AC3E}">
        <p14:creationId xmlns:p14="http://schemas.microsoft.com/office/powerpoint/2010/main" val="17492914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98AD0F5-8485-4A45-94EC-BD2E49049E62}" type="slidenum">
              <a:rPr lang="en-IN" smtClean="0"/>
              <a:t>45</a:t>
            </a:fld>
            <a:endParaRPr lang="en-IN"/>
          </a:p>
        </p:txBody>
      </p:sp>
    </p:spTree>
    <p:extLst>
      <p:ext uri="{BB962C8B-B14F-4D97-AF65-F5344CB8AC3E}">
        <p14:creationId xmlns:p14="http://schemas.microsoft.com/office/powerpoint/2010/main" val="16395287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98AD0F5-8485-4A45-94EC-BD2E49049E62}" type="slidenum">
              <a:rPr lang="en-IN" smtClean="0"/>
              <a:t>51</a:t>
            </a:fld>
            <a:endParaRPr lang="en-IN"/>
          </a:p>
        </p:txBody>
      </p:sp>
    </p:spTree>
    <p:extLst>
      <p:ext uri="{BB962C8B-B14F-4D97-AF65-F5344CB8AC3E}">
        <p14:creationId xmlns:p14="http://schemas.microsoft.com/office/powerpoint/2010/main" val="8441951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98AD0F5-8485-4A45-94EC-BD2E49049E62}" type="slidenum">
              <a:rPr lang="en-IN" smtClean="0"/>
              <a:t>53</a:t>
            </a:fld>
            <a:endParaRPr lang="en-IN"/>
          </a:p>
        </p:txBody>
      </p:sp>
    </p:spTree>
    <p:extLst>
      <p:ext uri="{BB962C8B-B14F-4D97-AF65-F5344CB8AC3E}">
        <p14:creationId xmlns:p14="http://schemas.microsoft.com/office/powerpoint/2010/main" val="17152141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4.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6.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 name="Rectangle 2"/>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fontAlgn="base">
              <a:spcBef>
                <a:spcPct val="0"/>
              </a:spcBef>
              <a:spcAft>
                <a:spcPct val="0"/>
              </a:spcAft>
              <a:defRPr/>
            </a:pPr>
            <a:endParaRPr lang="en-US" sz="1200" dirty="0">
              <a:solidFill>
                <a:prstClr val="white"/>
              </a:solidFill>
              <a:latin typeface="Arial" pitchFamily="34" charset="0"/>
              <a:cs typeface="Arial" pitchFamily="34" charset="0"/>
            </a:endParaRPr>
          </a:p>
        </p:txBody>
      </p:sp>
      <p:sp>
        <p:nvSpPr>
          <p:cNvPr id="4" name="Rectangle 3"/>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5" name="Rectangle 4"/>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6" name="Rectangle 5"/>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pic>
        <p:nvPicPr>
          <p:cNvPr id="7" name="Picture 10" descr="BITS_university_logo_whitevert.png"/>
          <p:cNvPicPr>
            <a:picLocks noChangeAspect="1"/>
          </p:cNvPicPr>
          <p:nvPr/>
        </p:nvPicPr>
        <p:blipFill>
          <a:blip r:embed="rId3" cstate="print"/>
          <a:srcRect t="2" b="28592"/>
          <a:stretch>
            <a:fillRect/>
          </a:stretch>
        </p:blipFill>
        <p:spPr bwMode="auto">
          <a:xfrm>
            <a:off x="101600" y="3352803"/>
            <a:ext cx="2743200" cy="1979613"/>
          </a:xfrm>
          <a:prstGeom prst="rect">
            <a:avLst/>
          </a:prstGeom>
          <a:noFill/>
          <a:ln w="9525">
            <a:noFill/>
            <a:miter lim="800000"/>
            <a:headEnd/>
            <a:tailEnd/>
          </a:ln>
        </p:spPr>
      </p:pic>
      <p:sp>
        <p:nvSpPr>
          <p:cNvPr id="8" name="TextBox 7"/>
          <p:cNvSpPr txBox="1"/>
          <p:nvPr/>
        </p:nvSpPr>
        <p:spPr>
          <a:xfrm>
            <a:off x="-101600" y="5257800"/>
            <a:ext cx="2946400" cy="427040"/>
          </a:xfrm>
          <a:prstGeom prst="rect">
            <a:avLst/>
          </a:prstGeom>
          <a:noFill/>
        </p:spPr>
        <p:txBody>
          <a:bodyPr>
            <a:spAutoFit/>
          </a:bodyPr>
          <a:lstStyle/>
          <a:p>
            <a:pPr algn="ctr" fontAlgn="base">
              <a:spcBef>
                <a:spcPct val="0"/>
              </a:spcBef>
              <a:spcAft>
                <a:spcPct val="0"/>
              </a:spcAft>
              <a:defRPr/>
            </a:pPr>
            <a:r>
              <a:rPr lang="en-US" sz="2175" b="1" spc="-113" dirty="0">
                <a:solidFill>
                  <a:prstClr val="white"/>
                </a:solidFill>
                <a:latin typeface="Arial"/>
                <a:cs typeface="Arial"/>
              </a:rPr>
              <a:t>BITS</a:t>
            </a:r>
            <a:r>
              <a:rPr lang="en-US" sz="2175" spc="-113" dirty="0">
                <a:solidFill>
                  <a:prstClr val="white"/>
                </a:solidFill>
                <a:latin typeface="Arial"/>
                <a:cs typeface="Arial"/>
              </a:rPr>
              <a:t> Pilani</a:t>
            </a:r>
          </a:p>
        </p:txBody>
      </p:sp>
      <p:sp>
        <p:nvSpPr>
          <p:cNvPr id="9" name="TextBox 8"/>
          <p:cNvSpPr txBox="1"/>
          <p:nvPr/>
        </p:nvSpPr>
        <p:spPr>
          <a:xfrm>
            <a:off x="203200" y="5667376"/>
            <a:ext cx="2540000" cy="230832"/>
          </a:xfrm>
          <a:prstGeom prst="rect">
            <a:avLst/>
          </a:prstGeom>
          <a:noFill/>
        </p:spPr>
        <p:txBody>
          <a:bodyPr>
            <a:spAutoFit/>
          </a:bodyPr>
          <a:lstStyle/>
          <a:p>
            <a:pPr fontAlgn="base">
              <a:spcBef>
                <a:spcPct val="0"/>
              </a:spcBef>
              <a:spcAft>
                <a:spcPct val="0"/>
              </a:spcAft>
              <a:defRPr/>
            </a:pPr>
            <a:r>
              <a:rPr lang="en-US" sz="900" dirty="0">
                <a:solidFill>
                  <a:srgbClr val="FFFFFF"/>
                </a:solidFill>
                <a:latin typeface="Arial"/>
                <a:cs typeface="Arial"/>
              </a:rPr>
              <a:t>Pilani Campus</a:t>
            </a:r>
          </a:p>
        </p:txBody>
      </p:sp>
      <p:sp>
        <p:nvSpPr>
          <p:cNvPr id="11" name="Title 1"/>
          <p:cNvSpPr>
            <a:spLocks noGrp="1"/>
          </p:cNvSpPr>
          <p:nvPr>
            <p:ph type="title"/>
          </p:nvPr>
        </p:nvSpPr>
        <p:spPr>
          <a:xfrm>
            <a:off x="3352800" y="3810000"/>
            <a:ext cx="8026400" cy="1524000"/>
          </a:xfrm>
        </p:spPr>
        <p:txBody>
          <a:bodyPr anchorCtr="0">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0198929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dirty="0">
              <a:solidFill>
                <a:prstClr val="white"/>
              </a:solidFill>
              <a:latin typeface="Arial" pitchFamily="34" charset="0"/>
              <a:cs typeface="Arial" pitchFamily="34" charset="0"/>
            </a:endParaRPr>
          </a:p>
        </p:txBody>
      </p:sp>
      <p:sp>
        <p:nvSpPr>
          <p:cNvPr id="5" name="Rectangle 4"/>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6" name="Rectangle 5"/>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8" name="Rectangle 7"/>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101600" y="3352803"/>
            <a:ext cx="2743200" cy="1979613"/>
          </a:xfrm>
          <a:prstGeom prst="rect">
            <a:avLst/>
          </a:prstGeom>
          <a:noFill/>
          <a:ln w="9525">
            <a:noFill/>
            <a:miter lim="800000"/>
            <a:headEnd/>
            <a:tailEnd/>
          </a:ln>
        </p:spPr>
      </p:pic>
      <p:sp>
        <p:nvSpPr>
          <p:cNvPr id="10" name="TextBox 9"/>
          <p:cNvSpPr txBox="1"/>
          <p:nvPr/>
        </p:nvSpPr>
        <p:spPr>
          <a:xfrm>
            <a:off x="-101600" y="5257800"/>
            <a:ext cx="2946400" cy="427040"/>
          </a:xfrm>
          <a:prstGeom prst="rect">
            <a:avLst/>
          </a:prstGeom>
          <a:noFill/>
        </p:spPr>
        <p:txBody>
          <a:bodyPr>
            <a:spAutoFit/>
          </a:bodyPr>
          <a:lstStyle/>
          <a:p>
            <a:pPr algn="ctr" fontAlgn="base">
              <a:spcBef>
                <a:spcPct val="0"/>
              </a:spcBef>
              <a:spcAft>
                <a:spcPct val="0"/>
              </a:spcAft>
              <a:defRPr/>
            </a:pPr>
            <a:r>
              <a:rPr lang="en-US" sz="2175" b="1" spc="-113" dirty="0">
                <a:solidFill>
                  <a:prstClr val="white"/>
                </a:solidFill>
                <a:latin typeface="Arial"/>
                <a:cs typeface="Arial"/>
              </a:rPr>
              <a:t>BITS</a:t>
            </a:r>
            <a:r>
              <a:rPr lang="en-US" sz="2175" spc="-113" dirty="0">
                <a:solidFill>
                  <a:prstClr val="white"/>
                </a:solidFill>
                <a:latin typeface="Arial"/>
                <a:cs typeface="Arial"/>
              </a:rPr>
              <a:t> Pilani</a:t>
            </a:r>
          </a:p>
        </p:txBody>
      </p:sp>
      <p:sp>
        <p:nvSpPr>
          <p:cNvPr id="11" name="TextBox 10"/>
          <p:cNvSpPr txBox="1"/>
          <p:nvPr/>
        </p:nvSpPr>
        <p:spPr>
          <a:xfrm>
            <a:off x="203200" y="5667376"/>
            <a:ext cx="2540000" cy="230832"/>
          </a:xfrm>
          <a:prstGeom prst="rect">
            <a:avLst/>
          </a:prstGeom>
          <a:noFill/>
        </p:spPr>
        <p:txBody>
          <a:bodyPr>
            <a:spAutoFit/>
          </a:bodyPr>
          <a:lstStyle/>
          <a:p>
            <a:pPr fontAlgn="base">
              <a:spcBef>
                <a:spcPct val="0"/>
              </a:spcBef>
              <a:spcAft>
                <a:spcPct val="0"/>
              </a:spcAft>
              <a:defRPr/>
            </a:pPr>
            <a:r>
              <a:rPr lang="en-US" sz="900" dirty="0">
                <a:solidFill>
                  <a:srgbClr val="FFFFFF"/>
                </a:solidFill>
                <a:latin typeface="Arial"/>
                <a:cs typeface="Arial"/>
              </a:rPr>
              <a:t>Pilani Campus</a:t>
            </a:r>
          </a:p>
        </p:txBody>
      </p:sp>
      <p:sp>
        <p:nvSpPr>
          <p:cNvPr id="12" name="Rectangle 11"/>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dirty="0">
              <a:solidFill>
                <a:prstClr val="white"/>
              </a:solidFill>
              <a:latin typeface="Arial" pitchFamily="34" charset="0"/>
              <a:cs typeface="Arial" pitchFamily="34" charset="0"/>
            </a:endParaRPr>
          </a:p>
        </p:txBody>
      </p:sp>
      <p:sp>
        <p:nvSpPr>
          <p:cNvPr id="13" name="Rectangle 12"/>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4" name="Rectangle 13"/>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5" name="Rectangle 14"/>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101600" y="3352803"/>
            <a:ext cx="2743200" cy="1979613"/>
          </a:xfrm>
          <a:prstGeom prst="rect">
            <a:avLst/>
          </a:prstGeom>
          <a:noFill/>
          <a:ln w="9525">
            <a:noFill/>
            <a:miter lim="800000"/>
            <a:headEnd/>
            <a:tailEnd/>
          </a:ln>
        </p:spPr>
      </p:pic>
      <p:sp>
        <p:nvSpPr>
          <p:cNvPr id="17" name="TextBox 16"/>
          <p:cNvSpPr txBox="1"/>
          <p:nvPr/>
        </p:nvSpPr>
        <p:spPr>
          <a:xfrm>
            <a:off x="-101600" y="5257800"/>
            <a:ext cx="2946400" cy="427040"/>
          </a:xfrm>
          <a:prstGeom prst="rect">
            <a:avLst/>
          </a:prstGeom>
          <a:noFill/>
        </p:spPr>
        <p:txBody>
          <a:bodyPr>
            <a:spAutoFit/>
          </a:bodyPr>
          <a:lstStyle/>
          <a:p>
            <a:pPr algn="ctr" fontAlgn="base">
              <a:spcBef>
                <a:spcPct val="0"/>
              </a:spcBef>
              <a:spcAft>
                <a:spcPct val="0"/>
              </a:spcAft>
              <a:defRPr/>
            </a:pPr>
            <a:r>
              <a:rPr lang="en-US" sz="2175" b="1" spc="-113" dirty="0">
                <a:solidFill>
                  <a:prstClr val="white"/>
                </a:solidFill>
                <a:latin typeface="Arial"/>
                <a:cs typeface="Arial"/>
              </a:rPr>
              <a:t>BITS</a:t>
            </a:r>
            <a:r>
              <a:rPr lang="en-US" sz="2175" spc="-113" dirty="0">
                <a:solidFill>
                  <a:prstClr val="white"/>
                </a:solidFill>
                <a:latin typeface="Arial"/>
                <a:cs typeface="Arial"/>
              </a:rPr>
              <a:t> Pilani</a:t>
            </a:r>
          </a:p>
        </p:txBody>
      </p:sp>
      <p:sp>
        <p:nvSpPr>
          <p:cNvPr id="18" name="TextBox 17"/>
          <p:cNvSpPr txBox="1"/>
          <p:nvPr/>
        </p:nvSpPr>
        <p:spPr>
          <a:xfrm>
            <a:off x="203200" y="5667376"/>
            <a:ext cx="2540000" cy="230832"/>
          </a:xfrm>
          <a:prstGeom prst="rect">
            <a:avLst/>
          </a:prstGeom>
          <a:noFill/>
        </p:spPr>
        <p:txBody>
          <a:bodyPr>
            <a:spAutoFit/>
          </a:bodyPr>
          <a:lstStyle/>
          <a:p>
            <a:pPr fontAlgn="base">
              <a:spcBef>
                <a:spcPct val="0"/>
              </a:spcBef>
              <a:spcAft>
                <a:spcPct val="0"/>
              </a:spcAft>
              <a:defRPr/>
            </a:pPr>
            <a:r>
              <a:rPr lang="en-US" sz="900" dirty="0">
                <a:solidFill>
                  <a:srgbClr val="FFFFFF"/>
                </a:solidFill>
                <a:latin typeface="Arial"/>
                <a:cs typeface="Aria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350"/>
              </a:lnSpc>
              <a:spcBef>
                <a:spcPts val="0"/>
              </a:spcBef>
              <a:buNone/>
              <a:defRPr sz="135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4269571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p:nvPicPr>
        <p:blipFill>
          <a:blip r:embed="rId2" cstate="print"/>
          <a:srcRect/>
          <a:stretch>
            <a:fillRect/>
          </a:stretch>
        </p:blipFill>
        <p:spPr bwMode="auto">
          <a:xfrm>
            <a:off x="0" y="0"/>
            <a:ext cx="12192000" cy="6858000"/>
          </a:xfrm>
          <a:prstGeom prst="rect">
            <a:avLst/>
          </a:prstGeom>
          <a:noFill/>
          <a:ln w="9525">
            <a:noFill/>
            <a:miter lim="800000"/>
            <a:headEnd/>
            <a:tailEnd/>
          </a:ln>
        </p:spPr>
      </p:pic>
      <p:sp>
        <p:nvSpPr>
          <p:cNvPr id="4" name="Rectangle 3"/>
          <p:cNvSpPr/>
          <p:nvPr/>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pic>
        <p:nvPicPr>
          <p:cNvPr id="5" name="Picture 8" descr="Picture 7.png"/>
          <p:cNvPicPr>
            <a:picLocks noChangeAspect="1"/>
          </p:cNvPicPr>
          <p:nvPr/>
        </p:nvPicPr>
        <p:blipFill>
          <a:blip r:embed="rId3" cstate="print"/>
          <a:srcRect l="1923" b="5336"/>
          <a:stretch>
            <a:fillRect/>
          </a:stretch>
        </p:blipFill>
        <p:spPr bwMode="auto">
          <a:xfrm>
            <a:off x="8839202" y="0"/>
            <a:ext cx="2925233" cy="692150"/>
          </a:xfrm>
          <a:prstGeom prst="rect">
            <a:avLst/>
          </a:prstGeom>
          <a:noFill/>
          <a:ln w="9525">
            <a:noFill/>
            <a:miter lim="800000"/>
            <a:headEnd/>
            <a:tailEnd/>
          </a:ln>
        </p:spPr>
      </p:pic>
      <p:sp>
        <p:nvSpPr>
          <p:cNvPr id="6" name="Rectangle 5"/>
          <p:cNvSpPr/>
          <p:nvPr/>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7" name="Rectangle 6"/>
          <p:cNvSpPr/>
          <p:nvPr/>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8" name="Rectangle 7"/>
          <p:cNvSpPr/>
          <p:nvPr/>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9" name="TextBox 8"/>
          <p:cNvSpPr txBox="1"/>
          <p:nvPr/>
        </p:nvSpPr>
        <p:spPr>
          <a:xfrm>
            <a:off x="9144000" y="762000"/>
            <a:ext cx="2946400" cy="427040"/>
          </a:xfrm>
          <a:prstGeom prst="rect">
            <a:avLst/>
          </a:prstGeom>
          <a:noFill/>
        </p:spPr>
        <p:txBody>
          <a:bodyPr>
            <a:spAutoFit/>
          </a:bodyPr>
          <a:lstStyle/>
          <a:p>
            <a:pPr algn="ctr" fontAlgn="base">
              <a:spcBef>
                <a:spcPct val="0"/>
              </a:spcBef>
              <a:spcAft>
                <a:spcPct val="0"/>
              </a:spcAft>
              <a:defRPr/>
            </a:pPr>
            <a:r>
              <a:rPr lang="en-US" sz="2175" b="1" spc="-113" dirty="0">
                <a:solidFill>
                  <a:prstClr val="white"/>
                </a:solidFill>
                <a:latin typeface="Arial"/>
                <a:cs typeface="Arial"/>
              </a:rPr>
              <a:t>BITS</a:t>
            </a:r>
            <a:r>
              <a:rPr lang="en-US" sz="2175" spc="-113" dirty="0">
                <a:solidFill>
                  <a:prstClr val="white"/>
                </a:solidFill>
                <a:latin typeface="Arial"/>
                <a:cs typeface="Arial"/>
              </a:rPr>
              <a:t> Pilani</a:t>
            </a:r>
          </a:p>
        </p:txBody>
      </p:sp>
      <p:sp>
        <p:nvSpPr>
          <p:cNvPr id="10" name="TextBox 9"/>
          <p:cNvSpPr txBox="1"/>
          <p:nvPr/>
        </p:nvSpPr>
        <p:spPr>
          <a:xfrm>
            <a:off x="9448800" y="1171576"/>
            <a:ext cx="2540000" cy="230832"/>
          </a:xfrm>
          <a:prstGeom prst="rect">
            <a:avLst/>
          </a:prstGeom>
          <a:noFill/>
        </p:spPr>
        <p:txBody>
          <a:bodyPr>
            <a:spAutoFit/>
          </a:bodyPr>
          <a:lstStyle/>
          <a:p>
            <a:pPr fontAlgn="base">
              <a:spcBef>
                <a:spcPct val="0"/>
              </a:spcBef>
              <a:spcAft>
                <a:spcPct val="0"/>
              </a:spcAft>
              <a:defRPr/>
            </a:pPr>
            <a:r>
              <a:rPr lang="en-US" sz="900" dirty="0">
                <a:solidFill>
                  <a:srgbClr val="FFFFFF"/>
                </a:solidFill>
                <a:latin typeface="Arial"/>
                <a:cs typeface="Aria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3150"/>
              </a:lnSpc>
              <a:spcBef>
                <a:spcPts val="0"/>
              </a:spcBef>
              <a:buNone/>
              <a:defRPr sz="3000" b="1" spc="-113"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079261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Box 3"/>
          <p:cNvSpPr txBox="1"/>
          <p:nvPr/>
        </p:nvSpPr>
        <p:spPr>
          <a:xfrm>
            <a:off x="4368800" y="6596066"/>
            <a:ext cx="7823200" cy="219291"/>
          </a:xfrm>
          <a:prstGeom prst="rect">
            <a:avLst/>
          </a:prstGeom>
          <a:noFill/>
        </p:spPr>
        <p:txBody>
          <a:bodyPr>
            <a:spAutoFit/>
          </a:bodyPr>
          <a:lstStyle/>
          <a:p>
            <a:pPr algn="r" fontAlgn="base">
              <a:spcBef>
                <a:spcPct val="0"/>
              </a:spcBef>
              <a:spcAft>
                <a:spcPct val="0"/>
              </a:spcAft>
              <a:defRPr/>
            </a:pPr>
            <a:r>
              <a:rPr lang="en-US" sz="825" b="1" dirty="0">
                <a:solidFill>
                  <a:srgbClr val="101141"/>
                </a:solidFill>
                <a:latin typeface="Arial"/>
                <a:cs typeface="Arial"/>
              </a:rPr>
              <a:t>BITS </a:t>
            </a:r>
            <a:r>
              <a:rPr lang="en-US" sz="825" dirty="0">
                <a:solidFill>
                  <a:srgbClr val="101141"/>
                </a:solidFill>
                <a:latin typeface="Arial"/>
                <a:cs typeface="Arial"/>
              </a:rPr>
              <a:t>Pilani, Pilani Campus</a:t>
            </a:r>
          </a:p>
        </p:txBody>
      </p:sp>
      <p:grpSp>
        <p:nvGrpSpPr>
          <p:cNvPr id="5" name="Group 11"/>
          <p:cNvGrpSpPr>
            <a:grpSpLocks/>
          </p:cNvGrpSpPr>
          <p:nvPr/>
        </p:nvGrpSpPr>
        <p:grpSpPr bwMode="auto">
          <a:xfrm>
            <a:off x="2779184" y="6550028"/>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2"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sp>
        <p:nvSpPr>
          <p:cNvPr id="3" name="Content Placeholder 2"/>
          <p:cNvSpPr>
            <a:spLocks noGrp="1"/>
          </p:cNvSpPr>
          <p:nvPr>
            <p:ph idx="1"/>
          </p:nvPr>
        </p:nvSpPr>
        <p:spPr>
          <a:xfrm>
            <a:off x="406400" y="1493840"/>
            <a:ext cx="109728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630925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5" name="Picture 6" descr="Picture 7.png"/>
          <p:cNvPicPr>
            <a:picLocks noChangeAspect="1"/>
          </p:cNvPicPr>
          <p:nvPr/>
        </p:nvPicPr>
        <p:blipFill>
          <a:blip r:embed="rId2" cstate="print"/>
          <a:srcRect l="1923" b="5336"/>
          <a:stretch>
            <a:fillRect/>
          </a:stretch>
        </p:blipFill>
        <p:spPr bwMode="auto">
          <a:xfrm>
            <a:off x="8839202" y="0"/>
            <a:ext cx="2925233" cy="692150"/>
          </a:xfrm>
          <a:prstGeom prst="rect">
            <a:avLst/>
          </a:prstGeom>
          <a:noFill/>
          <a:ln w="9525">
            <a:noFill/>
            <a:miter lim="800000"/>
            <a:headEnd/>
            <a:tailEnd/>
          </a:ln>
        </p:spPr>
      </p:pic>
      <p:grpSp>
        <p:nvGrpSpPr>
          <p:cNvPr id="6" name="Group 19"/>
          <p:cNvGrpSpPr>
            <a:grpSpLocks/>
          </p:cNvGrpSpPr>
          <p:nvPr/>
        </p:nvGrpSpPr>
        <p:grpSpPr bwMode="auto">
          <a:xfrm>
            <a:off x="0" y="1295400"/>
            <a:ext cx="93472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grpSp>
        <p:nvGrpSpPr>
          <p:cNvPr id="10" name="Group 2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sp>
        <p:nvSpPr>
          <p:cNvPr id="14" name="TextBox 13"/>
          <p:cNvSpPr txBox="1"/>
          <p:nvPr/>
        </p:nvSpPr>
        <p:spPr>
          <a:xfrm>
            <a:off x="4368800" y="6596066"/>
            <a:ext cx="7823200" cy="219291"/>
          </a:xfrm>
          <a:prstGeom prst="rect">
            <a:avLst/>
          </a:prstGeom>
          <a:noFill/>
        </p:spPr>
        <p:txBody>
          <a:bodyPr>
            <a:spAutoFit/>
          </a:bodyPr>
          <a:lstStyle/>
          <a:p>
            <a:pPr algn="r" fontAlgn="base">
              <a:spcBef>
                <a:spcPct val="0"/>
              </a:spcBef>
              <a:spcAft>
                <a:spcPct val="0"/>
              </a:spcAft>
              <a:defRPr/>
            </a:pPr>
            <a:r>
              <a:rPr lang="en-US" sz="825" b="1" dirty="0">
                <a:solidFill>
                  <a:srgbClr val="101141"/>
                </a:solidFill>
                <a:latin typeface="Arial"/>
                <a:cs typeface="Arial"/>
              </a:rPr>
              <a:t>BITS </a:t>
            </a:r>
            <a:r>
              <a:rPr lang="en-US" sz="825" dirty="0">
                <a:solidFill>
                  <a:srgbClr val="101141"/>
                </a:solidFill>
                <a:latin typeface="Arial"/>
                <a:cs typeface="Arial"/>
              </a:rPr>
              <a:t>Pilani, Pilani Campus</a:t>
            </a:r>
          </a:p>
        </p:txBody>
      </p:sp>
      <p:sp>
        <p:nvSpPr>
          <p:cNvPr id="3" name="Content Placeholder 2"/>
          <p:cNvSpPr>
            <a:spLocks noGrp="1"/>
          </p:cNvSpPr>
          <p:nvPr>
            <p:ph sz="half" idx="1"/>
          </p:nvPr>
        </p:nvSpPr>
        <p:spPr>
          <a:xfrm>
            <a:off x="609600" y="1600203"/>
            <a:ext cx="53848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2100"/>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6604000" y="1600203"/>
            <a:ext cx="53848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2100"/>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406400" y="152400"/>
            <a:ext cx="84328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7837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7" name="Group 10"/>
          <p:cNvGrpSpPr>
            <a:grpSpLocks/>
          </p:cNvGrpSpPr>
          <p:nvPr/>
        </p:nvGrpSpPr>
        <p:grpSpPr bwMode="auto">
          <a:xfrm>
            <a:off x="0" y="1295400"/>
            <a:ext cx="9347200" cy="46038"/>
            <a:chOff x="1905000" y="6553200"/>
            <a:chExt cx="7010400" cy="45719"/>
          </a:xfrm>
        </p:grpSpPr>
        <p:sp>
          <p:nvSpPr>
            <p:cNvPr id="8" name="Rectangle 7"/>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9" name="Rectangle 8"/>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grpSp>
        <p:nvGrpSpPr>
          <p:cNvPr id="12" name="Group 15"/>
          <p:cNvGrpSpPr>
            <a:grpSpLocks/>
          </p:cNvGrpSpPr>
          <p:nvPr/>
        </p:nvGrpSpPr>
        <p:grpSpPr bwMode="auto">
          <a:xfrm>
            <a:off x="2844800" y="6553200"/>
            <a:ext cx="9347200" cy="46038"/>
            <a:chOff x="1905000" y="6553200"/>
            <a:chExt cx="7010400" cy="45719"/>
          </a:xfrm>
        </p:grpSpPr>
        <p:sp>
          <p:nvSpPr>
            <p:cNvPr id="13" name="Rectangle 12"/>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4" name="Rectangle 1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5" name="Rectangle 14"/>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pic>
        <p:nvPicPr>
          <p:cNvPr id="16" name="Picture 14" descr="Picture 7.png"/>
          <p:cNvPicPr>
            <a:picLocks noChangeAspect="1"/>
          </p:cNvPicPr>
          <p:nvPr/>
        </p:nvPicPr>
        <p:blipFill>
          <a:blip r:embed="rId2" cstate="print"/>
          <a:srcRect l="1923" b="5336"/>
          <a:stretch>
            <a:fillRect/>
          </a:stretch>
        </p:blipFill>
        <p:spPr bwMode="auto">
          <a:xfrm>
            <a:off x="8839202" y="0"/>
            <a:ext cx="2925233" cy="692150"/>
          </a:xfrm>
          <a:prstGeom prst="rect">
            <a:avLst/>
          </a:prstGeom>
          <a:noFill/>
          <a:ln w="9525">
            <a:noFill/>
            <a:miter lim="800000"/>
            <a:headEnd/>
            <a:tailEnd/>
          </a:ln>
        </p:spPr>
      </p:pic>
      <p:sp>
        <p:nvSpPr>
          <p:cNvPr id="17" name="TextBox 16"/>
          <p:cNvSpPr txBox="1"/>
          <p:nvPr/>
        </p:nvSpPr>
        <p:spPr>
          <a:xfrm>
            <a:off x="4368800" y="6596066"/>
            <a:ext cx="7823200" cy="219291"/>
          </a:xfrm>
          <a:prstGeom prst="rect">
            <a:avLst/>
          </a:prstGeom>
          <a:noFill/>
        </p:spPr>
        <p:txBody>
          <a:bodyPr>
            <a:spAutoFit/>
          </a:bodyPr>
          <a:lstStyle/>
          <a:p>
            <a:pPr algn="r" fontAlgn="base">
              <a:spcBef>
                <a:spcPct val="0"/>
              </a:spcBef>
              <a:spcAft>
                <a:spcPct val="0"/>
              </a:spcAft>
              <a:defRPr/>
            </a:pPr>
            <a:r>
              <a:rPr lang="en-US" sz="825" b="1" dirty="0">
                <a:solidFill>
                  <a:srgbClr val="101141"/>
                </a:solidFill>
                <a:latin typeface="Arial"/>
                <a:cs typeface="Arial"/>
              </a:rPr>
              <a:t>BITS </a:t>
            </a:r>
            <a:r>
              <a:rPr lang="en-US" sz="825" dirty="0">
                <a:solidFill>
                  <a:srgbClr val="101141"/>
                </a:solidFill>
                <a:latin typeface="Arial"/>
                <a:cs typeface="Arial"/>
              </a:rPr>
              <a:t>Pilani, Deemed to be University under Section 3 of UGC Act, 1956</a:t>
            </a:r>
          </a:p>
        </p:txBody>
      </p:sp>
      <p:sp>
        <p:nvSpPr>
          <p:cNvPr id="3" name="Text Placeholder 2"/>
          <p:cNvSpPr>
            <a:spLocks noGrp="1"/>
          </p:cNvSpPr>
          <p:nvPr>
            <p:ph type="body" idx="1"/>
          </p:nvPr>
        </p:nvSpPr>
        <p:spPr>
          <a:xfrm>
            <a:off x="609600" y="1535112"/>
            <a:ext cx="5386917" cy="82708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09600" y="2362202"/>
            <a:ext cx="5386917" cy="3763963"/>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2"/>
            <a:ext cx="5389033" cy="82708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93369" y="2362202"/>
            <a:ext cx="5389033" cy="3763963"/>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406400" y="152400"/>
            <a:ext cx="84328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426889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3" name="Group 5"/>
          <p:cNvGrpSpPr>
            <a:grpSpLocks/>
          </p:cNvGrpSpPr>
          <p:nvPr/>
        </p:nvGrpSpPr>
        <p:grpSpPr bwMode="auto">
          <a:xfrm>
            <a:off x="0" y="1295400"/>
            <a:ext cx="93472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grpSp>
        <p:nvGrpSpPr>
          <p:cNvPr id="8" name="Group 10"/>
          <p:cNvGrpSpPr>
            <a:grpSpLocks/>
          </p:cNvGrpSpPr>
          <p:nvPr/>
        </p:nvGrpSpPr>
        <p:grpSpPr bwMode="auto">
          <a:xfrm>
            <a:off x="2844800" y="6553200"/>
            <a:ext cx="93472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8839202" y="0"/>
            <a:ext cx="2925233" cy="692150"/>
          </a:xfrm>
          <a:prstGeom prst="rect">
            <a:avLst/>
          </a:prstGeom>
          <a:noFill/>
          <a:ln w="9525">
            <a:noFill/>
            <a:miter lim="800000"/>
            <a:headEnd/>
            <a:tailEnd/>
          </a:ln>
        </p:spPr>
      </p:pic>
      <p:sp>
        <p:nvSpPr>
          <p:cNvPr id="13" name="TextBox 12"/>
          <p:cNvSpPr txBox="1"/>
          <p:nvPr/>
        </p:nvSpPr>
        <p:spPr>
          <a:xfrm>
            <a:off x="4368800" y="6596066"/>
            <a:ext cx="7823200" cy="219291"/>
          </a:xfrm>
          <a:prstGeom prst="rect">
            <a:avLst/>
          </a:prstGeom>
          <a:noFill/>
        </p:spPr>
        <p:txBody>
          <a:bodyPr>
            <a:spAutoFit/>
          </a:bodyPr>
          <a:lstStyle/>
          <a:p>
            <a:pPr algn="r" fontAlgn="base">
              <a:spcBef>
                <a:spcPct val="0"/>
              </a:spcBef>
              <a:spcAft>
                <a:spcPct val="0"/>
              </a:spcAft>
              <a:defRPr/>
            </a:pPr>
            <a:r>
              <a:rPr lang="en-US" sz="825" b="1" dirty="0">
                <a:solidFill>
                  <a:srgbClr val="101141"/>
                </a:solidFill>
                <a:latin typeface="Arial"/>
                <a:cs typeface="Arial"/>
              </a:rPr>
              <a:t>BITS </a:t>
            </a:r>
            <a:r>
              <a:rPr lang="en-US" sz="825" dirty="0">
                <a:solidFill>
                  <a:srgbClr val="101141"/>
                </a:solidFill>
                <a:latin typeface="Arial"/>
                <a:cs typeface="Arial"/>
              </a:rPr>
              <a:t>Pilani, Deemed to be University under Section 3 of UGC Act, 1956</a:t>
            </a:r>
          </a:p>
        </p:txBody>
      </p:sp>
      <p:sp>
        <p:nvSpPr>
          <p:cNvPr id="5" name="Content Placeholder 18"/>
          <p:cNvSpPr>
            <a:spLocks noGrp="1"/>
          </p:cNvSpPr>
          <p:nvPr>
            <p:ph sz="quarter" idx="10"/>
          </p:nvPr>
        </p:nvSpPr>
        <p:spPr>
          <a:xfrm>
            <a:off x="406400" y="152400"/>
            <a:ext cx="84328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5308188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5" name="Group 8"/>
          <p:cNvGrpSpPr>
            <a:grpSpLocks/>
          </p:cNvGrpSpPr>
          <p:nvPr/>
        </p:nvGrpSpPr>
        <p:grpSpPr bwMode="auto">
          <a:xfrm>
            <a:off x="0" y="1295400"/>
            <a:ext cx="93472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grpSp>
        <p:nvGrpSpPr>
          <p:cNvPr id="10" name="Group 13"/>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8839202" y="0"/>
            <a:ext cx="2925233" cy="692150"/>
          </a:xfrm>
          <a:prstGeom prst="rect">
            <a:avLst/>
          </a:prstGeom>
          <a:noFill/>
          <a:ln w="9525">
            <a:noFill/>
            <a:miter lim="800000"/>
            <a:headEnd/>
            <a:tailEnd/>
          </a:ln>
        </p:spPr>
      </p:pic>
      <p:sp>
        <p:nvSpPr>
          <p:cNvPr id="15" name="TextBox 14"/>
          <p:cNvSpPr txBox="1"/>
          <p:nvPr/>
        </p:nvSpPr>
        <p:spPr>
          <a:xfrm>
            <a:off x="4368800" y="6596066"/>
            <a:ext cx="7823200" cy="219291"/>
          </a:xfrm>
          <a:prstGeom prst="rect">
            <a:avLst/>
          </a:prstGeom>
          <a:noFill/>
        </p:spPr>
        <p:txBody>
          <a:bodyPr>
            <a:spAutoFit/>
          </a:bodyPr>
          <a:lstStyle/>
          <a:p>
            <a:pPr algn="r" fontAlgn="base">
              <a:spcBef>
                <a:spcPct val="0"/>
              </a:spcBef>
              <a:spcAft>
                <a:spcPct val="0"/>
              </a:spcAft>
              <a:defRPr/>
            </a:pPr>
            <a:r>
              <a:rPr lang="en-US" sz="825" b="1" dirty="0">
                <a:solidFill>
                  <a:srgbClr val="101141"/>
                </a:solidFill>
                <a:latin typeface="Arial"/>
                <a:cs typeface="Arial"/>
              </a:rPr>
              <a:t>BITS </a:t>
            </a:r>
            <a:r>
              <a:rPr lang="en-US" sz="825" dirty="0">
                <a:solidFill>
                  <a:srgbClr val="101141"/>
                </a:solidFill>
                <a:latin typeface="Arial"/>
                <a:cs typeface="Arial"/>
              </a:rPr>
              <a:t>Pilani, Pilani Campus</a:t>
            </a:r>
          </a:p>
        </p:txBody>
      </p:sp>
      <p:sp>
        <p:nvSpPr>
          <p:cNvPr id="3" name="Content Placeholder 2"/>
          <p:cNvSpPr>
            <a:spLocks noGrp="1"/>
          </p:cNvSpPr>
          <p:nvPr>
            <p:ph idx="1"/>
          </p:nvPr>
        </p:nvSpPr>
        <p:spPr>
          <a:xfrm>
            <a:off x="4766733" y="1600203"/>
            <a:ext cx="6815667" cy="452596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600203"/>
            <a:ext cx="4011084" cy="45259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8" name="Content Placeholder 18"/>
          <p:cNvSpPr>
            <a:spLocks noGrp="1"/>
          </p:cNvSpPr>
          <p:nvPr>
            <p:ph sz="quarter" idx="13"/>
          </p:nvPr>
        </p:nvSpPr>
        <p:spPr>
          <a:xfrm>
            <a:off x="406400" y="152400"/>
            <a:ext cx="84328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433876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6" name="Group 6"/>
          <p:cNvGrpSpPr>
            <a:grpSpLocks/>
          </p:cNvGrpSpPr>
          <p:nvPr/>
        </p:nvGrpSpPr>
        <p:grpSpPr bwMode="auto">
          <a:xfrm>
            <a:off x="0" y="1295400"/>
            <a:ext cx="93472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grpSp>
        <p:nvGrpSpPr>
          <p:cNvPr id="10" name="Group 10"/>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8839202" y="0"/>
            <a:ext cx="2925233" cy="692150"/>
          </a:xfrm>
          <a:prstGeom prst="rect">
            <a:avLst/>
          </a:prstGeom>
          <a:noFill/>
          <a:ln w="9525">
            <a:noFill/>
            <a:miter lim="800000"/>
            <a:headEnd/>
            <a:tailEnd/>
          </a:ln>
        </p:spPr>
      </p:pic>
      <p:sp>
        <p:nvSpPr>
          <p:cNvPr id="15" name="TextBox 14"/>
          <p:cNvSpPr txBox="1"/>
          <p:nvPr/>
        </p:nvSpPr>
        <p:spPr>
          <a:xfrm>
            <a:off x="4368800" y="6596066"/>
            <a:ext cx="7823200" cy="219291"/>
          </a:xfrm>
          <a:prstGeom prst="rect">
            <a:avLst/>
          </a:prstGeom>
          <a:noFill/>
        </p:spPr>
        <p:txBody>
          <a:bodyPr>
            <a:spAutoFit/>
          </a:bodyPr>
          <a:lstStyle/>
          <a:p>
            <a:pPr algn="r" fontAlgn="base">
              <a:spcBef>
                <a:spcPct val="0"/>
              </a:spcBef>
              <a:spcAft>
                <a:spcPct val="0"/>
              </a:spcAft>
              <a:defRPr/>
            </a:pPr>
            <a:r>
              <a:rPr lang="en-US" sz="825" b="1" dirty="0">
                <a:solidFill>
                  <a:srgbClr val="101141"/>
                </a:solidFill>
                <a:latin typeface="Arial"/>
                <a:cs typeface="Arial"/>
              </a:rPr>
              <a:t>BITS </a:t>
            </a:r>
            <a:r>
              <a:rPr lang="en-US" sz="825" dirty="0">
                <a:solidFill>
                  <a:srgbClr val="101141"/>
                </a:solidFill>
                <a:latin typeface="Arial"/>
                <a:cs typeface="Arial"/>
              </a:rPr>
              <a:t>Pilani, Pilani Campus</a:t>
            </a:r>
          </a:p>
        </p:txBody>
      </p:sp>
      <p:sp>
        <p:nvSpPr>
          <p:cNvPr id="2" name="Title 1"/>
          <p:cNvSpPr>
            <a:spLocks noGrp="1"/>
          </p:cNvSpPr>
          <p:nvPr>
            <p:ph type="title"/>
          </p:nvPr>
        </p:nvSpPr>
        <p:spPr>
          <a:xfrm>
            <a:off x="2389717" y="5407025"/>
            <a:ext cx="7315200" cy="304800"/>
          </a:xfrm>
        </p:spPr>
        <p:txBody>
          <a:bodyPr anchor="b"/>
          <a:lstStyle>
            <a:lvl1pPr algn="l">
              <a:defRPr sz="1350" b="1" spc="0"/>
            </a:lvl1pPr>
          </a:lstStyle>
          <a:p>
            <a:r>
              <a:rPr lang="en-US"/>
              <a:t>Click to edit Master title style</a:t>
            </a:r>
            <a:endParaRPr lang="en-US" dirty="0"/>
          </a:p>
        </p:txBody>
      </p:sp>
      <p:sp>
        <p:nvSpPr>
          <p:cNvPr id="3" name="Picture Placeholder 2"/>
          <p:cNvSpPr>
            <a:spLocks noGrp="1"/>
          </p:cNvSpPr>
          <p:nvPr>
            <p:ph type="pic" idx="1"/>
          </p:nvPr>
        </p:nvSpPr>
        <p:spPr>
          <a:xfrm>
            <a:off x="2389717" y="1828800"/>
            <a:ext cx="73152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2389717" y="5711825"/>
            <a:ext cx="7315200" cy="304800"/>
          </a:xfrm>
        </p:spPr>
        <p:txBody>
          <a:bodyPr>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Content Placeholder 18"/>
          <p:cNvSpPr>
            <a:spLocks noGrp="1"/>
          </p:cNvSpPr>
          <p:nvPr>
            <p:ph sz="quarter" idx="10"/>
          </p:nvPr>
        </p:nvSpPr>
        <p:spPr>
          <a:xfrm>
            <a:off x="406400" y="152400"/>
            <a:ext cx="84328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48957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4" name="Group 19"/>
          <p:cNvGrpSpPr>
            <a:grpSpLocks/>
          </p:cNvGrpSpPr>
          <p:nvPr/>
        </p:nvGrpSpPr>
        <p:grpSpPr bwMode="auto">
          <a:xfrm>
            <a:off x="0" y="1295400"/>
            <a:ext cx="9347200" cy="46038"/>
            <a:chOff x="1905000" y="6553200"/>
            <a:chExt cx="7010400" cy="45719"/>
          </a:xfrm>
        </p:grpSpPr>
        <p:sp>
          <p:nvSpPr>
            <p:cNvPr id="5" name="Rectangle 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grpSp>
        <p:nvGrpSpPr>
          <p:cNvPr id="8" name="Group 24"/>
          <p:cNvGrpSpPr>
            <a:grpSpLocks/>
          </p:cNvGrpSpPr>
          <p:nvPr/>
        </p:nvGrpSpPr>
        <p:grpSpPr bwMode="auto">
          <a:xfrm>
            <a:off x="2844800" y="6553200"/>
            <a:ext cx="93472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8839202" y="0"/>
            <a:ext cx="2925233" cy="692150"/>
          </a:xfrm>
          <a:prstGeom prst="rect">
            <a:avLst/>
          </a:prstGeom>
          <a:noFill/>
          <a:ln w="9525">
            <a:noFill/>
            <a:miter lim="800000"/>
            <a:headEnd/>
            <a:tailEnd/>
          </a:ln>
        </p:spPr>
      </p:pic>
      <p:sp>
        <p:nvSpPr>
          <p:cNvPr id="13" name="TextBox 12"/>
          <p:cNvSpPr txBox="1"/>
          <p:nvPr/>
        </p:nvSpPr>
        <p:spPr>
          <a:xfrm>
            <a:off x="4368800" y="6596066"/>
            <a:ext cx="7823200" cy="219291"/>
          </a:xfrm>
          <a:prstGeom prst="rect">
            <a:avLst/>
          </a:prstGeom>
          <a:noFill/>
        </p:spPr>
        <p:txBody>
          <a:bodyPr>
            <a:spAutoFit/>
          </a:bodyPr>
          <a:lstStyle/>
          <a:p>
            <a:pPr algn="r" fontAlgn="base">
              <a:spcBef>
                <a:spcPct val="0"/>
              </a:spcBef>
              <a:spcAft>
                <a:spcPct val="0"/>
              </a:spcAft>
              <a:defRPr/>
            </a:pPr>
            <a:r>
              <a:rPr lang="en-US" sz="825" b="1" dirty="0">
                <a:solidFill>
                  <a:srgbClr val="101141"/>
                </a:solidFill>
                <a:latin typeface="Arial"/>
                <a:cs typeface="Arial"/>
              </a:rPr>
              <a:t>BITS </a:t>
            </a:r>
            <a:r>
              <a:rPr lang="en-US" sz="825" dirty="0">
                <a:solidFill>
                  <a:srgbClr val="101141"/>
                </a:solidFill>
                <a:latin typeface="Arial"/>
                <a:cs typeface="Aria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406400" y="152400"/>
            <a:ext cx="84328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927550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grpSp>
        <p:nvGrpSpPr>
          <p:cNvPr id="4" name="Group 7"/>
          <p:cNvGrpSpPr>
            <a:grpSpLocks/>
          </p:cNvGrpSpPr>
          <p:nvPr/>
        </p:nvGrpSpPr>
        <p:grpSpPr bwMode="auto">
          <a:xfrm rot="5400000">
            <a:off x="7538509" y="2560111"/>
            <a:ext cx="5181600" cy="61383"/>
            <a:chOff x="1905000" y="6553200"/>
            <a:chExt cx="7010400" cy="45719"/>
          </a:xfrm>
        </p:grpSpPr>
        <p:sp>
          <p:nvSpPr>
            <p:cNvPr id="5" name="Rectangle 4"/>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6" name="Rectangle 5"/>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8" name="Rectangle 7"/>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pic>
        <p:nvPicPr>
          <p:cNvPr id="9" name="Picture 10" descr="Picture 7.png"/>
          <p:cNvPicPr>
            <a:picLocks noChangeAspect="1"/>
          </p:cNvPicPr>
          <p:nvPr/>
        </p:nvPicPr>
        <p:blipFill>
          <a:blip r:embed="rId2" cstate="print"/>
          <a:srcRect l="5336" t="1923"/>
          <a:stretch>
            <a:fillRect/>
          </a:stretch>
        </p:blipFill>
        <p:spPr bwMode="auto">
          <a:xfrm>
            <a:off x="-10582" y="381003"/>
            <a:ext cx="922868" cy="2193925"/>
          </a:xfrm>
          <a:prstGeom prst="rect">
            <a:avLst/>
          </a:prstGeom>
          <a:noFill/>
          <a:ln w="9525">
            <a:noFill/>
            <a:miter lim="800000"/>
            <a:headEnd/>
            <a:tailEnd/>
          </a:ln>
        </p:spPr>
      </p:pic>
      <p:sp>
        <p:nvSpPr>
          <p:cNvPr id="10" name="TextBox 9"/>
          <p:cNvSpPr txBox="1"/>
          <p:nvPr/>
        </p:nvSpPr>
        <p:spPr>
          <a:xfrm rot="5400000">
            <a:off x="-2748491" y="3826195"/>
            <a:ext cx="5867400" cy="196208"/>
          </a:xfrm>
          <a:prstGeom prst="rect">
            <a:avLst/>
          </a:prstGeom>
          <a:noFill/>
        </p:spPr>
        <p:txBody>
          <a:bodyPr>
            <a:spAutoFit/>
          </a:bodyPr>
          <a:lstStyle/>
          <a:p>
            <a:pPr algn="r" fontAlgn="base">
              <a:spcBef>
                <a:spcPct val="0"/>
              </a:spcBef>
              <a:spcAft>
                <a:spcPct val="0"/>
              </a:spcAft>
              <a:defRPr/>
            </a:pPr>
            <a:r>
              <a:rPr lang="en-US" sz="675" b="1" dirty="0">
                <a:solidFill>
                  <a:srgbClr val="101141"/>
                </a:solidFill>
                <a:latin typeface="Arial"/>
                <a:cs typeface="Arial"/>
              </a:rPr>
              <a:t>BITS </a:t>
            </a:r>
            <a:r>
              <a:rPr lang="en-US" sz="675" dirty="0">
                <a:solidFill>
                  <a:srgbClr val="101141"/>
                </a:solidFill>
                <a:latin typeface="Arial"/>
                <a:cs typeface="Arial"/>
              </a:rPr>
              <a:t>Pilani, Pilani Campus</a:t>
            </a:r>
          </a:p>
        </p:txBody>
      </p:sp>
      <p:sp>
        <p:nvSpPr>
          <p:cNvPr id="3" name="Vertical Text Placeholder 2"/>
          <p:cNvSpPr>
            <a:spLocks noGrp="1"/>
          </p:cNvSpPr>
          <p:nvPr>
            <p:ph type="body" orient="vert" idx="1"/>
          </p:nvPr>
        </p:nvSpPr>
        <p:spPr>
          <a:xfrm>
            <a:off x="1625600" y="381003"/>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8191500" y="2552700"/>
            <a:ext cx="5867400" cy="1524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9749289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dirty="0">
              <a:solidFill>
                <a:prstClr val="white"/>
              </a:solidFill>
              <a:latin typeface="Arial" pitchFamily="34" charset="0"/>
              <a:cs typeface="Arial" pitchFamily="34" charset="0"/>
            </a:endParaRPr>
          </a:p>
        </p:txBody>
      </p:sp>
      <p:sp>
        <p:nvSpPr>
          <p:cNvPr id="5" name="Rectangle 4"/>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6" name="Rectangle 5"/>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8" name="Rectangle 7"/>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101600" y="3352803"/>
            <a:ext cx="2743200" cy="1979613"/>
          </a:xfrm>
          <a:prstGeom prst="rect">
            <a:avLst/>
          </a:prstGeom>
          <a:noFill/>
          <a:ln w="9525">
            <a:noFill/>
            <a:miter lim="800000"/>
            <a:headEnd/>
            <a:tailEnd/>
          </a:ln>
        </p:spPr>
      </p:pic>
      <p:sp>
        <p:nvSpPr>
          <p:cNvPr id="10" name="TextBox 9"/>
          <p:cNvSpPr txBox="1"/>
          <p:nvPr/>
        </p:nvSpPr>
        <p:spPr>
          <a:xfrm>
            <a:off x="-101600" y="5257800"/>
            <a:ext cx="2946400" cy="427040"/>
          </a:xfrm>
          <a:prstGeom prst="rect">
            <a:avLst/>
          </a:prstGeom>
          <a:noFill/>
        </p:spPr>
        <p:txBody>
          <a:bodyPr>
            <a:spAutoFit/>
          </a:bodyPr>
          <a:lstStyle/>
          <a:p>
            <a:pPr algn="ctr" fontAlgn="base">
              <a:spcBef>
                <a:spcPct val="0"/>
              </a:spcBef>
              <a:spcAft>
                <a:spcPct val="0"/>
              </a:spcAft>
              <a:defRPr/>
            </a:pPr>
            <a:r>
              <a:rPr lang="en-US" sz="2175" b="1" spc="-113" dirty="0">
                <a:solidFill>
                  <a:prstClr val="white"/>
                </a:solidFill>
                <a:latin typeface="Arial"/>
                <a:cs typeface="Arial"/>
              </a:rPr>
              <a:t>BITS</a:t>
            </a:r>
            <a:r>
              <a:rPr lang="en-US" sz="2175" spc="-113" dirty="0">
                <a:solidFill>
                  <a:prstClr val="white"/>
                </a:solidFill>
                <a:latin typeface="Arial"/>
                <a:cs typeface="Arial"/>
              </a:rPr>
              <a:t> Pilani</a:t>
            </a:r>
          </a:p>
        </p:txBody>
      </p:sp>
      <p:sp>
        <p:nvSpPr>
          <p:cNvPr id="11" name="TextBox 10"/>
          <p:cNvSpPr txBox="1"/>
          <p:nvPr/>
        </p:nvSpPr>
        <p:spPr>
          <a:xfrm>
            <a:off x="203200" y="5667376"/>
            <a:ext cx="2540000" cy="230832"/>
          </a:xfrm>
          <a:prstGeom prst="rect">
            <a:avLst/>
          </a:prstGeom>
          <a:noFill/>
        </p:spPr>
        <p:txBody>
          <a:bodyPr>
            <a:spAutoFit/>
          </a:bodyPr>
          <a:lstStyle/>
          <a:p>
            <a:pPr fontAlgn="base">
              <a:spcBef>
                <a:spcPct val="0"/>
              </a:spcBef>
              <a:spcAft>
                <a:spcPct val="0"/>
              </a:spcAft>
              <a:defRPr/>
            </a:pPr>
            <a:r>
              <a:rPr lang="en-US" sz="900" dirty="0">
                <a:solidFill>
                  <a:srgbClr val="FFFFFF"/>
                </a:solidFill>
                <a:latin typeface="Arial"/>
                <a:cs typeface="Aria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350"/>
              </a:lnSpc>
              <a:spcBef>
                <a:spcPts val="0"/>
              </a:spcBef>
              <a:buNone/>
              <a:defRPr sz="135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9714864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3"/>
            <a:ext cx="2844800" cy="365125"/>
          </a:xfrm>
          <a:prstGeom prst="rect">
            <a:avLst/>
          </a:prstGeom>
        </p:spPr>
        <p:txBody>
          <a:bodyPr/>
          <a:lstStyle/>
          <a:p>
            <a:pPr>
              <a:defRPr/>
            </a:pPr>
            <a:fld id="{460CB459-1A4D-47F4-A8EE-5438035C956C}" type="datetime1">
              <a:rPr lang="en-US">
                <a:solidFill>
                  <a:prstClr val="black">
                    <a:tint val="75000"/>
                  </a:prstClr>
                </a:solidFill>
              </a:rPr>
              <a:pPr>
                <a:defRPr/>
              </a:pPr>
              <a:t>7/3/2026</a:t>
            </a:fld>
            <a:endParaRPr lang="en-US">
              <a:solidFill>
                <a:prstClr val="black">
                  <a:tint val="75000"/>
                </a:prstClr>
              </a:solidFill>
            </a:endParaRPr>
          </a:p>
        </p:txBody>
      </p:sp>
      <p:sp>
        <p:nvSpPr>
          <p:cNvPr id="3" name="Footer Placeholder 2"/>
          <p:cNvSpPr>
            <a:spLocks noGrp="1"/>
          </p:cNvSpPr>
          <p:nvPr>
            <p:ph type="ftr" sz="quarter" idx="11"/>
          </p:nvPr>
        </p:nvSpPr>
        <p:spPr>
          <a:xfrm>
            <a:off x="4165600" y="6356353"/>
            <a:ext cx="3860800" cy="365125"/>
          </a:xfrm>
          <a:prstGeom prst="rect">
            <a:avLst/>
          </a:prstGeom>
        </p:spPr>
        <p:txBody>
          <a:bodyPr/>
          <a:lstStyle/>
          <a:p>
            <a:pPr>
              <a:defRPr/>
            </a:pPr>
            <a:endParaRPr lang="en-US">
              <a:solidFill>
                <a:prstClr val="black">
                  <a:tint val="75000"/>
                </a:prstClr>
              </a:solidFill>
            </a:endParaRPr>
          </a:p>
        </p:txBody>
      </p:sp>
      <p:sp>
        <p:nvSpPr>
          <p:cNvPr id="4" name="Slide Number Placeholder 3"/>
          <p:cNvSpPr>
            <a:spLocks noGrp="1"/>
          </p:cNvSpPr>
          <p:nvPr>
            <p:ph type="sldNum" sz="quarter" idx="12"/>
          </p:nvPr>
        </p:nvSpPr>
        <p:spPr>
          <a:xfrm>
            <a:off x="8737600" y="6356353"/>
            <a:ext cx="2844800" cy="365125"/>
          </a:xfrm>
          <a:prstGeom prst="rect">
            <a:avLst/>
          </a:prstGeom>
        </p:spPr>
        <p:txBody>
          <a:bodyPr/>
          <a:lstStyle/>
          <a:p>
            <a:pPr>
              <a:defRPr/>
            </a:pPr>
            <a:fld id="{60DB935C-A2BB-404C-A6C5-67E9068028E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264749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a:latin typeface="Arial"/>
                <a:cs typeface="Arial"/>
              </a:rPr>
              <a:t>BITS</a:t>
            </a:r>
            <a:r>
              <a:rPr lang="en-IN" b="1" spc="-55">
                <a:latin typeface="Arial"/>
                <a:cs typeface="Arial"/>
              </a:rPr>
              <a:t> </a:t>
            </a:r>
            <a:r>
              <a:rPr lang="en-IN"/>
              <a:t>Pilani,</a:t>
            </a:r>
            <a:r>
              <a:rPr lang="en-IN" spc="-35"/>
              <a:t> </a:t>
            </a:r>
            <a:r>
              <a:rPr lang="en-IN"/>
              <a:t>Pilani</a:t>
            </a:r>
            <a:r>
              <a:rPr lang="en-IN" spc="-30"/>
              <a:t> </a:t>
            </a:r>
            <a:r>
              <a:rPr lang="en-IN" spc="-10"/>
              <a:t>Campus</a:t>
            </a:r>
            <a:endParaRPr lang="en-IN" spc="-10" dirty="0"/>
          </a:p>
        </p:txBody>
      </p:sp>
      <p:sp>
        <p:nvSpPr>
          <p:cNvPr id="8" name="Content Placeholder 2"/>
          <p:cNvSpPr>
            <a:spLocks noGrp="1"/>
          </p:cNvSpPr>
          <p:nvPr>
            <p:ph idx="10"/>
          </p:nvPr>
        </p:nvSpPr>
        <p:spPr>
          <a:xfrm>
            <a:off x="304800" y="1545224"/>
            <a:ext cx="11480800" cy="4525963"/>
          </a:xfrm>
          <a:prstGeom prst="rect">
            <a:avLst/>
          </a:prstGeom>
        </p:spPr>
        <p:txBody>
          <a:bodyPr>
            <a:normAutofit/>
          </a:bodyPr>
          <a:lstStyle>
            <a:lvl1pPr>
              <a:defRPr sz="2400">
                <a:latin typeface="Cambria" panose="02040503050406030204" pitchFamily="18" charset="0"/>
                <a:ea typeface="Cambria" panose="02040503050406030204" pitchFamily="18" charset="0"/>
              </a:defRPr>
            </a:lvl1pPr>
            <a:lvl2pPr>
              <a:defRPr sz="2400">
                <a:latin typeface="Cambria" panose="02040503050406030204" pitchFamily="18" charset="0"/>
                <a:ea typeface="Cambria" panose="02040503050406030204" pitchFamily="18"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304801" y="0"/>
            <a:ext cx="10881209" cy="1219200"/>
          </a:xfrm>
          <a:prstGeom prst="rect">
            <a:avLst/>
          </a:prstGeom>
        </p:spPr>
        <p:txBody>
          <a:bodyPr anchor="ctr"/>
          <a:lstStyle>
            <a:lvl1pPr algn="l">
              <a:defRPr sz="3600"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14341867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a:latin typeface="Arial"/>
                <a:cs typeface="Arial"/>
              </a:rPr>
              <a:t>BITS</a:t>
            </a:r>
            <a:r>
              <a:rPr lang="en-IN" b="1" spc="-55">
                <a:latin typeface="Arial"/>
                <a:cs typeface="Arial"/>
              </a:rPr>
              <a:t> </a:t>
            </a:r>
            <a:r>
              <a:rPr lang="en-IN"/>
              <a:t>Pilani,</a:t>
            </a:r>
            <a:r>
              <a:rPr lang="en-IN" spc="-35"/>
              <a:t> </a:t>
            </a:r>
            <a:r>
              <a:rPr lang="en-IN"/>
              <a:t>Pilani</a:t>
            </a:r>
            <a:r>
              <a:rPr lang="en-IN" spc="-30"/>
              <a:t> </a:t>
            </a:r>
            <a:r>
              <a:rPr lang="en-IN" spc="-10"/>
              <a:t>Campus</a:t>
            </a:r>
            <a:endParaRPr lang="en-IN" spc="-10" dirty="0"/>
          </a:p>
        </p:txBody>
      </p:sp>
      <p:sp>
        <p:nvSpPr>
          <p:cNvPr id="8" name="Content Placeholder 2"/>
          <p:cNvSpPr>
            <a:spLocks noGrp="1"/>
          </p:cNvSpPr>
          <p:nvPr>
            <p:ph idx="10"/>
          </p:nvPr>
        </p:nvSpPr>
        <p:spPr>
          <a:xfrm>
            <a:off x="304800" y="1545224"/>
            <a:ext cx="11480800" cy="4525963"/>
          </a:xfrm>
          <a:prstGeom prst="rect">
            <a:avLst/>
          </a:prstGeom>
        </p:spPr>
        <p:txBody>
          <a:bodyPr>
            <a:normAutofit/>
          </a:bodyPr>
          <a:lstStyle>
            <a:lvl1pPr>
              <a:defRPr sz="2400">
                <a:latin typeface="Cambria" panose="02040503050406030204" pitchFamily="18" charset="0"/>
                <a:ea typeface="Cambria" panose="02040503050406030204" pitchFamily="18" charset="0"/>
              </a:defRPr>
            </a:lvl1pPr>
            <a:lvl2pPr>
              <a:defRPr sz="2400">
                <a:latin typeface="Cambria" panose="02040503050406030204" pitchFamily="18" charset="0"/>
                <a:ea typeface="Cambria" panose="02040503050406030204" pitchFamily="18"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304801" y="0"/>
            <a:ext cx="10881209" cy="1219200"/>
          </a:xfrm>
          <a:prstGeom prst="rect">
            <a:avLst/>
          </a:prstGeom>
        </p:spPr>
        <p:txBody>
          <a:bodyPr anchor="ctr"/>
          <a:lstStyle>
            <a:lvl1pPr algn="l">
              <a:defRPr sz="3600"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14473870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3206291" y="435270"/>
            <a:ext cx="5779416" cy="543226"/>
          </a:xfrm>
        </p:spPr>
        <p:txBody>
          <a:bodyPr lIns="0" tIns="0" rIns="0" bIns="0"/>
          <a:lstStyle>
            <a:lvl1pPr>
              <a:defRPr sz="3530" b="1" i="0">
                <a:solidFill>
                  <a:srgbClr val="0000CC"/>
                </a:solidFill>
                <a:latin typeface="Calibri"/>
                <a:cs typeface="Calibri"/>
              </a:defRPr>
            </a:lvl1pPr>
          </a:lstStyle>
          <a:p>
            <a:endParaRPr/>
          </a:p>
        </p:txBody>
      </p:sp>
      <p:sp>
        <p:nvSpPr>
          <p:cNvPr id="3" name="Holder 3"/>
          <p:cNvSpPr>
            <a:spLocks noGrp="1"/>
          </p:cNvSpPr>
          <p:nvPr>
            <p:ph type="body" idx="1"/>
          </p:nvPr>
        </p:nvSpPr>
        <p:spPr>
          <a:xfrm>
            <a:off x="812093" y="1559556"/>
            <a:ext cx="5163897" cy="896271"/>
          </a:xfrm>
        </p:spPr>
        <p:txBody>
          <a:bodyPr lIns="0" tIns="0" rIns="0" bIns="0"/>
          <a:lstStyle>
            <a:lvl1pPr>
              <a:defRPr sz="5824"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7/3/2026</a:t>
            </a:fld>
            <a:endParaRPr lang="en-US">
              <a:solidFill>
                <a:prstClr val="black">
                  <a:tint val="75000"/>
                </a:prstClr>
              </a:solidFill>
            </a:endParaRPr>
          </a:p>
        </p:txBody>
      </p:sp>
      <p:sp>
        <p:nvSpPr>
          <p:cNvPr id="6" name="Holder 6"/>
          <p:cNvSpPr>
            <a:spLocks noGrp="1"/>
          </p:cNvSpPr>
          <p:nvPr>
            <p:ph type="sldNum" sz="quarter" idx="7"/>
          </p:nvPr>
        </p:nvSpPr>
        <p:spPr/>
        <p:txBody>
          <a:bodyPr lIns="0" tIns="0" rIns="0" bIns="0"/>
          <a:lstStyle>
            <a:lvl1pPr>
              <a:defRPr sz="1059" b="0" i="0">
                <a:solidFill>
                  <a:srgbClr val="898989"/>
                </a:solidFill>
                <a:latin typeface="Calibri"/>
                <a:cs typeface="Calibri"/>
              </a:defRPr>
            </a:lvl1pPr>
          </a:lstStyle>
          <a:p>
            <a:pPr marL="11206">
              <a:lnSpc>
                <a:spcPts val="1094"/>
              </a:lnSpc>
            </a:pPr>
            <a:r>
              <a:rPr lang="en-IN"/>
              <a:t>1</a:t>
            </a:r>
            <a:fld id="{81D60167-4931-47E6-BA6A-407CBD079E47}" type="slidenum">
              <a:rPr smtClean="0"/>
              <a:pPr marL="11206">
                <a:lnSpc>
                  <a:spcPts val="1094"/>
                </a:lnSpc>
              </a:pPr>
              <a:t>‹#›</a:t>
            </a:fld>
            <a:endParaRPr dirty="0"/>
          </a:p>
        </p:txBody>
      </p:sp>
    </p:spTree>
    <p:extLst>
      <p:ext uri="{BB962C8B-B14F-4D97-AF65-F5344CB8AC3E}">
        <p14:creationId xmlns:p14="http://schemas.microsoft.com/office/powerpoint/2010/main" val="32488009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08187" y="400303"/>
            <a:ext cx="3600027" cy="574040"/>
          </a:xfrm>
          <a:prstGeom prst="rect">
            <a:avLst/>
          </a:prstGeom>
        </p:spPr>
        <p:txBody>
          <a:bodyPr wrap="square" lIns="0" tIns="0" rIns="0" bIns="0">
            <a:spAutoFit/>
          </a:bodyPr>
          <a:lstStyle>
            <a:lvl1pPr>
              <a:defRPr sz="3600" b="1" i="0">
                <a:solidFill>
                  <a:schemeClr val="tx1"/>
                </a:solidFill>
                <a:latin typeface="Cambria"/>
                <a:cs typeface="Cambria"/>
              </a:defRPr>
            </a:lvl1pPr>
          </a:lstStyle>
          <a:p>
            <a:endParaRPr/>
          </a:p>
        </p:txBody>
      </p:sp>
      <p:sp>
        <p:nvSpPr>
          <p:cNvPr id="3" name="Holder 3"/>
          <p:cNvSpPr>
            <a:spLocks noGrp="1"/>
          </p:cNvSpPr>
          <p:nvPr>
            <p:ph type="subTitle" idx="4"/>
          </p:nvPr>
        </p:nvSpPr>
        <p:spPr>
          <a:xfrm>
            <a:off x="1828800" y="3840480"/>
            <a:ext cx="8534400" cy="246221"/>
          </a:xfrm>
          <a:prstGeom prst="rect">
            <a:avLst/>
          </a:prstGeom>
        </p:spPr>
        <p:txBody>
          <a:bodyPr wrap="square" lIns="0" tIns="0" rIns="0" bIns="0">
            <a:spAutoFit/>
          </a:bodyPr>
          <a:lstStyle>
            <a:lvl1pPr>
              <a:defRPr sz="16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7/3/2026</a:t>
            </a:fld>
            <a:endParaRPr lang="en-US" kern="0">
              <a:solidFill>
                <a:prstClr val="black">
                  <a:tint val="75000"/>
                </a:prstClr>
              </a:solidFill>
            </a:endParaRPr>
          </a:p>
        </p:txBody>
      </p:sp>
      <p:sp>
        <p:nvSpPr>
          <p:cNvPr id="6" name="Holder 6"/>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33231019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8" name="Content Placeholder 2"/>
          <p:cNvSpPr>
            <a:spLocks noGrp="1"/>
          </p:cNvSpPr>
          <p:nvPr>
            <p:ph idx="10"/>
          </p:nvPr>
        </p:nvSpPr>
        <p:spPr>
          <a:xfrm>
            <a:off x="304800" y="1545224"/>
            <a:ext cx="11480800" cy="4525963"/>
          </a:xfrm>
          <a:prstGeom prst="rect">
            <a:avLst/>
          </a:prstGeom>
        </p:spPr>
        <p:txBody>
          <a:bodyPr>
            <a:normAutofit/>
          </a:bodyPr>
          <a:lstStyle>
            <a:lvl1pPr>
              <a:defRPr sz="2400">
                <a:latin typeface="Cambria" panose="02040503050406030204" pitchFamily="18" charset="0"/>
                <a:ea typeface="Cambria" panose="02040503050406030204" pitchFamily="18" charset="0"/>
              </a:defRPr>
            </a:lvl1pPr>
            <a:lvl2pPr>
              <a:defRPr sz="2400">
                <a:latin typeface="Cambria" panose="02040503050406030204" pitchFamily="18" charset="0"/>
                <a:ea typeface="Cambria" panose="02040503050406030204" pitchFamily="18"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304801" y="0"/>
            <a:ext cx="10881209" cy="1219200"/>
          </a:xfrm>
          <a:prstGeom prst="rect">
            <a:avLst/>
          </a:prstGeom>
        </p:spPr>
        <p:txBody>
          <a:bodyPr anchor="ctr"/>
          <a:lstStyle>
            <a:lvl1pPr algn="l">
              <a:defRPr sz="3600"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13739667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308187" y="361315"/>
            <a:ext cx="6561667" cy="613028"/>
          </a:xfrm>
          <a:prstGeom prst="rect">
            <a:avLst/>
          </a:prstGeom>
        </p:spPr>
        <p:txBody>
          <a:bodyPr lIns="0" tIns="0" rIns="0" bIns="0"/>
          <a:lstStyle>
            <a:lvl1pPr>
              <a:defRPr sz="3600" b="1" i="0">
                <a:solidFill>
                  <a:schemeClr val="tx1"/>
                </a:solidFill>
                <a:latin typeface="Cambria"/>
                <a:cs typeface="Cambria"/>
              </a:defRPr>
            </a:lvl1pPr>
          </a:lstStyle>
          <a:p>
            <a:endParaRPr/>
          </a:p>
        </p:txBody>
      </p:sp>
      <p:sp>
        <p:nvSpPr>
          <p:cNvPr id="3" name="Holder 3"/>
          <p:cNvSpPr>
            <a:spLocks noGrp="1"/>
          </p:cNvSpPr>
          <p:nvPr>
            <p:ph sz="half" idx="2"/>
          </p:nvPr>
        </p:nvSpPr>
        <p:spPr>
          <a:xfrm>
            <a:off x="609600" y="1577340"/>
            <a:ext cx="5303520" cy="36933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6933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6" name="Holder 6"/>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7/3/2026</a:t>
            </a:fld>
            <a:endParaRPr lang="en-US" kern="0">
              <a:solidFill>
                <a:prstClr val="black">
                  <a:tint val="75000"/>
                </a:prstClr>
              </a:solidFill>
            </a:endParaRPr>
          </a:p>
        </p:txBody>
      </p:sp>
      <p:sp>
        <p:nvSpPr>
          <p:cNvPr id="7" name="Holder 7"/>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42469689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8839200" y="0"/>
            <a:ext cx="2924048" cy="693420"/>
          </a:xfrm>
          <a:prstGeom prst="rect">
            <a:avLst/>
          </a:prstGeom>
        </p:spPr>
      </p:pic>
      <p:sp>
        <p:nvSpPr>
          <p:cNvPr id="17" name="bg object 17"/>
          <p:cNvSpPr/>
          <p:nvPr/>
        </p:nvSpPr>
        <p:spPr>
          <a:xfrm>
            <a:off x="5994400"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sz="1800" kern="0">
              <a:solidFill>
                <a:sysClr val="windowText" lastClr="000000"/>
              </a:solidFill>
            </a:endParaRPr>
          </a:p>
        </p:txBody>
      </p:sp>
      <p:sp>
        <p:nvSpPr>
          <p:cNvPr id="18" name="bg object 18"/>
          <p:cNvSpPr/>
          <p:nvPr/>
        </p:nvSpPr>
        <p:spPr>
          <a:xfrm>
            <a:off x="2844800" y="6553200"/>
            <a:ext cx="31496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sz="1800" kern="0">
              <a:solidFill>
                <a:sysClr val="windowText" lastClr="000000"/>
              </a:solidFill>
            </a:endParaRPr>
          </a:p>
        </p:txBody>
      </p:sp>
      <p:sp>
        <p:nvSpPr>
          <p:cNvPr id="19" name="bg object 19"/>
          <p:cNvSpPr/>
          <p:nvPr/>
        </p:nvSpPr>
        <p:spPr>
          <a:xfrm>
            <a:off x="9087104"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sz="1800" kern="0">
              <a:solidFill>
                <a:sysClr val="windowText" lastClr="000000"/>
              </a:solidFill>
            </a:endParaRPr>
          </a:p>
        </p:txBody>
      </p:sp>
      <p:sp>
        <p:nvSpPr>
          <p:cNvPr id="20" name="bg object 20"/>
          <p:cNvSpPr/>
          <p:nvPr/>
        </p:nvSpPr>
        <p:spPr>
          <a:xfrm>
            <a:off x="3149600"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sz="1800" kern="0">
              <a:solidFill>
                <a:sysClr val="windowText" lastClr="000000"/>
              </a:solidFill>
            </a:endParaRPr>
          </a:p>
        </p:txBody>
      </p:sp>
      <p:sp>
        <p:nvSpPr>
          <p:cNvPr id="21" name="bg object 21"/>
          <p:cNvSpPr/>
          <p:nvPr/>
        </p:nvSpPr>
        <p:spPr>
          <a:xfrm>
            <a:off x="0" y="1295400"/>
            <a:ext cx="31496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sz="1800" kern="0">
              <a:solidFill>
                <a:sysClr val="windowText" lastClr="000000"/>
              </a:solidFill>
            </a:endParaRPr>
          </a:p>
        </p:txBody>
      </p:sp>
      <p:sp>
        <p:nvSpPr>
          <p:cNvPr id="22" name="bg object 22"/>
          <p:cNvSpPr/>
          <p:nvPr/>
        </p:nvSpPr>
        <p:spPr>
          <a:xfrm>
            <a:off x="6242304"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sz="1800" kern="0">
              <a:solidFill>
                <a:sysClr val="windowText" lastClr="000000"/>
              </a:solidFill>
            </a:endParaRPr>
          </a:p>
        </p:txBody>
      </p:sp>
      <p:sp>
        <p:nvSpPr>
          <p:cNvPr id="2" name="Holder 2"/>
          <p:cNvSpPr>
            <a:spLocks noGrp="1"/>
          </p:cNvSpPr>
          <p:nvPr>
            <p:ph type="title"/>
          </p:nvPr>
        </p:nvSpPr>
        <p:spPr>
          <a:xfrm>
            <a:off x="308187" y="361315"/>
            <a:ext cx="6561667" cy="613028"/>
          </a:xfrm>
          <a:prstGeom prst="rect">
            <a:avLst/>
          </a:prstGeom>
        </p:spPr>
        <p:txBody>
          <a:bodyPr lIns="0" tIns="0" rIns="0" bIns="0"/>
          <a:lstStyle>
            <a:lvl1pPr>
              <a:defRPr sz="3600" b="1" i="0">
                <a:solidFill>
                  <a:schemeClr val="tx1"/>
                </a:solidFill>
                <a:latin typeface="Cambria"/>
                <a:cs typeface="Cambria"/>
              </a:defRPr>
            </a:lvl1pPr>
          </a:lstStyle>
          <a:p>
            <a:endParaRPr/>
          </a:p>
        </p:txBody>
      </p:sp>
      <p:sp>
        <p:nvSpPr>
          <p:cNvPr id="3" name="Holder 3"/>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4" name="Holder 4"/>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7/3/2026</a:t>
            </a:fld>
            <a:endParaRPr lang="en-US" kern="0">
              <a:solidFill>
                <a:prstClr val="black">
                  <a:tint val="75000"/>
                </a:prstClr>
              </a:solidFill>
            </a:endParaRPr>
          </a:p>
        </p:txBody>
      </p:sp>
      <p:sp>
        <p:nvSpPr>
          <p:cNvPr id="5" name="Holder 5"/>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34119043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 y="1"/>
            <a:ext cx="12191999" cy="6857999"/>
          </a:xfrm>
          <a:prstGeom prst="rect">
            <a:avLst/>
          </a:prstGeom>
        </p:spPr>
      </p:pic>
      <p:sp>
        <p:nvSpPr>
          <p:cNvPr id="17" name="bg object 17"/>
          <p:cNvSpPr/>
          <p:nvPr/>
        </p:nvSpPr>
        <p:spPr>
          <a:xfrm>
            <a:off x="3860800" y="6096000"/>
            <a:ext cx="38608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76C2E4"/>
          </a:solidFill>
        </p:spPr>
        <p:txBody>
          <a:bodyPr wrap="square" lIns="0" tIns="0" rIns="0" bIns="0" rtlCol="0"/>
          <a:lstStyle/>
          <a:p>
            <a:endParaRPr sz="1800" kern="0">
              <a:solidFill>
                <a:sysClr val="windowText" lastClr="000000"/>
              </a:solidFill>
            </a:endParaRPr>
          </a:p>
        </p:txBody>
      </p:sp>
      <p:sp>
        <p:nvSpPr>
          <p:cNvPr id="18" name="bg object 18"/>
          <p:cNvSpPr/>
          <p:nvPr/>
        </p:nvSpPr>
        <p:spPr>
          <a:xfrm>
            <a:off x="0" y="6096000"/>
            <a:ext cx="38608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FBAF17"/>
          </a:solidFill>
        </p:spPr>
        <p:txBody>
          <a:bodyPr wrap="square" lIns="0" tIns="0" rIns="0" bIns="0" rtlCol="0"/>
          <a:lstStyle/>
          <a:p>
            <a:endParaRPr sz="1800" kern="0">
              <a:solidFill>
                <a:sysClr val="windowText" lastClr="000000"/>
              </a:solidFill>
            </a:endParaRPr>
          </a:p>
        </p:txBody>
      </p:sp>
      <p:sp>
        <p:nvSpPr>
          <p:cNvPr id="19" name="bg object 19"/>
          <p:cNvSpPr/>
          <p:nvPr/>
        </p:nvSpPr>
        <p:spPr>
          <a:xfrm>
            <a:off x="7721600" y="6096000"/>
            <a:ext cx="38608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FF0000"/>
          </a:solidFill>
        </p:spPr>
        <p:txBody>
          <a:bodyPr wrap="square" lIns="0" tIns="0" rIns="0" bIns="0" rtlCol="0"/>
          <a:lstStyle/>
          <a:p>
            <a:endParaRPr sz="1800" kern="0">
              <a:solidFill>
                <a:sysClr val="windowText" lastClr="000000"/>
              </a:solidFill>
            </a:endParaRPr>
          </a:p>
        </p:txBody>
      </p:sp>
      <p:pic>
        <p:nvPicPr>
          <p:cNvPr id="20" name="bg object 20"/>
          <p:cNvPicPr/>
          <p:nvPr/>
        </p:nvPicPr>
        <p:blipFill>
          <a:blip r:embed="rId3" cstate="print"/>
          <a:stretch>
            <a:fillRect/>
          </a:stretch>
        </p:blipFill>
        <p:spPr>
          <a:xfrm>
            <a:off x="101600" y="3352800"/>
            <a:ext cx="2743200" cy="1979676"/>
          </a:xfrm>
          <a:prstGeom prst="rect">
            <a:avLst/>
          </a:prstGeom>
        </p:spPr>
      </p:pic>
      <p:sp>
        <p:nvSpPr>
          <p:cNvPr id="2" name="Holder 2"/>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3" name="Holder 3"/>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7/3/2026</a:t>
            </a:fld>
            <a:endParaRPr lang="en-US" kern="0">
              <a:solidFill>
                <a:prstClr val="black">
                  <a:tint val="75000"/>
                </a:prstClr>
              </a:solidFill>
            </a:endParaRPr>
          </a:p>
        </p:txBody>
      </p:sp>
      <p:sp>
        <p:nvSpPr>
          <p:cNvPr id="4" name="Holder 4"/>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36024045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3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a:defRPr/>
            </a:pPr>
            <a:r>
              <a:rPr lang="en-US" altLang="en-US" sz="1100" b="1" kern="0">
                <a:solidFill>
                  <a:srgbClr val="101141"/>
                </a:solidFill>
              </a:rPr>
              <a:t>BITS </a:t>
            </a:r>
            <a:r>
              <a:rPr lang="en-US" altLang="en-US" sz="1100" kern="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kern="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kern="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kern="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kern="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kern="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kern="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kern="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kern="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kern="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1734661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0242418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3127537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4541562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21789201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3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2327831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6684844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70381926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3326786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4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48445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20052661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39128700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31966611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2586917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3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32712213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3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3026850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72064098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32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91018377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33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242605408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34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171852839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5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366891219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6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208674558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fontAlgn="base">
              <a:spcBef>
                <a:spcPct val="0"/>
              </a:spcBef>
              <a:spcAft>
                <a:spcPct val="0"/>
              </a:spcAft>
              <a:defRPr/>
            </a:pPr>
            <a:r>
              <a:rPr lang="en-US" sz="1100" b="1" dirty="0">
                <a:solidFill>
                  <a:srgbClr val="101141"/>
                </a:solidFill>
                <a:cs typeface="Arial" panose="020B0604020202020204" pitchFamily="34" charset="0"/>
              </a:rPr>
              <a:t>BITS </a:t>
            </a:r>
            <a:r>
              <a:rPr lang="en-US" sz="1100" dirty="0" err="1">
                <a:solidFill>
                  <a:srgbClr val="101141"/>
                </a:solidFill>
                <a:cs typeface="Arial" panose="020B0604020202020204" pitchFamily="34" charset="0"/>
              </a:rPr>
              <a:t>Pilani</a:t>
            </a:r>
            <a:endParaRPr lang="en-US" sz="1100" dirty="0">
              <a:solidFill>
                <a:srgbClr val="101141"/>
              </a:solidFill>
              <a:cs typeface="Arial" panose="020B0604020202020204" pitchFamily="34" charset="0"/>
            </a:endParaRP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grpSp>
      <p:pic>
        <p:nvPicPr>
          <p:cNvPr id="9" name="Picture 11" descr="Picture 7.png"/>
          <p:cNvPicPr>
            <a:picLocks noChangeAspect="1"/>
          </p:cNvPicPr>
          <p:nvPr userDrawn="1"/>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grpSp>
        <p:nvGrpSpPr>
          <p:cNvPr id="10" name="Group 18"/>
          <p:cNvGrpSpPr>
            <a:grpSpLocks/>
          </p:cNvGrpSpPr>
          <p:nvPr userDrawn="1"/>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grpSp>
      <p:grpSp>
        <p:nvGrpSpPr>
          <p:cNvPr id="14" name="Group 22"/>
          <p:cNvGrpSpPr>
            <a:grpSpLocks/>
          </p:cNvGrpSpPr>
          <p:nvPr userDrawn="1"/>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solidFill>
                  <a:prstClr val="white"/>
                </a:solidFill>
              </a:endParaRPr>
            </a:p>
          </p:txBody>
        </p:sp>
      </p:grpSp>
      <p:sp>
        <p:nvSpPr>
          <p:cNvPr id="3" name="Content Placeholder 2"/>
          <p:cNvSpPr>
            <a:spLocks noGrp="1"/>
          </p:cNvSpPr>
          <p:nvPr>
            <p:ph idx="1"/>
          </p:nvPr>
        </p:nvSpPr>
        <p:spPr>
          <a:xfrm>
            <a:off x="406400" y="1600201"/>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0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000">
                <a:latin typeface="Cambria" panose="02040503050406030204" pitchFamily="18" charset="0"/>
                <a:ea typeface="Cambria" panose="02040503050406030204" pitchFamily="18" charset="0"/>
                <a:cs typeface="Times New Roman" panose="02020603050405020304" pitchFamily="18" charset="0"/>
              </a:defRPr>
            </a:lvl2pPr>
            <a:lvl3pPr>
              <a:defRPr sz="2000">
                <a:latin typeface="Cambria" panose="02040503050406030204" pitchFamily="18" charset="0"/>
                <a:ea typeface="Cambria" panose="02040503050406030204" pitchFamily="18" charset="0"/>
                <a:cs typeface="Times New Roman" panose="02020603050405020304" pitchFamily="18" charset="0"/>
              </a:defRPr>
            </a:lvl3pPr>
            <a:lvl4pPr>
              <a:defRPr sz="2000">
                <a:latin typeface="Cambria" panose="02040503050406030204" pitchFamily="18" charset="0"/>
                <a:ea typeface="Cambria" panose="02040503050406030204" pitchFamily="18" charset="0"/>
                <a:cs typeface="Times New Roman" panose="02020603050405020304" pitchFamily="18" charset="0"/>
              </a:defRPr>
            </a:lvl4pPr>
            <a:lvl5pPr>
              <a:defRPr sz="2000">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chemeClr val="accent2"/>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
        <p:nvSpPr>
          <p:cNvPr id="2" name="Date Placeholder 1"/>
          <p:cNvSpPr>
            <a:spLocks noGrp="1"/>
          </p:cNvSpPr>
          <p:nvPr>
            <p:ph type="dt" sz="half" idx="11"/>
          </p:nvPr>
        </p:nvSpPr>
        <p:spPr>
          <a:xfrm>
            <a:off x="609600" y="6356351"/>
            <a:ext cx="2844800" cy="365125"/>
          </a:xfrm>
          <a:prstGeom prst="rect">
            <a:avLst/>
          </a:prstGeom>
        </p:spPr>
        <p:txBody>
          <a:bodyPr/>
          <a:lstStyle/>
          <a:p>
            <a:pPr fontAlgn="base">
              <a:spcBef>
                <a:spcPct val="0"/>
              </a:spcBef>
              <a:spcAft>
                <a:spcPct val="0"/>
              </a:spcAft>
              <a:defRPr/>
            </a:pPr>
            <a:endParaRPr lang="en-US" sz="1600">
              <a:solidFill>
                <a:prstClr val="black">
                  <a:tint val="75000"/>
                </a:prstClr>
              </a:solidFill>
              <a:latin typeface="Tahoma" charset="0"/>
            </a:endParaRPr>
          </a:p>
        </p:txBody>
      </p:sp>
      <p:sp>
        <p:nvSpPr>
          <p:cNvPr id="18" name="Footer Placeholder 17"/>
          <p:cNvSpPr>
            <a:spLocks noGrp="1"/>
          </p:cNvSpPr>
          <p:nvPr>
            <p:ph type="ftr" sz="quarter" idx="12"/>
          </p:nvPr>
        </p:nvSpPr>
        <p:spPr>
          <a:xfrm>
            <a:off x="4165600" y="6356351"/>
            <a:ext cx="3860800" cy="365125"/>
          </a:xfrm>
          <a:prstGeom prst="rect">
            <a:avLst/>
          </a:prstGeom>
        </p:spPr>
        <p:txBody>
          <a:bodyPr/>
          <a:lstStyle/>
          <a:p>
            <a:pPr fontAlgn="base">
              <a:spcBef>
                <a:spcPct val="0"/>
              </a:spcBef>
              <a:spcAft>
                <a:spcPct val="0"/>
              </a:spcAft>
              <a:defRPr/>
            </a:pPr>
            <a:endParaRPr lang="en-US" sz="1600" dirty="0">
              <a:solidFill>
                <a:prstClr val="black">
                  <a:tint val="75000"/>
                </a:prstClr>
              </a:solidFill>
              <a:latin typeface="Tahoma" charset="0"/>
            </a:endParaRPr>
          </a:p>
        </p:txBody>
      </p:sp>
      <p:sp>
        <p:nvSpPr>
          <p:cNvPr id="19" name="Slide Number Placeholder 18"/>
          <p:cNvSpPr>
            <a:spLocks noGrp="1"/>
          </p:cNvSpPr>
          <p:nvPr>
            <p:ph type="sldNum" sz="quarter" idx="13"/>
          </p:nvPr>
        </p:nvSpPr>
        <p:spPr>
          <a:xfrm>
            <a:off x="4114800" y="6424613"/>
            <a:ext cx="2844800" cy="365125"/>
          </a:xfrm>
          <a:prstGeom prst="rect">
            <a:avLst/>
          </a:prstGeom>
        </p:spPr>
        <p:txBody>
          <a:bodyPr/>
          <a:lstStyle>
            <a:lvl1pPr>
              <a:defRPr>
                <a:solidFill>
                  <a:srgbClr val="C00000"/>
                </a:solidFill>
              </a:defRPr>
            </a:lvl1pPr>
          </a:lstStyle>
          <a:p>
            <a:pPr fontAlgn="base">
              <a:spcBef>
                <a:spcPct val="0"/>
              </a:spcBef>
              <a:spcAft>
                <a:spcPct val="0"/>
              </a:spcAft>
            </a:pPr>
            <a:fld id="{DB1C2494-8932-4549-9EEA-B787E7A0F253}" type="slidenum">
              <a:rPr lang="en-US" sz="1600" smtClean="0">
                <a:latin typeface="Tahoma" charset="0"/>
              </a:rPr>
              <a:pPr fontAlgn="base">
                <a:spcBef>
                  <a:spcPct val="0"/>
                </a:spcBef>
                <a:spcAft>
                  <a:spcPct val="0"/>
                </a:spcAft>
              </a:pPr>
              <a:t>‹#›</a:t>
            </a:fld>
            <a:endParaRPr lang="en-US" sz="1600" dirty="0">
              <a:latin typeface="Tahoma" charset="0"/>
            </a:endParaRPr>
          </a:p>
        </p:txBody>
      </p:sp>
    </p:spTree>
    <p:extLst>
      <p:ext uri="{BB962C8B-B14F-4D97-AF65-F5344CB8AC3E}">
        <p14:creationId xmlns:p14="http://schemas.microsoft.com/office/powerpoint/2010/main" val="269222736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3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1961344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4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409214069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00072430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407086346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5769833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411715448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56224052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4485681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59999727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7"/>
            <a:ext cx="10972800" cy="1920526"/>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400">
                <a:latin typeface="Cambria" panose="02040503050406030204" pitchFamily="18" charset="0"/>
                <a:ea typeface="Cambria" panose="02040503050406030204" pitchFamily="18" charset="0"/>
                <a:cs typeface="Times New Roman" panose="02020603050405020304" pitchFamily="18" charset="0"/>
              </a:defRPr>
            </a:lvl2pPr>
            <a:lvl3pPr>
              <a:defRPr sz="2400">
                <a:latin typeface="Cambria" panose="02040503050406030204" pitchFamily="18" charset="0"/>
                <a:ea typeface="Cambria" panose="02040503050406030204" pitchFamily="18" charset="0"/>
                <a:cs typeface="Times New Roman" panose="02020603050405020304" pitchFamily="18" charset="0"/>
              </a:defRPr>
            </a:lvl3pPr>
            <a:lvl4pPr>
              <a:defRPr sz="2400">
                <a:latin typeface="Cambria" panose="02040503050406030204" pitchFamily="18" charset="0"/>
                <a:ea typeface="Cambria" panose="02040503050406030204" pitchFamily="18" charset="0"/>
                <a:cs typeface="Times New Roman" panose="02020603050405020304" pitchFamily="18" charset="0"/>
              </a:defRPr>
            </a:lvl4pPr>
            <a:lvl5pPr>
              <a:defRPr sz="2400">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0" spc="-150" baseline="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186089226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Font typeface="Montserrat"/>
              <a:buNone/>
              <a:defRPr>
                <a:latin typeface="Montserrat"/>
                <a:ea typeface="Montserrat"/>
                <a:cs typeface="Montserrat"/>
                <a:sym typeface="Montserrat"/>
              </a:defRPr>
            </a:lvl1pPr>
            <a:lvl2pPr lvl="1">
              <a:spcBef>
                <a:spcPts val="0"/>
              </a:spcBef>
              <a:spcAft>
                <a:spcPts val="0"/>
              </a:spcAft>
              <a:buSzPts val="2800"/>
              <a:buFont typeface="Montserrat"/>
              <a:buNone/>
              <a:defRPr>
                <a:latin typeface="Montserrat"/>
                <a:ea typeface="Montserrat"/>
                <a:cs typeface="Montserrat"/>
                <a:sym typeface="Montserrat"/>
              </a:defRPr>
            </a:lvl2pPr>
            <a:lvl3pPr lvl="2">
              <a:spcBef>
                <a:spcPts val="0"/>
              </a:spcBef>
              <a:spcAft>
                <a:spcPts val="0"/>
              </a:spcAft>
              <a:buSzPts val="2800"/>
              <a:buFont typeface="Montserrat"/>
              <a:buNone/>
              <a:defRPr>
                <a:latin typeface="Montserrat"/>
                <a:ea typeface="Montserrat"/>
                <a:cs typeface="Montserrat"/>
                <a:sym typeface="Montserrat"/>
              </a:defRPr>
            </a:lvl3pPr>
            <a:lvl4pPr lvl="3">
              <a:spcBef>
                <a:spcPts val="0"/>
              </a:spcBef>
              <a:spcAft>
                <a:spcPts val="0"/>
              </a:spcAft>
              <a:buSzPts val="2800"/>
              <a:buFont typeface="Montserrat"/>
              <a:buNone/>
              <a:defRPr>
                <a:latin typeface="Montserrat"/>
                <a:ea typeface="Montserrat"/>
                <a:cs typeface="Montserrat"/>
                <a:sym typeface="Montserrat"/>
              </a:defRPr>
            </a:lvl4pPr>
            <a:lvl5pPr lvl="4">
              <a:spcBef>
                <a:spcPts val="0"/>
              </a:spcBef>
              <a:spcAft>
                <a:spcPts val="0"/>
              </a:spcAft>
              <a:buSzPts val="2800"/>
              <a:buFont typeface="Montserrat"/>
              <a:buNone/>
              <a:defRPr>
                <a:latin typeface="Montserrat"/>
                <a:ea typeface="Montserrat"/>
                <a:cs typeface="Montserrat"/>
                <a:sym typeface="Montserrat"/>
              </a:defRPr>
            </a:lvl5pPr>
            <a:lvl6pPr lvl="5">
              <a:spcBef>
                <a:spcPts val="0"/>
              </a:spcBef>
              <a:spcAft>
                <a:spcPts val="0"/>
              </a:spcAft>
              <a:buSzPts val="2800"/>
              <a:buFont typeface="Montserrat"/>
              <a:buNone/>
              <a:defRPr>
                <a:latin typeface="Montserrat"/>
                <a:ea typeface="Montserrat"/>
                <a:cs typeface="Montserrat"/>
                <a:sym typeface="Montserrat"/>
              </a:defRPr>
            </a:lvl6pPr>
            <a:lvl7pPr lvl="6">
              <a:spcBef>
                <a:spcPts val="0"/>
              </a:spcBef>
              <a:spcAft>
                <a:spcPts val="0"/>
              </a:spcAft>
              <a:buSzPts val="2800"/>
              <a:buFont typeface="Montserrat"/>
              <a:buNone/>
              <a:defRPr>
                <a:latin typeface="Montserrat"/>
                <a:ea typeface="Montserrat"/>
                <a:cs typeface="Montserrat"/>
                <a:sym typeface="Montserrat"/>
              </a:defRPr>
            </a:lvl7pPr>
            <a:lvl8pPr lvl="7">
              <a:spcBef>
                <a:spcPts val="0"/>
              </a:spcBef>
              <a:spcAft>
                <a:spcPts val="0"/>
              </a:spcAft>
              <a:buSzPts val="2800"/>
              <a:buFont typeface="Montserrat"/>
              <a:buNone/>
              <a:defRPr>
                <a:latin typeface="Montserrat"/>
                <a:ea typeface="Montserrat"/>
                <a:cs typeface="Montserrat"/>
                <a:sym typeface="Montserrat"/>
              </a:defRPr>
            </a:lvl8pPr>
            <a:lvl9pPr lvl="8">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20" name="Google Shape;20;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Font typeface="Montserrat"/>
              <a:buChar char="●"/>
              <a:defRPr>
                <a:latin typeface="Montserrat"/>
                <a:ea typeface="Montserrat"/>
                <a:cs typeface="Montserrat"/>
                <a:sym typeface="Montserrat"/>
              </a:defRPr>
            </a:lvl1pPr>
            <a:lvl2pPr marL="914400" lvl="1" indent="-317500">
              <a:spcBef>
                <a:spcPts val="0"/>
              </a:spcBef>
              <a:spcAft>
                <a:spcPts val="0"/>
              </a:spcAft>
              <a:buSzPts val="1400"/>
              <a:buFont typeface="Montserrat"/>
              <a:buChar char="○"/>
              <a:defRPr>
                <a:latin typeface="Montserrat"/>
                <a:ea typeface="Montserrat"/>
                <a:cs typeface="Montserrat"/>
                <a:sym typeface="Montserrat"/>
              </a:defRPr>
            </a:lvl2pPr>
            <a:lvl3pPr marL="1371600" lvl="2" indent="-317500">
              <a:spcBef>
                <a:spcPts val="0"/>
              </a:spcBef>
              <a:spcAft>
                <a:spcPts val="0"/>
              </a:spcAft>
              <a:buSzPts val="1400"/>
              <a:buFont typeface="Montserrat"/>
              <a:buChar char="■"/>
              <a:defRPr>
                <a:latin typeface="Montserrat"/>
                <a:ea typeface="Montserrat"/>
                <a:cs typeface="Montserrat"/>
                <a:sym typeface="Montserrat"/>
              </a:defRPr>
            </a:lvl3pPr>
            <a:lvl4pPr marL="1828800" lvl="3" indent="-317500">
              <a:spcBef>
                <a:spcPts val="0"/>
              </a:spcBef>
              <a:spcAft>
                <a:spcPts val="0"/>
              </a:spcAft>
              <a:buSzPts val="1400"/>
              <a:buFont typeface="Montserrat"/>
              <a:buChar char="●"/>
              <a:defRPr>
                <a:latin typeface="Montserrat"/>
                <a:ea typeface="Montserrat"/>
                <a:cs typeface="Montserrat"/>
                <a:sym typeface="Montserrat"/>
              </a:defRPr>
            </a:lvl4pPr>
            <a:lvl5pPr marL="2286000" lvl="4" indent="-317500">
              <a:spcBef>
                <a:spcPts val="0"/>
              </a:spcBef>
              <a:spcAft>
                <a:spcPts val="0"/>
              </a:spcAft>
              <a:buSzPts val="1400"/>
              <a:buFont typeface="Montserrat"/>
              <a:buChar char="○"/>
              <a:defRPr>
                <a:latin typeface="Montserrat"/>
                <a:ea typeface="Montserrat"/>
                <a:cs typeface="Montserrat"/>
                <a:sym typeface="Montserrat"/>
              </a:defRPr>
            </a:lvl5pPr>
            <a:lvl6pPr marL="2743200" lvl="5" indent="-317500">
              <a:spcBef>
                <a:spcPts val="0"/>
              </a:spcBef>
              <a:spcAft>
                <a:spcPts val="0"/>
              </a:spcAft>
              <a:buSzPts val="1400"/>
              <a:buFont typeface="Montserrat"/>
              <a:buChar char="■"/>
              <a:defRPr>
                <a:latin typeface="Montserrat"/>
                <a:ea typeface="Montserrat"/>
                <a:cs typeface="Montserrat"/>
                <a:sym typeface="Montserrat"/>
              </a:defRPr>
            </a:lvl6pPr>
            <a:lvl7pPr marL="3200400" lvl="6" indent="-317500">
              <a:spcBef>
                <a:spcPts val="0"/>
              </a:spcBef>
              <a:spcAft>
                <a:spcPts val="0"/>
              </a:spcAft>
              <a:buSzPts val="1400"/>
              <a:buFont typeface="Montserrat"/>
              <a:buChar char="●"/>
              <a:defRPr>
                <a:latin typeface="Montserrat"/>
                <a:ea typeface="Montserrat"/>
                <a:cs typeface="Montserrat"/>
                <a:sym typeface="Montserrat"/>
              </a:defRPr>
            </a:lvl7pPr>
            <a:lvl8pPr marL="3657600" lvl="7" indent="-317500">
              <a:spcBef>
                <a:spcPts val="0"/>
              </a:spcBef>
              <a:spcAft>
                <a:spcPts val="0"/>
              </a:spcAft>
              <a:buSzPts val="1400"/>
              <a:buFont typeface="Montserrat"/>
              <a:buChar char="○"/>
              <a:defRPr>
                <a:latin typeface="Montserrat"/>
                <a:ea typeface="Montserrat"/>
                <a:cs typeface="Montserrat"/>
                <a:sym typeface="Montserrat"/>
              </a:defRPr>
            </a:lvl8pPr>
            <a:lvl9pPr marL="4114800" lvl="8" indent="-317500">
              <a:spcBef>
                <a:spcPts val="0"/>
              </a:spcBef>
              <a:spcAft>
                <a:spcPts val="0"/>
              </a:spcAft>
              <a:buSzPts val="1400"/>
              <a:buFont typeface="Montserrat"/>
              <a:buChar char="■"/>
              <a:defRPr>
                <a:latin typeface="Montserrat"/>
                <a:ea typeface="Montserrat"/>
                <a:cs typeface="Montserrat"/>
                <a:sym typeface="Montserrat"/>
              </a:defRPr>
            </a:lvl9pPr>
          </a:lstStyle>
          <a:p>
            <a:endParaRPr/>
          </a:p>
        </p:txBody>
      </p:sp>
      <p:sp>
        <p:nvSpPr>
          <p:cNvPr id="21" name="Google Shape;21;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kern="0" smtClean="0">
                <a:solidFill>
                  <a:sysClr val="windowText" lastClr="000000"/>
                </a:solidFill>
              </a:rPr>
              <a:pPr algn="r"/>
              <a:t>‹#›</a:t>
            </a:fld>
            <a:endParaRPr lang="en" kern="0">
              <a:solidFill>
                <a:sysClr val="windowText" lastClr="000000"/>
              </a:solidFill>
            </a:endParaRPr>
          </a:p>
        </p:txBody>
      </p:sp>
      <p:pic>
        <p:nvPicPr>
          <p:cNvPr id="22" name="Google Shape;22;p4"/>
          <p:cNvPicPr preferRelativeResize="0"/>
          <p:nvPr/>
        </p:nvPicPr>
        <p:blipFill rotWithShape="1">
          <a:blip r:embed="rId2">
            <a:alphaModFix amt="24000"/>
          </a:blip>
          <a:srcRect b="93593"/>
          <a:stretch/>
        </p:blipFill>
        <p:spPr>
          <a:xfrm>
            <a:off x="2" y="6594465"/>
            <a:ext cx="12192004" cy="263533"/>
          </a:xfrm>
          <a:prstGeom prst="rect">
            <a:avLst/>
          </a:prstGeom>
          <a:noFill/>
          <a:ln>
            <a:noFill/>
          </a:ln>
        </p:spPr>
      </p:pic>
    </p:spTree>
    <p:extLst>
      <p:ext uri="{BB962C8B-B14F-4D97-AF65-F5344CB8AC3E}">
        <p14:creationId xmlns:p14="http://schemas.microsoft.com/office/powerpoint/2010/main" val="232878538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TItle and Bullets">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54A0AA2-B636-401F-B58B-6DF5349EBC51}"/>
              </a:ext>
            </a:extLst>
          </p:cNvPr>
          <p:cNvSpPr>
            <a:spLocks noGrp="1"/>
          </p:cNvSpPr>
          <p:nvPr>
            <p:ph type="title" hasCustomPrompt="1"/>
          </p:nvPr>
        </p:nvSpPr>
        <p:spPr>
          <a:xfrm>
            <a:off x="711894" y="142827"/>
            <a:ext cx="10780553" cy="1143389"/>
          </a:xfrm>
          <a:prstGeom prst="rect">
            <a:avLst/>
          </a:prstGeom>
        </p:spPr>
        <p:txBody>
          <a:bodyPr anchor="b"/>
          <a:lstStyle>
            <a:lvl1pPr>
              <a:defRPr sz="3000" b="1">
                <a:solidFill>
                  <a:schemeClr val="tx2"/>
                </a:solidFill>
              </a:defRPr>
            </a:lvl1pPr>
          </a:lstStyle>
          <a:p>
            <a:r>
              <a:rPr lang="en-US" noProof="0" dirty="0"/>
              <a:t>Click to </a:t>
            </a:r>
            <a:r>
              <a:rPr lang="en-US" noProof="0"/>
              <a:t>add title</a:t>
            </a:r>
            <a:endParaRPr lang="en-US" noProof="0" dirty="0"/>
          </a:p>
        </p:txBody>
      </p:sp>
      <p:sp>
        <p:nvSpPr>
          <p:cNvPr id="11" name="Rectangle 10">
            <a:extLst>
              <a:ext uri="{FF2B5EF4-FFF2-40B4-BE49-F238E27FC236}">
                <a16:creationId xmlns:a16="http://schemas.microsoft.com/office/drawing/2014/main" id="{20414BC9-864B-4D63-BFF5-8A26BC6E5477}"/>
              </a:ext>
              <a:ext uri="{C183D7F6-B498-43B3-948B-1728B52AA6E4}">
                <adec:decorative xmlns:adec="http://schemas.microsoft.com/office/drawing/2017/decorative" val="1"/>
              </a:ext>
            </a:extLst>
          </p:cNvPr>
          <p:cNvSpPr/>
          <p:nvPr userDrawn="1"/>
        </p:nvSpPr>
        <p:spPr>
          <a:xfrm>
            <a:off x="853440" y="1287500"/>
            <a:ext cx="1037573" cy="137787"/>
          </a:xfrm>
          <a:prstGeom prst="rect">
            <a:avLst/>
          </a:prstGeom>
          <a:solidFill>
            <a:srgbClr val="69ACE5"/>
          </a:solidFill>
          <a:ln w="12700" cap="flat" cmpd="sng" algn="ctr">
            <a:noFill/>
            <a:prstDash val="solid"/>
            <a:miter lim="800000"/>
          </a:ln>
          <a:effectLst/>
        </p:spPr>
        <p:txBody>
          <a:bodyPr rtlCol="0" anchor="ctr"/>
          <a:lstStyle/>
          <a:p>
            <a:pPr algn="ctr" defTabSz="685800">
              <a:defRPr/>
            </a:pPr>
            <a:endParaRPr lang="en-US" sz="1350" kern="0" dirty="0">
              <a:solidFill>
                <a:prstClr val="white"/>
              </a:solidFill>
              <a:ea typeface="Tahoma" panose="020B0604030504040204" pitchFamily="34" charset="0"/>
              <a:cs typeface="Tahoma" panose="020B0604030504040204" pitchFamily="34" charset="0"/>
            </a:endParaRPr>
          </a:p>
        </p:txBody>
      </p:sp>
      <p:sp>
        <p:nvSpPr>
          <p:cNvPr id="10" name="Bullets">
            <a:extLst>
              <a:ext uri="{FF2B5EF4-FFF2-40B4-BE49-F238E27FC236}">
                <a16:creationId xmlns:a16="http://schemas.microsoft.com/office/drawing/2014/main" id="{489A78E5-4DD4-4398-92E6-73293FB04D0D}"/>
              </a:ext>
            </a:extLst>
          </p:cNvPr>
          <p:cNvSpPr>
            <a:spLocks noGrp="1"/>
          </p:cNvSpPr>
          <p:nvPr userDrawn="1">
            <p:ph type="body" sz="quarter" idx="16" hasCustomPrompt="1"/>
          </p:nvPr>
        </p:nvSpPr>
        <p:spPr>
          <a:xfrm>
            <a:off x="711894" y="1854202"/>
            <a:ext cx="10780553" cy="4103431"/>
          </a:xfrm>
          <a:prstGeom prst="rect">
            <a:avLst/>
          </a:prstGeom>
        </p:spPr>
        <p:txBody>
          <a:bodyPr>
            <a:noAutofit/>
          </a:bodyPr>
          <a:lstStyle>
            <a:lvl1pPr marL="230188" indent="-230188">
              <a:spcBef>
                <a:spcPts val="750"/>
              </a:spcBef>
              <a:buClr>
                <a:srgbClr val="092C74"/>
              </a:buClr>
              <a:buFont typeface="Wingdings" panose="05000000000000000000" pitchFamily="2" charset="2"/>
              <a:buChar char="§"/>
              <a:defRPr sz="1600" b="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571500" indent="-228600">
              <a:buClr>
                <a:srgbClr val="092C74"/>
              </a:buClr>
              <a:buFont typeface="Courier New" panose="02070309020205020404" pitchFamily="49" charset="0"/>
              <a:buChar char="o"/>
              <a:defRPr sz="1600"/>
            </a:lvl2pPr>
            <a:lvl3pPr marL="914400" indent="-228600">
              <a:buClr>
                <a:srgbClr val="092C74"/>
              </a:buClr>
              <a:defRPr sz="1600"/>
            </a:lvl3pPr>
          </a:lstStyle>
          <a:p>
            <a:pPr lvl="0"/>
            <a:r>
              <a:rPr lang="en-US" noProof="0" dirty="0"/>
              <a:t>Click to add bullets</a:t>
            </a:r>
          </a:p>
          <a:p>
            <a:pPr lvl="1"/>
            <a:r>
              <a:rPr lang="en-US" noProof="0" dirty="0"/>
              <a:t>Second level</a:t>
            </a:r>
          </a:p>
          <a:p>
            <a:pPr lvl="2"/>
            <a:r>
              <a:rPr lang="en-US" noProof="0" dirty="0"/>
              <a:t>Third level</a:t>
            </a:r>
          </a:p>
        </p:txBody>
      </p:sp>
      <p:pic>
        <p:nvPicPr>
          <p:cNvPr id="8" name="WSE logo">
            <a:extLst>
              <a:ext uri="{FF2B5EF4-FFF2-40B4-BE49-F238E27FC236}">
                <a16:creationId xmlns:a16="http://schemas.microsoft.com/office/drawing/2014/main" id="{5F712F24-2ADD-4B4F-B20F-5AF8A0644F0E}"/>
              </a:ext>
              <a:ext uri="{C183D7F6-B498-43B3-948B-1728B52AA6E4}">
                <adec:decorative xmlns:adec="http://schemas.microsoft.com/office/drawing/2017/decorative" val="1"/>
              </a:ext>
            </a:extLst>
          </p:cNvPr>
          <p:cNvPicPr>
            <a:picLocks noChangeAspect="1"/>
          </p:cNvPicPr>
          <p:nvPr userDrawn="1"/>
        </p:nvPicPr>
        <p:blipFill rotWithShape="1">
          <a:blip r:embed="rId2" cstate="print">
            <a:clrChange>
              <a:clrFrom>
                <a:srgbClr val="000000">
                  <a:alpha val="0"/>
                </a:srgbClr>
              </a:clrFrom>
              <a:clrTo>
                <a:srgbClr val="000000">
                  <a:alpha val="0"/>
                </a:srgbClr>
              </a:clrTo>
            </a:clrChange>
            <a:alphaModFix amt="50000"/>
            <a:extLst>
              <a:ext uri="{28A0092B-C50C-407E-A947-70E740481C1C}">
                <a14:useLocalDpi xmlns:a14="http://schemas.microsoft.com/office/drawing/2010/main" val="0"/>
              </a:ext>
            </a:extLst>
          </a:blip>
          <a:srcRect l="12472" t="27464" r="12906" b="27019"/>
          <a:stretch/>
        </p:blipFill>
        <p:spPr>
          <a:xfrm>
            <a:off x="696951" y="6407120"/>
            <a:ext cx="1377375" cy="381160"/>
          </a:xfrm>
          <a:prstGeom prst="rect">
            <a:avLst/>
          </a:prstGeom>
        </p:spPr>
      </p:pic>
      <p:sp>
        <p:nvSpPr>
          <p:cNvPr id="7" name="Page Number">
            <a:extLst>
              <a:ext uri="{FF2B5EF4-FFF2-40B4-BE49-F238E27FC236}">
                <a16:creationId xmlns:a16="http://schemas.microsoft.com/office/drawing/2014/main" id="{A10FF969-5C1A-4F23-A07F-2B9FBF69C84B}"/>
              </a:ext>
            </a:extLst>
          </p:cNvPr>
          <p:cNvSpPr txBox="1"/>
          <p:nvPr userDrawn="1"/>
        </p:nvSpPr>
        <p:spPr>
          <a:xfrm>
            <a:off x="10521949" y="6480227"/>
            <a:ext cx="1060451" cy="234951"/>
          </a:xfrm>
          <a:prstGeom prst="rect">
            <a:avLst/>
          </a:prstGeom>
        </p:spPr>
        <p:txBody>
          <a:bodyPr wrap="none" anchor="ctr" anchorCtr="1">
            <a:no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defTabSz="457200" fontAlgn="base">
              <a:spcBef>
                <a:spcPct val="0"/>
              </a:spcBef>
              <a:spcAft>
                <a:spcPct val="0"/>
              </a:spcAft>
              <a:defRPr>
                <a:solidFill>
                  <a:schemeClr val="tx1"/>
                </a:solidFill>
                <a:latin typeface="Arial" charset="0"/>
              </a:defRPr>
            </a:lvl6pPr>
            <a:lvl7pPr marL="2971800" indent="-228600" defTabSz="457200" fontAlgn="base">
              <a:spcBef>
                <a:spcPct val="0"/>
              </a:spcBef>
              <a:spcAft>
                <a:spcPct val="0"/>
              </a:spcAft>
              <a:defRPr>
                <a:solidFill>
                  <a:schemeClr val="tx1"/>
                </a:solidFill>
                <a:latin typeface="Arial" charset="0"/>
              </a:defRPr>
            </a:lvl7pPr>
            <a:lvl8pPr marL="3429000" indent="-228600" defTabSz="457200" fontAlgn="base">
              <a:spcBef>
                <a:spcPct val="0"/>
              </a:spcBef>
              <a:spcAft>
                <a:spcPct val="0"/>
              </a:spcAft>
              <a:defRPr>
                <a:solidFill>
                  <a:schemeClr val="tx1"/>
                </a:solidFill>
                <a:latin typeface="Arial" charset="0"/>
              </a:defRPr>
            </a:lvl8pPr>
            <a:lvl9pPr marL="3886200" indent="-228600" defTabSz="457200" fontAlgn="base">
              <a:spcBef>
                <a:spcPct val="0"/>
              </a:spcBef>
              <a:spcAft>
                <a:spcPct val="0"/>
              </a:spcAft>
              <a:defRPr>
                <a:solidFill>
                  <a:schemeClr val="tx1"/>
                </a:solidFill>
                <a:latin typeface="Arial" charset="0"/>
              </a:defRPr>
            </a:lvl9pPr>
          </a:lstStyle>
          <a:p>
            <a:pPr algn="r" defTabSz="685783">
              <a:defRPr/>
            </a:pPr>
            <a:r>
              <a:rPr lang="en-US" sz="1000" kern="0" dirty="0">
                <a:solidFill>
                  <a:prstClr val="black"/>
                </a:solidFill>
                <a:latin typeface="Calibri"/>
                <a:ea typeface="Tahoma" panose="020B0604030504040204" pitchFamily="34" charset="0"/>
                <a:cs typeface="Tahoma" panose="020B0604030504040204" pitchFamily="34" charset="0"/>
              </a:rPr>
              <a:t>                </a:t>
            </a:r>
            <a:fld id="{F2C1E792-EDA4-4DC5-8412-A2C2E5D30ADF}" type="slidenum">
              <a:rPr lang="en-US" sz="1000" kern="0">
                <a:solidFill>
                  <a:prstClr val="black"/>
                </a:solidFill>
                <a:latin typeface="Calibri"/>
                <a:ea typeface="Tahoma" panose="020B0604030504040204" pitchFamily="34" charset="0"/>
                <a:cs typeface="Tahoma" panose="020B0604030504040204" pitchFamily="34" charset="0"/>
              </a:rPr>
              <a:pPr algn="r" defTabSz="685783">
                <a:defRPr/>
              </a:pPr>
              <a:t>‹#›</a:t>
            </a:fld>
            <a:endParaRPr lang="en-US" sz="1000" kern="0" dirty="0">
              <a:solidFill>
                <a:prstClr val="black"/>
              </a:solidFill>
              <a:latin typeface="Calibri"/>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27027858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7575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9.xml"/><Relationship Id="rId18" Type="http://schemas.openxmlformats.org/officeDocument/2006/relationships/slideLayout" Target="../slideLayouts/slideLayout34.xml"/><Relationship Id="rId26" Type="http://schemas.openxmlformats.org/officeDocument/2006/relationships/slideLayout" Target="../slideLayouts/slideLayout42.xml"/><Relationship Id="rId39" Type="http://schemas.openxmlformats.org/officeDocument/2006/relationships/slideLayout" Target="../slideLayouts/slideLayout55.xml"/><Relationship Id="rId21" Type="http://schemas.openxmlformats.org/officeDocument/2006/relationships/slideLayout" Target="../slideLayouts/slideLayout37.xml"/><Relationship Id="rId34" Type="http://schemas.openxmlformats.org/officeDocument/2006/relationships/slideLayout" Target="../slideLayouts/slideLayout50.xml"/><Relationship Id="rId42" Type="http://schemas.openxmlformats.org/officeDocument/2006/relationships/theme" Target="../theme/theme2.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20" Type="http://schemas.openxmlformats.org/officeDocument/2006/relationships/slideLayout" Target="../slideLayouts/slideLayout36.xml"/><Relationship Id="rId29" Type="http://schemas.openxmlformats.org/officeDocument/2006/relationships/slideLayout" Target="../slideLayouts/slideLayout45.xml"/><Relationship Id="rId41" Type="http://schemas.openxmlformats.org/officeDocument/2006/relationships/slideLayout" Target="../slideLayouts/slideLayout57.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24" Type="http://schemas.openxmlformats.org/officeDocument/2006/relationships/slideLayout" Target="../slideLayouts/slideLayout40.xml"/><Relationship Id="rId32" Type="http://schemas.openxmlformats.org/officeDocument/2006/relationships/slideLayout" Target="../slideLayouts/slideLayout48.xml"/><Relationship Id="rId37" Type="http://schemas.openxmlformats.org/officeDocument/2006/relationships/slideLayout" Target="../slideLayouts/slideLayout53.xml"/><Relationship Id="rId40" Type="http://schemas.openxmlformats.org/officeDocument/2006/relationships/slideLayout" Target="../slideLayouts/slideLayout56.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23" Type="http://schemas.openxmlformats.org/officeDocument/2006/relationships/slideLayout" Target="../slideLayouts/slideLayout39.xml"/><Relationship Id="rId28" Type="http://schemas.openxmlformats.org/officeDocument/2006/relationships/slideLayout" Target="../slideLayouts/slideLayout44.xml"/><Relationship Id="rId36" Type="http://schemas.openxmlformats.org/officeDocument/2006/relationships/slideLayout" Target="../slideLayouts/slideLayout52.xml"/><Relationship Id="rId10" Type="http://schemas.openxmlformats.org/officeDocument/2006/relationships/slideLayout" Target="../slideLayouts/slideLayout26.xml"/><Relationship Id="rId19" Type="http://schemas.openxmlformats.org/officeDocument/2006/relationships/slideLayout" Target="../slideLayouts/slideLayout35.xml"/><Relationship Id="rId31" Type="http://schemas.openxmlformats.org/officeDocument/2006/relationships/slideLayout" Target="../slideLayouts/slideLayout47.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 Id="rId22" Type="http://schemas.openxmlformats.org/officeDocument/2006/relationships/slideLayout" Target="../slideLayouts/slideLayout38.xml"/><Relationship Id="rId27" Type="http://schemas.openxmlformats.org/officeDocument/2006/relationships/slideLayout" Target="../slideLayouts/slideLayout43.xml"/><Relationship Id="rId30" Type="http://schemas.openxmlformats.org/officeDocument/2006/relationships/slideLayout" Target="../slideLayouts/slideLayout46.xml"/><Relationship Id="rId35" Type="http://schemas.openxmlformats.org/officeDocument/2006/relationships/slideLayout" Target="../slideLayouts/slideLayout51.xml"/><Relationship Id="rId43" Type="http://schemas.openxmlformats.org/officeDocument/2006/relationships/image" Target="../media/image7.jpg"/><Relationship Id="rId8" Type="http://schemas.openxmlformats.org/officeDocument/2006/relationships/slideLayout" Target="../slideLayouts/slideLayout24.xml"/><Relationship Id="rId3" Type="http://schemas.openxmlformats.org/officeDocument/2006/relationships/slideLayout" Target="../slideLayouts/slideLayout19.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5" Type="http://schemas.openxmlformats.org/officeDocument/2006/relationships/slideLayout" Target="../slideLayouts/slideLayout41.xml"/><Relationship Id="rId33" Type="http://schemas.openxmlformats.org/officeDocument/2006/relationships/slideLayout" Target="../slideLayouts/slideLayout49.xml"/><Relationship Id="rId38"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051" name="Text Placeholder 2"/>
          <p:cNvSpPr>
            <a:spLocks noGrp="1"/>
          </p:cNvSpPr>
          <p:nvPr>
            <p:ph type="body" idx="1"/>
          </p:nvPr>
        </p:nvSpPr>
        <p:spPr bwMode="auto">
          <a:xfrm>
            <a:off x="609600" y="1600203"/>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900" smtClean="0">
                <a:solidFill>
                  <a:schemeClr val="tx1">
                    <a:tint val="75000"/>
                  </a:schemeClr>
                </a:solidFill>
                <a:latin typeface="Arial" pitchFamily="34" charset="0"/>
                <a:cs typeface="Arial" pitchFamily="34" charset="0"/>
              </a:defRPr>
            </a:lvl1pPr>
          </a:lstStyle>
          <a:p>
            <a:pPr fontAlgn="base">
              <a:spcBef>
                <a:spcPct val="0"/>
              </a:spcBef>
              <a:spcAft>
                <a:spcPct val="0"/>
              </a:spcAft>
              <a:defRPr/>
            </a:pPr>
            <a:fld id="{DAE0A98B-91D6-4D0A-A390-AF26B360F87A}" type="datetime1">
              <a:rPr lang="en-US">
                <a:solidFill>
                  <a:prstClr val="black">
                    <a:tint val="75000"/>
                  </a:prstClr>
                </a:solidFill>
              </a:rPr>
              <a:pPr fontAlgn="base">
                <a:spcBef>
                  <a:spcPct val="0"/>
                </a:spcBef>
                <a:spcAft>
                  <a:spcPct val="0"/>
                </a:spcAft>
                <a:defRPr/>
              </a:pPr>
              <a:t>7/3/2026</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900" smtClean="0">
                <a:solidFill>
                  <a:schemeClr val="tx1">
                    <a:tint val="75000"/>
                  </a:schemeClr>
                </a:solidFill>
                <a:latin typeface="Arial" pitchFamily="34" charset="0"/>
                <a:cs typeface="Arial" pitchFamily="34" charset="0"/>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900" smtClean="0">
                <a:solidFill>
                  <a:schemeClr val="tx1">
                    <a:tint val="75000"/>
                  </a:schemeClr>
                </a:solidFill>
                <a:latin typeface="Arial" pitchFamily="34" charset="0"/>
                <a:cs typeface="Arial" pitchFamily="34" charset="0"/>
              </a:defRPr>
            </a:lvl1pPr>
          </a:lstStyle>
          <a:p>
            <a:pPr fontAlgn="base">
              <a:spcBef>
                <a:spcPct val="0"/>
              </a:spcBef>
              <a:spcAft>
                <a:spcPct val="0"/>
              </a:spcAft>
              <a:defRPr/>
            </a:pPr>
            <a:fld id="{60DB935C-A2BB-404C-A6C5-67E9068028EC}" type="slidenum">
              <a:rPr lang="en-US">
                <a:solidFill>
                  <a:prstClr val="black">
                    <a:tint val="75000"/>
                  </a:prstClr>
                </a:solidFill>
              </a:rPr>
              <a:pPr fontAlgn="base">
                <a:spcBef>
                  <a:spcPct val="0"/>
                </a:spcBef>
                <a:spcAft>
                  <a:spcPct val="0"/>
                </a:spcAft>
                <a:defRPr/>
              </a:pPr>
              <a:t>‹#›</a:t>
            </a:fld>
            <a:endParaRPr lang="en-US">
              <a:solidFill>
                <a:prstClr val="black">
                  <a:tint val="75000"/>
                </a:prstClr>
              </a:solidFill>
            </a:endParaRPr>
          </a:p>
        </p:txBody>
      </p:sp>
    </p:spTree>
    <p:extLst>
      <p:ext uri="{BB962C8B-B14F-4D97-AF65-F5344CB8AC3E}">
        <p14:creationId xmlns:p14="http://schemas.microsoft.com/office/powerpoint/2010/main" val="28255445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sldNum="0" hdr="0" ftr="0" dt="0"/>
  <p:txStyles>
    <p:titleStyle>
      <a:lvl1pPr algn="l" rtl="0" fontAlgn="base">
        <a:spcBef>
          <a:spcPct val="0"/>
        </a:spcBef>
        <a:spcAft>
          <a:spcPct val="0"/>
        </a:spcAft>
        <a:defRPr sz="3000" b="1" kern="1200" spc="-113">
          <a:solidFill>
            <a:schemeClr val="tx1"/>
          </a:solidFill>
          <a:latin typeface="Arial" pitchFamily="34" charset="0"/>
          <a:ea typeface="+mj-ea"/>
          <a:cs typeface="Arial" pitchFamily="34" charset="0"/>
        </a:defRPr>
      </a:lvl1pPr>
      <a:lvl2pPr algn="l" rtl="0" fontAlgn="base">
        <a:spcBef>
          <a:spcPct val="0"/>
        </a:spcBef>
        <a:spcAft>
          <a:spcPct val="0"/>
        </a:spcAft>
        <a:defRPr sz="3000" b="1">
          <a:solidFill>
            <a:schemeClr val="tx1"/>
          </a:solidFill>
          <a:latin typeface="Arial" charset="0"/>
          <a:cs typeface="Arial" charset="0"/>
        </a:defRPr>
      </a:lvl2pPr>
      <a:lvl3pPr algn="l" rtl="0" fontAlgn="base">
        <a:spcBef>
          <a:spcPct val="0"/>
        </a:spcBef>
        <a:spcAft>
          <a:spcPct val="0"/>
        </a:spcAft>
        <a:defRPr sz="3000" b="1">
          <a:solidFill>
            <a:schemeClr val="tx1"/>
          </a:solidFill>
          <a:latin typeface="Arial" charset="0"/>
          <a:cs typeface="Arial" charset="0"/>
        </a:defRPr>
      </a:lvl3pPr>
      <a:lvl4pPr algn="l" rtl="0" fontAlgn="base">
        <a:spcBef>
          <a:spcPct val="0"/>
        </a:spcBef>
        <a:spcAft>
          <a:spcPct val="0"/>
        </a:spcAft>
        <a:defRPr sz="3000" b="1">
          <a:solidFill>
            <a:schemeClr val="tx1"/>
          </a:solidFill>
          <a:latin typeface="Arial" charset="0"/>
          <a:cs typeface="Arial" charset="0"/>
        </a:defRPr>
      </a:lvl4pPr>
      <a:lvl5pPr algn="l" rtl="0" fontAlgn="base">
        <a:spcBef>
          <a:spcPct val="0"/>
        </a:spcBef>
        <a:spcAft>
          <a:spcPct val="0"/>
        </a:spcAft>
        <a:defRPr sz="3000" b="1">
          <a:solidFill>
            <a:schemeClr val="tx1"/>
          </a:solidFill>
          <a:latin typeface="Arial" charset="0"/>
          <a:cs typeface="Arial" charset="0"/>
        </a:defRPr>
      </a:lvl5pPr>
      <a:lvl6pPr marL="342900" algn="l" rtl="0" fontAlgn="base">
        <a:spcBef>
          <a:spcPct val="0"/>
        </a:spcBef>
        <a:spcAft>
          <a:spcPct val="0"/>
        </a:spcAft>
        <a:defRPr sz="3000" b="1">
          <a:solidFill>
            <a:schemeClr val="tx1"/>
          </a:solidFill>
          <a:latin typeface="Arial" charset="0"/>
          <a:cs typeface="Arial" charset="0"/>
        </a:defRPr>
      </a:lvl6pPr>
      <a:lvl7pPr marL="685800" algn="l" rtl="0" fontAlgn="base">
        <a:spcBef>
          <a:spcPct val="0"/>
        </a:spcBef>
        <a:spcAft>
          <a:spcPct val="0"/>
        </a:spcAft>
        <a:defRPr sz="3000" b="1">
          <a:solidFill>
            <a:schemeClr val="tx1"/>
          </a:solidFill>
          <a:latin typeface="Arial" charset="0"/>
          <a:cs typeface="Arial" charset="0"/>
        </a:defRPr>
      </a:lvl7pPr>
      <a:lvl8pPr marL="1028700" algn="l" rtl="0" fontAlgn="base">
        <a:spcBef>
          <a:spcPct val="0"/>
        </a:spcBef>
        <a:spcAft>
          <a:spcPct val="0"/>
        </a:spcAft>
        <a:defRPr sz="3000" b="1">
          <a:solidFill>
            <a:schemeClr val="tx1"/>
          </a:solidFill>
          <a:latin typeface="Arial" charset="0"/>
          <a:cs typeface="Arial" charset="0"/>
        </a:defRPr>
      </a:lvl8pPr>
      <a:lvl9pPr marL="1371600" algn="l" rtl="0" fontAlgn="base">
        <a:spcBef>
          <a:spcPct val="0"/>
        </a:spcBef>
        <a:spcAft>
          <a:spcPct val="0"/>
        </a:spcAft>
        <a:defRPr sz="3000" b="1">
          <a:solidFill>
            <a:schemeClr val="tx1"/>
          </a:solidFill>
          <a:latin typeface="Arial" charset="0"/>
          <a:cs typeface="Arial" charset="0"/>
        </a:defRPr>
      </a:lvl9pPr>
    </p:titleStyle>
    <p:bodyStyle>
      <a:lvl1pPr marL="257175" indent="-257175" algn="l" rtl="0" fontAlgn="base">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1pPr>
      <a:lvl2pPr marL="557213" indent="-214313" algn="l" rtl="0" fontAlgn="base">
        <a:spcBef>
          <a:spcPct val="20000"/>
        </a:spcBef>
        <a:spcAft>
          <a:spcPct val="0"/>
        </a:spcAft>
        <a:buFont typeface="Arial" charset="0"/>
        <a:buChar char="–"/>
        <a:defRPr sz="2100" kern="1200">
          <a:solidFill>
            <a:schemeClr val="tx1"/>
          </a:solidFill>
          <a:latin typeface="Arial" pitchFamily="34" charset="0"/>
          <a:ea typeface="+mn-ea"/>
          <a:cs typeface="Arial" pitchFamily="34" charset="0"/>
        </a:defRPr>
      </a:lvl2pPr>
      <a:lvl3pPr marL="857250" indent="-171450" algn="l" rtl="0" fontAlgn="base">
        <a:spcBef>
          <a:spcPct val="20000"/>
        </a:spcBef>
        <a:spcAft>
          <a:spcPct val="0"/>
        </a:spcAft>
        <a:buFont typeface="Arial" charset="0"/>
        <a:buChar char="•"/>
        <a:defRPr sz="1800" kern="1200">
          <a:solidFill>
            <a:schemeClr val="tx1"/>
          </a:solidFill>
          <a:latin typeface="Arial" pitchFamily="34" charset="0"/>
          <a:ea typeface="+mn-ea"/>
          <a:cs typeface="Arial" pitchFamily="34" charset="0"/>
        </a:defRPr>
      </a:lvl3pPr>
      <a:lvl4pPr marL="12001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4pPr>
      <a:lvl5pPr marL="15430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175248" y="6550153"/>
            <a:ext cx="3105573" cy="48895"/>
          </a:xfrm>
          <a:custGeom>
            <a:avLst/>
            <a:gdLst/>
            <a:ahLst/>
            <a:cxnLst/>
            <a:rect l="l" t="t" r="r" b="b"/>
            <a:pathLst>
              <a:path w="2329179" h="48895">
                <a:moveTo>
                  <a:pt x="2328671" y="0"/>
                </a:moveTo>
                <a:lnTo>
                  <a:pt x="0" y="0"/>
                </a:lnTo>
                <a:lnTo>
                  <a:pt x="0" y="48768"/>
                </a:lnTo>
                <a:lnTo>
                  <a:pt x="2328671" y="48768"/>
                </a:lnTo>
                <a:lnTo>
                  <a:pt x="2328671" y="0"/>
                </a:lnTo>
                <a:close/>
              </a:path>
            </a:pathLst>
          </a:custGeom>
          <a:solidFill>
            <a:srgbClr val="76C2E4"/>
          </a:solidFill>
        </p:spPr>
        <p:txBody>
          <a:bodyPr wrap="square" lIns="0" tIns="0" rIns="0" bIns="0" rtlCol="0"/>
          <a:lstStyle/>
          <a:p>
            <a:endParaRPr sz="1800" kern="0">
              <a:solidFill>
                <a:sysClr val="windowText" lastClr="000000"/>
              </a:solidFill>
            </a:endParaRPr>
          </a:p>
        </p:txBody>
      </p:sp>
      <p:sp>
        <p:nvSpPr>
          <p:cNvPr id="17" name="bg object 17"/>
          <p:cNvSpPr/>
          <p:nvPr/>
        </p:nvSpPr>
        <p:spPr>
          <a:xfrm>
            <a:off x="9211056" y="6550152"/>
            <a:ext cx="2981113" cy="45720"/>
          </a:xfrm>
          <a:custGeom>
            <a:avLst/>
            <a:gdLst/>
            <a:ahLst/>
            <a:cxnLst/>
            <a:rect l="l" t="t" r="r" b="b"/>
            <a:pathLst>
              <a:path w="2235834" h="45720">
                <a:moveTo>
                  <a:pt x="2235707" y="0"/>
                </a:moveTo>
                <a:lnTo>
                  <a:pt x="0" y="0"/>
                </a:lnTo>
                <a:lnTo>
                  <a:pt x="0" y="45720"/>
                </a:lnTo>
                <a:lnTo>
                  <a:pt x="2235707" y="45720"/>
                </a:lnTo>
                <a:lnTo>
                  <a:pt x="2235707" y="0"/>
                </a:lnTo>
                <a:close/>
              </a:path>
            </a:pathLst>
          </a:custGeom>
          <a:solidFill>
            <a:srgbClr val="E21C23"/>
          </a:solidFill>
        </p:spPr>
        <p:txBody>
          <a:bodyPr wrap="square" lIns="0" tIns="0" rIns="0" bIns="0" rtlCol="0"/>
          <a:lstStyle/>
          <a:p>
            <a:endParaRPr sz="1800" kern="0">
              <a:solidFill>
                <a:sysClr val="windowText" lastClr="000000"/>
              </a:solidFill>
            </a:endParaRPr>
          </a:p>
        </p:txBody>
      </p:sp>
      <p:sp>
        <p:nvSpPr>
          <p:cNvPr id="18" name="bg object 18"/>
          <p:cNvSpPr/>
          <p:nvPr/>
        </p:nvSpPr>
        <p:spPr>
          <a:xfrm>
            <a:off x="2779776" y="6550153"/>
            <a:ext cx="3440853" cy="48895"/>
          </a:xfrm>
          <a:custGeom>
            <a:avLst/>
            <a:gdLst/>
            <a:ahLst/>
            <a:cxnLst/>
            <a:rect l="l" t="t" r="r" b="b"/>
            <a:pathLst>
              <a:path w="2580640" h="48895">
                <a:moveTo>
                  <a:pt x="2580132" y="0"/>
                </a:moveTo>
                <a:lnTo>
                  <a:pt x="0" y="0"/>
                </a:lnTo>
                <a:lnTo>
                  <a:pt x="0" y="48768"/>
                </a:lnTo>
                <a:lnTo>
                  <a:pt x="2580132" y="48768"/>
                </a:lnTo>
                <a:lnTo>
                  <a:pt x="2580132" y="0"/>
                </a:lnTo>
                <a:close/>
              </a:path>
            </a:pathLst>
          </a:custGeom>
          <a:solidFill>
            <a:srgbClr val="FBAF17"/>
          </a:solidFill>
        </p:spPr>
        <p:txBody>
          <a:bodyPr wrap="square" lIns="0" tIns="0" rIns="0" bIns="0" rtlCol="0"/>
          <a:lstStyle/>
          <a:p>
            <a:endParaRPr sz="1800" kern="0">
              <a:solidFill>
                <a:sysClr val="windowText" lastClr="000000"/>
              </a:solidFill>
            </a:endParaRPr>
          </a:p>
        </p:txBody>
      </p:sp>
      <p:sp>
        <p:nvSpPr>
          <p:cNvPr id="19" name="bg object 19"/>
          <p:cNvSpPr/>
          <p:nvPr/>
        </p:nvSpPr>
        <p:spPr>
          <a:xfrm>
            <a:off x="5994400"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sz="1800" kern="0">
              <a:solidFill>
                <a:sysClr val="windowText" lastClr="000000"/>
              </a:solidFill>
            </a:endParaRPr>
          </a:p>
        </p:txBody>
      </p:sp>
      <p:sp>
        <p:nvSpPr>
          <p:cNvPr id="20" name="bg object 20"/>
          <p:cNvSpPr/>
          <p:nvPr/>
        </p:nvSpPr>
        <p:spPr>
          <a:xfrm>
            <a:off x="2844800" y="6553200"/>
            <a:ext cx="31496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sz="1800" kern="0">
              <a:solidFill>
                <a:sysClr val="windowText" lastClr="000000"/>
              </a:solidFill>
            </a:endParaRPr>
          </a:p>
        </p:txBody>
      </p:sp>
      <p:sp>
        <p:nvSpPr>
          <p:cNvPr id="21" name="bg object 21"/>
          <p:cNvSpPr/>
          <p:nvPr/>
        </p:nvSpPr>
        <p:spPr>
          <a:xfrm>
            <a:off x="9087104"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sz="1800" kern="0">
              <a:solidFill>
                <a:sysClr val="windowText" lastClr="000000"/>
              </a:solidFill>
            </a:endParaRPr>
          </a:p>
        </p:txBody>
      </p:sp>
      <p:pic>
        <p:nvPicPr>
          <p:cNvPr id="22" name="bg object 22"/>
          <p:cNvPicPr/>
          <p:nvPr/>
        </p:nvPicPr>
        <p:blipFill>
          <a:blip r:embed="rId43" cstate="print"/>
          <a:stretch>
            <a:fillRect/>
          </a:stretch>
        </p:blipFill>
        <p:spPr>
          <a:xfrm>
            <a:off x="8839201" y="0"/>
            <a:ext cx="2926079" cy="691896"/>
          </a:xfrm>
          <a:prstGeom prst="rect">
            <a:avLst/>
          </a:prstGeom>
        </p:spPr>
      </p:pic>
      <p:sp>
        <p:nvSpPr>
          <p:cNvPr id="23" name="bg object 23"/>
          <p:cNvSpPr/>
          <p:nvPr/>
        </p:nvSpPr>
        <p:spPr>
          <a:xfrm>
            <a:off x="3149600"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sz="1800" kern="0">
              <a:solidFill>
                <a:sysClr val="windowText" lastClr="000000"/>
              </a:solidFill>
            </a:endParaRPr>
          </a:p>
        </p:txBody>
      </p:sp>
      <p:sp>
        <p:nvSpPr>
          <p:cNvPr id="24" name="bg object 24"/>
          <p:cNvSpPr/>
          <p:nvPr/>
        </p:nvSpPr>
        <p:spPr>
          <a:xfrm>
            <a:off x="0" y="1295400"/>
            <a:ext cx="31496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sz="1800" kern="0">
              <a:solidFill>
                <a:sysClr val="windowText" lastClr="000000"/>
              </a:solidFill>
            </a:endParaRPr>
          </a:p>
        </p:txBody>
      </p:sp>
      <p:sp>
        <p:nvSpPr>
          <p:cNvPr id="25" name="bg object 25"/>
          <p:cNvSpPr/>
          <p:nvPr/>
        </p:nvSpPr>
        <p:spPr>
          <a:xfrm>
            <a:off x="6242304"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sz="1800" kern="0">
              <a:solidFill>
                <a:sysClr val="windowText" lastClr="000000"/>
              </a:solidFill>
            </a:endParaRPr>
          </a:p>
        </p:txBody>
      </p:sp>
      <p:sp>
        <p:nvSpPr>
          <p:cNvPr id="8" name="Title Placeholder 7"/>
          <p:cNvSpPr>
            <a:spLocks noGrp="1"/>
          </p:cNvSpPr>
          <p:nvPr>
            <p:ph type="title"/>
          </p:nvPr>
        </p:nvSpPr>
        <p:spPr>
          <a:xfrm>
            <a:off x="231987" y="32163"/>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9" name="Text Placeholder 8"/>
          <p:cNvSpPr>
            <a:spLocks noGrp="1"/>
          </p:cNvSpPr>
          <p:nvPr>
            <p:ph type="body" idx="1"/>
          </p:nvPr>
        </p:nvSpPr>
        <p:spPr>
          <a:xfrm>
            <a:off x="406400" y="167640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7151570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 id="2147483698" r:id="rId21"/>
    <p:sldLayoutId id="2147483699" r:id="rId22"/>
    <p:sldLayoutId id="2147483700" r:id="rId23"/>
    <p:sldLayoutId id="2147483701" r:id="rId24"/>
    <p:sldLayoutId id="2147483702" r:id="rId25"/>
    <p:sldLayoutId id="2147483703" r:id="rId26"/>
    <p:sldLayoutId id="2147483704" r:id="rId27"/>
    <p:sldLayoutId id="2147483705" r:id="rId28"/>
    <p:sldLayoutId id="2147483706" r:id="rId29"/>
    <p:sldLayoutId id="2147483707" r:id="rId30"/>
    <p:sldLayoutId id="2147483708" r:id="rId31"/>
    <p:sldLayoutId id="2147483709" r:id="rId32"/>
    <p:sldLayoutId id="2147483710" r:id="rId33"/>
    <p:sldLayoutId id="2147483711" r:id="rId34"/>
    <p:sldLayoutId id="2147483712" r:id="rId35"/>
    <p:sldLayoutId id="2147483713" r:id="rId36"/>
    <p:sldLayoutId id="2147483714" r:id="rId37"/>
    <p:sldLayoutId id="2147483715" r:id="rId38"/>
    <p:sldLayoutId id="2147483716" r:id="rId39"/>
    <p:sldLayoutId id="2147483717" r:id="rId40"/>
    <p:sldLayoutId id="2147483718" r:id="rId41"/>
  </p:sldLayoutIdLst>
  <p:txStyles>
    <p:titleStyle>
      <a:lvl1pPr>
        <a:defRPr sz="3600">
          <a:latin typeface="Cambria" panose="02040503050406030204" pitchFamily="18" charset="0"/>
          <a:ea typeface="Cambria" panose="02040503050406030204" pitchFamily="18" charset="0"/>
          <a:cs typeface="+mj-cs"/>
        </a:defRPr>
      </a:lvl1pPr>
    </p:titleStyle>
    <p:body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7.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57.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8.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8.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7.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5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5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7.xml"/></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5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7.xml"/></Relationships>
</file>

<file path=ppt/slides/_rels/slide53.xml.rels><?xml version="1.0" encoding="UTF-8" standalone="yes"?>
<Relationships xmlns="http://schemas.openxmlformats.org/package/2006/relationships"><Relationship Id="rId3" Type="http://schemas.openxmlformats.org/officeDocument/2006/relationships/hyperlink" Target="https://platform.openai.com/docs/guides/function-calling" TargetMode="External"/><Relationship Id="rId2" Type="http://schemas.openxmlformats.org/officeDocument/2006/relationships/notesSlide" Target="../notesSlides/notesSlide27.xml"/><Relationship Id="rId1" Type="http://schemas.openxmlformats.org/officeDocument/2006/relationships/slideLayout" Target="../slideLayouts/slideLayout18.xml"/><Relationship Id="rId6" Type="http://schemas.openxmlformats.org/officeDocument/2006/relationships/hyperlink" Target="https://ai.google.dev/gemini-api/docs/function-calling?example=meeting" TargetMode="External"/><Relationship Id="rId5" Type="http://schemas.openxmlformats.org/officeDocument/2006/relationships/hyperlink" Target="https://8738733.fs1.hubspotusercontent-na1.net/hubfs/8738733/eBooks/Weaviate-Context-Engineering-ebook.pdf" TargetMode="External"/><Relationship Id="rId4" Type="http://schemas.openxmlformats.org/officeDocument/2006/relationships/hyperlink" Target="https://www.promptingguide.ai/techniqu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546284" y="3736784"/>
            <a:ext cx="7040926" cy="1143000"/>
          </a:xfrm>
        </p:spPr>
        <p:txBody>
          <a:bodyPr/>
          <a:lstStyle/>
          <a:p>
            <a:pPr fontAlgn="auto">
              <a:spcAft>
                <a:spcPts val="0"/>
              </a:spcAft>
              <a:defRPr/>
            </a:pP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Large Language Models for Gen AI</a:t>
            </a:r>
          </a:p>
        </p:txBody>
      </p:sp>
      <p:sp>
        <p:nvSpPr>
          <p:cNvPr id="14339" name="Content Placeholder 5"/>
          <p:cNvSpPr>
            <a:spLocks noGrp="1"/>
          </p:cNvSpPr>
          <p:nvPr>
            <p:ph sz="quarter" idx="13"/>
          </p:nvPr>
        </p:nvSpPr>
        <p:spPr/>
        <p:txBody>
          <a:bodyPr/>
          <a:lstStyle/>
          <a:p>
            <a:pPr eaLnBrk="1" hangingPunct="1">
              <a:spcBef>
                <a:spcPct val="0"/>
              </a:spcBef>
            </a:pPr>
            <a:r>
              <a:rPr lang="en-US" sz="1500" i="1" dirty="0">
                <a:latin typeface="Times New Roman" pitchFamily="18" charset="0"/>
                <a:cs typeface="Times New Roman" pitchFamily="18" charset="0"/>
              </a:rPr>
              <a:t>Dr. </a:t>
            </a:r>
            <a:r>
              <a:rPr lang="en-US" sz="1500" i="1" dirty="0" err="1">
                <a:latin typeface="Times New Roman" pitchFamily="18" charset="0"/>
                <a:cs typeface="Times New Roman" pitchFamily="18" charset="0"/>
              </a:rPr>
              <a:t>Monali</a:t>
            </a:r>
            <a:r>
              <a:rPr lang="en-US" sz="1500" i="1" dirty="0">
                <a:latin typeface="Times New Roman" pitchFamily="18" charset="0"/>
                <a:cs typeface="Times New Roman" pitchFamily="18" charset="0"/>
              </a:rPr>
              <a:t> </a:t>
            </a:r>
            <a:r>
              <a:rPr lang="en-US" sz="1500" i="1" dirty="0" err="1">
                <a:latin typeface="Times New Roman" pitchFamily="18" charset="0"/>
                <a:cs typeface="Times New Roman" pitchFamily="18" charset="0"/>
              </a:rPr>
              <a:t>Mavani</a:t>
            </a:r>
            <a:endParaRPr lang="en-US" sz="1500" i="1" dirty="0">
              <a:latin typeface="Times New Roman" pitchFamily="18" charset="0"/>
              <a:cs typeface="Times New Roman" pitchFamily="18" charset="0"/>
            </a:endParaRPr>
          </a:p>
        </p:txBody>
      </p:sp>
    </p:spTree>
    <p:extLst>
      <p:ext uri="{BB962C8B-B14F-4D97-AF65-F5344CB8AC3E}">
        <p14:creationId xmlns:p14="http://schemas.microsoft.com/office/powerpoint/2010/main" val="286022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58786" y="4133141"/>
            <a:ext cx="6777644" cy="848137"/>
          </a:xfrm>
          <a:prstGeom prst="rect">
            <a:avLst/>
          </a:prstGeom>
        </p:spPr>
        <p:txBody>
          <a:bodyPr vert="horz" wrap="square" lIns="0" tIns="24595" rIns="0" bIns="0" rtlCol="0">
            <a:spAutoFit/>
          </a:bodyPr>
          <a:lstStyle/>
          <a:p>
            <a:pPr marL="99961" marR="29325" indent="-93969" fontAlgn="base">
              <a:lnSpc>
                <a:spcPts val="1153"/>
              </a:lnSpc>
              <a:spcBef>
                <a:spcPts val="194"/>
              </a:spcBef>
              <a:spcAft>
                <a:spcPct val="0"/>
              </a:spcAft>
              <a:buFont typeface="Arial MT"/>
              <a:buChar char="•"/>
              <a:tabLst>
                <a:tab pos="100276" algn="l"/>
              </a:tabLst>
            </a:pPr>
            <a:r>
              <a:rPr sz="1200" spc="-2" dirty="0">
                <a:solidFill>
                  <a:prstClr val="black"/>
                </a:solidFill>
                <a:latin typeface="Cambria" panose="02040503050406030204" pitchFamily="18" charset="0"/>
                <a:ea typeface="Cambria" panose="02040503050406030204" pitchFamily="18" charset="0"/>
                <a:cs typeface="Calibri"/>
              </a:rPr>
              <a:t>The </a:t>
            </a:r>
            <a:r>
              <a:rPr sz="1200" spc="-8" dirty="0">
                <a:solidFill>
                  <a:prstClr val="black"/>
                </a:solidFill>
                <a:latin typeface="Cambria" panose="02040503050406030204" pitchFamily="18" charset="0"/>
                <a:ea typeface="Cambria" panose="02040503050406030204" pitchFamily="18" charset="0"/>
                <a:cs typeface="Calibri"/>
              </a:rPr>
              <a:t>content </a:t>
            </a:r>
            <a:r>
              <a:rPr sz="1200" spc="-10" dirty="0">
                <a:solidFill>
                  <a:prstClr val="black"/>
                </a:solidFill>
                <a:latin typeface="Cambria" panose="02040503050406030204" pitchFamily="18" charset="0"/>
                <a:ea typeface="Cambria" panose="02040503050406030204" pitchFamily="18" charset="0"/>
                <a:cs typeface="Calibri"/>
              </a:rPr>
              <a:t>for </a:t>
            </a:r>
            <a:r>
              <a:rPr sz="1200" spc="-2" dirty="0">
                <a:solidFill>
                  <a:prstClr val="black"/>
                </a:solidFill>
                <a:latin typeface="Cambria" panose="02040503050406030204" pitchFamily="18" charset="0"/>
                <a:ea typeface="Cambria" panose="02040503050406030204" pitchFamily="18" charset="0"/>
                <a:cs typeface="Calibri"/>
              </a:rPr>
              <a:t>these slides has been </a:t>
            </a:r>
            <a:r>
              <a:rPr sz="1200" spc="-5" dirty="0">
                <a:solidFill>
                  <a:prstClr val="black"/>
                </a:solidFill>
                <a:latin typeface="Cambria" panose="02040503050406030204" pitchFamily="18" charset="0"/>
                <a:ea typeface="Cambria" panose="02040503050406030204" pitchFamily="18" charset="0"/>
                <a:cs typeface="Calibri"/>
              </a:rPr>
              <a:t>obtained </a:t>
            </a:r>
            <a:r>
              <a:rPr sz="1200" spc="-8" dirty="0">
                <a:solidFill>
                  <a:prstClr val="black"/>
                </a:solidFill>
                <a:latin typeface="Cambria" panose="02040503050406030204" pitchFamily="18" charset="0"/>
                <a:ea typeface="Cambria" panose="02040503050406030204" pitchFamily="18" charset="0"/>
                <a:cs typeface="Calibri"/>
              </a:rPr>
              <a:t>from </a:t>
            </a:r>
            <a:r>
              <a:rPr sz="1200" spc="-5" dirty="0">
                <a:solidFill>
                  <a:prstClr val="black"/>
                </a:solidFill>
                <a:latin typeface="Cambria" panose="02040503050406030204" pitchFamily="18" charset="0"/>
                <a:ea typeface="Cambria" panose="02040503050406030204" pitchFamily="18" charset="0"/>
                <a:cs typeface="Calibri"/>
              </a:rPr>
              <a:t>books </a:t>
            </a:r>
            <a:r>
              <a:rPr sz="1200" spc="-2" dirty="0">
                <a:solidFill>
                  <a:prstClr val="black"/>
                </a:solidFill>
                <a:latin typeface="Cambria" panose="02040503050406030204" pitchFamily="18" charset="0"/>
                <a:ea typeface="Cambria" panose="02040503050406030204" pitchFamily="18" charset="0"/>
                <a:cs typeface="Calibri"/>
              </a:rPr>
              <a:t>and </a:t>
            </a:r>
            <a:r>
              <a:rPr sz="1200" spc="-5" dirty="0">
                <a:solidFill>
                  <a:prstClr val="black"/>
                </a:solidFill>
                <a:latin typeface="Cambria" panose="02040503050406030204" pitchFamily="18" charset="0"/>
                <a:ea typeface="Cambria" panose="02040503050406030204" pitchFamily="18" charset="0"/>
                <a:cs typeface="Calibri"/>
              </a:rPr>
              <a:t>various other </a:t>
            </a:r>
            <a:r>
              <a:rPr sz="1200" spc="-236"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source</a:t>
            </a:r>
            <a:r>
              <a:rPr sz="1200" spc="-10"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on the </a:t>
            </a:r>
            <a:r>
              <a:rPr sz="1200" spc="-8" dirty="0">
                <a:solidFill>
                  <a:prstClr val="black"/>
                </a:solidFill>
                <a:latin typeface="Cambria" panose="02040503050406030204" pitchFamily="18" charset="0"/>
                <a:ea typeface="Cambria" panose="02040503050406030204" pitchFamily="18" charset="0"/>
                <a:cs typeface="Calibri"/>
              </a:rPr>
              <a:t>Internet</a:t>
            </a:r>
            <a:endParaRPr sz="1200" dirty="0">
              <a:solidFill>
                <a:prstClr val="black"/>
              </a:solidFill>
              <a:latin typeface="Cambria" panose="02040503050406030204" pitchFamily="18" charset="0"/>
              <a:ea typeface="Cambria" panose="02040503050406030204" pitchFamily="18" charset="0"/>
              <a:cs typeface="Calibri"/>
            </a:endParaRPr>
          </a:p>
          <a:p>
            <a:pPr marL="99961" indent="-93969" fontAlgn="base">
              <a:spcBef>
                <a:spcPts val="258"/>
              </a:spcBef>
              <a:spcAft>
                <a:spcPct val="0"/>
              </a:spcAft>
              <a:buFont typeface="Arial MT"/>
              <a:buChar char="•"/>
              <a:tabLst>
                <a:tab pos="100276" algn="l"/>
              </a:tabLst>
            </a:pPr>
            <a:r>
              <a:rPr sz="1200" spc="-2" dirty="0">
                <a:solidFill>
                  <a:prstClr val="black"/>
                </a:solidFill>
                <a:latin typeface="Cambria" panose="02040503050406030204" pitchFamily="18" charset="0"/>
                <a:ea typeface="Cambria" panose="02040503050406030204" pitchFamily="18" charset="0"/>
                <a:cs typeface="Calibri"/>
              </a:rPr>
              <a:t>I</a:t>
            </a:r>
            <a:r>
              <a:rPr sz="1200" dirty="0">
                <a:solidFill>
                  <a:prstClr val="black"/>
                </a:solidFill>
                <a:latin typeface="Cambria" panose="02040503050406030204" pitchFamily="18" charset="0"/>
                <a:ea typeface="Cambria" panose="02040503050406030204" pitchFamily="18" charset="0"/>
                <a:cs typeface="Calibri"/>
              </a:rPr>
              <a:t> </a:t>
            </a:r>
            <a:r>
              <a:rPr sz="1200" spc="-8" dirty="0">
                <a:solidFill>
                  <a:prstClr val="black"/>
                </a:solidFill>
                <a:latin typeface="Cambria" panose="02040503050406030204" pitchFamily="18" charset="0"/>
                <a:ea typeface="Cambria" panose="02040503050406030204" pitchFamily="18" charset="0"/>
                <a:cs typeface="Calibri"/>
              </a:rPr>
              <a:t>here</a:t>
            </a:r>
            <a:r>
              <a:rPr sz="1200"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by</a:t>
            </a:r>
            <a:r>
              <a:rPr sz="1200" spc="2"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acknowledge</a:t>
            </a:r>
            <a:r>
              <a:rPr sz="1200"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all</a:t>
            </a:r>
            <a:r>
              <a:rPr sz="1200"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the</a:t>
            </a:r>
            <a:r>
              <a:rPr sz="1200" spc="2" dirty="0">
                <a:solidFill>
                  <a:prstClr val="black"/>
                </a:solidFill>
                <a:latin typeface="Cambria" panose="02040503050406030204" pitchFamily="18" charset="0"/>
                <a:ea typeface="Cambria" panose="02040503050406030204" pitchFamily="18" charset="0"/>
                <a:cs typeface="Calibri"/>
              </a:rPr>
              <a:t> </a:t>
            </a:r>
            <a:r>
              <a:rPr sz="1200" spc="-8" dirty="0">
                <a:solidFill>
                  <a:prstClr val="black"/>
                </a:solidFill>
                <a:latin typeface="Cambria" panose="02040503050406030204" pitchFamily="18" charset="0"/>
                <a:ea typeface="Cambria" panose="02040503050406030204" pitchFamily="18" charset="0"/>
                <a:cs typeface="Calibri"/>
              </a:rPr>
              <a:t>contributors</a:t>
            </a:r>
            <a:r>
              <a:rPr sz="1200" dirty="0">
                <a:solidFill>
                  <a:prstClr val="black"/>
                </a:solidFill>
                <a:latin typeface="Cambria" panose="02040503050406030204" pitchFamily="18" charset="0"/>
                <a:ea typeface="Cambria" panose="02040503050406030204" pitchFamily="18" charset="0"/>
                <a:cs typeface="Calibri"/>
              </a:rPr>
              <a:t> </a:t>
            </a:r>
            <a:r>
              <a:rPr sz="1200" spc="-10" dirty="0">
                <a:solidFill>
                  <a:prstClr val="black"/>
                </a:solidFill>
                <a:latin typeface="Cambria" panose="02040503050406030204" pitchFamily="18" charset="0"/>
                <a:ea typeface="Cambria" panose="02040503050406030204" pitchFamily="18" charset="0"/>
                <a:cs typeface="Calibri"/>
              </a:rPr>
              <a:t>for</a:t>
            </a:r>
            <a:r>
              <a:rPr sz="1200"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their</a:t>
            </a:r>
            <a:r>
              <a:rPr sz="1200"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material</a:t>
            </a:r>
            <a:r>
              <a:rPr sz="1200"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and</a:t>
            </a:r>
            <a:r>
              <a:rPr sz="1200" spc="2"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inputs.</a:t>
            </a:r>
            <a:endParaRPr sz="1200" dirty="0">
              <a:solidFill>
                <a:prstClr val="black"/>
              </a:solidFill>
              <a:latin typeface="Cambria" panose="02040503050406030204" pitchFamily="18" charset="0"/>
              <a:ea typeface="Cambria" panose="02040503050406030204" pitchFamily="18" charset="0"/>
              <a:cs typeface="Calibri"/>
            </a:endParaRPr>
          </a:p>
          <a:p>
            <a:pPr marL="99961" indent="-93969" fontAlgn="base">
              <a:spcBef>
                <a:spcPts val="281"/>
              </a:spcBef>
              <a:spcAft>
                <a:spcPct val="0"/>
              </a:spcAft>
              <a:buFont typeface="Arial MT"/>
              <a:buChar char="•"/>
              <a:tabLst>
                <a:tab pos="100276" algn="l"/>
              </a:tabLst>
            </a:pPr>
            <a:r>
              <a:rPr sz="1200" spc="-2" dirty="0">
                <a:solidFill>
                  <a:prstClr val="black"/>
                </a:solidFill>
                <a:latin typeface="Cambria" panose="02040503050406030204" pitchFamily="18" charset="0"/>
                <a:ea typeface="Cambria" panose="02040503050406030204" pitchFamily="18" charset="0"/>
                <a:cs typeface="Calibri"/>
              </a:rPr>
              <a:t>I </a:t>
            </a:r>
            <a:r>
              <a:rPr sz="1200" spc="-10" dirty="0">
                <a:solidFill>
                  <a:prstClr val="black"/>
                </a:solidFill>
                <a:latin typeface="Cambria" panose="02040503050406030204" pitchFamily="18" charset="0"/>
                <a:ea typeface="Cambria" panose="02040503050406030204" pitchFamily="18" charset="0"/>
                <a:cs typeface="Calibri"/>
              </a:rPr>
              <a:t>have</a:t>
            </a:r>
            <a:r>
              <a:rPr sz="1200" spc="-2"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provided</a:t>
            </a:r>
            <a:r>
              <a:rPr sz="1200" spc="-8"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source</a:t>
            </a:r>
            <a:r>
              <a:rPr sz="1200" spc="-8" dirty="0">
                <a:solidFill>
                  <a:prstClr val="black"/>
                </a:solidFill>
                <a:latin typeface="Cambria" panose="02040503050406030204" pitchFamily="18" charset="0"/>
                <a:ea typeface="Cambria" panose="02040503050406030204" pitchFamily="18" charset="0"/>
                <a:cs typeface="Calibri"/>
              </a:rPr>
              <a:t> information</a:t>
            </a:r>
            <a:r>
              <a:rPr sz="1200" spc="-2" dirty="0">
                <a:solidFill>
                  <a:prstClr val="black"/>
                </a:solidFill>
                <a:latin typeface="Cambria" panose="02040503050406030204" pitchFamily="18" charset="0"/>
                <a:ea typeface="Cambria" panose="02040503050406030204" pitchFamily="18" charset="0"/>
                <a:cs typeface="Calibri"/>
              </a:rPr>
              <a:t> </a:t>
            </a:r>
            <a:r>
              <a:rPr sz="1200" spc="-8" dirty="0">
                <a:solidFill>
                  <a:prstClr val="black"/>
                </a:solidFill>
                <a:latin typeface="Cambria" panose="02040503050406030204" pitchFamily="18" charset="0"/>
                <a:ea typeface="Cambria" panose="02040503050406030204" pitchFamily="18" charset="0"/>
                <a:cs typeface="Calibri"/>
              </a:rPr>
              <a:t>wherever </a:t>
            </a:r>
            <a:r>
              <a:rPr sz="1200" spc="-2" dirty="0">
                <a:solidFill>
                  <a:prstClr val="black"/>
                </a:solidFill>
                <a:latin typeface="Cambria" panose="02040503050406030204" pitchFamily="18" charset="0"/>
                <a:ea typeface="Cambria" panose="02040503050406030204" pitchFamily="18" charset="0"/>
                <a:cs typeface="Calibri"/>
              </a:rPr>
              <a:t>necessary</a:t>
            </a:r>
            <a:endParaRPr sz="1200" dirty="0">
              <a:solidFill>
                <a:prstClr val="black"/>
              </a:solidFill>
              <a:latin typeface="Cambria" panose="02040503050406030204" pitchFamily="18" charset="0"/>
              <a:ea typeface="Cambria" panose="02040503050406030204" pitchFamily="18" charset="0"/>
              <a:cs typeface="Calibri"/>
            </a:endParaRPr>
          </a:p>
          <a:p>
            <a:pPr marL="99961" indent="-93969" fontAlgn="base">
              <a:spcBef>
                <a:spcPts val="281"/>
              </a:spcBef>
              <a:spcAft>
                <a:spcPct val="0"/>
              </a:spcAft>
              <a:buFont typeface="Arial MT"/>
              <a:buChar char="•"/>
              <a:tabLst>
                <a:tab pos="100276" algn="l"/>
              </a:tabLst>
            </a:pPr>
            <a:r>
              <a:rPr sz="1200" spc="-2" dirty="0">
                <a:solidFill>
                  <a:prstClr val="black"/>
                </a:solidFill>
                <a:latin typeface="Cambria" panose="02040503050406030204" pitchFamily="18" charset="0"/>
                <a:ea typeface="Cambria" panose="02040503050406030204" pitchFamily="18" charset="0"/>
                <a:cs typeface="Calibri"/>
              </a:rPr>
              <a:t>I </a:t>
            </a:r>
            <a:r>
              <a:rPr sz="1200" spc="-10" dirty="0">
                <a:solidFill>
                  <a:prstClr val="black"/>
                </a:solidFill>
                <a:latin typeface="Cambria" panose="02040503050406030204" pitchFamily="18" charset="0"/>
                <a:ea typeface="Cambria" panose="02040503050406030204" pitchFamily="18" charset="0"/>
                <a:cs typeface="Calibri"/>
              </a:rPr>
              <a:t>have</a:t>
            </a:r>
            <a:r>
              <a:rPr sz="1200" spc="-2" dirty="0">
                <a:solidFill>
                  <a:prstClr val="black"/>
                </a:solidFill>
                <a:latin typeface="Cambria" panose="02040503050406030204" pitchFamily="18" charset="0"/>
                <a:ea typeface="Cambria" panose="02040503050406030204" pitchFamily="18" charset="0"/>
                <a:cs typeface="Calibri"/>
              </a:rPr>
              <a:t> added</a:t>
            </a:r>
            <a:r>
              <a:rPr sz="1200" spc="-8"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and </a:t>
            </a:r>
            <a:r>
              <a:rPr sz="1200" spc="-5" dirty="0">
                <a:solidFill>
                  <a:prstClr val="black"/>
                </a:solidFill>
                <a:latin typeface="Cambria" panose="02040503050406030204" pitchFamily="18" charset="0"/>
                <a:ea typeface="Cambria" panose="02040503050406030204" pitchFamily="18" charset="0"/>
                <a:cs typeface="Calibri"/>
              </a:rPr>
              <a:t>modified</a:t>
            </a:r>
            <a:r>
              <a:rPr sz="1200" spc="-8"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the</a:t>
            </a:r>
            <a:r>
              <a:rPr sz="1200" spc="-8" dirty="0">
                <a:solidFill>
                  <a:prstClr val="black"/>
                </a:solidFill>
                <a:latin typeface="Cambria" panose="02040503050406030204" pitchFamily="18" charset="0"/>
                <a:ea typeface="Cambria" panose="02040503050406030204" pitchFamily="18" charset="0"/>
                <a:cs typeface="Calibri"/>
              </a:rPr>
              <a:t> content to</a:t>
            </a:r>
            <a:r>
              <a:rPr sz="1200" spc="-2" dirty="0">
                <a:solidFill>
                  <a:prstClr val="black"/>
                </a:solidFill>
                <a:latin typeface="Cambria" panose="02040503050406030204" pitchFamily="18" charset="0"/>
                <a:ea typeface="Cambria" panose="02040503050406030204" pitchFamily="18" charset="0"/>
                <a:cs typeface="Calibri"/>
              </a:rPr>
              <a:t> suit the</a:t>
            </a:r>
            <a:r>
              <a:rPr sz="1200" spc="-8"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requirements</a:t>
            </a:r>
            <a:r>
              <a:rPr sz="1200" spc="-12"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of the</a:t>
            </a:r>
            <a:r>
              <a:rPr sz="1200" spc="-8" dirty="0">
                <a:solidFill>
                  <a:prstClr val="black"/>
                </a:solidFill>
                <a:latin typeface="Cambria" panose="02040503050406030204" pitchFamily="18" charset="0"/>
                <a:ea typeface="Cambria" panose="02040503050406030204" pitchFamily="18" charset="0"/>
                <a:cs typeface="Calibri"/>
              </a:rPr>
              <a:t> course</a:t>
            </a:r>
            <a:endParaRPr sz="1200" dirty="0">
              <a:solidFill>
                <a:prstClr val="black"/>
              </a:solidFill>
              <a:latin typeface="Cambria" panose="02040503050406030204" pitchFamily="18" charset="0"/>
              <a:ea typeface="Cambria" panose="02040503050406030204" pitchFamily="18" charset="0"/>
              <a:cs typeface="Calibri"/>
            </a:endParaRPr>
          </a:p>
        </p:txBody>
      </p:sp>
      <p:sp>
        <p:nvSpPr>
          <p:cNvPr id="4" name="object 4"/>
          <p:cNvSpPr txBox="1"/>
          <p:nvPr/>
        </p:nvSpPr>
        <p:spPr>
          <a:xfrm>
            <a:off x="3720414" y="1901244"/>
            <a:ext cx="4274196" cy="315418"/>
          </a:xfrm>
          <a:prstGeom prst="rect">
            <a:avLst/>
          </a:prstGeom>
        </p:spPr>
        <p:txBody>
          <a:bodyPr vert="horz" wrap="square" lIns="0" tIns="7568" rIns="0" bIns="0" rtlCol="0">
            <a:spAutoFit/>
          </a:bodyPr>
          <a:lstStyle/>
          <a:p>
            <a:pPr marL="6306" fontAlgn="base">
              <a:spcBef>
                <a:spcPts val="59"/>
              </a:spcBef>
              <a:spcAft>
                <a:spcPct val="0"/>
              </a:spcAft>
            </a:pPr>
            <a:r>
              <a:rPr sz="2000" spc="-8" dirty="0">
                <a:solidFill>
                  <a:srgbClr val="1C1572"/>
                </a:solidFill>
                <a:latin typeface="Cambria" panose="02040503050406030204" pitchFamily="18" charset="0"/>
                <a:ea typeface="Cambria" panose="02040503050406030204" pitchFamily="18" charset="0"/>
                <a:cs typeface="Calibri Light"/>
              </a:rPr>
              <a:t>Disclaimer</a:t>
            </a:r>
            <a:r>
              <a:rPr sz="2000" spc="-35" dirty="0">
                <a:solidFill>
                  <a:srgbClr val="1C1572"/>
                </a:solidFill>
                <a:latin typeface="Cambria" panose="02040503050406030204" pitchFamily="18" charset="0"/>
                <a:ea typeface="Cambria" panose="02040503050406030204" pitchFamily="18" charset="0"/>
                <a:cs typeface="Calibri Light"/>
              </a:rPr>
              <a:t> </a:t>
            </a:r>
            <a:r>
              <a:rPr sz="2000" spc="-5" dirty="0">
                <a:solidFill>
                  <a:srgbClr val="1C1572"/>
                </a:solidFill>
                <a:latin typeface="Cambria" panose="02040503050406030204" pitchFamily="18" charset="0"/>
                <a:ea typeface="Cambria" panose="02040503050406030204" pitchFamily="18" charset="0"/>
                <a:cs typeface="Calibri Light"/>
              </a:rPr>
              <a:t>and</a:t>
            </a:r>
            <a:r>
              <a:rPr sz="2000" spc="-35" dirty="0">
                <a:solidFill>
                  <a:srgbClr val="1C1572"/>
                </a:solidFill>
                <a:latin typeface="Cambria" panose="02040503050406030204" pitchFamily="18" charset="0"/>
                <a:ea typeface="Cambria" panose="02040503050406030204" pitchFamily="18" charset="0"/>
                <a:cs typeface="Calibri Light"/>
              </a:rPr>
              <a:t> </a:t>
            </a:r>
            <a:r>
              <a:rPr sz="2000" spc="-12" dirty="0">
                <a:solidFill>
                  <a:srgbClr val="1C1572"/>
                </a:solidFill>
                <a:latin typeface="Cambria" panose="02040503050406030204" pitchFamily="18" charset="0"/>
                <a:ea typeface="Cambria" panose="02040503050406030204" pitchFamily="18" charset="0"/>
                <a:cs typeface="Calibri Light"/>
              </a:rPr>
              <a:t>Acknowledgement</a:t>
            </a:r>
            <a:endParaRPr sz="2000" dirty="0">
              <a:solidFill>
                <a:prstClr val="black"/>
              </a:solidFill>
              <a:latin typeface="Cambria" panose="02040503050406030204" pitchFamily="18" charset="0"/>
              <a:ea typeface="Cambria" panose="02040503050406030204" pitchFamily="18" charset="0"/>
              <a:cs typeface="Calibri Light"/>
            </a:endParaRPr>
          </a:p>
        </p:txBody>
      </p:sp>
      <p:pic>
        <p:nvPicPr>
          <p:cNvPr id="5" name="object 5"/>
          <p:cNvPicPr/>
          <p:nvPr/>
        </p:nvPicPr>
        <p:blipFill>
          <a:blip r:embed="rId2" cstate="print"/>
          <a:stretch>
            <a:fillRect/>
          </a:stretch>
        </p:blipFill>
        <p:spPr>
          <a:xfrm>
            <a:off x="5280598" y="2823275"/>
            <a:ext cx="815403" cy="891476"/>
          </a:xfrm>
          <a:prstGeom prst="rect">
            <a:avLst/>
          </a:prstGeom>
        </p:spPr>
      </p:pic>
      <p:sp>
        <p:nvSpPr>
          <p:cNvPr id="6" name="TextBox 5">
            <a:extLst>
              <a:ext uri="{FF2B5EF4-FFF2-40B4-BE49-F238E27FC236}">
                <a16:creationId xmlns:a16="http://schemas.microsoft.com/office/drawing/2014/main" id="{AF9C15CA-79C9-B62F-9BF2-3B671D0D37FE}"/>
              </a:ext>
            </a:extLst>
          </p:cNvPr>
          <p:cNvSpPr txBox="1"/>
          <p:nvPr/>
        </p:nvSpPr>
        <p:spPr>
          <a:xfrm>
            <a:off x="711353" y="94302"/>
            <a:ext cx="8487732" cy="1200329"/>
          </a:xfrm>
          <a:prstGeom prst="rect">
            <a:avLst/>
          </a:prstGeom>
        </p:spPr>
        <p:txBody>
          <a:bodyPr vert="horz" lIns="91440" tIns="45720" rIns="91440" bIns="45720" rtlCol="0" anchor="ctr">
            <a:normAutofit/>
          </a:bodyPr>
          <a:lstStyle>
            <a:lvl1pPr>
              <a:defRPr sz="3600" b="0">
                <a:latin typeface="Cambria" panose="02040503050406030204" pitchFamily="18" charset="0"/>
                <a:ea typeface="Cambria" panose="02040503050406030204" pitchFamily="18" charset="0"/>
                <a:cs typeface="+mj-cs"/>
              </a:defRPr>
            </a:lvl1pPr>
          </a:lstStyle>
          <a:p>
            <a:r>
              <a:rPr lang="en-US" dirty="0"/>
              <a:t>Large Language Models for Gen AI</a:t>
            </a:r>
            <a:endParaRPr lang="en-IN" dirty="0"/>
          </a:p>
        </p:txBody>
      </p:sp>
    </p:spTree>
    <p:extLst>
      <p:ext uri="{BB962C8B-B14F-4D97-AF65-F5344CB8AC3E}">
        <p14:creationId xmlns:p14="http://schemas.microsoft.com/office/powerpoint/2010/main" val="3471112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6024A0E-1958-FB92-B8BF-E6172C942CA5}"/>
              </a:ext>
            </a:extLst>
          </p:cNvPr>
          <p:cNvSpPr>
            <a:spLocks noGrp="1"/>
          </p:cNvSpPr>
          <p:nvPr>
            <p:ph idx="10"/>
          </p:nvPr>
        </p:nvSpPr>
        <p:spPr>
          <a:xfrm>
            <a:off x="0" y="1435055"/>
            <a:ext cx="12192000" cy="5296251"/>
          </a:xfrm>
        </p:spPr>
        <p:txBody>
          <a:bodyPr>
            <a:normAutofit/>
          </a:bodyPr>
          <a:lstStyle/>
          <a:p>
            <a:pPr marL="342900" indent="-342900">
              <a:buFont typeface="Arial" panose="020B0604020202020204" pitchFamily="34" charset="0"/>
              <a:buChar char="•"/>
            </a:pPr>
            <a:r>
              <a:rPr lang="en-IN" dirty="0">
                <a:solidFill>
                  <a:schemeClr val="tx1"/>
                </a:solidFill>
              </a:rPr>
              <a:t>Prompt Components &amp; Design</a:t>
            </a:r>
          </a:p>
          <a:p>
            <a:pPr marL="342900" indent="-342900">
              <a:buFont typeface="Arial" panose="020B0604020202020204" pitchFamily="34" charset="0"/>
              <a:buChar char="•"/>
            </a:pPr>
            <a:r>
              <a:rPr lang="en-IN" dirty="0">
                <a:solidFill>
                  <a:schemeClr val="tx1"/>
                </a:solidFill>
              </a:rPr>
              <a:t>Prompting Paradigms: Zero-shot</a:t>
            </a:r>
            <a:r>
              <a:rPr lang="en-IN" dirty="0"/>
              <a:t>, </a:t>
            </a:r>
            <a:r>
              <a:rPr lang="en-IN" dirty="0">
                <a:solidFill>
                  <a:schemeClr val="tx1"/>
                </a:solidFill>
              </a:rPr>
              <a:t> Few-shot. </a:t>
            </a:r>
            <a:r>
              <a:rPr lang="en-IN" dirty="0"/>
              <a:t>In-Context Learning</a:t>
            </a:r>
          </a:p>
          <a:p>
            <a:pPr marL="342900" indent="-342900">
              <a:buFont typeface="Arial" panose="020B0604020202020204" pitchFamily="34" charset="0"/>
              <a:buChar char="•"/>
            </a:pPr>
            <a:r>
              <a:rPr lang="en-IN" dirty="0">
                <a:solidFill>
                  <a:schemeClr val="tx1"/>
                </a:solidFill>
              </a:rPr>
              <a:t>Structured Reasoning : Chain-of-Thought (</a:t>
            </a:r>
            <a:r>
              <a:rPr lang="en-IN" dirty="0" err="1">
                <a:solidFill>
                  <a:schemeClr val="tx1"/>
                </a:solidFill>
              </a:rPr>
              <a:t>CoT</a:t>
            </a:r>
            <a:r>
              <a:rPr lang="en-IN" dirty="0">
                <a:solidFill>
                  <a:schemeClr val="tx1"/>
                </a:solidFill>
              </a:rPr>
              <a:t>), </a:t>
            </a:r>
            <a:r>
              <a:rPr lang="en-IN" dirty="0" err="1">
                <a:solidFill>
                  <a:schemeClr val="tx1"/>
                </a:solidFill>
              </a:rPr>
              <a:t>ToT</a:t>
            </a:r>
            <a:r>
              <a:rPr lang="en-IN" dirty="0">
                <a:solidFill>
                  <a:schemeClr val="tx1"/>
                </a:solidFill>
              </a:rPr>
              <a:t>, Self consistency</a:t>
            </a:r>
          </a:p>
          <a:p>
            <a:pPr marL="342900" indent="-342900" algn="l">
              <a:buFont typeface="Arial" panose="020B0604020202020204" pitchFamily="34" charset="0"/>
              <a:buChar char="•"/>
            </a:pPr>
            <a:r>
              <a:rPr lang="en-IN" dirty="0">
                <a:solidFill>
                  <a:schemeClr val="tx1"/>
                </a:solidFill>
              </a:rPr>
              <a:t>Iterative Reasoning : </a:t>
            </a:r>
            <a:r>
              <a:rPr lang="en-IN" dirty="0" err="1">
                <a:solidFill>
                  <a:schemeClr val="tx1"/>
                </a:solidFill>
              </a:rPr>
              <a:t>ReACT</a:t>
            </a:r>
            <a:r>
              <a:rPr lang="en-IN" dirty="0">
                <a:solidFill>
                  <a:schemeClr val="tx1"/>
                </a:solidFill>
              </a:rPr>
              <a:t>,</a:t>
            </a:r>
            <a:r>
              <a:rPr lang="en-US" b="1" dirty="0">
                <a:solidFill>
                  <a:schemeClr val="tx1"/>
                </a:solidFill>
                <a:cs typeface="Calibri" pitchFamily="34" charset="-120"/>
              </a:rPr>
              <a:t> </a:t>
            </a:r>
            <a:r>
              <a:rPr lang="en-US" dirty="0">
                <a:solidFill>
                  <a:schemeClr val="tx1"/>
                </a:solidFill>
                <a:cs typeface="Calibri" pitchFamily="34" charset="-120"/>
              </a:rPr>
              <a:t>Self-Reflection / Critique</a:t>
            </a:r>
            <a:endParaRPr lang="en-US" dirty="0">
              <a:solidFill>
                <a:schemeClr val="tx1"/>
              </a:solidFill>
            </a:endParaRPr>
          </a:p>
          <a:p>
            <a:pPr marL="342900" indent="-342900">
              <a:buFont typeface="Arial" panose="020B0604020202020204" pitchFamily="34" charset="0"/>
              <a:buChar char="•"/>
            </a:pPr>
            <a:r>
              <a:rPr lang="en-IN" dirty="0">
                <a:solidFill>
                  <a:schemeClr val="tx1"/>
                </a:solidFill>
              </a:rPr>
              <a:t>Prompt Engineering as System Design : Prompt Chaining &amp; Control Flow, Query Decomposition, Routing / Query Classification, Function-Calling</a:t>
            </a:r>
          </a:p>
          <a:p>
            <a:pPr marL="342900" indent="-342900">
              <a:buFont typeface="Arial" panose="020B0604020202020204" pitchFamily="34" charset="0"/>
              <a:buChar char="•"/>
            </a:pPr>
            <a:r>
              <a:rPr lang="en-US" dirty="0">
                <a:solidFill>
                  <a:schemeClr val="tx1"/>
                </a:solidFill>
              </a:rPr>
              <a:t>Structured Data Handling</a:t>
            </a:r>
          </a:p>
          <a:p>
            <a:pPr marL="800100" lvl="1" indent="-342900">
              <a:buFont typeface="Arial" panose="020B0604020202020204" pitchFamily="34" charset="0"/>
              <a:buChar char="•"/>
            </a:pPr>
            <a:r>
              <a:rPr lang="en-US" dirty="0">
                <a:solidFill>
                  <a:schemeClr val="tx1"/>
                </a:solidFill>
              </a:rPr>
              <a:t>   Input  — Handling Tables with LLMs (serialize / image / query)</a:t>
            </a:r>
          </a:p>
          <a:p>
            <a:pPr marL="800100" lvl="1" indent="-342900">
              <a:buFont typeface="Arial" panose="020B0604020202020204" pitchFamily="34" charset="0"/>
              <a:buChar char="•"/>
            </a:pPr>
            <a:r>
              <a:rPr lang="en-US" dirty="0">
                <a:solidFill>
                  <a:schemeClr val="tx1"/>
                </a:solidFill>
              </a:rPr>
              <a:t>   Output — Verification, Structured Generation, Constrained Decoding</a:t>
            </a:r>
            <a:endParaRPr lang="en-IN" dirty="0">
              <a:solidFill>
                <a:schemeClr val="tx1"/>
              </a:solidFill>
            </a:endParaRPr>
          </a:p>
          <a:p>
            <a:pPr marL="342900" indent="-342900">
              <a:buFont typeface="Arial" panose="020B0604020202020204" pitchFamily="34" charset="0"/>
              <a:buChar char="•"/>
            </a:pPr>
            <a:r>
              <a:rPr lang="en-IN" dirty="0">
                <a:solidFill>
                  <a:schemeClr val="tx1"/>
                </a:solidFill>
              </a:rPr>
              <a:t>Automated Prompt Optimization</a:t>
            </a:r>
          </a:p>
          <a:p>
            <a:pPr marL="342900" indent="-342900">
              <a:buFont typeface="Arial" panose="020B0604020202020204" pitchFamily="34" charset="0"/>
              <a:buChar char="•"/>
            </a:pPr>
            <a:r>
              <a:rPr lang="en-IN" dirty="0">
                <a:solidFill>
                  <a:schemeClr val="tx1"/>
                </a:solidFill>
              </a:rPr>
              <a:t>Test-Time Compute Scaling</a:t>
            </a:r>
          </a:p>
          <a:p>
            <a:pPr marL="342900" indent="-342900">
              <a:buFont typeface="Arial" panose="020B0604020202020204" pitchFamily="34" charset="0"/>
              <a:buChar char="•"/>
            </a:pPr>
            <a:r>
              <a:rPr lang="en-IN" dirty="0">
                <a:solidFill>
                  <a:schemeClr val="tx1"/>
                </a:solidFill>
              </a:rPr>
              <a:t>Context Engineering</a:t>
            </a:r>
          </a:p>
          <a:p>
            <a:pPr marL="342900" indent="-342900">
              <a:buFont typeface="Arial" panose="020B0604020202020204" pitchFamily="34" charset="0"/>
              <a:buChar char="•"/>
            </a:pPr>
            <a:endParaRPr lang="en-IN" dirty="0">
              <a:solidFill>
                <a:schemeClr val="tx1"/>
              </a:solidFill>
            </a:endParaRPr>
          </a:p>
          <a:p>
            <a:pPr marL="342900" indent="-342900">
              <a:buFont typeface="Arial" panose="020B0604020202020204" pitchFamily="34" charset="0"/>
              <a:buChar char="•"/>
            </a:pPr>
            <a:endParaRPr lang="en-IN" dirty="0">
              <a:solidFill>
                <a:schemeClr val="tx1"/>
              </a:solidFill>
            </a:endParaRPr>
          </a:p>
        </p:txBody>
      </p:sp>
      <p:sp>
        <p:nvSpPr>
          <p:cNvPr id="3" name="Title 2">
            <a:extLst>
              <a:ext uri="{FF2B5EF4-FFF2-40B4-BE49-F238E27FC236}">
                <a16:creationId xmlns:a16="http://schemas.microsoft.com/office/drawing/2014/main" id="{9B36DCAD-88F7-66EC-C04F-36AB870311DA}"/>
              </a:ext>
            </a:extLst>
          </p:cNvPr>
          <p:cNvSpPr>
            <a:spLocks noGrp="1"/>
          </p:cNvSpPr>
          <p:nvPr>
            <p:ph type="title"/>
          </p:nvPr>
        </p:nvSpPr>
        <p:spPr/>
        <p:txBody>
          <a:bodyPr/>
          <a:lstStyle/>
          <a:p>
            <a:r>
              <a:rPr lang="en-US" dirty="0"/>
              <a:t>Agenda</a:t>
            </a:r>
            <a:endParaRPr lang="en-IN" dirty="0"/>
          </a:p>
        </p:txBody>
      </p:sp>
    </p:spTree>
    <p:extLst>
      <p:ext uri="{BB962C8B-B14F-4D97-AF65-F5344CB8AC3E}">
        <p14:creationId xmlns:p14="http://schemas.microsoft.com/office/powerpoint/2010/main" val="1619991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04801" y="0"/>
            <a:ext cx="10881209" cy="605307"/>
          </a:xfrm>
        </p:spPr>
        <p:txBody>
          <a:bodyPr>
            <a:normAutofit fontScale="90000"/>
          </a:bodyPr>
          <a:lstStyle/>
          <a:p>
            <a:r>
              <a:rPr lang="en-US" dirty="0"/>
              <a:t>Instruction prompting </a:t>
            </a:r>
            <a:endParaRPr lang="en-IN" dirty="0"/>
          </a:p>
        </p:txBody>
      </p:sp>
      <p:pic>
        <p:nvPicPr>
          <p:cNvPr id="2" name="Picture 1"/>
          <p:cNvPicPr>
            <a:picLocks noChangeAspect="1"/>
          </p:cNvPicPr>
          <p:nvPr/>
        </p:nvPicPr>
        <p:blipFill>
          <a:blip r:embed="rId2"/>
          <a:stretch>
            <a:fillRect/>
          </a:stretch>
        </p:blipFill>
        <p:spPr>
          <a:xfrm>
            <a:off x="5756681" y="2861896"/>
            <a:ext cx="5823515" cy="3428931"/>
          </a:xfrm>
          <a:prstGeom prst="rect">
            <a:avLst/>
          </a:prstGeom>
        </p:spPr>
      </p:pic>
      <p:pic>
        <p:nvPicPr>
          <p:cNvPr id="8" name="Picture 7">
            <a:extLst>
              <a:ext uri="{FF2B5EF4-FFF2-40B4-BE49-F238E27FC236}">
                <a16:creationId xmlns:a16="http://schemas.microsoft.com/office/drawing/2014/main" id="{A0898D67-A973-6F3C-69EE-489233B2FE06}"/>
              </a:ext>
            </a:extLst>
          </p:cNvPr>
          <p:cNvPicPr>
            <a:picLocks noChangeAspect="1"/>
          </p:cNvPicPr>
          <p:nvPr/>
        </p:nvPicPr>
        <p:blipFill>
          <a:blip r:embed="rId3"/>
          <a:stretch>
            <a:fillRect/>
          </a:stretch>
        </p:blipFill>
        <p:spPr>
          <a:xfrm>
            <a:off x="528810" y="2861896"/>
            <a:ext cx="4671152" cy="3736922"/>
          </a:xfrm>
          <a:prstGeom prst="rect">
            <a:avLst/>
          </a:prstGeom>
        </p:spPr>
      </p:pic>
      <p:sp>
        <p:nvSpPr>
          <p:cNvPr id="10" name="TextBox 9">
            <a:extLst>
              <a:ext uri="{FF2B5EF4-FFF2-40B4-BE49-F238E27FC236}">
                <a16:creationId xmlns:a16="http://schemas.microsoft.com/office/drawing/2014/main" id="{5696E36B-BE4F-E6BF-1F29-76D35DA47BE8}"/>
              </a:ext>
            </a:extLst>
          </p:cNvPr>
          <p:cNvSpPr txBox="1"/>
          <p:nvPr/>
        </p:nvSpPr>
        <p:spPr>
          <a:xfrm>
            <a:off x="244665" y="1383767"/>
            <a:ext cx="11702669" cy="1323439"/>
          </a:xfrm>
          <a:prstGeom prst="rect">
            <a:avLst/>
          </a:prstGeom>
          <a:noFill/>
        </p:spPr>
        <p:txBody>
          <a:bodyPr wrap="square">
            <a:spAutoFit/>
          </a:bodyPr>
          <a:lstStyle/>
          <a:p>
            <a:r>
              <a:rPr lang="en-IN" sz="2000" b="1" dirty="0">
                <a:latin typeface="Cambria" panose="02040503050406030204" pitchFamily="18" charset="0"/>
                <a:ea typeface="Cambria" panose="02040503050406030204" pitchFamily="18" charset="0"/>
              </a:rPr>
              <a:t>Instruction tuning is what </a:t>
            </a:r>
            <a:r>
              <a:rPr lang="en-IN" sz="2000" b="1" i="1" dirty="0">
                <a:latin typeface="Cambria" panose="02040503050406030204" pitchFamily="18" charset="0"/>
                <a:ea typeface="Cambria" panose="02040503050406030204" pitchFamily="18" charset="0"/>
              </a:rPr>
              <a:t>made</a:t>
            </a:r>
            <a:r>
              <a:rPr lang="en-IN" sz="2000" b="1" dirty="0">
                <a:latin typeface="Cambria" panose="02040503050406030204" pitchFamily="18" charset="0"/>
                <a:ea typeface="Cambria" panose="02040503050406030204" pitchFamily="18" charset="0"/>
              </a:rPr>
              <a:t> instruction prompting work.</a:t>
            </a:r>
            <a:r>
              <a:rPr lang="en-IN" sz="2000" dirty="0">
                <a:latin typeface="Cambria" panose="02040503050406030204" pitchFamily="18" charset="0"/>
                <a:ea typeface="Cambria" panose="02040503050406030204" pitchFamily="18" charset="0"/>
              </a:rPr>
              <a:t> Base models don't reliably follow instructions. We fine-tuned them specifically to follow natural-language instructions. </a:t>
            </a:r>
            <a:r>
              <a:rPr lang="en-IN" sz="2000" i="1" dirty="0">
                <a:latin typeface="Cambria" panose="02040503050406030204" pitchFamily="18" charset="0"/>
                <a:ea typeface="Cambria" panose="02040503050406030204" pitchFamily="18" charset="0"/>
              </a:rPr>
              <a:t>Because</a:t>
            </a:r>
            <a:r>
              <a:rPr lang="en-IN" sz="2000" dirty="0">
                <a:latin typeface="Cambria" panose="02040503050406030204" pitchFamily="18" charset="0"/>
                <a:ea typeface="Cambria" panose="02040503050406030204" pitchFamily="18" charset="0"/>
              </a:rPr>
              <a:t> of that tuning, you can now just </a:t>
            </a:r>
            <a:r>
              <a:rPr lang="en-IN" sz="2000" i="1" dirty="0">
                <a:latin typeface="Cambria" panose="02040503050406030204" pitchFamily="18" charset="0"/>
                <a:ea typeface="Cambria" panose="02040503050406030204" pitchFamily="18" charset="0"/>
              </a:rPr>
              <a:t>tell</a:t>
            </a:r>
            <a:r>
              <a:rPr lang="en-IN" sz="2000" dirty="0">
                <a:latin typeface="Cambria" panose="02040503050406030204" pitchFamily="18" charset="0"/>
                <a:ea typeface="Cambria" panose="02040503050406030204" pitchFamily="18" charset="0"/>
              </a:rPr>
              <a:t> the model what to do in plain language — that act of telling is "instruction prompting." The technique exists only because the models were trained to make it work.</a:t>
            </a:r>
          </a:p>
        </p:txBody>
      </p:sp>
    </p:spTree>
    <p:extLst>
      <p:ext uri="{BB962C8B-B14F-4D97-AF65-F5344CB8AC3E}">
        <p14:creationId xmlns:p14="http://schemas.microsoft.com/office/powerpoint/2010/main" val="2045179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609600" y="512064"/>
            <a:ext cx="11338560" cy="670560"/>
          </a:xfrm>
          <a:prstGeom prst="rect">
            <a:avLst/>
          </a:prstGeom>
        </p:spPr>
        <p:txBody>
          <a:bodyPr vert="horz" lIns="91440" tIns="45720" rIns="91440" bIns="45720" rtlCol="0" anchor="ctr">
            <a:normAutofit fontScale="97500"/>
          </a:bodyPr>
          <a:lstStyle/>
          <a:p>
            <a:r>
              <a:rPr lang="en-US" sz="3600" dirty="0">
                <a:latin typeface="Cambria" panose="02040503050406030204" pitchFamily="18" charset="0"/>
                <a:ea typeface="Cambria" panose="02040503050406030204" pitchFamily="18" charset="0"/>
                <a:cs typeface="+mj-cs"/>
              </a:rPr>
              <a:t>Anatomy of a Well-Engineered Prompt</a:t>
            </a:r>
          </a:p>
        </p:txBody>
      </p:sp>
      <p:grpSp>
        <p:nvGrpSpPr>
          <p:cNvPr id="26" name="Group 25">
            <a:extLst>
              <a:ext uri="{FF2B5EF4-FFF2-40B4-BE49-F238E27FC236}">
                <a16:creationId xmlns:a16="http://schemas.microsoft.com/office/drawing/2014/main" id="{59468A71-91C0-127D-98D1-6B733821E161}"/>
              </a:ext>
            </a:extLst>
          </p:cNvPr>
          <p:cNvGrpSpPr/>
          <p:nvPr/>
        </p:nvGrpSpPr>
        <p:grpSpPr>
          <a:xfrm>
            <a:off x="390144" y="1647378"/>
            <a:ext cx="11155680" cy="3998976"/>
            <a:chOff x="609600" y="1438656"/>
            <a:chExt cx="11155680" cy="3998976"/>
          </a:xfrm>
        </p:grpSpPr>
        <p:sp>
          <p:nvSpPr>
            <p:cNvPr id="6" name="Shape 4"/>
            <p:cNvSpPr/>
            <p:nvPr/>
          </p:nvSpPr>
          <p:spPr>
            <a:xfrm>
              <a:off x="609600" y="1438656"/>
              <a:ext cx="3596640" cy="1926336"/>
            </a:xfrm>
            <a:prstGeom prst="roundRect">
              <a:avLst>
                <a:gd name="adj" fmla="val 3797"/>
              </a:avLst>
            </a:prstGeom>
            <a:solidFill>
              <a:srgbClr val="FBF7F0"/>
            </a:solidFill>
            <a:ln/>
            <a:effectLst>
              <a:outerShdw blurRad="63500" dist="19050" dir="2700000" algn="bl" rotWithShape="0">
                <a:srgbClr val="000000">
                  <a:alpha val="12000"/>
                </a:srgbClr>
              </a:outerShdw>
            </a:effectLst>
          </p:spPr>
          <p:txBody>
            <a:bodyPr/>
            <a:lstStyle/>
            <a:p>
              <a:endParaRPr lang="en-IN" sz="2000"/>
            </a:p>
          </p:txBody>
        </p:sp>
        <p:sp>
          <p:nvSpPr>
            <p:cNvPr id="7" name="Text 5"/>
            <p:cNvSpPr/>
            <p:nvPr/>
          </p:nvSpPr>
          <p:spPr>
            <a:xfrm>
              <a:off x="829056" y="1584960"/>
              <a:ext cx="3157728" cy="365760"/>
            </a:xfrm>
            <a:prstGeom prst="rect">
              <a:avLst/>
            </a:prstGeom>
            <a:noFill/>
            <a:ln/>
          </p:spPr>
          <p:txBody>
            <a:bodyPr wrap="square" lIns="0" tIns="0" rIns="0" bIns="0" rtlCol="0" anchor="ctr"/>
            <a:lstStyle/>
            <a:p>
              <a:r>
                <a:rPr lang="en-US" sz="2000" b="1" dirty="0">
                  <a:solidFill>
                    <a:srgbClr val="8B0000"/>
                  </a:solidFill>
                  <a:latin typeface="Calibri" pitchFamily="34" charset="0"/>
                  <a:ea typeface="Calibri" pitchFamily="34" charset="-122"/>
                  <a:cs typeface="Calibri" pitchFamily="34" charset="-120"/>
                </a:rPr>
                <a:t>Role / Persona</a:t>
              </a:r>
              <a:endParaRPr lang="en-US" sz="2000" dirty="0"/>
            </a:p>
          </p:txBody>
        </p:sp>
        <p:sp>
          <p:nvSpPr>
            <p:cNvPr id="8" name="Text 6"/>
            <p:cNvSpPr/>
            <p:nvPr/>
          </p:nvSpPr>
          <p:spPr>
            <a:xfrm>
              <a:off x="829056" y="1987296"/>
              <a:ext cx="3157728" cy="1255776"/>
            </a:xfrm>
            <a:prstGeom prst="rect">
              <a:avLst/>
            </a:prstGeom>
            <a:noFill/>
            <a:ln/>
          </p:spPr>
          <p:txBody>
            <a:bodyPr wrap="square" lIns="0" tIns="0" rIns="0" bIns="0" rtlCol="0" anchor="t"/>
            <a:lstStyle/>
            <a:p>
              <a:pPr>
                <a:lnSpc>
                  <a:spcPct val="102000"/>
                </a:lnSpc>
                <a:spcAft>
                  <a:spcPts val="533"/>
                </a:spcAft>
              </a:pPr>
              <a:r>
                <a:rPr lang="en-US" sz="2000" dirty="0">
                  <a:solidFill>
                    <a:srgbClr val="333333"/>
                  </a:solidFill>
                  <a:latin typeface="Calibri" pitchFamily="34" charset="0"/>
                  <a:ea typeface="Calibri" pitchFamily="34" charset="-122"/>
                  <a:cs typeface="Calibri" pitchFamily="34" charset="-120"/>
                </a:rPr>
                <a:t>Who the model should be — sets tone, expertise, vocabulary. “You are a senior tax consultant…”</a:t>
              </a:r>
              <a:endParaRPr lang="en-US" sz="2000" dirty="0"/>
            </a:p>
          </p:txBody>
        </p:sp>
        <p:sp>
          <p:nvSpPr>
            <p:cNvPr id="9" name="Shape 7"/>
            <p:cNvSpPr/>
            <p:nvPr/>
          </p:nvSpPr>
          <p:spPr>
            <a:xfrm>
              <a:off x="4389120" y="1438656"/>
              <a:ext cx="3596640" cy="1926336"/>
            </a:xfrm>
            <a:prstGeom prst="roundRect">
              <a:avLst>
                <a:gd name="adj" fmla="val 3797"/>
              </a:avLst>
            </a:prstGeom>
            <a:solidFill>
              <a:srgbClr val="FBF7F0"/>
            </a:solidFill>
            <a:ln/>
            <a:effectLst>
              <a:outerShdw blurRad="63500" dist="19050" dir="2700000" algn="bl" rotWithShape="0">
                <a:srgbClr val="000000">
                  <a:alpha val="12000"/>
                </a:srgbClr>
              </a:outerShdw>
            </a:effectLst>
          </p:spPr>
          <p:txBody>
            <a:bodyPr/>
            <a:lstStyle/>
            <a:p>
              <a:endParaRPr lang="en-IN" sz="2000"/>
            </a:p>
          </p:txBody>
        </p:sp>
        <p:sp>
          <p:nvSpPr>
            <p:cNvPr id="10" name="Text 8"/>
            <p:cNvSpPr/>
            <p:nvPr/>
          </p:nvSpPr>
          <p:spPr>
            <a:xfrm>
              <a:off x="4608576" y="1584960"/>
              <a:ext cx="3157728" cy="365760"/>
            </a:xfrm>
            <a:prstGeom prst="rect">
              <a:avLst/>
            </a:prstGeom>
            <a:noFill/>
            <a:ln/>
          </p:spPr>
          <p:txBody>
            <a:bodyPr wrap="square" lIns="0" tIns="0" rIns="0" bIns="0" rtlCol="0" anchor="ctr"/>
            <a:lstStyle/>
            <a:p>
              <a:r>
                <a:rPr lang="en-US" sz="2000" b="1" dirty="0">
                  <a:solidFill>
                    <a:srgbClr val="1F3864"/>
                  </a:solidFill>
                  <a:latin typeface="Calibri" pitchFamily="34" charset="0"/>
                  <a:ea typeface="Calibri" pitchFamily="34" charset="-122"/>
                  <a:cs typeface="Calibri" pitchFamily="34" charset="-120"/>
                </a:rPr>
                <a:t>Instruction / Task</a:t>
              </a:r>
              <a:endParaRPr lang="en-US" sz="2000" dirty="0"/>
            </a:p>
          </p:txBody>
        </p:sp>
        <p:sp>
          <p:nvSpPr>
            <p:cNvPr id="11" name="Text 9"/>
            <p:cNvSpPr/>
            <p:nvPr/>
          </p:nvSpPr>
          <p:spPr>
            <a:xfrm>
              <a:off x="4608576" y="1987296"/>
              <a:ext cx="3157728" cy="1255776"/>
            </a:xfrm>
            <a:prstGeom prst="rect">
              <a:avLst/>
            </a:prstGeom>
            <a:noFill/>
            <a:ln/>
          </p:spPr>
          <p:txBody>
            <a:bodyPr wrap="square" lIns="0" tIns="0" rIns="0" bIns="0" rtlCol="0" anchor="t"/>
            <a:lstStyle/>
            <a:p>
              <a:pPr>
                <a:lnSpc>
                  <a:spcPct val="102000"/>
                </a:lnSpc>
                <a:spcAft>
                  <a:spcPts val="533"/>
                </a:spcAft>
              </a:pPr>
              <a:r>
                <a:rPr lang="en-US" sz="2000" dirty="0">
                  <a:solidFill>
                    <a:srgbClr val="333333"/>
                  </a:solidFill>
                  <a:latin typeface="Calibri" pitchFamily="34" charset="0"/>
                  <a:ea typeface="Calibri" pitchFamily="34" charset="-122"/>
                  <a:cs typeface="Calibri" pitchFamily="34" charset="-120"/>
                </a:rPr>
                <a:t>What to do, precisely: classify, extract, rewrite, compare. One primary task per prompt</a:t>
              </a:r>
              <a:endParaRPr lang="en-US" sz="2000" dirty="0"/>
            </a:p>
          </p:txBody>
        </p:sp>
        <p:sp>
          <p:nvSpPr>
            <p:cNvPr id="12" name="Shape 10"/>
            <p:cNvSpPr/>
            <p:nvPr/>
          </p:nvSpPr>
          <p:spPr>
            <a:xfrm>
              <a:off x="8168640" y="1438656"/>
              <a:ext cx="3596640" cy="1926336"/>
            </a:xfrm>
            <a:prstGeom prst="roundRect">
              <a:avLst>
                <a:gd name="adj" fmla="val 3797"/>
              </a:avLst>
            </a:prstGeom>
            <a:solidFill>
              <a:srgbClr val="FBF7F0"/>
            </a:solidFill>
            <a:ln/>
            <a:effectLst>
              <a:outerShdw blurRad="63500" dist="19050" dir="2700000" algn="bl" rotWithShape="0">
                <a:srgbClr val="000000">
                  <a:alpha val="12000"/>
                </a:srgbClr>
              </a:outerShdw>
            </a:effectLst>
          </p:spPr>
          <p:txBody>
            <a:bodyPr/>
            <a:lstStyle/>
            <a:p>
              <a:endParaRPr lang="en-IN" sz="2000"/>
            </a:p>
          </p:txBody>
        </p:sp>
        <p:sp>
          <p:nvSpPr>
            <p:cNvPr id="13" name="Text 11"/>
            <p:cNvSpPr/>
            <p:nvPr/>
          </p:nvSpPr>
          <p:spPr>
            <a:xfrm>
              <a:off x="8388096" y="1584960"/>
              <a:ext cx="3157728" cy="365760"/>
            </a:xfrm>
            <a:prstGeom prst="rect">
              <a:avLst/>
            </a:prstGeom>
            <a:noFill/>
            <a:ln/>
          </p:spPr>
          <p:txBody>
            <a:bodyPr wrap="square" lIns="0" tIns="0" rIns="0" bIns="0" rtlCol="0" anchor="ctr"/>
            <a:lstStyle/>
            <a:p>
              <a:r>
                <a:rPr lang="en-US" sz="2000" b="1" dirty="0">
                  <a:solidFill>
                    <a:srgbClr val="8B0000"/>
                  </a:solidFill>
                  <a:latin typeface="Calibri" pitchFamily="34" charset="0"/>
                  <a:ea typeface="Calibri" pitchFamily="34" charset="-122"/>
                  <a:cs typeface="Calibri" pitchFamily="34" charset="-120"/>
                </a:rPr>
                <a:t>Context</a:t>
              </a:r>
              <a:endParaRPr lang="en-US" sz="2000" dirty="0"/>
            </a:p>
          </p:txBody>
        </p:sp>
        <p:sp>
          <p:nvSpPr>
            <p:cNvPr id="14" name="Text 12"/>
            <p:cNvSpPr/>
            <p:nvPr/>
          </p:nvSpPr>
          <p:spPr>
            <a:xfrm>
              <a:off x="8388096" y="1987296"/>
              <a:ext cx="3157728" cy="1255776"/>
            </a:xfrm>
            <a:prstGeom prst="rect">
              <a:avLst/>
            </a:prstGeom>
            <a:noFill/>
            <a:ln/>
          </p:spPr>
          <p:txBody>
            <a:bodyPr wrap="square" lIns="0" tIns="0" rIns="0" bIns="0" rtlCol="0" anchor="t"/>
            <a:lstStyle/>
            <a:p>
              <a:pPr>
                <a:lnSpc>
                  <a:spcPct val="102000"/>
                </a:lnSpc>
                <a:spcAft>
                  <a:spcPts val="533"/>
                </a:spcAft>
              </a:pPr>
              <a:r>
                <a:rPr lang="en-US" sz="2000" dirty="0">
                  <a:solidFill>
                    <a:srgbClr val="333333"/>
                  </a:solidFill>
                  <a:latin typeface="Calibri" pitchFamily="34" charset="0"/>
                  <a:ea typeface="Calibri" pitchFamily="34" charset="-122"/>
                  <a:cs typeface="Calibri" pitchFamily="34" charset="-120"/>
                </a:rPr>
                <a:t>Background the model needs: domain facts, retrieved documents, conversation state, constraints</a:t>
              </a:r>
              <a:endParaRPr lang="en-US" sz="2000" dirty="0"/>
            </a:p>
          </p:txBody>
        </p:sp>
        <p:sp>
          <p:nvSpPr>
            <p:cNvPr id="15" name="Shape 13"/>
            <p:cNvSpPr/>
            <p:nvPr/>
          </p:nvSpPr>
          <p:spPr>
            <a:xfrm>
              <a:off x="609600" y="3511296"/>
              <a:ext cx="3596640" cy="1926336"/>
            </a:xfrm>
            <a:prstGeom prst="roundRect">
              <a:avLst>
                <a:gd name="adj" fmla="val 3797"/>
              </a:avLst>
            </a:prstGeom>
            <a:solidFill>
              <a:srgbClr val="F2F5FA"/>
            </a:solidFill>
            <a:ln/>
            <a:effectLst>
              <a:outerShdw blurRad="63500" dist="19050" dir="2700000" algn="bl" rotWithShape="0">
                <a:srgbClr val="000000">
                  <a:alpha val="12000"/>
                </a:srgbClr>
              </a:outerShdw>
            </a:effectLst>
          </p:spPr>
          <p:txBody>
            <a:bodyPr/>
            <a:lstStyle/>
            <a:p>
              <a:endParaRPr lang="en-IN" sz="2000"/>
            </a:p>
          </p:txBody>
        </p:sp>
        <p:sp>
          <p:nvSpPr>
            <p:cNvPr id="16" name="Text 14"/>
            <p:cNvSpPr/>
            <p:nvPr/>
          </p:nvSpPr>
          <p:spPr>
            <a:xfrm>
              <a:off x="829056" y="3657600"/>
              <a:ext cx="3157728" cy="365760"/>
            </a:xfrm>
            <a:prstGeom prst="rect">
              <a:avLst/>
            </a:prstGeom>
            <a:noFill/>
            <a:ln/>
          </p:spPr>
          <p:txBody>
            <a:bodyPr wrap="square" lIns="0" tIns="0" rIns="0" bIns="0" rtlCol="0" anchor="ctr"/>
            <a:lstStyle/>
            <a:p>
              <a:r>
                <a:rPr lang="en-US" sz="2000" b="1" dirty="0">
                  <a:solidFill>
                    <a:srgbClr val="1F3864"/>
                  </a:solidFill>
                  <a:latin typeface="Calibri" pitchFamily="34" charset="0"/>
                  <a:ea typeface="Calibri" pitchFamily="34" charset="-122"/>
                  <a:cs typeface="Calibri" pitchFamily="34" charset="-120"/>
                </a:rPr>
                <a:t>Examples (Shots)</a:t>
              </a:r>
              <a:endParaRPr lang="en-US" sz="2000" dirty="0"/>
            </a:p>
          </p:txBody>
        </p:sp>
        <p:sp>
          <p:nvSpPr>
            <p:cNvPr id="17" name="Text 15"/>
            <p:cNvSpPr/>
            <p:nvPr/>
          </p:nvSpPr>
          <p:spPr>
            <a:xfrm>
              <a:off x="829056" y="4059936"/>
              <a:ext cx="3157728" cy="1255776"/>
            </a:xfrm>
            <a:prstGeom prst="rect">
              <a:avLst/>
            </a:prstGeom>
            <a:noFill/>
            <a:ln/>
          </p:spPr>
          <p:txBody>
            <a:bodyPr wrap="square" lIns="0" tIns="0" rIns="0" bIns="0" rtlCol="0" anchor="t"/>
            <a:lstStyle/>
            <a:p>
              <a:pPr>
                <a:lnSpc>
                  <a:spcPct val="102000"/>
                </a:lnSpc>
                <a:spcAft>
                  <a:spcPts val="533"/>
                </a:spcAft>
              </a:pPr>
              <a:r>
                <a:rPr lang="en-US" sz="2000" dirty="0">
                  <a:solidFill>
                    <a:srgbClr val="333333"/>
                  </a:solidFill>
                  <a:latin typeface="Calibri" pitchFamily="34" charset="0"/>
                  <a:ea typeface="Calibri" pitchFamily="34" charset="-122"/>
                  <a:cs typeface="Calibri" pitchFamily="34" charset="-120"/>
                </a:rPr>
                <a:t>Input → output demonstrations that define the task by example (few-shot / in-context learning)</a:t>
              </a:r>
              <a:endParaRPr lang="en-US" sz="2000" dirty="0"/>
            </a:p>
          </p:txBody>
        </p:sp>
        <p:sp>
          <p:nvSpPr>
            <p:cNvPr id="18" name="Shape 16"/>
            <p:cNvSpPr/>
            <p:nvPr/>
          </p:nvSpPr>
          <p:spPr>
            <a:xfrm>
              <a:off x="4389120" y="3511296"/>
              <a:ext cx="3596640" cy="1926336"/>
            </a:xfrm>
            <a:prstGeom prst="roundRect">
              <a:avLst>
                <a:gd name="adj" fmla="val 3797"/>
              </a:avLst>
            </a:prstGeom>
            <a:solidFill>
              <a:srgbClr val="F2F5FA"/>
            </a:solidFill>
            <a:ln/>
            <a:effectLst>
              <a:outerShdw blurRad="63500" dist="19050" dir="2700000" algn="bl" rotWithShape="0">
                <a:srgbClr val="000000">
                  <a:alpha val="12000"/>
                </a:srgbClr>
              </a:outerShdw>
            </a:effectLst>
          </p:spPr>
          <p:txBody>
            <a:bodyPr/>
            <a:lstStyle/>
            <a:p>
              <a:endParaRPr lang="en-IN" sz="2000"/>
            </a:p>
          </p:txBody>
        </p:sp>
        <p:sp>
          <p:nvSpPr>
            <p:cNvPr id="19" name="Text 17"/>
            <p:cNvSpPr/>
            <p:nvPr/>
          </p:nvSpPr>
          <p:spPr>
            <a:xfrm>
              <a:off x="4608576" y="3657600"/>
              <a:ext cx="3157728" cy="365760"/>
            </a:xfrm>
            <a:prstGeom prst="rect">
              <a:avLst/>
            </a:prstGeom>
            <a:noFill/>
            <a:ln/>
          </p:spPr>
          <p:txBody>
            <a:bodyPr wrap="square" lIns="0" tIns="0" rIns="0" bIns="0" rtlCol="0" anchor="ctr"/>
            <a:lstStyle/>
            <a:p>
              <a:r>
                <a:rPr lang="en-US" sz="2000" b="1" dirty="0">
                  <a:solidFill>
                    <a:srgbClr val="8B0000"/>
                  </a:solidFill>
                  <a:latin typeface="Calibri" pitchFamily="34" charset="0"/>
                  <a:ea typeface="Calibri" pitchFamily="34" charset="-122"/>
                  <a:cs typeface="Calibri" pitchFamily="34" charset="-120"/>
                </a:rPr>
                <a:t>Output Format</a:t>
              </a:r>
              <a:endParaRPr lang="en-US" sz="2000" dirty="0"/>
            </a:p>
          </p:txBody>
        </p:sp>
        <p:sp>
          <p:nvSpPr>
            <p:cNvPr id="20" name="Text 18"/>
            <p:cNvSpPr/>
            <p:nvPr/>
          </p:nvSpPr>
          <p:spPr>
            <a:xfrm>
              <a:off x="4608576" y="4059936"/>
              <a:ext cx="3157728" cy="1255776"/>
            </a:xfrm>
            <a:prstGeom prst="rect">
              <a:avLst/>
            </a:prstGeom>
            <a:noFill/>
            <a:ln/>
          </p:spPr>
          <p:txBody>
            <a:bodyPr wrap="square" lIns="0" tIns="0" rIns="0" bIns="0" rtlCol="0" anchor="t"/>
            <a:lstStyle/>
            <a:p>
              <a:pPr>
                <a:lnSpc>
                  <a:spcPct val="102000"/>
                </a:lnSpc>
                <a:spcAft>
                  <a:spcPts val="533"/>
                </a:spcAft>
              </a:pPr>
              <a:r>
                <a:rPr lang="en-US" sz="2000" dirty="0">
                  <a:solidFill>
                    <a:srgbClr val="333333"/>
                  </a:solidFill>
                  <a:latin typeface="Calibri" pitchFamily="34" charset="0"/>
                  <a:ea typeface="Calibri" pitchFamily="34" charset="-122"/>
                  <a:cs typeface="Calibri" pitchFamily="34" charset="-120"/>
                </a:rPr>
                <a:t>Schema, length, language, JSON keys, allowed labels — makes output machine-consumable</a:t>
              </a:r>
              <a:endParaRPr lang="en-US" sz="2000" dirty="0"/>
            </a:p>
          </p:txBody>
        </p:sp>
        <p:sp>
          <p:nvSpPr>
            <p:cNvPr id="21" name="Shape 19"/>
            <p:cNvSpPr/>
            <p:nvPr/>
          </p:nvSpPr>
          <p:spPr>
            <a:xfrm>
              <a:off x="8168640" y="3511296"/>
              <a:ext cx="3596640" cy="1926336"/>
            </a:xfrm>
            <a:prstGeom prst="roundRect">
              <a:avLst>
                <a:gd name="adj" fmla="val 3797"/>
              </a:avLst>
            </a:prstGeom>
            <a:solidFill>
              <a:srgbClr val="F2F5FA"/>
            </a:solidFill>
            <a:ln/>
            <a:effectLst>
              <a:outerShdw blurRad="63500" dist="19050" dir="2700000" algn="bl" rotWithShape="0">
                <a:srgbClr val="000000">
                  <a:alpha val="12000"/>
                </a:srgbClr>
              </a:outerShdw>
            </a:effectLst>
          </p:spPr>
          <p:txBody>
            <a:bodyPr/>
            <a:lstStyle/>
            <a:p>
              <a:endParaRPr lang="en-IN" sz="2000"/>
            </a:p>
          </p:txBody>
        </p:sp>
        <p:sp>
          <p:nvSpPr>
            <p:cNvPr id="22" name="Text 20"/>
            <p:cNvSpPr/>
            <p:nvPr/>
          </p:nvSpPr>
          <p:spPr>
            <a:xfrm>
              <a:off x="8388096" y="3657600"/>
              <a:ext cx="3157728" cy="365760"/>
            </a:xfrm>
            <a:prstGeom prst="rect">
              <a:avLst/>
            </a:prstGeom>
            <a:noFill/>
            <a:ln/>
          </p:spPr>
          <p:txBody>
            <a:bodyPr wrap="square" lIns="0" tIns="0" rIns="0" bIns="0" rtlCol="0" anchor="ctr"/>
            <a:lstStyle/>
            <a:p>
              <a:r>
                <a:rPr lang="en-US" sz="2000" b="1" dirty="0">
                  <a:solidFill>
                    <a:srgbClr val="1F3864"/>
                  </a:solidFill>
                  <a:latin typeface="Calibri" pitchFamily="34" charset="0"/>
                  <a:ea typeface="Calibri" pitchFamily="34" charset="-122"/>
                  <a:cs typeface="Calibri" pitchFamily="34" charset="-120"/>
                </a:rPr>
                <a:t>Input Data</a:t>
              </a:r>
              <a:endParaRPr lang="en-US" sz="2000" dirty="0"/>
            </a:p>
          </p:txBody>
        </p:sp>
        <p:sp>
          <p:nvSpPr>
            <p:cNvPr id="23" name="Text 21"/>
            <p:cNvSpPr/>
            <p:nvPr/>
          </p:nvSpPr>
          <p:spPr>
            <a:xfrm>
              <a:off x="8388096" y="4059936"/>
              <a:ext cx="3157728" cy="1255776"/>
            </a:xfrm>
            <a:prstGeom prst="rect">
              <a:avLst/>
            </a:prstGeom>
            <a:noFill/>
            <a:ln/>
          </p:spPr>
          <p:txBody>
            <a:bodyPr wrap="square" lIns="0" tIns="0" rIns="0" bIns="0" rtlCol="0" anchor="t"/>
            <a:lstStyle/>
            <a:p>
              <a:pPr>
                <a:lnSpc>
                  <a:spcPct val="102000"/>
                </a:lnSpc>
                <a:spcAft>
                  <a:spcPts val="533"/>
                </a:spcAft>
              </a:pPr>
              <a:r>
                <a:rPr lang="en-US" sz="2000" dirty="0">
                  <a:solidFill>
                    <a:srgbClr val="333333"/>
                  </a:solidFill>
                  <a:latin typeface="Calibri" pitchFamily="34" charset="0"/>
                  <a:ea typeface="Calibri" pitchFamily="34" charset="-122"/>
                  <a:cs typeface="Calibri" pitchFamily="34" charset="-120"/>
                </a:rPr>
                <a:t>The actual item to process — clearly delimited (XML tags, triple quotes) so it is never confused with instructions</a:t>
              </a:r>
              <a:endParaRPr lang="en-US" sz="2000" dirty="0"/>
            </a:p>
          </p:txBody>
        </p:sp>
      </p:grpSp>
    </p:spTree>
    <p:extLst>
      <p:ext uri="{BB962C8B-B14F-4D97-AF65-F5344CB8AC3E}">
        <p14:creationId xmlns:p14="http://schemas.microsoft.com/office/powerpoint/2010/main" val="1574095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vert="horz" lIns="91440" tIns="45720" rIns="91440" bIns="45720" rtlCol="0" anchor="ctr">
            <a:normAutofit/>
          </a:bodyPr>
          <a:lstStyle/>
          <a:p>
            <a:r>
              <a:rPr lang="en-US" dirty="0"/>
              <a:t>Zero-Shot vs Few-Shot Prompting</a:t>
            </a:r>
          </a:p>
        </p:txBody>
      </p:sp>
      <p:pic>
        <p:nvPicPr>
          <p:cNvPr id="4" name="Picture 3"/>
          <p:cNvPicPr>
            <a:picLocks noChangeAspect="1"/>
          </p:cNvPicPr>
          <p:nvPr/>
        </p:nvPicPr>
        <p:blipFill>
          <a:blip r:embed="rId2"/>
          <a:stretch>
            <a:fillRect/>
          </a:stretch>
        </p:blipFill>
        <p:spPr>
          <a:xfrm>
            <a:off x="121187" y="1331245"/>
            <a:ext cx="7083845" cy="3953460"/>
          </a:xfrm>
          <a:prstGeom prst="rect">
            <a:avLst/>
          </a:prstGeom>
        </p:spPr>
      </p:pic>
      <p:sp>
        <p:nvSpPr>
          <p:cNvPr id="6" name="TextBox 5">
            <a:extLst>
              <a:ext uri="{FF2B5EF4-FFF2-40B4-BE49-F238E27FC236}">
                <a16:creationId xmlns:a16="http://schemas.microsoft.com/office/drawing/2014/main" id="{14F7570F-B9A8-F64B-8C88-7F444E9512AC}"/>
              </a:ext>
            </a:extLst>
          </p:cNvPr>
          <p:cNvSpPr txBox="1"/>
          <p:nvPr/>
        </p:nvSpPr>
        <p:spPr>
          <a:xfrm>
            <a:off x="7205032" y="1579519"/>
            <a:ext cx="4865781" cy="3365665"/>
          </a:xfrm>
          <a:prstGeom prst="rect">
            <a:avLst/>
          </a:prstGeom>
          <a:noFill/>
        </p:spPr>
        <p:txBody>
          <a:bodyPr wrap="square">
            <a:spAutoFit/>
          </a:bodyPr>
          <a:lstStyle/>
          <a:p>
            <a:pPr marL="169329" indent="-169329">
              <a:lnSpc>
                <a:spcPct val="105000"/>
              </a:lnSpc>
              <a:spcAft>
                <a:spcPts val="533"/>
              </a:spcAft>
              <a:buSzPct val="100000"/>
              <a:buChar char="•"/>
            </a:pPr>
            <a:r>
              <a:rPr lang="en-US" sz="2000" dirty="0">
                <a:solidFill>
                  <a:srgbClr val="333333"/>
                </a:solidFill>
                <a:latin typeface="Cambria" panose="02040503050406030204" pitchFamily="18" charset="0"/>
                <a:ea typeface="Cambria" panose="02040503050406030204" pitchFamily="18" charset="0"/>
                <a:cs typeface="Calibri" pitchFamily="34" charset="-120"/>
              </a:rPr>
              <a:t>GPT-3 result (Brown et al., 2020): a 175B model with k=32 examples in the prompt rivalled fine-tuned models on many benchmarks — no gradient updates, “learning” happens in the forward pass</a:t>
            </a:r>
            <a:endParaRPr lang="en-US" sz="2000" dirty="0">
              <a:latin typeface="Cambria" panose="02040503050406030204" pitchFamily="18" charset="0"/>
              <a:ea typeface="Cambria" panose="02040503050406030204" pitchFamily="18" charset="0"/>
            </a:endParaRPr>
          </a:p>
          <a:p>
            <a:pPr marL="169329" indent="-169329">
              <a:lnSpc>
                <a:spcPct val="105000"/>
              </a:lnSpc>
              <a:spcAft>
                <a:spcPts val="533"/>
              </a:spcAft>
              <a:buSzPct val="100000"/>
              <a:buChar char="•"/>
            </a:pPr>
            <a:r>
              <a:rPr lang="en-US" sz="2000" dirty="0">
                <a:solidFill>
                  <a:srgbClr val="333333"/>
                </a:solidFill>
                <a:latin typeface="Cambria" panose="02040503050406030204" pitchFamily="18" charset="0"/>
                <a:ea typeface="Cambria" panose="02040503050406030204" pitchFamily="18" charset="0"/>
                <a:cs typeface="Calibri" pitchFamily="34" charset="-120"/>
              </a:rPr>
              <a:t>Few-shot helps most when the task format is unusual or labels are ambiguous; it helps least when the model is already instruction-tuned for that exact task</a:t>
            </a:r>
            <a:endParaRPr lang="en-US" sz="2000" dirty="0">
              <a:latin typeface="Cambria" panose="02040503050406030204" pitchFamily="18" charset="0"/>
              <a:ea typeface="Cambria" panose="02040503050406030204" pitchFamily="18" charset="0"/>
            </a:endParaRPr>
          </a:p>
        </p:txBody>
      </p:sp>
      <p:sp>
        <p:nvSpPr>
          <p:cNvPr id="9" name="TextBox 8">
            <a:extLst>
              <a:ext uri="{FF2B5EF4-FFF2-40B4-BE49-F238E27FC236}">
                <a16:creationId xmlns:a16="http://schemas.microsoft.com/office/drawing/2014/main" id="{231F39FC-22D0-72B4-3EC7-2DCB76E84DE0}"/>
              </a:ext>
            </a:extLst>
          </p:cNvPr>
          <p:cNvSpPr txBox="1"/>
          <p:nvPr/>
        </p:nvSpPr>
        <p:spPr>
          <a:xfrm>
            <a:off x="403952" y="5396751"/>
            <a:ext cx="10568848" cy="1103507"/>
          </a:xfrm>
          <a:prstGeom prst="rect">
            <a:avLst/>
          </a:prstGeom>
          <a:noFill/>
        </p:spPr>
        <p:txBody>
          <a:bodyPr wrap="square">
            <a:spAutoFit/>
          </a:bodyPr>
          <a:lstStyle/>
          <a:p>
            <a:pPr marL="285750" indent="-285750">
              <a:lnSpc>
                <a:spcPct val="105000"/>
              </a:lnSpc>
              <a:spcAft>
                <a:spcPts val="533"/>
              </a:spcAft>
              <a:buSzPct val="100000"/>
              <a:buFont typeface="Arial" panose="020B0604020202020204" pitchFamily="34" charset="0"/>
              <a:buChar char="•"/>
            </a:pPr>
            <a:r>
              <a:rPr lang="en-US" sz="2000" dirty="0">
                <a:latin typeface="Cambria" panose="02040503050406030204" pitchFamily="18" charset="0"/>
                <a:ea typeface="Cambria" panose="02040503050406030204" pitchFamily="18" charset="0"/>
              </a:rPr>
              <a:t>Cost: those examples are reprocessed on every request</a:t>
            </a:r>
          </a:p>
          <a:p>
            <a:pPr marL="285750" indent="-285750">
              <a:lnSpc>
                <a:spcPct val="105000"/>
              </a:lnSpc>
              <a:spcAft>
                <a:spcPts val="533"/>
              </a:spcAft>
              <a:buSzPct val="100000"/>
              <a:buFont typeface="Arial" panose="020B0604020202020204" pitchFamily="34" charset="0"/>
              <a:buChar char="•"/>
            </a:pPr>
            <a:r>
              <a:rPr lang="en-US" sz="2000" dirty="0">
                <a:latin typeface="Cambria" panose="02040503050406030204" pitchFamily="18" charset="0"/>
                <a:ea typeface="Cambria" panose="02040503050406030204" pitchFamily="18" charset="0"/>
              </a:rPr>
              <a:t>Mitigation: prompt caching reuses the examples' KV-cache, so structure the prompt with stable content (examples) first, variable content (query) last</a:t>
            </a:r>
          </a:p>
        </p:txBody>
      </p:sp>
    </p:spTree>
    <p:extLst>
      <p:ext uri="{BB962C8B-B14F-4D97-AF65-F5344CB8AC3E}">
        <p14:creationId xmlns:p14="http://schemas.microsoft.com/office/powerpoint/2010/main" val="591019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3BA86F4-4E3B-8F57-60A2-AF5BF6A0A29E}"/>
              </a:ext>
            </a:extLst>
          </p:cNvPr>
          <p:cNvSpPr>
            <a:spLocks noGrp="1"/>
          </p:cNvSpPr>
          <p:nvPr>
            <p:ph idx="10"/>
          </p:nvPr>
        </p:nvSpPr>
        <p:spPr>
          <a:xfrm>
            <a:off x="304801" y="1490140"/>
            <a:ext cx="11480800" cy="4525963"/>
          </a:xfrm>
        </p:spPr>
        <p:txBody>
          <a:bodyPr>
            <a:normAutofit fontScale="92500" lnSpcReduction="10000"/>
          </a:bodyPr>
          <a:lstStyle/>
          <a:p>
            <a:pPr marL="342900" indent="-342900">
              <a:buFont typeface="Arial" panose="020B0604020202020204" pitchFamily="34" charset="0"/>
              <a:buChar char="•"/>
            </a:pPr>
            <a:r>
              <a:rPr lang="en-IN" dirty="0"/>
              <a:t>In-context learning means the model adapts to a new task using </a:t>
            </a:r>
            <a:r>
              <a:rPr lang="en-IN" i="1" dirty="0"/>
              <a:t>only the examples in the prompt</a:t>
            </a:r>
            <a:r>
              <a:rPr lang="en-IN" dirty="0"/>
              <a:t> — its weights never change. The model isn't "learning" in the training sense; the examples simply steer the frozen model into the right behaviour for this task, for this one request.</a:t>
            </a:r>
          </a:p>
          <a:p>
            <a:pPr marL="342900" indent="-342900">
              <a:buFont typeface="Arial" panose="020B0604020202020204" pitchFamily="34" charset="0"/>
              <a:buChar char="•"/>
            </a:pPr>
            <a:r>
              <a:rPr lang="en-IN" dirty="0"/>
              <a:t>ICL is surprisingly sensitive to </a:t>
            </a:r>
            <a:r>
              <a:rPr lang="en-IN" i="1" dirty="0"/>
              <a:t>how</a:t>
            </a:r>
            <a:r>
              <a:rPr lang="en-IN" dirty="0"/>
              <a:t> you present the examples. Three well-documented biases:</a:t>
            </a:r>
          </a:p>
          <a:p>
            <a:pPr marL="800100" lvl="1" indent="-342900">
              <a:buFont typeface="Arial" panose="020B0604020202020204" pitchFamily="34" charset="0"/>
              <a:buChar char="•"/>
            </a:pPr>
            <a:r>
              <a:rPr lang="en-IN" b="1" dirty="0"/>
              <a:t>Example order</a:t>
            </a:r>
            <a:r>
              <a:rPr lang="en-IN" dirty="0"/>
              <a:t> — the same examples in a different order can change the answer.</a:t>
            </a:r>
          </a:p>
          <a:p>
            <a:pPr marL="800100" lvl="1" indent="-342900">
              <a:buFont typeface="Arial" panose="020B0604020202020204" pitchFamily="34" charset="0"/>
              <a:buChar char="•"/>
            </a:pPr>
            <a:r>
              <a:rPr lang="en-IN" b="1" dirty="0"/>
              <a:t>Recency bias</a:t>
            </a:r>
            <a:r>
              <a:rPr lang="en-IN" dirty="0"/>
              <a:t> — the </a:t>
            </a:r>
            <a:r>
              <a:rPr lang="en-IN" i="1" dirty="0"/>
              <a:t>last</a:t>
            </a:r>
            <a:r>
              <a:rPr lang="en-IN" dirty="0"/>
              <a:t> example carries extra weight, nudging the model toward its label.</a:t>
            </a:r>
          </a:p>
          <a:p>
            <a:pPr marL="800100" lvl="1" indent="-342900">
              <a:buFont typeface="Arial" panose="020B0604020202020204" pitchFamily="34" charset="0"/>
              <a:buChar char="•"/>
            </a:pPr>
            <a:r>
              <a:rPr lang="en-IN" b="1" dirty="0"/>
              <a:t>Majority-label bias</a:t>
            </a:r>
            <a:r>
              <a:rPr lang="en-IN" dirty="0"/>
              <a:t> — if most examples share one label, the model over-predicts that label.</a:t>
            </a:r>
          </a:p>
          <a:p>
            <a:pPr marL="342900" indent="-342900">
              <a:buFont typeface="Arial" panose="020B0604020202020204" pitchFamily="34" charset="0"/>
              <a:buChar char="•"/>
            </a:pPr>
            <a:r>
              <a:rPr lang="en-IN" dirty="0"/>
              <a:t>In practice: </a:t>
            </a:r>
            <a:r>
              <a:rPr lang="en-IN" b="1" dirty="0"/>
              <a:t>select examples by semantic similarity to the current query</a:t>
            </a:r>
            <a:r>
              <a:rPr lang="en-IN" dirty="0"/>
              <a:t> (retrieve the most relevant shots rather than using fixed ones), and </a:t>
            </a:r>
            <a:r>
              <a:rPr lang="en-IN" b="1" dirty="0"/>
              <a:t>keep formatting identical</a:t>
            </a:r>
            <a:r>
              <a:rPr lang="en-IN" dirty="0"/>
              <a:t> across all examples. These two choices dominate accuracy.</a:t>
            </a:r>
          </a:p>
        </p:txBody>
      </p:sp>
      <p:sp>
        <p:nvSpPr>
          <p:cNvPr id="3" name="Title 2">
            <a:extLst>
              <a:ext uri="{FF2B5EF4-FFF2-40B4-BE49-F238E27FC236}">
                <a16:creationId xmlns:a16="http://schemas.microsoft.com/office/drawing/2014/main" id="{A8E5CEC2-6C02-C34A-5B80-7F1AE7B07AF4}"/>
              </a:ext>
            </a:extLst>
          </p:cNvPr>
          <p:cNvSpPr>
            <a:spLocks noGrp="1"/>
          </p:cNvSpPr>
          <p:nvPr>
            <p:ph type="title"/>
          </p:nvPr>
        </p:nvSpPr>
        <p:spPr/>
        <p:txBody>
          <a:bodyPr/>
          <a:lstStyle/>
          <a:p>
            <a:r>
              <a:rPr lang="en-US" dirty="0"/>
              <a:t>In-Context Learning — What Is Actually Happening?</a:t>
            </a:r>
            <a:endParaRPr lang="en-IN" dirty="0"/>
          </a:p>
        </p:txBody>
      </p:sp>
    </p:spTree>
    <p:extLst>
      <p:ext uri="{BB962C8B-B14F-4D97-AF65-F5344CB8AC3E}">
        <p14:creationId xmlns:p14="http://schemas.microsoft.com/office/powerpoint/2010/main" val="413986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167640" y="1545224"/>
            <a:ext cx="11480800" cy="4525963"/>
          </a:xfrm>
        </p:spPr>
        <p:txBody>
          <a:bodyPr>
            <a:normAutofit fontScale="92500" lnSpcReduction="20000"/>
          </a:bodyPr>
          <a:lstStyle/>
          <a:p>
            <a:pPr marL="342900" indent="-342900">
              <a:buFont typeface="Arial" panose="020B0604020202020204" pitchFamily="34" charset="0"/>
              <a:buChar char="•"/>
            </a:pPr>
            <a:r>
              <a:rPr lang="en-US" dirty="0"/>
              <a:t>Roles examples</a:t>
            </a:r>
          </a:p>
          <a:p>
            <a:pPr marL="800100" lvl="1" indent="-342900">
              <a:buFont typeface="Arial" panose="020B0604020202020204" pitchFamily="34" charset="0"/>
              <a:buChar char="•"/>
            </a:pPr>
            <a:r>
              <a:rPr lang="en-US" dirty="0"/>
              <a:t> “user” for messages sent by the user</a:t>
            </a:r>
          </a:p>
          <a:p>
            <a:pPr marL="800100" lvl="1" indent="-342900">
              <a:buFont typeface="Arial" panose="020B0604020202020204" pitchFamily="34" charset="0"/>
              <a:buChar char="•"/>
            </a:pPr>
            <a:r>
              <a:rPr lang="en-US" dirty="0"/>
              <a:t> “assistant” for messages sent by the model</a:t>
            </a:r>
          </a:p>
          <a:p>
            <a:pPr marL="800100" lvl="1" indent="-342900">
              <a:buFont typeface="Arial" panose="020B0604020202020204" pitchFamily="34" charset="0"/>
              <a:buChar char="•"/>
            </a:pPr>
            <a:r>
              <a:rPr lang="en-US" dirty="0"/>
              <a:t>“system” sent at the beginning of the conversation and include directives about how the model should behave in the subsequent chat</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Role information is usually injected by adding control tokens between messages, to indicate both the message boundary and the relevant roles</a:t>
            </a:r>
          </a:p>
          <a:p>
            <a:pPr marL="342900" indent="-342900">
              <a:buFont typeface="Arial" panose="020B0604020202020204" pitchFamily="34" charset="0"/>
              <a:buChar char="•"/>
            </a:pPr>
            <a:r>
              <a:rPr lang="en-US" dirty="0"/>
              <a:t>different models have been trained with wildly different formatting and control tokens for chat hence chat templates are defined</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Chat conversations as a list of dictionaries, contains role and content keys, and represents a single chat message</a:t>
            </a:r>
          </a:p>
          <a:p>
            <a:pPr lvl="1"/>
            <a:r>
              <a:rPr lang="en-US" dirty="0"/>
              <a:t>{"role": "user", "content": "Hello, how are you?"}</a:t>
            </a:r>
          </a:p>
          <a:p>
            <a:pPr lvl="1"/>
            <a:r>
              <a:rPr lang="en-US" dirty="0"/>
              <a:t>{"role": "assistant", "content": "I'm doing great. How can I help you today?"}</a:t>
            </a:r>
          </a:p>
          <a:p>
            <a:pPr lvl="1"/>
            <a:r>
              <a:rPr lang="en-US" dirty="0"/>
              <a:t>{"role": "user", "content": "I'd like to show off how chat templating works!"}</a:t>
            </a:r>
          </a:p>
          <a:p>
            <a:pPr marL="342900" indent="-342900">
              <a:buFont typeface="Arial" panose="020B0604020202020204" pitchFamily="34" charset="0"/>
              <a:buChar char="•"/>
            </a:pPr>
            <a:endParaRPr lang="en-IN" dirty="0"/>
          </a:p>
        </p:txBody>
      </p:sp>
      <p:sp>
        <p:nvSpPr>
          <p:cNvPr id="3" name="Title 2"/>
          <p:cNvSpPr>
            <a:spLocks noGrp="1"/>
          </p:cNvSpPr>
          <p:nvPr>
            <p:ph type="title"/>
          </p:nvPr>
        </p:nvSpPr>
        <p:spPr/>
        <p:txBody>
          <a:bodyPr/>
          <a:lstStyle/>
          <a:p>
            <a:r>
              <a:rPr lang="en-US" dirty="0"/>
              <a:t>Chat template</a:t>
            </a:r>
            <a:endParaRPr lang="en-IN" dirty="0"/>
          </a:p>
        </p:txBody>
      </p:sp>
    </p:spTree>
    <p:extLst>
      <p:ext uri="{BB962C8B-B14F-4D97-AF65-F5344CB8AC3E}">
        <p14:creationId xmlns:p14="http://schemas.microsoft.com/office/powerpoint/2010/main" val="307748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0" y="1529984"/>
            <a:ext cx="6812279" cy="4525963"/>
          </a:xfrm>
          <a:solidFill>
            <a:schemeClr val="accent6">
              <a:lumMod val="40000"/>
              <a:lumOff val="60000"/>
            </a:schemeClr>
          </a:solidFill>
        </p:spPr>
        <p:txBody>
          <a:bodyPr>
            <a:noAutofit/>
          </a:bodyPr>
          <a:lstStyle/>
          <a:p>
            <a:r>
              <a:rPr lang="en-IN" sz="2000" dirty="0"/>
              <a:t>messages = [</a:t>
            </a:r>
          </a:p>
          <a:p>
            <a:r>
              <a:rPr lang="en-IN" sz="2000" dirty="0"/>
              <a:t>    {"role": "system", "content": "You are a helpful assistant"},</a:t>
            </a:r>
          </a:p>
          <a:p>
            <a:r>
              <a:rPr lang="en-IN" sz="2000" dirty="0"/>
              <a:t>    {"role": "user", "content": "Hello!"}</a:t>
            </a:r>
          </a:p>
          <a:p>
            <a:r>
              <a:rPr lang="en-IN" sz="2000" dirty="0"/>
              <a:t>]</a:t>
            </a:r>
          </a:p>
          <a:p>
            <a:endParaRPr lang="en-IN" sz="2000" dirty="0"/>
          </a:p>
          <a:p>
            <a:r>
              <a:rPr lang="en-IN" sz="2000" dirty="0"/>
              <a:t># Convert to model-specific format</a:t>
            </a:r>
          </a:p>
          <a:p>
            <a:r>
              <a:rPr lang="en-IN" sz="2000" dirty="0"/>
              <a:t>prompt = </a:t>
            </a:r>
            <a:r>
              <a:rPr lang="en-IN" sz="2000" dirty="0" err="1"/>
              <a:t>tokenizer.apply_chat_template</a:t>
            </a:r>
            <a:r>
              <a:rPr lang="en-IN" sz="2000" dirty="0"/>
              <a:t>(</a:t>
            </a:r>
          </a:p>
          <a:p>
            <a:r>
              <a:rPr lang="en-IN" sz="2000" dirty="0"/>
              <a:t>    messages, </a:t>
            </a:r>
          </a:p>
          <a:p>
            <a:r>
              <a:rPr lang="en-IN" sz="2000" dirty="0"/>
              <a:t>    tokenize=False, </a:t>
            </a:r>
          </a:p>
          <a:p>
            <a:r>
              <a:rPr lang="en-IN" sz="2000" dirty="0"/>
              <a:t>    </a:t>
            </a:r>
            <a:r>
              <a:rPr lang="en-IN" sz="2000" dirty="0" err="1"/>
              <a:t>add_generation_prompt</a:t>
            </a:r>
            <a:r>
              <a:rPr lang="en-IN" sz="2000" dirty="0"/>
              <a:t>=True</a:t>
            </a:r>
          </a:p>
          <a:p>
            <a:r>
              <a:rPr lang="en-IN" sz="2000" dirty="0"/>
              <a:t>)</a:t>
            </a:r>
          </a:p>
          <a:p>
            <a:endParaRPr lang="en-IN" sz="2000" dirty="0"/>
          </a:p>
          <a:p>
            <a:r>
              <a:rPr lang="en-IN" sz="2000" dirty="0"/>
              <a:t># Then tokenize and generate</a:t>
            </a:r>
          </a:p>
          <a:p>
            <a:r>
              <a:rPr lang="en-IN" sz="2000" dirty="0"/>
              <a:t>inputs = tokenizer(prompt, </a:t>
            </a:r>
            <a:r>
              <a:rPr lang="en-IN" sz="2000" dirty="0" err="1"/>
              <a:t>return_tensors</a:t>
            </a:r>
            <a:r>
              <a:rPr lang="en-IN" sz="2000" dirty="0"/>
              <a:t>="</a:t>
            </a:r>
            <a:r>
              <a:rPr lang="en-IN" sz="2000" dirty="0" err="1"/>
              <a:t>pt</a:t>
            </a:r>
            <a:r>
              <a:rPr lang="en-IN" sz="2000" dirty="0"/>
              <a:t>")</a:t>
            </a:r>
          </a:p>
          <a:p>
            <a:r>
              <a:rPr lang="en-IN" sz="2000" dirty="0"/>
              <a:t>outputs = </a:t>
            </a:r>
            <a:r>
              <a:rPr lang="en-IN" sz="2000" dirty="0" err="1"/>
              <a:t>model.generate</a:t>
            </a:r>
            <a:r>
              <a:rPr lang="en-IN" sz="2000" dirty="0"/>
              <a:t>(**inputs)</a:t>
            </a:r>
          </a:p>
          <a:p>
            <a:endParaRPr lang="en-IN" sz="2000" dirty="0"/>
          </a:p>
        </p:txBody>
      </p:sp>
      <p:sp>
        <p:nvSpPr>
          <p:cNvPr id="3" name="Title 2"/>
          <p:cNvSpPr>
            <a:spLocks noGrp="1"/>
          </p:cNvSpPr>
          <p:nvPr>
            <p:ph type="title"/>
          </p:nvPr>
        </p:nvSpPr>
        <p:spPr/>
        <p:txBody>
          <a:bodyPr/>
          <a:lstStyle/>
          <a:p>
            <a:pPr rtl="0"/>
            <a:r>
              <a:rPr lang="en-IN" dirty="0" err="1"/>
              <a:t>apply_chat_template</a:t>
            </a:r>
            <a:r>
              <a:rPr lang="en-IN" dirty="0"/>
              <a:t>() - </a:t>
            </a:r>
            <a:r>
              <a:rPr lang="en-US" altLang="en-US" dirty="0"/>
              <a:t>Local Model Inference</a:t>
            </a:r>
            <a:endParaRPr lang="en-IN" dirty="0"/>
          </a:p>
        </p:txBody>
      </p:sp>
      <p:sp>
        <p:nvSpPr>
          <p:cNvPr id="4" name="Rectangle 3"/>
          <p:cNvSpPr/>
          <p:nvPr/>
        </p:nvSpPr>
        <p:spPr>
          <a:xfrm>
            <a:off x="6949440" y="1529984"/>
            <a:ext cx="5044440" cy="4708981"/>
          </a:xfrm>
          <a:prstGeom prst="rect">
            <a:avLst/>
          </a:prstGeom>
        </p:spPr>
        <p:txBody>
          <a:bodyPr wrap="square">
            <a:spAutoFit/>
          </a:bodyPr>
          <a:lstStyle/>
          <a:p>
            <a:pPr marL="342900" indent="-342900" eaLnBrk="0" fontAlgn="base" hangingPunct="0">
              <a:spcBef>
                <a:spcPct val="0"/>
              </a:spcBef>
              <a:spcAft>
                <a:spcPct val="0"/>
              </a:spcAft>
              <a:buFont typeface="Arial" panose="020B0604020202020204" pitchFamily="34" charset="0"/>
              <a:buChar char="•"/>
            </a:pPr>
            <a:r>
              <a:rPr lang="en-US" altLang="en-US" sz="2000" dirty="0">
                <a:latin typeface="Cambria" panose="02040503050406030204" pitchFamily="18" charset="0"/>
                <a:ea typeface="Cambria" panose="02040503050406030204" pitchFamily="18" charset="0"/>
              </a:rPr>
              <a:t>Formats conversation messages into the proper string format expected by a specific model's training.</a:t>
            </a:r>
          </a:p>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Method on the tokenizer object</a:t>
            </a:r>
          </a:p>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Used with locally loaded models (via transformers)</a:t>
            </a:r>
          </a:p>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Converts structured chat format to model-specific prompt string</a:t>
            </a:r>
          </a:p>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Each model has its own chat template (Llama uses different format than </a:t>
            </a:r>
            <a:r>
              <a:rPr lang="en-US" sz="2000" dirty="0" err="1">
                <a:latin typeface="Cambria" panose="02040503050406030204" pitchFamily="18" charset="0"/>
                <a:ea typeface="Cambria" panose="02040503050406030204" pitchFamily="18" charset="0"/>
              </a:rPr>
              <a:t>Qwen</a:t>
            </a:r>
            <a:r>
              <a:rPr lang="en-US" sz="2000" dirty="0">
                <a:latin typeface="Cambria" panose="02040503050406030204" pitchFamily="18" charset="0"/>
                <a:ea typeface="Cambria" panose="02040503050406030204" pitchFamily="18" charset="0"/>
              </a:rPr>
              <a:t> or Mistral)</a:t>
            </a:r>
          </a:p>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Returns a formatted string or tokenized input</a:t>
            </a:r>
          </a:p>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Requires manual generation call afterward</a:t>
            </a:r>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22181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106680" y="1520728"/>
            <a:ext cx="6522720" cy="4525963"/>
          </a:xfrm>
          <a:solidFill>
            <a:schemeClr val="accent6">
              <a:lumMod val="40000"/>
              <a:lumOff val="60000"/>
            </a:schemeClr>
          </a:solidFill>
        </p:spPr>
        <p:txBody>
          <a:bodyPr vert="horz" lIns="91440" tIns="45720" rIns="91440" bIns="45720" rtlCol="0">
            <a:noAutofit/>
          </a:bodyPr>
          <a:lstStyle/>
          <a:p>
            <a:r>
              <a:rPr lang="en-IN" sz="2000" dirty="0"/>
              <a:t>from </a:t>
            </a:r>
            <a:r>
              <a:rPr lang="en-IN" sz="2000" dirty="0" err="1"/>
              <a:t>huggingface_hub</a:t>
            </a:r>
            <a:r>
              <a:rPr lang="en-IN" sz="2000" dirty="0"/>
              <a:t> import </a:t>
            </a:r>
            <a:r>
              <a:rPr lang="en-IN" sz="2000" dirty="0" err="1"/>
              <a:t>InferenceClient</a:t>
            </a:r>
            <a:endParaRPr lang="en-IN" sz="2000" dirty="0"/>
          </a:p>
          <a:p>
            <a:endParaRPr lang="en-IN" sz="2000" dirty="0"/>
          </a:p>
          <a:p>
            <a:r>
              <a:rPr lang="en-IN" sz="2000" dirty="0"/>
              <a:t>client = </a:t>
            </a:r>
            <a:r>
              <a:rPr lang="en-IN" sz="2000" dirty="0" err="1"/>
              <a:t>InferenceClient</a:t>
            </a:r>
            <a:r>
              <a:rPr lang="en-IN" sz="2000" dirty="0"/>
              <a:t>(token="</a:t>
            </a:r>
            <a:r>
              <a:rPr lang="en-IN" sz="2000" dirty="0" err="1"/>
              <a:t>hf</a:t>
            </a:r>
            <a:r>
              <a:rPr lang="en-IN" sz="2000" dirty="0"/>
              <a:t>_****")</a:t>
            </a:r>
          </a:p>
          <a:p>
            <a:endParaRPr lang="en-IN" sz="2000" dirty="0"/>
          </a:p>
          <a:p>
            <a:r>
              <a:rPr lang="en-IN" sz="2000" dirty="0"/>
              <a:t>completion = </a:t>
            </a:r>
            <a:r>
              <a:rPr lang="en-IN" sz="2000" dirty="0" err="1"/>
              <a:t>client.chat_completion</a:t>
            </a:r>
            <a:r>
              <a:rPr lang="en-IN" sz="2000" dirty="0"/>
              <a:t>(</a:t>
            </a:r>
          </a:p>
          <a:p>
            <a:r>
              <a:rPr lang="en-IN" sz="2000" dirty="0"/>
              <a:t>    model="meta-llama/Llama-3.1-8B-Instruct",</a:t>
            </a:r>
          </a:p>
          <a:p>
            <a:r>
              <a:rPr lang="en-IN" sz="2000" dirty="0"/>
              <a:t>    messages=[</a:t>
            </a:r>
          </a:p>
          <a:p>
            <a:r>
              <a:rPr lang="en-IN" sz="2000" dirty="0"/>
              <a:t>        {"role": "system", "content": "You are helpful"},</a:t>
            </a:r>
          </a:p>
          <a:p>
            <a:r>
              <a:rPr lang="en-IN" sz="2000" dirty="0"/>
              <a:t>        {"role": "user", "content": "Hello!"}</a:t>
            </a:r>
          </a:p>
          <a:p>
            <a:r>
              <a:rPr lang="en-IN" sz="2000" dirty="0"/>
              <a:t>    ],</a:t>
            </a:r>
          </a:p>
          <a:p>
            <a:r>
              <a:rPr lang="en-IN" sz="2000" dirty="0"/>
              <a:t>    </a:t>
            </a:r>
            <a:r>
              <a:rPr lang="en-IN" sz="2000" dirty="0" err="1"/>
              <a:t>max_tokens</a:t>
            </a:r>
            <a:r>
              <a:rPr lang="en-IN" sz="2000" dirty="0"/>
              <a:t>=100,</a:t>
            </a:r>
          </a:p>
          <a:p>
            <a:r>
              <a:rPr lang="en-IN" sz="2000" dirty="0"/>
              <a:t>    temperature=0.7</a:t>
            </a:r>
          </a:p>
          <a:p>
            <a:r>
              <a:rPr lang="en-IN" sz="2000" dirty="0"/>
              <a:t>)</a:t>
            </a:r>
          </a:p>
          <a:p>
            <a:endParaRPr lang="en-IN" sz="2000" dirty="0"/>
          </a:p>
          <a:p>
            <a:r>
              <a:rPr lang="en-IN" sz="2000" dirty="0"/>
              <a:t>print(</a:t>
            </a:r>
            <a:r>
              <a:rPr lang="en-IN" sz="2000" dirty="0" err="1"/>
              <a:t>completion.choices</a:t>
            </a:r>
            <a:r>
              <a:rPr lang="en-IN" sz="2000" dirty="0"/>
              <a:t>[0].message)</a:t>
            </a:r>
          </a:p>
          <a:p>
            <a:endParaRPr lang="en-IN" sz="2000" dirty="0"/>
          </a:p>
        </p:txBody>
      </p:sp>
      <p:sp>
        <p:nvSpPr>
          <p:cNvPr id="3" name="Title 2"/>
          <p:cNvSpPr>
            <a:spLocks noGrp="1"/>
          </p:cNvSpPr>
          <p:nvPr>
            <p:ph type="title"/>
          </p:nvPr>
        </p:nvSpPr>
        <p:spPr/>
        <p:txBody>
          <a:bodyPr/>
          <a:lstStyle/>
          <a:p>
            <a:r>
              <a:rPr lang="en-US" dirty="0" err="1"/>
              <a:t>chat_completion</a:t>
            </a:r>
            <a:r>
              <a:rPr lang="en-US" dirty="0"/>
              <a:t> - API-Based Inference</a:t>
            </a:r>
            <a:endParaRPr lang="en-IN" dirty="0"/>
          </a:p>
        </p:txBody>
      </p:sp>
      <p:sp>
        <p:nvSpPr>
          <p:cNvPr id="4" name="Rectangle 3"/>
          <p:cNvSpPr/>
          <p:nvPr/>
        </p:nvSpPr>
        <p:spPr>
          <a:xfrm>
            <a:off x="6827520" y="1377584"/>
            <a:ext cx="5257800" cy="4093428"/>
          </a:xfrm>
          <a:prstGeom prst="rect">
            <a:avLst/>
          </a:prstGeom>
        </p:spPr>
        <p:txBody>
          <a:bodyPr vert="horz" wrap="square" lIns="91440" tIns="45720" rIns="91440" bIns="45720" rtlCol="0">
            <a:spAutoFit/>
          </a:bodyPr>
          <a:lstStyle/>
          <a:p>
            <a:pPr marL="342900" indent="-342900" eaLnBrk="0" fontAlgn="base" hangingPunct="0">
              <a:spcBef>
                <a:spcPct val="0"/>
              </a:spcBef>
              <a:spcAft>
                <a:spcPct val="0"/>
              </a:spcAft>
              <a:buFont typeface="Arial" panose="020B0604020202020204" pitchFamily="34" charset="0"/>
              <a:buChar char="•"/>
            </a:pPr>
            <a:r>
              <a:rPr lang="en-US" sz="2000" dirty="0" err="1">
                <a:latin typeface="Cambria" panose="02040503050406030204" pitchFamily="18" charset="0"/>
                <a:ea typeface="Cambria" panose="02040503050406030204" pitchFamily="18" charset="0"/>
              </a:rPr>
              <a:t>OpenAI</a:t>
            </a:r>
            <a:r>
              <a:rPr lang="en-US" sz="2000" dirty="0">
                <a:latin typeface="Cambria" panose="02040503050406030204" pitchFamily="18" charset="0"/>
                <a:ea typeface="Cambria" panose="02040503050406030204" pitchFamily="18" charset="0"/>
              </a:rPr>
              <a:t>-compatible API endpoint for hosted model inference</a:t>
            </a:r>
          </a:p>
          <a:p>
            <a:pPr marL="342900" indent="-342900" eaLnBrk="0" fontAlgn="base" hangingPunct="0">
              <a:spcBef>
                <a:spcPct val="0"/>
              </a:spcBef>
              <a:spcAft>
                <a:spcPct val="0"/>
              </a:spcAft>
              <a:buFont typeface="Arial" panose="020B0604020202020204" pitchFamily="34" charset="0"/>
              <a:buChar char="•"/>
            </a:pPr>
            <a:r>
              <a:rPr lang="en-US" sz="2000" dirty="0">
                <a:latin typeface="Cambria" panose="02040503050406030204" pitchFamily="18" charset="0"/>
                <a:ea typeface="Cambria" panose="02040503050406030204" pitchFamily="18" charset="0"/>
              </a:rPr>
              <a:t>Used with hosted models (Inference API/Endpoints)</a:t>
            </a:r>
          </a:p>
          <a:p>
            <a:pPr marL="342900" indent="-342900" eaLnBrk="0" fontAlgn="base" hangingPunct="0">
              <a:spcBef>
                <a:spcPct val="0"/>
              </a:spcBef>
              <a:spcAft>
                <a:spcPct val="0"/>
              </a:spcAft>
              <a:buFont typeface="Arial" panose="020B0604020202020204" pitchFamily="34" charset="0"/>
              <a:buChar char="•"/>
            </a:pPr>
            <a:r>
              <a:rPr lang="en-US" sz="2000" dirty="0">
                <a:latin typeface="Cambria" panose="02040503050406030204" pitchFamily="18" charset="0"/>
                <a:ea typeface="Cambria" panose="02040503050406030204" pitchFamily="18" charset="0"/>
              </a:rPr>
              <a:t>Follows </a:t>
            </a:r>
            <a:r>
              <a:rPr lang="en-US" sz="2000" dirty="0" err="1">
                <a:latin typeface="Cambria" panose="02040503050406030204" pitchFamily="18" charset="0"/>
                <a:ea typeface="Cambria" panose="02040503050406030204" pitchFamily="18" charset="0"/>
              </a:rPr>
              <a:t>OpenAI's</a:t>
            </a:r>
            <a:r>
              <a:rPr lang="en-US" sz="2000" dirty="0">
                <a:latin typeface="Cambria" panose="02040503050406030204" pitchFamily="18" charset="0"/>
                <a:ea typeface="Cambria" panose="02040503050406030204" pitchFamily="18" charset="0"/>
              </a:rPr>
              <a:t> chat completion format</a:t>
            </a:r>
          </a:p>
          <a:p>
            <a:pPr marL="342900" indent="-342900" eaLnBrk="0" fontAlgn="base" hangingPunct="0">
              <a:spcBef>
                <a:spcPct val="0"/>
              </a:spcBef>
              <a:spcAft>
                <a:spcPct val="0"/>
              </a:spcAft>
              <a:buFont typeface="Arial" panose="020B0604020202020204" pitchFamily="34" charset="0"/>
              <a:buChar char="•"/>
            </a:pPr>
            <a:r>
              <a:rPr lang="en-IN" sz="2000" dirty="0">
                <a:latin typeface="Cambria" panose="02040503050406030204" pitchFamily="18" charset="0"/>
                <a:ea typeface="Cambria" panose="02040503050406030204" pitchFamily="18" charset="0"/>
              </a:rPr>
              <a:t>No local resources: Doesn't require GPU/RAM for model</a:t>
            </a:r>
          </a:p>
          <a:p>
            <a:pPr marL="342900" indent="-342900" eaLnBrk="0" fontAlgn="base" hangingPunct="0">
              <a:spcBef>
                <a:spcPct val="0"/>
              </a:spcBef>
              <a:spcAft>
                <a:spcPct val="0"/>
              </a:spcAft>
              <a:buFont typeface="Arial" panose="020B0604020202020204" pitchFamily="34" charset="0"/>
              <a:buChar char="•"/>
            </a:pPr>
            <a:r>
              <a:rPr lang="en-IN" sz="2000" dirty="0">
                <a:latin typeface="Cambria" panose="02040503050406030204" pitchFamily="18" charset="0"/>
                <a:ea typeface="Cambria" panose="02040503050406030204" pitchFamily="18" charset="0"/>
              </a:rPr>
              <a:t>Faster setup: No model download/loading time</a:t>
            </a:r>
          </a:p>
          <a:p>
            <a:pPr marL="342900" indent="-342900" eaLnBrk="0" fontAlgn="base" hangingPunct="0">
              <a:spcBef>
                <a:spcPct val="0"/>
              </a:spcBef>
              <a:spcAft>
                <a:spcPct val="0"/>
              </a:spcAft>
              <a:buFont typeface="Arial" panose="020B0604020202020204" pitchFamily="34" charset="0"/>
              <a:buChar char="•"/>
            </a:pPr>
            <a:r>
              <a:rPr lang="en-IN" sz="2000" dirty="0">
                <a:latin typeface="Cambria" panose="02040503050406030204" pitchFamily="18" charset="0"/>
                <a:ea typeface="Cambria" panose="02040503050406030204" pitchFamily="18" charset="0"/>
              </a:rPr>
              <a:t>Scalability: Can handle many concurrent requests</a:t>
            </a:r>
          </a:p>
          <a:p>
            <a:pPr marL="342900" indent="-342900" eaLnBrk="0" fontAlgn="base" hangingPunct="0">
              <a:spcBef>
                <a:spcPct val="0"/>
              </a:spcBef>
              <a:spcAft>
                <a:spcPct val="0"/>
              </a:spcAft>
              <a:buFont typeface="Arial" panose="020B0604020202020204" pitchFamily="34" charset="0"/>
              <a:buChar char="•"/>
            </a:pPr>
            <a:r>
              <a:rPr lang="en-IN" sz="2000" dirty="0">
                <a:latin typeface="Cambria" panose="02040503050406030204" pitchFamily="18" charset="0"/>
                <a:ea typeface="Cambria" panose="02040503050406030204" pitchFamily="18" charset="0"/>
              </a:rPr>
              <a:t>Simpler code: No tokenization/generation logic needed</a:t>
            </a:r>
          </a:p>
        </p:txBody>
      </p:sp>
    </p:spTree>
    <p:extLst>
      <p:ext uri="{BB962C8B-B14F-4D97-AF65-F5344CB8AC3E}">
        <p14:creationId xmlns:p14="http://schemas.microsoft.com/office/powerpoint/2010/main" val="17648496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04801" y="121920"/>
            <a:ext cx="10881209" cy="335280"/>
          </a:xfrm>
        </p:spPr>
        <p:txBody>
          <a:bodyPr>
            <a:normAutofit fontScale="90000"/>
          </a:bodyPr>
          <a:lstStyle/>
          <a:p>
            <a:r>
              <a:rPr lang="en-US" dirty="0"/>
              <a:t>Delimiters</a:t>
            </a:r>
            <a:endParaRPr lang="en-IN" dirty="0"/>
          </a:p>
        </p:txBody>
      </p:sp>
      <p:graphicFrame>
        <p:nvGraphicFramePr>
          <p:cNvPr id="6" name="Content Placeholder 5"/>
          <p:cNvGraphicFramePr>
            <a:graphicFrameLocks noGrp="1"/>
          </p:cNvGraphicFramePr>
          <p:nvPr>
            <p:ph idx="10"/>
          </p:nvPr>
        </p:nvGraphicFramePr>
        <p:xfrm>
          <a:off x="929641" y="655324"/>
          <a:ext cx="9189720" cy="6063547"/>
        </p:xfrm>
        <a:graphic>
          <a:graphicData uri="http://schemas.openxmlformats.org/drawingml/2006/table">
            <a:tbl>
              <a:tblPr>
                <a:tableStyleId>{284E427A-3D55-4303-BF80-6455036E1DE7}</a:tableStyleId>
              </a:tblPr>
              <a:tblGrid>
                <a:gridCol w="1580889">
                  <a:extLst>
                    <a:ext uri="{9D8B030D-6E8A-4147-A177-3AD203B41FA5}">
                      <a16:colId xmlns:a16="http://schemas.microsoft.com/office/drawing/2014/main" val="20000"/>
                    </a:ext>
                  </a:extLst>
                </a:gridCol>
                <a:gridCol w="1619447">
                  <a:extLst>
                    <a:ext uri="{9D8B030D-6E8A-4147-A177-3AD203B41FA5}">
                      <a16:colId xmlns:a16="http://schemas.microsoft.com/office/drawing/2014/main" val="20001"/>
                    </a:ext>
                  </a:extLst>
                </a:gridCol>
                <a:gridCol w="2287790">
                  <a:extLst>
                    <a:ext uri="{9D8B030D-6E8A-4147-A177-3AD203B41FA5}">
                      <a16:colId xmlns:a16="http://schemas.microsoft.com/office/drawing/2014/main" val="20002"/>
                    </a:ext>
                  </a:extLst>
                </a:gridCol>
                <a:gridCol w="3701594">
                  <a:extLst>
                    <a:ext uri="{9D8B030D-6E8A-4147-A177-3AD203B41FA5}">
                      <a16:colId xmlns:a16="http://schemas.microsoft.com/office/drawing/2014/main" val="20003"/>
                    </a:ext>
                  </a:extLst>
                </a:gridCol>
              </a:tblGrid>
              <a:tr h="358591">
                <a:tc>
                  <a:txBody>
                    <a:bodyPr/>
                    <a:lstStyle/>
                    <a:p>
                      <a:pPr algn="l"/>
                      <a:r>
                        <a:rPr lang="en-IN" sz="1800" dirty="0">
                          <a:effectLst/>
                        </a:rPr>
                        <a:t>Delimiter Type</a:t>
                      </a:r>
                    </a:p>
                  </a:txBody>
                  <a:tcPr marL="36150" marR="36150" marT="36150" marB="36150" anchor="ctr"/>
                </a:tc>
                <a:tc>
                  <a:txBody>
                    <a:bodyPr/>
                    <a:lstStyle/>
                    <a:p>
                      <a:pPr algn="l"/>
                      <a:r>
                        <a:rPr lang="en-IN" sz="1800">
                          <a:effectLst/>
                        </a:rPr>
                        <a:t>Syntax</a:t>
                      </a:r>
                    </a:p>
                  </a:txBody>
                  <a:tcPr marL="36150" marR="36150" marT="36150" marB="36150" anchor="ctr"/>
                </a:tc>
                <a:tc>
                  <a:txBody>
                    <a:bodyPr/>
                    <a:lstStyle/>
                    <a:p>
                      <a:pPr algn="l"/>
                      <a:r>
                        <a:rPr lang="en-IN" sz="1800">
                          <a:effectLst/>
                        </a:rPr>
                        <a:t>Primary Use</a:t>
                      </a:r>
                    </a:p>
                  </a:txBody>
                  <a:tcPr marL="36150" marR="36150" marT="36150" marB="36150" anchor="ctr"/>
                </a:tc>
                <a:tc>
                  <a:txBody>
                    <a:bodyPr/>
                    <a:lstStyle/>
                    <a:p>
                      <a:pPr algn="l"/>
                      <a:r>
                        <a:rPr lang="en-IN" sz="1800">
                          <a:effectLst/>
                        </a:rPr>
                        <a:t>Example</a:t>
                      </a:r>
                    </a:p>
                  </a:txBody>
                  <a:tcPr marL="36150" marR="36150" marT="36150" marB="36150" anchor="ctr"/>
                </a:tc>
                <a:extLst>
                  <a:ext uri="{0D108BD9-81ED-4DB2-BD59-A6C34878D82A}">
                    <a16:rowId xmlns:a16="http://schemas.microsoft.com/office/drawing/2014/main" val="10000"/>
                  </a:ext>
                </a:extLst>
              </a:tr>
              <a:tr h="419298">
                <a:tc>
                  <a:txBody>
                    <a:bodyPr/>
                    <a:lstStyle/>
                    <a:p>
                      <a:pPr algn="l"/>
                      <a:r>
                        <a:rPr lang="en-IN" sz="1800" dirty="0">
                          <a:effectLst/>
                        </a:rPr>
                        <a:t>Triple Quotes</a:t>
                      </a:r>
                    </a:p>
                  </a:txBody>
                  <a:tcPr marL="36150" marR="36150" marT="36150" marB="36150" anchor="ctr"/>
                </a:tc>
                <a:tc>
                  <a:txBody>
                    <a:bodyPr/>
                    <a:lstStyle/>
                    <a:p>
                      <a:pPr algn="l"/>
                      <a:r>
                        <a:rPr lang="en-IN" sz="1800">
                          <a:effectLst/>
                        </a:rPr>
                        <a:t>"""..."""</a:t>
                      </a:r>
                    </a:p>
                  </a:txBody>
                  <a:tcPr marL="36150" marR="36150" marT="36150" marB="36150" anchor="ctr"/>
                </a:tc>
                <a:tc>
                  <a:txBody>
                    <a:bodyPr/>
                    <a:lstStyle/>
                    <a:p>
                      <a:pPr algn="l"/>
                      <a:r>
                        <a:rPr lang="en-IN" sz="1800">
                          <a:effectLst/>
                        </a:rPr>
                        <a:t>Text blocks, paragraphs</a:t>
                      </a:r>
                    </a:p>
                  </a:txBody>
                  <a:tcPr marL="36150" marR="36150" marT="36150" marB="36150" anchor="ctr"/>
                </a:tc>
                <a:tc>
                  <a:txBody>
                    <a:bodyPr/>
                    <a:lstStyle/>
                    <a:p>
                      <a:pPr algn="l"/>
                      <a:r>
                        <a:rPr lang="en-IN" sz="1800">
                          <a:effectLst/>
                        </a:rPr>
                        <a:t>"""Summarize this text..."""</a:t>
                      </a:r>
                    </a:p>
                  </a:txBody>
                  <a:tcPr marL="36150" marR="36150" marT="36150" marB="36150" anchor="ctr"/>
                </a:tc>
                <a:extLst>
                  <a:ext uri="{0D108BD9-81ED-4DB2-BD59-A6C34878D82A}">
                    <a16:rowId xmlns:a16="http://schemas.microsoft.com/office/drawing/2014/main" val="10001"/>
                  </a:ext>
                </a:extLst>
              </a:tr>
              <a:tr h="432161">
                <a:tc>
                  <a:txBody>
                    <a:bodyPr/>
                    <a:lstStyle/>
                    <a:p>
                      <a:pPr algn="l"/>
                      <a:r>
                        <a:rPr lang="en-IN" sz="1800" dirty="0">
                          <a:effectLst/>
                        </a:rPr>
                        <a:t>Triple </a:t>
                      </a:r>
                      <a:r>
                        <a:rPr lang="en-IN" sz="1800" dirty="0" err="1">
                          <a:effectLst/>
                        </a:rPr>
                        <a:t>Backticks</a:t>
                      </a:r>
                      <a:endParaRPr lang="en-IN" sz="1800" dirty="0">
                        <a:effectLst/>
                      </a:endParaRPr>
                    </a:p>
                  </a:txBody>
                  <a:tcPr marL="36150" marR="36150" marT="36150" marB="36150" anchor="ctr"/>
                </a:tc>
                <a:tc>
                  <a:txBody>
                    <a:bodyPr/>
                    <a:lstStyle/>
                    <a:p>
                      <a:pPr algn="l"/>
                      <a:r>
                        <a:rPr lang="en-IN" sz="1800">
                          <a:effectLst/>
                        </a:rPr>
                        <a:t>```...```</a:t>
                      </a:r>
                    </a:p>
                  </a:txBody>
                  <a:tcPr marL="36150" marR="36150" marT="36150" marB="36150" anchor="ctr"/>
                </a:tc>
                <a:tc>
                  <a:txBody>
                    <a:bodyPr/>
                    <a:lstStyle/>
                    <a:p>
                      <a:pPr algn="l"/>
                      <a:r>
                        <a:rPr lang="en-IN" sz="1800">
                          <a:effectLst/>
                        </a:rPr>
                        <a:t>Code blocks</a:t>
                      </a:r>
                    </a:p>
                  </a:txBody>
                  <a:tcPr marL="36150" marR="36150" marT="36150" marB="36150" anchor="ctr"/>
                </a:tc>
                <a:tc>
                  <a:txBody>
                    <a:bodyPr/>
                    <a:lstStyle/>
                    <a:p>
                      <a:pPr algn="l"/>
                      <a:r>
                        <a:rPr lang="en-IN" sz="1800">
                          <a:effectLst/>
                        </a:rPr>
                        <a:t>```python code here```</a:t>
                      </a:r>
                    </a:p>
                  </a:txBody>
                  <a:tcPr marL="36150" marR="36150" marT="36150" marB="36150" anchor="ctr"/>
                </a:tc>
                <a:extLst>
                  <a:ext uri="{0D108BD9-81ED-4DB2-BD59-A6C34878D82A}">
                    <a16:rowId xmlns:a16="http://schemas.microsoft.com/office/drawing/2014/main" val="10002"/>
                  </a:ext>
                </a:extLst>
              </a:tr>
              <a:tr h="484020">
                <a:tc>
                  <a:txBody>
                    <a:bodyPr/>
                    <a:lstStyle/>
                    <a:p>
                      <a:pPr algn="l"/>
                      <a:r>
                        <a:rPr lang="en-IN" sz="1800" dirty="0">
                          <a:effectLst/>
                        </a:rPr>
                        <a:t>XML Tags</a:t>
                      </a:r>
                    </a:p>
                  </a:txBody>
                  <a:tcPr marL="36150" marR="36150" marT="36150" marB="36150" anchor="ctr"/>
                </a:tc>
                <a:tc>
                  <a:txBody>
                    <a:bodyPr/>
                    <a:lstStyle/>
                    <a:p>
                      <a:pPr algn="l"/>
                      <a:r>
                        <a:rPr lang="en-IN" sz="1800">
                          <a:effectLst/>
                        </a:rPr>
                        <a:t>&lt;tag&gt;...&lt;/tag&gt;</a:t>
                      </a:r>
                    </a:p>
                  </a:txBody>
                  <a:tcPr marL="36150" marR="36150" marT="36150" marB="36150" anchor="ctr"/>
                </a:tc>
                <a:tc>
                  <a:txBody>
                    <a:bodyPr/>
                    <a:lstStyle/>
                    <a:p>
                      <a:pPr algn="l"/>
                      <a:r>
                        <a:rPr lang="en-IN" sz="1800">
                          <a:effectLst/>
                        </a:rPr>
                        <a:t>Semantic sections</a:t>
                      </a:r>
                    </a:p>
                  </a:txBody>
                  <a:tcPr marL="36150" marR="36150" marT="36150" marB="36150" anchor="ctr"/>
                </a:tc>
                <a:tc>
                  <a:txBody>
                    <a:bodyPr/>
                    <a:lstStyle/>
                    <a:p>
                      <a:pPr algn="l"/>
                      <a:r>
                        <a:rPr lang="en-IN" sz="1800">
                          <a:effectLst/>
                        </a:rPr>
                        <a:t>&lt;context&gt;...&lt;/context&gt;</a:t>
                      </a:r>
                    </a:p>
                  </a:txBody>
                  <a:tcPr marL="36150" marR="36150" marT="36150" marB="36150" anchor="ctr"/>
                </a:tc>
                <a:extLst>
                  <a:ext uri="{0D108BD9-81ED-4DB2-BD59-A6C34878D82A}">
                    <a16:rowId xmlns:a16="http://schemas.microsoft.com/office/drawing/2014/main" val="10003"/>
                  </a:ext>
                </a:extLst>
              </a:tr>
              <a:tr h="484020">
                <a:tc>
                  <a:txBody>
                    <a:bodyPr/>
                    <a:lstStyle/>
                    <a:p>
                      <a:pPr algn="l"/>
                      <a:r>
                        <a:rPr lang="en-IN" sz="1800">
                          <a:effectLst/>
                        </a:rPr>
                        <a:t>Square Brackets</a:t>
                      </a:r>
                    </a:p>
                  </a:txBody>
                  <a:tcPr marL="36150" marR="36150" marT="36150" marB="36150" anchor="ctr"/>
                </a:tc>
                <a:tc>
                  <a:txBody>
                    <a:bodyPr/>
                    <a:lstStyle/>
                    <a:p>
                      <a:pPr algn="l"/>
                      <a:r>
                        <a:rPr lang="en-IN" sz="1800">
                          <a:effectLst/>
                        </a:rPr>
                        <a:t>[LABEL]...[/LABEL]</a:t>
                      </a:r>
                    </a:p>
                  </a:txBody>
                  <a:tcPr marL="36150" marR="36150" marT="36150" marB="36150" anchor="ctr"/>
                </a:tc>
                <a:tc>
                  <a:txBody>
                    <a:bodyPr/>
                    <a:lstStyle/>
                    <a:p>
                      <a:pPr algn="l"/>
                      <a:r>
                        <a:rPr lang="en-IN" sz="1800">
                          <a:effectLst/>
                        </a:rPr>
                        <a:t>Named sections</a:t>
                      </a:r>
                    </a:p>
                  </a:txBody>
                  <a:tcPr marL="36150" marR="36150" marT="36150" marB="36150" anchor="ctr"/>
                </a:tc>
                <a:tc>
                  <a:txBody>
                    <a:bodyPr/>
                    <a:lstStyle/>
                    <a:p>
                      <a:pPr algn="l"/>
                      <a:r>
                        <a:rPr lang="en-IN" sz="1800">
                          <a:effectLst/>
                        </a:rPr>
                        <a:t>[CONTEXT]...[/CONTEXT]</a:t>
                      </a:r>
                    </a:p>
                  </a:txBody>
                  <a:tcPr marL="36150" marR="36150" marT="36150" marB="36150" anchor="ctr"/>
                </a:tc>
                <a:extLst>
                  <a:ext uri="{0D108BD9-81ED-4DB2-BD59-A6C34878D82A}">
                    <a16:rowId xmlns:a16="http://schemas.microsoft.com/office/drawing/2014/main" val="10004"/>
                  </a:ext>
                </a:extLst>
              </a:tr>
              <a:tr h="414874">
                <a:tc>
                  <a:txBody>
                    <a:bodyPr/>
                    <a:lstStyle/>
                    <a:p>
                      <a:pPr algn="l"/>
                      <a:r>
                        <a:rPr lang="en-IN" sz="1800">
                          <a:effectLst/>
                        </a:rPr>
                        <a:t>Curly Braces</a:t>
                      </a:r>
                    </a:p>
                  </a:txBody>
                  <a:tcPr marL="36150" marR="36150" marT="36150" marB="36150" anchor="ctr"/>
                </a:tc>
                <a:tc>
                  <a:txBody>
                    <a:bodyPr/>
                    <a:lstStyle/>
                    <a:p>
                      <a:pPr algn="l"/>
                      <a:r>
                        <a:rPr lang="en-IN" sz="1800">
                          <a:effectLst/>
                        </a:rPr>
                        <a:t>{...}</a:t>
                      </a:r>
                    </a:p>
                  </a:txBody>
                  <a:tcPr marL="36150" marR="36150" marT="36150" marB="36150" anchor="ctr"/>
                </a:tc>
                <a:tc>
                  <a:txBody>
                    <a:bodyPr/>
                    <a:lstStyle/>
                    <a:p>
                      <a:pPr algn="l"/>
                      <a:r>
                        <a:rPr lang="en-IN" sz="1800">
                          <a:effectLst/>
                        </a:rPr>
                        <a:t>Variables, placeholders</a:t>
                      </a:r>
                    </a:p>
                  </a:txBody>
                  <a:tcPr marL="36150" marR="36150" marT="36150" marB="36150" anchor="ctr"/>
                </a:tc>
                <a:tc>
                  <a:txBody>
                    <a:bodyPr/>
                    <a:lstStyle/>
                    <a:p>
                      <a:pPr algn="l"/>
                      <a:r>
                        <a:rPr lang="en-IN" sz="1800">
                          <a:effectLst/>
                        </a:rPr>
                        <a:t>{user_input}</a:t>
                      </a:r>
                    </a:p>
                  </a:txBody>
                  <a:tcPr marL="36150" marR="36150" marT="36150" marB="36150" anchor="ctr"/>
                </a:tc>
                <a:extLst>
                  <a:ext uri="{0D108BD9-81ED-4DB2-BD59-A6C34878D82A}">
                    <a16:rowId xmlns:a16="http://schemas.microsoft.com/office/drawing/2014/main" val="10005"/>
                  </a:ext>
                </a:extLst>
              </a:tr>
              <a:tr h="358591">
                <a:tc>
                  <a:txBody>
                    <a:bodyPr/>
                    <a:lstStyle/>
                    <a:p>
                      <a:pPr algn="l"/>
                      <a:r>
                        <a:rPr lang="en-IN" sz="1800">
                          <a:effectLst/>
                        </a:rPr>
                        <a:t>Angle Brackets</a:t>
                      </a:r>
                    </a:p>
                  </a:txBody>
                  <a:tcPr marL="36150" marR="36150" marT="36150" marB="36150" anchor="ctr"/>
                </a:tc>
                <a:tc>
                  <a:txBody>
                    <a:bodyPr/>
                    <a:lstStyle/>
                    <a:p>
                      <a:pPr algn="l"/>
                      <a:r>
                        <a:rPr lang="en-IN" sz="1800">
                          <a:effectLst/>
                        </a:rPr>
                        <a:t>&lt;...&gt;</a:t>
                      </a:r>
                    </a:p>
                  </a:txBody>
                  <a:tcPr marL="36150" marR="36150" marT="36150" marB="36150" anchor="ctr"/>
                </a:tc>
                <a:tc>
                  <a:txBody>
                    <a:bodyPr/>
                    <a:lstStyle/>
                    <a:p>
                      <a:pPr algn="l"/>
                      <a:r>
                        <a:rPr lang="en-IN" sz="1800" dirty="0">
                          <a:effectLst/>
                        </a:rPr>
                        <a:t>Placeholders</a:t>
                      </a:r>
                    </a:p>
                  </a:txBody>
                  <a:tcPr marL="36150" marR="36150" marT="36150" marB="36150" anchor="ctr"/>
                </a:tc>
                <a:tc>
                  <a:txBody>
                    <a:bodyPr/>
                    <a:lstStyle/>
                    <a:p>
                      <a:pPr algn="l"/>
                      <a:r>
                        <a:rPr lang="en-IN" sz="1800">
                          <a:effectLst/>
                        </a:rPr>
                        <a:t>&lt;insert name here&gt;</a:t>
                      </a:r>
                    </a:p>
                  </a:txBody>
                  <a:tcPr marL="36150" marR="36150" marT="36150" marB="36150" anchor="ctr"/>
                </a:tc>
                <a:extLst>
                  <a:ext uri="{0D108BD9-81ED-4DB2-BD59-A6C34878D82A}">
                    <a16:rowId xmlns:a16="http://schemas.microsoft.com/office/drawing/2014/main" val="10006"/>
                  </a:ext>
                </a:extLst>
              </a:tr>
              <a:tr h="488444">
                <a:tc>
                  <a:txBody>
                    <a:bodyPr/>
                    <a:lstStyle/>
                    <a:p>
                      <a:pPr algn="l"/>
                      <a:r>
                        <a:rPr lang="en-IN" sz="1800">
                          <a:effectLst/>
                        </a:rPr>
                        <a:t>Triple Dashes</a:t>
                      </a:r>
                    </a:p>
                  </a:txBody>
                  <a:tcPr marL="36150" marR="36150" marT="36150" marB="36150" anchor="ctr"/>
                </a:tc>
                <a:tc>
                  <a:txBody>
                    <a:bodyPr/>
                    <a:lstStyle/>
                    <a:p>
                      <a:pPr algn="l"/>
                      <a:r>
                        <a:rPr lang="en-IN" sz="1800">
                          <a:effectLst/>
                        </a:rPr>
                        <a:t>---</a:t>
                      </a:r>
                    </a:p>
                  </a:txBody>
                  <a:tcPr marL="36150" marR="36150" marT="36150" marB="36150" anchor="ctr"/>
                </a:tc>
                <a:tc>
                  <a:txBody>
                    <a:bodyPr/>
                    <a:lstStyle/>
                    <a:p>
                      <a:pPr algn="l"/>
                      <a:r>
                        <a:rPr lang="en-IN" sz="1800">
                          <a:effectLst/>
                        </a:rPr>
                        <a:t>Section separators</a:t>
                      </a:r>
                    </a:p>
                  </a:txBody>
                  <a:tcPr marL="36150" marR="36150" marT="36150" marB="36150" anchor="ctr"/>
                </a:tc>
                <a:tc>
                  <a:txBody>
                    <a:bodyPr/>
                    <a:lstStyle/>
                    <a:p>
                      <a:pPr algn="l"/>
                      <a:r>
                        <a:rPr lang="en-IN" sz="1800">
                          <a:effectLst/>
                        </a:rPr>
                        <a:t>---</a:t>
                      </a:r>
                    </a:p>
                  </a:txBody>
                  <a:tcPr marL="36150" marR="36150" marT="36150" marB="36150" anchor="ctr"/>
                </a:tc>
                <a:extLst>
                  <a:ext uri="{0D108BD9-81ED-4DB2-BD59-A6C34878D82A}">
                    <a16:rowId xmlns:a16="http://schemas.microsoft.com/office/drawing/2014/main" val="10007"/>
                  </a:ext>
                </a:extLst>
              </a:tr>
              <a:tr h="397588">
                <a:tc>
                  <a:txBody>
                    <a:bodyPr/>
                    <a:lstStyle/>
                    <a:p>
                      <a:pPr algn="l"/>
                      <a:r>
                        <a:rPr lang="en-IN" sz="1800">
                          <a:effectLst/>
                        </a:rPr>
                        <a:t>Triple Hashtags</a:t>
                      </a:r>
                    </a:p>
                  </a:txBody>
                  <a:tcPr marL="36150" marR="36150" marT="36150" marB="36150" anchor="ctr"/>
                </a:tc>
                <a:tc>
                  <a:txBody>
                    <a:bodyPr/>
                    <a:lstStyle/>
                    <a:p>
                      <a:pPr algn="l"/>
                      <a:r>
                        <a:rPr lang="en-IN" sz="1800">
                          <a:effectLst/>
                        </a:rPr>
                        <a:t>###</a:t>
                      </a:r>
                    </a:p>
                  </a:txBody>
                  <a:tcPr marL="36150" marR="36150" marT="36150" marB="36150" anchor="ctr"/>
                </a:tc>
                <a:tc>
                  <a:txBody>
                    <a:bodyPr/>
                    <a:lstStyle/>
                    <a:p>
                      <a:pPr algn="l"/>
                      <a:r>
                        <a:rPr lang="en-IN" sz="1800">
                          <a:effectLst/>
                        </a:rPr>
                        <a:t>Headers, section titles</a:t>
                      </a:r>
                    </a:p>
                  </a:txBody>
                  <a:tcPr marL="36150" marR="36150" marT="36150" marB="36150" anchor="ctr"/>
                </a:tc>
                <a:tc>
                  <a:txBody>
                    <a:bodyPr/>
                    <a:lstStyle/>
                    <a:p>
                      <a:pPr algn="l"/>
                      <a:r>
                        <a:rPr lang="en-IN" sz="1800">
                          <a:effectLst/>
                        </a:rPr>
                        <a:t>### Instructions</a:t>
                      </a:r>
                    </a:p>
                  </a:txBody>
                  <a:tcPr marL="36150" marR="36150" marT="36150" marB="36150" anchor="ctr"/>
                </a:tc>
                <a:extLst>
                  <a:ext uri="{0D108BD9-81ED-4DB2-BD59-A6C34878D82A}">
                    <a16:rowId xmlns:a16="http://schemas.microsoft.com/office/drawing/2014/main" val="10008"/>
                  </a:ext>
                </a:extLst>
              </a:tr>
              <a:tr h="358591">
                <a:tc>
                  <a:txBody>
                    <a:bodyPr/>
                    <a:lstStyle/>
                    <a:p>
                      <a:pPr algn="l"/>
                      <a:r>
                        <a:rPr lang="en-IN" sz="1800">
                          <a:effectLst/>
                        </a:rPr>
                        <a:t>Double Hashtags</a:t>
                      </a:r>
                    </a:p>
                  </a:txBody>
                  <a:tcPr marL="36150" marR="36150" marT="36150" marB="36150" anchor="ctr"/>
                </a:tc>
                <a:tc>
                  <a:txBody>
                    <a:bodyPr/>
                    <a:lstStyle/>
                    <a:p>
                      <a:pPr algn="l"/>
                      <a:r>
                        <a:rPr lang="en-IN" sz="1800">
                          <a:effectLst/>
                        </a:rPr>
                        <a:t>##</a:t>
                      </a:r>
                    </a:p>
                  </a:txBody>
                  <a:tcPr marL="36150" marR="36150" marT="36150" marB="36150" anchor="ctr"/>
                </a:tc>
                <a:tc>
                  <a:txBody>
                    <a:bodyPr/>
                    <a:lstStyle/>
                    <a:p>
                      <a:pPr algn="l"/>
                      <a:r>
                        <a:rPr lang="en-IN" sz="1800">
                          <a:effectLst/>
                        </a:rPr>
                        <a:t>Sub-sections</a:t>
                      </a:r>
                    </a:p>
                  </a:txBody>
                  <a:tcPr marL="36150" marR="36150" marT="36150" marB="36150" anchor="ctr"/>
                </a:tc>
                <a:tc>
                  <a:txBody>
                    <a:bodyPr/>
                    <a:lstStyle/>
                    <a:p>
                      <a:pPr algn="l"/>
                      <a:r>
                        <a:rPr lang="en-IN" sz="1800">
                          <a:effectLst/>
                        </a:rPr>
                        <a:t>## Step 1</a:t>
                      </a:r>
                    </a:p>
                  </a:txBody>
                  <a:tcPr marL="36150" marR="36150" marT="36150" marB="36150" anchor="ctr"/>
                </a:tc>
                <a:extLst>
                  <a:ext uri="{0D108BD9-81ED-4DB2-BD59-A6C34878D82A}">
                    <a16:rowId xmlns:a16="http://schemas.microsoft.com/office/drawing/2014/main" val="10009"/>
                  </a:ext>
                </a:extLst>
              </a:tr>
              <a:tr h="358591">
                <a:tc>
                  <a:txBody>
                    <a:bodyPr/>
                    <a:lstStyle/>
                    <a:p>
                      <a:pPr algn="l"/>
                      <a:r>
                        <a:rPr lang="en-IN" sz="1800">
                          <a:effectLst/>
                        </a:rPr>
                        <a:t>Pipes</a:t>
                      </a:r>
                    </a:p>
                  </a:txBody>
                  <a:tcPr marL="36150" marR="36150" marT="36150" marB="36150" anchor="ctr"/>
                </a:tc>
                <a:tc>
                  <a:txBody>
                    <a:bodyPr/>
                    <a:lstStyle/>
                    <a:p>
                      <a:pPr algn="l"/>
                      <a:r>
                        <a:rPr lang="en-IN" sz="1800">
                          <a:effectLst/>
                        </a:rPr>
                        <a:t>`</a:t>
                      </a:r>
                    </a:p>
                  </a:txBody>
                  <a:tcPr marL="36150" marR="36150" marT="36150" marB="36150" anchor="ctr"/>
                </a:tc>
                <a:tc>
                  <a:txBody>
                    <a:bodyPr/>
                    <a:lstStyle/>
                    <a:p>
                      <a:pPr algn="l"/>
                      <a:r>
                        <a:rPr lang="en-IN" sz="1800">
                          <a:effectLst/>
                        </a:rPr>
                        <a:t>`</a:t>
                      </a:r>
                    </a:p>
                  </a:txBody>
                  <a:tcPr marL="36150" marR="36150" marT="36150" marB="36150" anchor="ctr"/>
                </a:tc>
                <a:tc>
                  <a:txBody>
                    <a:bodyPr/>
                    <a:lstStyle/>
                    <a:p>
                      <a:pPr algn="l"/>
                      <a:r>
                        <a:rPr lang="en-IN" sz="1800">
                          <a:effectLst/>
                        </a:rPr>
                        <a:t>Column separators</a:t>
                      </a:r>
                    </a:p>
                  </a:txBody>
                  <a:tcPr marL="36150" marR="36150" marT="36150" marB="36150" anchor="ctr"/>
                </a:tc>
                <a:extLst>
                  <a:ext uri="{0D108BD9-81ED-4DB2-BD59-A6C34878D82A}">
                    <a16:rowId xmlns:a16="http://schemas.microsoft.com/office/drawing/2014/main" val="10010"/>
                  </a:ext>
                </a:extLst>
              </a:tr>
              <a:tr h="358591">
                <a:tc>
                  <a:txBody>
                    <a:bodyPr/>
                    <a:lstStyle/>
                    <a:p>
                      <a:pPr algn="l"/>
                      <a:r>
                        <a:rPr lang="en-IN" sz="1800">
                          <a:effectLst/>
                        </a:rPr>
                        <a:t>Asterisks</a:t>
                      </a:r>
                    </a:p>
                  </a:txBody>
                  <a:tcPr marL="36150" marR="36150" marT="36150" marB="36150" anchor="ctr"/>
                </a:tc>
                <a:tc>
                  <a:txBody>
                    <a:bodyPr/>
                    <a:lstStyle/>
                    <a:p>
                      <a:pPr algn="l"/>
                      <a:r>
                        <a:rPr lang="en-IN" sz="1800">
                          <a:effectLst/>
                        </a:rPr>
                        <a:t>*...*</a:t>
                      </a:r>
                    </a:p>
                  </a:txBody>
                  <a:tcPr marL="36150" marR="36150" marT="36150" marB="36150" anchor="ctr"/>
                </a:tc>
                <a:tc>
                  <a:txBody>
                    <a:bodyPr/>
                    <a:lstStyle/>
                    <a:p>
                      <a:pPr algn="l"/>
                      <a:r>
                        <a:rPr lang="en-IN" sz="1800">
                          <a:effectLst/>
                        </a:rPr>
                        <a:t>Emphasis, bullets</a:t>
                      </a:r>
                    </a:p>
                  </a:txBody>
                  <a:tcPr marL="36150" marR="36150" marT="36150" marB="36150" anchor="ctr"/>
                </a:tc>
                <a:tc>
                  <a:txBody>
                    <a:bodyPr/>
                    <a:lstStyle/>
                    <a:p>
                      <a:pPr algn="l"/>
                      <a:r>
                        <a:rPr lang="en-IN" sz="1800">
                          <a:effectLst/>
                        </a:rPr>
                        <a:t>* Item 1</a:t>
                      </a:r>
                    </a:p>
                  </a:txBody>
                  <a:tcPr marL="36150" marR="36150" marT="36150" marB="36150" anchor="ctr"/>
                </a:tc>
                <a:extLst>
                  <a:ext uri="{0D108BD9-81ED-4DB2-BD59-A6C34878D82A}">
                    <a16:rowId xmlns:a16="http://schemas.microsoft.com/office/drawing/2014/main" val="10011"/>
                  </a:ext>
                </a:extLst>
              </a:tr>
              <a:tr h="358591">
                <a:tc>
                  <a:txBody>
                    <a:bodyPr/>
                    <a:lstStyle/>
                    <a:p>
                      <a:pPr algn="l"/>
                      <a:r>
                        <a:rPr lang="en-IN" sz="1800">
                          <a:effectLst/>
                        </a:rPr>
                        <a:t>Equal Signs</a:t>
                      </a:r>
                    </a:p>
                  </a:txBody>
                  <a:tcPr marL="36150" marR="36150" marT="36150" marB="36150" anchor="ctr"/>
                </a:tc>
                <a:tc>
                  <a:txBody>
                    <a:bodyPr/>
                    <a:lstStyle/>
                    <a:p>
                      <a:pPr algn="l"/>
                      <a:r>
                        <a:rPr lang="en-IN" sz="1800">
                          <a:effectLst/>
                        </a:rPr>
                        <a:t>===</a:t>
                      </a:r>
                    </a:p>
                  </a:txBody>
                  <a:tcPr marL="36150" marR="36150" marT="36150" marB="36150" anchor="ctr"/>
                </a:tc>
                <a:tc>
                  <a:txBody>
                    <a:bodyPr/>
                    <a:lstStyle/>
                    <a:p>
                      <a:pPr algn="l"/>
                      <a:r>
                        <a:rPr lang="en-IN" sz="1800">
                          <a:effectLst/>
                        </a:rPr>
                        <a:t>Strong separators</a:t>
                      </a:r>
                    </a:p>
                  </a:txBody>
                  <a:tcPr marL="36150" marR="36150" marT="36150" marB="36150" anchor="ctr"/>
                </a:tc>
                <a:tc>
                  <a:txBody>
                    <a:bodyPr/>
                    <a:lstStyle/>
                    <a:p>
                      <a:pPr algn="l"/>
                      <a:r>
                        <a:rPr lang="en-IN" sz="1800">
                          <a:effectLst/>
                        </a:rPr>
                        <a:t>===</a:t>
                      </a:r>
                    </a:p>
                  </a:txBody>
                  <a:tcPr marL="36150" marR="36150" marT="36150" marB="36150" anchor="ctr"/>
                </a:tc>
                <a:extLst>
                  <a:ext uri="{0D108BD9-81ED-4DB2-BD59-A6C34878D82A}">
                    <a16:rowId xmlns:a16="http://schemas.microsoft.com/office/drawing/2014/main" val="10012"/>
                  </a:ext>
                </a:extLst>
              </a:tr>
              <a:tr h="392327">
                <a:tc>
                  <a:txBody>
                    <a:bodyPr/>
                    <a:lstStyle/>
                    <a:p>
                      <a:pPr algn="l"/>
                      <a:r>
                        <a:rPr lang="en-IN" sz="1800">
                          <a:effectLst/>
                        </a:rPr>
                        <a:t>Greater Than</a:t>
                      </a:r>
                    </a:p>
                  </a:txBody>
                  <a:tcPr marL="36150" marR="36150" marT="36150" marB="36150" anchor="ctr"/>
                </a:tc>
                <a:tc>
                  <a:txBody>
                    <a:bodyPr/>
                    <a:lstStyle/>
                    <a:p>
                      <a:pPr algn="l"/>
                      <a:r>
                        <a:rPr lang="en-IN" sz="1800">
                          <a:effectLst/>
                        </a:rPr>
                        <a:t>&gt;&gt;&gt;</a:t>
                      </a:r>
                    </a:p>
                  </a:txBody>
                  <a:tcPr marL="36150" marR="36150" marT="36150" marB="36150" anchor="ctr"/>
                </a:tc>
                <a:tc>
                  <a:txBody>
                    <a:bodyPr/>
                    <a:lstStyle/>
                    <a:p>
                      <a:pPr algn="l"/>
                      <a:r>
                        <a:rPr lang="en-IN" sz="1800" dirty="0">
                          <a:effectLst/>
                        </a:rPr>
                        <a:t>Nested content</a:t>
                      </a:r>
                    </a:p>
                  </a:txBody>
                  <a:tcPr marL="36150" marR="36150" marT="36150" marB="36150" anchor="ctr"/>
                </a:tc>
                <a:tc>
                  <a:txBody>
                    <a:bodyPr/>
                    <a:lstStyle/>
                    <a:p>
                      <a:pPr algn="l"/>
                      <a:r>
                        <a:rPr lang="en-IN" sz="1800" dirty="0">
                          <a:effectLst/>
                        </a:rPr>
                        <a:t>&gt;&gt;&gt; quoted text</a:t>
                      </a:r>
                    </a:p>
                  </a:txBody>
                  <a:tcPr marL="36150" marR="36150" marT="36150" marB="36150" anchor="ct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3036422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0"/>
          </p:nvPr>
        </p:nvPicPr>
        <p:blipFill>
          <a:blip r:embed="rId2"/>
          <a:stretch>
            <a:fillRect/>
          </a:stretch>
        </p:blipFill>
        <p:spPr>
          <a:xfrm>
            <a:off x="0" y="1507782"/>
            <a:ext cx="6648308" cy="4894070"/>
          </a:xfrm>
          <a:prstGeom prst="rect">
            <a:avLst/>
          </a:prstGeom>
        </p:spPr>
      </p:pic>
      <p:sp>
        <p:nvSpPr>
          <p:cNvPr id="3" name="Title 2"/>
          <p:cNvSpPr>
            <a:spLocks noGrp="1"/>
          </p:cNvSpPr>
          <p:nvPr>
            <p:ph type="title"/>
          </p:nvPr>
        </p:nvSpPr>
        <p:spPr/>
        <p:txBody>
          <a:bodyPr/>
          <a:lstStyle/>
          <a:p>
            <a:r>
              <a:rPr lang="en-IN" dirty="0"/>
              <a:t>Chain-of-Thought: Think Before Answering</a:t>
            </a:r>
          </a:p>
        </p:txBody>
      </p:sp>
      <p:sp>
        <p:nvSpPr>
          <p:cNvPr id="8" name="TextBox 7">
            <a:extLst>
              <a:ext uri="{FF2B5EF4-FFF2-40B4-BE49-F238E27FC236}">
                <a16:creationId xmlns:a16="http://schemas.microsoft.com/office/drawing/2014/main" id="{24BBAD95-FE6F-483B-4AFC-08BE00CD21ED}"/>
              </a:ext>
            </a:extLst>
          </p:cNvPr>
          <p:cNvSpPr txBox="1"/>
          <p:nvPr/>
        </p:nvSpPr>
        <p:spPr>
          <a:xfrm>
            <a:off x="6817974" y="2007764"/>
            <a:ext cx="5190411" cy="3132268"/>
          </a:xfrm>
          <a:prstGeom prst="rect">
            <a:avLst/>
          </a:prstGeom>
          <a:noFill/>
        </p:spPr>
        <p:txBody>
          <a:bodyPr wrap="square">
            <a:spAutoFit/>
          </a:bodyPr>
          <a:lstStyle/>
          <a:p>
            <a:pPr>
              <a:lnSpc>
                <a:spcPct val="105000"/>
              </a:lnSpc>
              <a:spcAft>
                <a:spcPts val="600"/>
              </a:spcAft>
              <a:buSzPct val="100000"/>
            </a:pPr>
            <a:r>
              <a:rPr lang="en-US" sz="2000" dirty="0">
                <a:solidFill>
                  <a:srgbClr val="333333"/>
                </a:solidFill>
                <a:latin typeface="Cambria" panose="02040503050406030204" pitchFamily="18" charset="0"/>
                <a:ea typeface="Cambria" panose="02040503050406030204" pitchFamily="18" charset="0"/>
                <a:cs typeface="Calibri" pitchFamily="34" charset="-120"/>
              </a:rPr>
              <a:t>Few-shot </a:t>
            </a:r>
            <a:r>
              <a:rPr lang="en-US" sz="2000" dirty="0" err="1">
                <a:solidFill>
                  <a:srgbClr val="333333"/>
                </a:solidFill>
                <a:latin typeface="Cambria" panose="02040503050406030204" pitchFamily="18" charset="0"/>
                <a:ea typeface="Cambria" panose="02040503050406030204" pitchFamily="18" charset="0"/>
                <a:cs typeface="Calibri" pitchFamily="34" charset="-120"/>
              </a:rPr>
              <a:t>CoT</a:t>
            </a:r>
            <a:r>
              <a:rPr lang="en-US" sz="2000" dirty="0">
                <a:solidFill>
                  <a:srgbClr val="333333"/>
                </a:solidFill>
                <a:latin typeface="Cambria" panose="02040503050406030204" pitchFamily="18" charset="0"/>
                <a:ea typeface="Cambria" panose="02040503050406030204" pitchFamily="18" charset="0"/>
                <a:cs typeface="Calibri" pitchFamily="34" charset="-120"/>
              </a:rPr>
              <a:t>: demonstrations include the intermediate reasoning, not just the answer — the model imitates the reasoning pattern at test time.</a:t>
            </a:r>
            <a:endParaRPr lang="en-US" sz="2000" dirty="0">
              <a:latin typeface="Cambria" panose="02040503050406030204" pitchFamily="18" charset="0"/>
              <a:ea typeface="Cambria" panose="02040503050406030204" pitchFamily="18" charset="0"/>
            </a:endParaRPr>
          </a:p>
          <a:p>
            <a:pPr>
              <a:lnSpc>
                <a:spcPct val="105000"/>
              </a:lnSpc>
              <a:spcAft>
                <a:spcPts val="600"/>
              </a:spcAft>
              <a:buSzPct val="100000"/>
            </a:pPr>
            <a:endParaRPr lang="en-US" sz="2000" dirty="0">
              <a:solidFill>
                <a:srgbClr val="333333"/>
              </a:solidFill>
              <a:latin typeface="Cambria" panose="02040503050406030204" pitchFamily="18" charset="0"/>
              <a:ea typeface="Cambria" panose="02040503050406030204" pitchFamily="18" charset="0"/>
              <a:cs typeface="Calibri" pitchFamily="34" charset="-120"/>
            </a:endParaRPr>
          </a:p>
          <a:p>
            <a:pPr>
              <a:lnSpc>
                <a:spcPct val="105000"/>
              </a:lnSpc>
              <a:spcAft>
                <a:spcPts val="600"/>
              </a:spcAft>
              <a:buSzPct val="100000"/>
            </a:pPr>
            <a:r>
              <a:rPr lang="en-US" sz="2000" dirty="0">
                <a:solidFill>
                  <a:srgbClr val="333333"/>
                </a:solidFill>
                <a:latin typeface="Cambria" panose="02040503050406030204" pitchFamily="18" charset="0"/>
                <a:ea typeface="Cambria" panose="02040503050406030204" pitchFamily="18" charset="0"/>
                <a:cs typeface="Calibri" pitchFamily="34" charset="-120"/>
              </a:rPr>
              <a:t>Where </a:t>
            </a:r>
            <a:r>
              <a:rPr lang="en-US" sz="2000" dirty="0" err="1">
                <a:solidFill>
                  <a:srgbClr val="333333"/>
                </a:solidFill>
                <a:latin typeface="Cambria" panose="02040503050406030204" pitchFamily="18" charset="0"/>
                <a:ea typeface="Cambria" panose="02040503050406030204" pitchFamily="18" charset="0"/>
                <a:cs typeface="Calibri" pitchFamily="34" charset="-120"/>
              </a:rPr>
              <a:t>CoT</a:t>
            </a:r>
            <a:r>
              <a:rPr lang="en-US" sz="2000" dirty="0">
                <a:solidFill>
                  <a:srgbClr val="333333"/>
                </a:solidFill>
                <a:latin typeface="Cambria" panose="02040503050406030204" pitchFamily="18" charset="0"/>
                <a:ea typeface="Cambria" panose="02040503050406030204" pitchFamily="18" charset="0"/>
                <a:cs typeface="Calibri" pitchFamily="34" charset="-120"/>
              </a:rPr>
              <a:t> helps: math, logic, multi-step QA, planning. Where it doesn’t: simple retrieval/classification — it adds cost and can even distract.</a:t>
            </a: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22988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0"/>
          </p:nvPr>
        </p:nvPicPr>
        <p:blipFill>
          <a:blip r:embed="rId3"/>
          <a:stretch>
            <a:fillRect/>
          </a:stretch>
        </p:blipFill>
        <p:spPr>
          <a:xfrm>
            <a:off x="507999" y="1219200"/>
            <a:ext cx="6778625" cy="5468259"/>
          </a:xfrm>
          <a:prstGeom prst="rect">
            <a:avLst/>
          </a:prstGeom>
        </p:spPr>
      </p:pic>
      <p:sp>
        <p:nvSpPr>
          <p:cNvPr id="3" name="Title 2"/>
          <p:cNvSpPr>
            <a:spLocks noGrp="1"/>
          </p:cNvSpPr>
          <p:nvPr>
            <p:ph type="title"/>
          </p:nvPr>
        </p:nvSpPr>
        <p:spPr/>
        <p:txBody>
          <a:bodyPr/>
          <a:lstStyle/>
          <a:p>
            <a:r>
              <a:rPr lang="en-IN" dirty="0"/>
              <a:t>Zero-shot chain-of-thought</a:t>
            </a:r>
          </a:p>
        </p:txBody>
      </p:sp>
      <p:sp>
        <p:nvSpPr>
          <p:cNvPr id="5" name="Rectangle 4"/>
          <p:cNvSpPr/>
          <p:nvPr/>
        </p:nvSpPr>
        <p:spPr>
          <a:xfrm>
            <a:off x="7789333" y="1443335"/>
            <a:ext cx="3759200" cy="2308324"/>
          </a:xfrm>
          <a:prstGeom prst="rect">
            <a:avLst/>
          </a:prstGeom>
        </p:spPr>
        <p:txBody>
          <a:bodyPr wrap="square">
            <a:spAutoFit/>
          </a:bodyPr>
          <a:lstStyle/>
          <a:p>
            <a:r>
              <a:rPr lang="en-IN" sz="2400" dirty="0">
                <a:latin typeface="Cambria" panose="02040503050406030204" pitchFamily="18" charset="0"/>
                <a:ea typeface="Cambria" panose="02040503050406030204" pitchFamily="18" charset="0"/>
              </a:rPr>
              <a:t>Chain-of-thought prompting without using examples. Instead, it uses the phrase “Let’s think step-by-step” to prime reasoning in its answer.</a:t>
            </a:r>
          </a:p>
        </p:txBody>
      </p:sp>
      <p:sp>
        <p:nvSpPr>
          <p:cNvPr id="6" name="Rectangle 5"/>
          <p:cNvSpPr/>
          <p:nvPr/>
        </p:nvSpPr>
        <p:spPr>
          <a:xfrm>
            <a:off x="7489822" y="4263660"/>
            <a:ext cx="4566709" cy="1938992"/>
          </a:xfrm>
          <a:prstGeom prst="rect">
            <a:avLst/>
          </a:prstGeom>
        </p:spPr>
        <p:txBody>
          <a:bodyPr wrap="square">
            <a:spAutoFit/>
          </a:bodyPr>
          <a:lstStyle/>
          <a:p>
            <a:r>
              <a:rPr lang="en-IN" sz="2400" dirty="0">
                <a:latin typeface="Cambria" panose="02040503050406030204" pitchFamily="18" charset="0"/>
                <a:ea typeface="Cambria" panose="02040503050406030204" pitchFamily="18" charset="0"/>
              </a:rPr>
              <a:t>Alternatives</a:t>
            </a:r>
          </a:p>
          <a:p>
            <a:pPr marL="342900" indent="-342900">
              <a:buFont typeface="Arial" panose="020B0604020202020204" pitchFamily="34" charset="0"/>
              <a:buChar char="•"/>
            </a:pPr>
            <a:r>
              <a:rPr lang="en-IN" sz="2400" dirty="0">
                <a:latin typeface="Cambria" panose="02040503050406030204" pitchFamily="18" charset="0"/>
                <a:ea typeface="Cambria" panose="02040503050406030204" pitchFamily="18" charset="0"/>
              </a:rPr>
              <a:t> “Take a deep breath and think step-by-step” </a:t>
            </a:r>
          </a:p>
          <a:p>
            <a:pPr marL="342900" indent="-342900">
              <a:buFont typeface="Arial" panose="020B0604020202020204" pitchFamily="34" charset="0"/>
              <a:buChar char="•"/>
            </a:pPr>
            <a:r>
              <a:rPr lang="en-IN" sz="2400" dirty="0">
                <a:latin typeface="Cambria" panose="02040503050406030204" pitchFamily="18" charset="0"/>
                <a:ea typeface="Cambria" panose="02040503050406030204" pitchFamily="18" charset="0"/>
              </a:rPr>
              <a:t> “Let’s work through this problem step-by-step.”</a:t>
            </a:r>
          </a:p>
        </p:txBody>
      </p:sp>
    </p:spTree>
    <p:extLst>
      <p:ext uri="{BB962C8B-B14F-4D97-AF65-F5344CB8AC3E}">
        <p14:creationId xmlns:p14="http://schemas.microsoft.com/office/powerpoint/2010/main" val="7349321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0"/>
          </p:nvPr>
        </p:nvPicPr>
        <p:blipFill>
          <a:blip r:embed="rId2"/>
          <a:stretch>
            <a:fillRect/>
          </a:stretch>
        </p:blipFill>
        <p:spPr>
          <a:xfrm>
            <a:off x="6167052" y="1219200"/>
            <a:ext cx="6024948" cy="4863382"/>
          </a:xfrm>
          <a:prstGeom prst="rect">
            <a:avLst/>
          </a:prstGeom>
        </p:spPr>
      </p:pic>
      <p:sp>
        <p:nvSpPr>
          <p:cNvPr id="3" name="Title 2"/>
          <p:cNvSpPr>
            <a:spLocks noGrp="1"/>
          </p:cNvSpPr>
          <p:nvPr>
            <p:ph type="title"/>
          </p:nvPr>
        </p:nvSpPr>
        <p:spPr/>
        <p:txBody>
          <a:bodyPr/>
          <a:lstStyle/>
          <a:p>
            <a:r>
              <a:rPr lang="en-US" dirty="0"/>
              <a:t>Self-Consistency: Improving Outputs via Multiple Samplings</a:t>
            </a:r>
            <a:endParaRPr lang="en-IN" dirty="0"/>
          </a:p>
        </p:txBody>
      </p:sp>
      <p:sp>
        <p:nvSpPr>
          <p:cNvPr id="6" name="TextBox 5">
            <a:extLst>
              <a:ext uri="{FF2B5EF4-FFF2-40B4-BE49-F238E27FC236}">
                <a16:creationId xmlns:a16="http://schemas.microsoft.com/office/drawing/2014/main" id="{CAB9A218-9282-12B7-23E3-757A7CF60C15}"/>
              </a:ext>
            </a:extLst>
          </p:cNvPr>
          <p:cNvSpPr txBox="1"/>
          <p:nvPr/>
        </p:nvSpPr>
        <p:spPr>
          <a:xfrm>
            <a:off x="223453" y="1639237"/>
            <a:ext cx="6024947" cy="3785652"/>
          </a:xfrm>
          <a:prstGeom prst="rect">
            <a:avLst/>
          </a:prstGeom>
          <a:noFill/>
        </p:spPr>
        <p:txBody>
          <a:bodyPr wrap="square">
            <a:spAutoFit/>
          </a:bodyPr>
          <a:lstStyle/>
          <a:p>
            <a:pPr marL="342900" indent="-342900">
              <a:buFont typeface="Arial" panose="020B0604020202020204" pitchFamily="34" charset="0"/>
              <a:buChar char="•"/>
            </a:pPr>
            <a:r>
              <a:rPr lang="en-US" sz="2000" dirty="0"/>
              <a:t>Generate same prompt multiple times with sampling enabled, collect all outputs, and use majority voting on final answer.</a:t>
            </a:r>
          </a:p>
          <a:p>
            <a:pPr marL="342900" indent="-342900">
              <a:buFont typeface="Arial" panose="020B0604020202020204" pitchFamily="34" charset="0"/>
              <a:buChar char="•"/>
            </a:pPr>
            <a:r>
              <a:rPr lang="en-US" sz="2000" dirty="0"/>
              <a:t>Process (3 steps)</a:t>
            </a:r>
          </a:p>
          <a:p>
            <a:pPr marL="800100" lvl="1" indent="-342900">
              <a:buFont typeface="Arial" panose="020B0604020202020204" pitchFamily="34" charset="0"/>
              <a:buChar char="•"/>
            </a:pPr>
            <a:r>
              <a:rPr lang="en-US" sz="2000" dirty="0"/>
              <a:t>Sample N outputs from the same prompt</a:t>
            </a:r>
          </a:p>
          <a:p>
            <a:pPr marL="1257300" lvl="2" indent="-342900">
              <a:buFont typeface="Arial" panose="020B0604020202020204" pitchFamily="34" charset="0"/>
              <a:buChar char="•"/>
            </a:pPr>
            <a:r>
              <a:rPr lang="en-US" sz="2000" dirty="0"/>
              <a:t>   Use `temperature &gt; 0` and `</a:t>
            </a:r>
            <a:r>
              <a:rPr lang="en-US" sz="2000" dirty="0" err="1"/>
              <a:t>do_sample</a:t>
            </a:r>
            <a:r>
              <a:rPr lang="en-US" sz="2000" dirty="0"/>
              <a:t>=True` to introduce variability</a:t>
            </a:r>
          </a:p>
          <a:p>
            <a:pPr marL="800100" lvl="1" indent="-342900">
              <a:buFont typeface="Arial" panose="020B0604020202020204" pitchFamily="34" charset="0"/>
              <a:buChar char="•"/>
            </a:pPr>
            <a:r>
              <a:rPr lang="en-US" sz="2000" dirty="0"/>
              <a:t>Extract final answers from each sample</a:t>
            </a:r>
          </a:p>
          <a:p>
            <a:pPr marL="1257300" lvl="2" indent="-342900">
              <a:buFont typeface="Arial" panose="020B0604020202020204" pitchFamily="34" charset="0"/>
              <a:buChar char="•"/>
            </a:pPr>
            <a:r>
              <a:rPr lang="en-US" sz="2000" dirty="0"/>
              <a:t>   Parse the answer from each output (e.g., regex to find numbers)</a:t>
            </a:r>
          </a:p>
          <a:p>
            <a:pPr marL="800100" lvl="1" indent="-342900">
              <a:buFont typeface="Arial" panose="020B0604020202020204" pitchFamily="34" charset="0"/>
              <a:buChar char="•"/>
            </a:pPr>
            <a:r>
              <a:rPr lang="en-US" sz="2000" dirty="0"/>
              <a:t>Majority voting: pick the answer that appears most often</a:t>
            </a:r>
          </a:p>
        </p:txBody>
      </p:sp>
    </p:spTree>
    <p:extLst>
      <p:ext uri="{BB962C8B-B14F-4D97-AF65-F5344CB8AC3E}">
        <p14:creationId xmlns:p14="http://schemas.microsoft.com/office/powerpoint/2010/main" val="22983924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p:txBody>
          <a:bodyPr/>
          <a:lstStyle/>
          <a:p>
            <a:r>
              <a:rPr lang="en-US" dirty="0"/>
              <a:t>.</a:t>
            </a:r>
            <a:endParaRPr lang="en-IN" dirty="0"/>
          </a:p>
        </p:txBody>
      </p:sp>
      <p:sp>
        <p:nvSpPr>
          <p:cNvPr id="3" name="Title 2"/>
          <p:cNvSpPr>
            <a:spLocks noGrp="1"/>
          </p:cNvSpPr>
          <p:nvPr>
            <p:ph type="title"/>
          </p:nvPr>
        </p:nvSpPr>
        <p:spPr/>
        <p:txBody>
          <a:bodyPr/>
          <a:lstStyle/>
          <a:p>
            <a:r>
              <a:rPr lang="en-IN" dirty="0"/>
              <a:t>Tree of Thought Prompting</a:t>
            </a:r>
          </a:p>
        </p:txBody>
      </p:sp>
      <p:sp>
        <p:nvSpPr>
          <p:cNvPr id="5" name="Rectangle 4"/>
          <p:cNvSpPr/>
          <p:nvPr/>
        </p:nvSpPr>
        <p:spPr>
          <a:xfrm>
            <a:off x="7589520" y="1545224"/>
            <a:ext cx="4365412" cy="5078313"/>
          </a:xfrm>
          <a:prstGeom prst="rect">
            <a:avLst/>
          </a:prstGeom>
        </p:spPr>
        <p:txBody>
          <a:bodyPr wrap="square">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Why linear reasoning isn't always enough</a:t>
            </a:r>
          </a:p>
          <a:p>
            <a:pPr marL="285750" indent="-285750">
              <a:buFont typeface="Arial" panose="020B0604020202020204" pitchFamily="34" charset="0"/>
              <a:buChar char="•"/>
            </a:pPr>
            <a:r>
              <a:rPr lang="en-US" dirty="0" err="1">
                <a:latin typeface="Cambria" panose="02040503050406030204" pitchFamily="18" charset="0"/>
                <a:ea typeface="Cambria" panose="02040503050406030204" pitchFamily="18" charset="0"/>
              </a:rPr>
              <a:t>CoT</a:t>
            </a:r>
            <a:r>
              <a:rPr lang="en-US" dirty="0">
                <a:latin typeface="Cambria" panose="02040503050406030204" pitchFamily="18" charset="0"/>
                <a:ea typeface="Cambria" panose="02040503050406030204" pitchFamily="18" charset="0"/>
              </a:rPr>
              <a:t> produces ONE reasoning path: </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Step 1 → Step 2 → Step 3 → Answer</a:t>
            </a:r>
          </a:p>
          <a:p>
            <a:pPr marL="285750" indent="-285750">
              <a:buFont typeface="Arial" panose="020B0604020202020204" pitchFamily="34" charset="0"/>
              <a:buChar char="•"/>
            </a:pPr>
            <a:r>
              <a:rPr lang="en-IN" dirty="0">
                <a:latin typeface="Cambria" panose="02040503050406030204" pitchFamily="18" charset="0"/>
                <a:ea typeface="Cambria" panose="02040503050406030204" pitchFamily="18" charset="0"/>
              </a:rPr>
              <a:t>Tree of Thought</a:t>
            </a:r>
            <a:endParaRPr lang="en-US" dirty="0">
              <a:latin typeface="Cambria" panose="02040503050406030204" pitchFamily="18" charset="0"/>
              <a:ea typeface="Cambria" panose="02040503050406030204" pitchFamily="18" charset="0"/>
            </a:endParaRPr>
          </a:p>
          <a:p>
            <a:pPr marL="742950" lvl="1" indent="-285750">
              <a:buFont typeface="Arial" panose="020B0604020202020204" pitchFamily="34" charset="0"/>
              <a:buChar char="•"/>
            </a:pPr>
            <a:r>
              <a:rPr lang="en-US" dirty="0">
                <a:latin typeface="Cambria" panose="02040503050406030204" pitchFamily="18" charset="0"/>
                <a:ea typeface="Cambria" panose="02040503050406030204" pitchFamily="18" charset="0"/>
              </a:rPr>
              <a:t>Exploring multiple reasoning paths (like a search tree)</a:t>
            </a:r>
          </a:p>
          <a:p>
            <a:pPr marL="742950" lvl="1" indent="-285750">
              <a:buFont typeface="Arial" panose="020B0604020202020204" pitchFamily="34" charset="0"/>
              <a:buChar char="•"/>
            </a:pPr>
            <a:r>
              <a:rPr lang="en-US" dirty="0">
                <a:latin typeface="Cambria" panose="02040503050406030204" pitchFamily="18" charset="0"/>
                <a:ea typeface="Cambria" panose="02040503050406030204" pitchFamily="18" charset="0"/>
              </a:rPr>
              <a:t>At each intermediate step, generate multiple candidate thoughts (branches) </a:t>
            </a:r>
          </a:p>
          <a:p>
            <a:pPr marL="742950" lvl="1" indent="-285750">
              <a:buFont typeface="Arial" panose="020B0604020202020204" pitchFamily="34" charset="0"/>
              <a:buChar char="•"/>
            </a:pPr>
            <a:r>
              <a:rPr lang="en-US" dirty="0">
                <a:latin typeface="Cambria" panose="02040503050406030204" pitchFamily="18" charset="0"/>
                <a:ea typeface="Cambria" panose="02040503050406030204" pitchFamily="18" charset="0"/>
              </a:rPr>
              <a:t>Evaluate each candidate (which looks most promising?) </a:t>
            </a:r>
          </a:p>
          <a:p>
            <a:pPr marL="742950" lvl="1" indent="-285750">
              <a:buFont typeface="Arial" panose="020B0604020202020204" pitchFamily="34" charset="0"/>
              <a:buChar char="•"/>
            </a:pPr>
            <a:r>
              <a:rPr lang="en-US" dirty="0">
                <a:latin typeface="Cambria" panose="02040503050406030204" pitchFamily="18" charset="0"/>
                <a:ea typeface="Cambria" panose="02040503050406030204" pitchFamily="18" charset="0"/>
              </a:rPr>
              <a:t>Select the best candidates and continue expanding from them Prune unpromising branches to save computation </a:t>
            </a:r>
          </a:p>
          <a:p>
            <a:pPr marL="742950" lvl="1" indent="-285750">
              <a:buFont typeface="Arial" panose="020B0604020202020204" pitchFamily="34" charset="0"/>
              <a:buChar char="•"/>
            </a:pPr>
            <a:r>
              <a:rPr lang="en-US" dirty="0">
                <a:latin typeface="Cambria" panose="02040503050406030204" pitchFamily="18" charset="0"/>
                <a:ea typeface="Cambria" panose="02040503050406030204" pitchFamily="18" charset="0"/>
              </a:rPr>
              <a:t> Result: A tree of reasoning paths, not a linear chain</a:t>
            </a:r>
            <a:endParaRPr lang="en-IN" dirty="0">
              <a:latin typeface="Cambria" panose="02040503050406030204" pitchFamily="18" charset="0"/>
              <a:ea typeface="Cambria" panose="02040503050406030204" pitchFamily="18" charset="0"/>
            </a:endParaRPr>
          </a:p>
        </p:txBody>
      </p:sp>
      <p:pic>
        <p:nvPicPr>
          <p:cNvPr id="6" name="Picture 5"/>
          <p:cNvPicPr>
            <a:picLocks noChangeAspect="1"/>
          </p:cNvPicPr>
          <p:nvPr/>
        </p:nvPicPr>
        <p:blipFill>
          <a:blip r:embed="rId3"/>
          <a:stretch>
            <a:fillRect/>
          </a:stretch>
        </p:blipFill>
        <p:spPr>
          <a:xfrm>
            <a:off x="543877" y="1416367"/>
            <a:ext cx="7172325" cy="3476625"/>
          </a:xfrm>
          <a:prstGeom prst="rect">
            <a:avLst/>
          </a:prstGeom>
        </p:spPr>
      </p:pic>
    </p:spTree>
    <p:extLst>
      <p:ext uri="{BB962C8B-B14F-4D97-AF65-F5344CB8AC3E}">
        <p14:creationId xmlns:p14="http://schemas.microsoft.com/office/powerpoint/2010/main" val="3073732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188023" y="53699"/>
            <a:ext cx="11338560" cy="670560"/>
          </a:xfrm>
          <a:prstGeom prst="rect">
            <a:avLst/>
          </a:prstGeom>
        </p:spPr>
        <p:txBody>
          <a:bodyPr vert="horz" lIns="91440" tIns="45720" rIns="91440" bIns="45720" rtlCol="0" anchor="ctr">
            <a:normAutofit/>
          </a:bodyPr>
          <a:lstStyle/>
          <a:p>
            <a:r>
              <a:rPr lang="en-US" sz="3600" dirty="0">
                <a:latin typeface="Cambria" panose="02040503050406030204" pitchFamily="18" charset="0"/>
                <a:ea typeface="Cambria" panose="02040503050406030204" pitchFamily="18" charset="0"/>
                <a:cs typeface="+mj-cs"/>
              </a:rPr>
              <a:t>From Prompts to Pipelines</a:t>
            </a:r>
          </a:p>
        </p:txBody>
      </p:sp>
      <p:sp>
        <p:nvSpPr>
          <p:cNvPr id="6" name="Shape 4"/>
          <p:cNvSpPr/>
          <p:nvPr/>
        </p:nvSpPr>
        <p:spPr>
          <a:xfrm>
            <a:off x="188023" y="3500219"/>
            <a:ext cx="5425440" cy="1841745"/>
          </a:xfrm>
          <a:prstGeom prst="roundRect">
            <a:avLst>
              <a:gd name="adj" fmla="val 2400"/>
            </a:avLst>
          </a:prstGeom>
          <a:solidFill>
            <a:srgbClr val="FBF7F0"/>
          </a:solidFill>
          <a:ln/>
          <a:effectLst>
            <a:outerShdw blurRad="63500" dist="19050" dir="2700000" algn="bl" rotWithShape="0">
              <a:srgbClr val="000000">
                <a:alpha val="12000"/>
              </a:srgbClr>
            </a:outerShdw>
          </a:effectLst>
        </p:spPr>
        <p:txBody>
          <a:bodyPr/>
          <a:lstStyle/>
          <a:p>
            <a:pPr>
              <a:lnSpc>
                <a:spcPct val="102000"/>
              </a:lnSpc>
              <a:spcAft>
                <a:spcPts val="533"/>
              </a:spcAft>
              <a:buSzPct val="100000"/>
            </a:pPr>
            <a:r>
              <a:rPr lang="en-US" sz="2000" b="1" dirty="0">
                <a:solidFill>
                  <a:srgbClr val="6B6B6B"/>
                </a:solidFill>
                <a:latin typeface="Cambria" panose="02040503050406030204" pitchFamily="18" charset="0"/>
                <a:ea typeface="Cambria" panose="02040503050406030204" pitchFamily="18" charset="0"/>
                <a:cs typeface="Calibri" pitchFamily="34" charset="-120"/>
              </a:rPr>
              <a:t>Prompt as artifact</a:t>
            </a:r>
            <a:endParaRPr lang="en-US" sz="2000" dirty="0">
              <a:latin typeface="Cambria" panose="02040503050406030204" pitchFamily="18" charset="0"/>
              <a:ea typeface="Cambria" panose="02040503050406030204" pitchFamily="18" charset="0"/>
            </a:endParaRPr>
          </a:p>
          <a:p>
            <a:pPr marL="342900" indent="-342900">
              <a:lnSpc>
                <a:spcPct val="102000"/>
              </a:lnSpc>
              <a:spcAft>
                <a:spcPts val="533"/>
              </a:spcAft>
              <a:buSzPct val="100000"/>
              <a:buFont typeface="Arial" panose="020B0604020202020204" pitchFamily="34" charset="0"/>
              <a:buChar char="•"/>
            </a:pPr>
            <a:r>
              <a:rPr lang="en-US" sz="2000" dirty="0">
                <a:solidFill>
                  <a:srgbClr val="333333"/>
                </a:solidFill>
                <a:latin typeface="Cambria" panose="02040503050406030204" pitchFamily="18" charset="0"/>
                <a:ea typeface="Cambria" panose="02040503050406030204" pitchFamily="18" charset="0"/>
                <a:cs typeface="Calibri" pitchFamily="34" charset="-120"/>
              </a:rPr>
              <a:t>One mega-prompt tries to do everything</a:t>
            </a:r>
            <a:endParaRPr lang="en-US" sz="2000" dirty="0">
              <a:latin typeface="Cambria" panose="02040503050406030204" pitchFamily="18" charset="0"/>
              <a:ea typeface="Cambria" panose="02040503050406030204" pitchFamily="18" charset="0"/>
            </a:endParaRPr>
          </a:p>
          <a:p>
            <a:pPr marL="342900" indent="-342900">
              <a:lnSpc>
                <a:spcPct val="102000"/>
              </a:lnSpc>
              <a:spcAft>
                <a:spcPts val="533"/>
              </a:spcAft>
              <a:buSzPct val="100000"/>
              <a:buFont typeface="Arial" panose="020B0604020202020204" pitchFamily="34" charset="0"/>
              <a:buChar char="•"/>
            </a:pPr>
            <a:r>
              <a:rPr lang="en-US" sz="2000" dirty="0">
                <a:solidFill>
                  <a:srgbClr val="333333"/>
                </a:solidFill>
                <a:latin typeface="Cambria" panose="02040503050406030204" pitchFamily="18" charset="0"/>
                <a:ea typeface="Cambria" panose="02040503050406030204" pitchFamily="18" charset="0"/>
                <a:cs typeface="Calibri" pitchFamily="34" charset="-120"/>
              </a:rPr>
              <a:t>Failures are opaque — which part broke?</a:t>
            </a:r>
            <a:endParaRPr lang="en-US" sz="2000" dirty="0">
              <a:latin typeface="Cambria" panose="02040503050406030204" pitchFamily="18" charset="0"/>
              <a:ea typeface="Cambria" panose="02040503050406030204" pitchFamily="18" charset="0"/>
            </a:endParaRPr>
          </a:p>
          <a:p>
            <a:pPr marL="342900" indent="-342900">
              <a:lnSpc>
                <a:spcPct val="102000"/>
              </a:lnSpc>
              <a:spcAft>
                <a:spcPts val="533"/>
              </a:spcAft>
              <a:buSzPct val="100000"/>
              <a:buFont typeface="Arial" panose="020B0604020202020204" pitchFamily="34" charset="0"/>
              <a:buChar char="•"/>
            </a:pPr>
            <a:r>
              <a:rPr lang="en-US" sz="2000" dirty="0">
                <a:solidFill>
                  <a:srgbClr val="333333"/>
                </a:solidFill>
                <a:latin typeface="Cambria" panose="02040503050406030204" pitchFamily="18" charset="0"/>
                <a:ea typeface="Cambria" panose="02040503050406030204" pitchFamily="18" charset="0"/>
                <a:cs typeface="Calibri" pitchFamily="34" charset="-120"/>
              </a:rPr>
              <a:t>Hard to test, version, or improve locally</a:t>
            </a:r>
            <a:endParaRPr lang="en-US" sz="2000" dirty="0">
              <a:latin typeface="Cambria" panose="02040503050406030204" pitchFamily="18" charset="0"/>
              <a:ea typeface="Cambria" panose="02040503050406030204" pitchFamily="18" charset="0"/>
            </a:endParaRPr>
          </a:p>
          <a:p>
            <a:pPr marL="342900" indent="-342900">
              <a:lnSpc>
                <a:spcPct val="102000"/>
              </a:lnSpc>
              <a:spcAft>
                <a:spcPts val="533"/>
              </a:spcAft>
              <a:buSzPct val="100000"/>
              <a:buFont typeface="Arial" panose="020B0604020202020204" pitchFamily="34" charset="0"/>
              <a:buChar char="•"/>
            </a:pPr>
            <a:r>
              <a:rPr lang="en-US" sz="2000" dirty="0">
                <a:solidFill>
                  <a:srgbClr val="333333"/>
                </a:solidFill>
                <a:latin typeface="Cambria" panose="02040503050406030204" pitchFamily="18" charset="0"/>
                <a:ea typeface="Cambria" panose="02040503050406030204" pitchFamily="18" charset="0"/>
                <a:cs typeface="Calibri" pitchFamily="34" charset="-120"/>
              </a:rPr>
              <a:t>Accuracy degrades as instructions pile up</a:t>
            </a:r>
            <a:endParaRPr lang="en-US" sz="2000" dirty="0">
              <a:latin typeface="Cambria" panose="02040503050406030204" pitchFamily="18" charset="0"/>
              <a:ea typeface="Cambria" panose="02040503050406030204" pitchFamily="18" charset="0"/>
            </a:endParaRPr>
          </a:p>
        </p:txBody>
      </p:sp>
      <p:sp>
        <p:nvSpPr>
          <p:cNvPr id="9" name="Shape 7"/>
          <p:cNvSpPr/>
          <p:nvPr/>
        </p:nvSpPr>
        <p:spPr>
          <a:xfrm>
            <a:off x="5857303" y="2240024"/>
            <a:ext cx="6334697" cy="2428264"/>
          </a:xfrm>
          <a:prstGeom prst="roundRect">
            <a:avLst>
              <a:gd name="adj" fmla="val 2400"/>
            </a:avLst>
          </a:prstGeom>
          <a:solidFill>
            <a:srgbClr val="F2F5FA"/>
          </a:solidFill>
          <a:ln/>
          <a:effectLst>
            <a:outerShdw blurRad="63500" dist="19050" dir="2700000" algn="bl" rotWithShape="0">
              <a:srgbClr val="000000">
                <a:alpha val="12000"/>
              </a:srgbClr>
            </a:outerShdw>
          </a:effectLst>
        </p:spPr>
        <p:txBody>
          <a:bodyPr/>
          <a:lstStyle/>
          <a:p>
            <a:pPr>
              <a:lnSpc>
                <a:spcPct val="102000"/>
              </a:lnSpc>
              <a:spcAft>
                <a:spcPts val="533"/>
              </a:spcAft>
              <a:buSzPct val="100000"/>
            </a:pPr>
            <a:r>
              <a:rPr lang="en-US" sz="2000" b="1" dirty="0">
                <a:solidFill>
                  <a:srgbClr val="1F3864"/>
                </a:solidFill>
                <a:latin typeface="Cambria" panose="02040503050406030204" pitchFamily="18" charset="0"/>
                <a:ea typeface="Cambria" panose="02040503050406030204" pitchFamily="18" charset="0"/>
                <a:cs typeface="Calibri" pitchFamily="34" charset="-120"/>
              </a:rPr>
              <a:t>Prompt as system component</a:t>
            </a:r>
            <a:endParaRPr lang="en-US" sz="2000" dirty="0">
              <a:latin typeface="Cambria" panose="02040503050406030204" pitchFamily="18" charset="0"/>
              <a:ea typeface="Cambria" panose="02040503050406030204" pitchFamily="18" charset="0"/>
            </a:endParaRPr>
          </a:p>
          <a:p>
            <a:pPr marL="342900" indent="-342900">
              <a:lnSpc>
                <a:spcPct val="102000"/>
              </a:lnSpc>
              <a:spcAft>
                <a:spcPts val="533"/>
              </a:spcAft>
              <a:buSzPct val="100000"/>
              <a:buFont typeface="Arial" panose="020B0604020202020204" pitchFamily="34" charset="0"/>
              <a:buChar char="•"/>
            </a:pPr>
            <a:r>
              <a:rPr lang="en-US" sz="2000" dirty="0">
                <a:solidFill>
                  <a:srgbClr val="333333"/>
                </a:solidFill>
                <a:latin typeface="Cambria" panose="02040503050406030204" pitchFamily="18" charset="0"/>
                <a:ea typeface="Cambria" panose="02040503050406030204" pitchFamily="18" charset="0"/>
                <a:cs typeface="Calibri" pitchFamily="34" charset="-120"/>
              </a:rPr>
              <a:t>Each LLM call does ONE job with ONE schema</a:t>
            </a:r>
            <a:endParaRPr lang="en-US" sz="2000" dirty="0">
              <a:latin typeface="Cambria" panose="02040503050406030204" pitchFamily="18" charset="0"/>
              <a:ea typeface="Cambria" panose="02040503050406030204" pitchFamily="18" charset="0"/>
            </a:endParaRPr>
          </a:p>
          <a:p>
            <a:pPr marL="342900" indent="-342900">
              <a:lnSpc>
                <a:spcPct val="102000"/>
              </a:lnSpc>
              <a:spcAft>
                <a:spcPts val="533"/>
              </a:spcAft>
              <a:buSzPct val="100000"/>
              <a:buFont typeface="Arial" panose="020B0604020202020204" pitchFamily="34" charset="0"/>
              <a:buChar char="•"/>
            </a:pPr>
            <a:r>
              <a:rPr lang="en-US" sz="2000" dirty="0">
                <a:solidFill>
                  <a:srgbClr val="333333"/>
                </a:solidFill>
                <a:latin typeface="Cambria" panose="02040503050406030204" pitchFamily="18" charset="0"/>
                <a:ea typeface="Cambria" panose="02040503050406030204" pitchFamily="18" charset="0"/>
                <a:cs typeface="Calibri" pitchFamily="34" charset="-120"/>
              </a:rPr>
              <a:t>Control flow (if/else, loops, retries) lives in code, not in the prompt</a:t>
            </a:r>
            <a:endParaRPr lang="en-US" sz="2000" dirty="0">
              <a:latin typeface="Cambria" panose="02040503050406030204" pitchFamily="18" charset="0"/>
              <a:ea typeface="Cambria" panose="02040503050406030204" pitchFamily="18" charset="0"/>
            </a:endParaRPr>
          </a:p>
          <a:p>
            <a:pPr marL="342900" indent="-342900">
              <a:lnSpc>
                <a:spcPct val="102000"/>
              </a:lnSpc>
              <a:spcAft>
                <a:spcPts val="533"/>
              </a:spcAft>
              <a:buSzPct val="100000"/>
              <a:buFont typeface="Arial" panose="020B0604020202020204" pitchFamily="34" charset="0"/>
              <a:buChar char="•"/>
            </a:pPr>
            <a:r>
              <a:rPr lang="en-US" sz="2000" dirty="0">
                <a:solidFill>
                  <a:srgbClr val="333333"/>
                </a:solidFill>
                <a:latin typeface="Cambria" panose="02040503050406030204" pitchFamily="18" charset="0"/>
                <a:ea typeface="Cambria" panose="02040503050406030204" pitchFamily="18" charset="0"/>
                <a:cs typeface="Calibri" pitchFamily="34" charset="-120"/>
              </a:rPr>
              <a:t>Every stage is independently testable &amp; swappable (model per stage)</a:t>
            </a:r>
            <a:endParaRPr lang="en-US" sz="2000" dirty="0">
              <a:latin typeface="Cambria" panose="02040503050406030204" pitchFamily="18" charset="0"/>
              <a:ea typeface="Cambria" panose="02040503050406030204" pitchFamily="18" charset="0"/>
            </a:endParaRPr>
          </a:p>
          <a:p>
            <a:pPr marL="342900" indent="-342900">
              <a:lnSpc>
                <a:spcPct val="102000"/>
              </a:lnSpc>
              <a:spcAft>
                <a:spcPts val="533"/>
              </a:spcAft>
              <a:buSzPct val="100000"/>
              <a:buFont typeface="Arial" panose="020B0604020202020204" pitchFamily="34" charset="0"/>
              <a:buChar char="•"/>
            </a:pPr>
            <a:r>
              <a:rPr lang="en-US" sz="2000" dirty="0">
                <a:solidFill>
                  <a:srgbClr val="333333"/>
                </a:solidFill>
                <a:latin typeface="Cambria" panose="02040503050406030204" pitchFamily="18" charset="0"/>
                <a:ea typeface="Cambria" panose="02040503050406030204" pitchFamily="18" charset="0"/>
                <a:cs typeface="Calibri" pitchFamily="34" charset="-120"/>
              </a:rPr>
              <a:t>Observability: log inputs/outputs per stage</a:t>
            </a:r>
            <a:endParaRPr lang="en-US" sz="2000" dirty="0">
              <a:latin typeface="Cambria" panose="02040503050406030204" pitchFamily="18" charset="0"/>
              <a:ea typeface="Cambria" panose="02040503050406030204" pitchFamily="18" charset="0"/>
            </a:endParaRPr>
          </a:p>
        </p:txBody>
      </p:sp>
      <p:sp>
        <p:nvSpPr>
          <p:cNvPr id="12" name="Text 10"/>
          <p:cNvSpPr/>
          <p:nvPr/>
        </p:nvSpPr>
        <p:spPr>
          <a:xfrm>
            <a:off x="163784" y="5516880"/>
            <a:ext cx="11591214" cy="927987"/>
          </a:xfrm>
          <a:prstGeom prst="rect">
            <a:avLst/>
          </a:prstGeom>
          <a:noFill/>
          <a:ln/>
        </p:spPr>
        <p:txBody>
          <a:bodyPr wrap="square" lIns="0" tIns="0" rIns="0" bIns="0" rtlCol="0" anchor="t"/>
          <a:lstStyle/>
          <a:p>
            <a:pPr marL="342900" indent="-342900">
              <a:buSzPct val="100000"/>
              <a:buFont typeface="Arial" panose="020B0604020202020204" pitchFamily="34" charset="0"/>
              <a:buChar char="•"/>
            </a:pPr>
            <a:r>
              <a:rPr lang="en-US" sz="2000" dirty="0">
                <a:solidFill>
                  <a:srgbClr val="333333"/>
                </a:solidFill>
                <a:latin typeface="Cambria" panose="02040503050406030204" pitchFamily="18" charset="0"/>
                <a:ea typeface="Cambria" panose="02040503050406030204" pitchFamily="18" charset="0"/>
                <a:cs typeface="Calibri" pitchFamily="34" charset="-120"/>
              </a:rPr>
              <a:t>Four design tools : chaining (sequential stages), decomposition (split the query), routing (pick the path), and function calling (let the model invoke code)</a:t>
            </a:r>
            <a:endParaRPr lang="en-US" sz="2000" dirty="0">
              <a:latin typeface="Cambria" panose="02040503050406030204" pitchFamily="18" charset="0"/>
              <a:ea typeface="Cambria" panose="02040503050406030204" pitchFamily="18" charset="0"/>
            </a:endParaRPr>
          </a:p>
          <a:p>
            <a:pPr marL="342900" indent="-342900">
              <a:buSzPct val="100000"/>
              <a:buFont typeface="Arial" panose="020B0604020202020204" pitchFamily="34" charset="0"/>
              <a:buChar char="•"/>
            </a:pPr>
            <a:r>
              <a:rPr lang="en-US" sz="2000" dirty="0" err="1">
                <a:solidFill>
                  <a:srgbClr val="333333"/>
                </a:solidFill>
                <a:latin typeface="Cambria" panose="02040503050406030204" pitchFamily="18" charset="0"/>
                <a:ea typeface="Cambria" panose="02040503050406030204" pitchFamily="18" charset="0"/>
                <a:cs typeface="Calibri" pitchFamily="34" charset="-120"/>
              </a:rPr>
              <a:t>LangChain</a:t>
            </a:r>
            <a:r>
              <a:rPr lang="en-US" sz="2000" dirty="0">
                <a:solidFill>
                  <a:srgbClr val="333333"/>
                </a:solidFill>
                <a:latin typeface="Cambria" panose="02040503050406030204" pitchFamily="18" charset="0"/>
                <a:ea typeface="Cambria" panose="02040503050406030204" pitchFamily="18" charset="0"/>
                <a:cs typeface="Calibri" pitchFamily="34" charset="-120"/>
              </a:rPr>
              <a:t> / LangGraph, LlamaIndex, DSPy — but the patterns are framework-independent</a:t>
            </a:r>
            <a:endParaRPr lang="en-US" sz="2000" dirty="0">
              <a:latin typeface="Cambria" panose="02040503050406030204" pitchFamily="18" charset="0"/>
              <a:ea typeface="Cambria" panose="02040503050406030204" pitchFamily="18" charset="0"/>
            </a:endParaRPr>
          </a:p>
        </p:txBody>
      </p:sp>
      <p:pic>
        <p:nvPicPr>
          <p:cNvPr id="14" name="Picture 13">
            <a:extLst>
              <a:ext uri="{FF2B5EF4-FFF2-40B4-BE49-F238E27FC236}">
                <a16:creationId xmlns:a16="http://schemas.microsoft.com/office/drawing/2014/main" id="{6568A93A-7AEE-BB21-E6B7-1F2381F5760A}"/>
              </a:ext>
            </a:extLst>
          </p:cNvPr>
          <p:cNvPicPr>
            <a:picLocks noChangeAspect="1"/>
          </p:cNvPicPr>
          <p:nvPr/>
        </p:nvPicPr>
        <p:blipFill>
          <a:blip r:embed="rId3"/>
          <a:stretch>
            <a:fillRect/>
          </a:stretch>
        </p:blipFill>
        <p:spPr>
          <a:xfrm>
            <a:off x="526697" y="891532"/>
            <a:ext cx="4417469" cy="2428264"/>
          </a:xfrm>
          <a:prstGeom prst="rect">
            <a:avLst/>
          </a:prstGeom>
          <a:ln>
            <a:solidFill>
              <a:schemeClr val="tx1"/>
            </a:solidFill>
          </a:ln>
        </p:spPr>
      </p:pic>
      <p:sp>
        <p:nvSpPr>
          <p:cNvPr id="16" name="TextBox 15">
            <a:extLst>
              <a:ext uri="{FF2B5EF4-FFF2-40B4-BE49-F238E27FC236}">
                <a16:creationId xmlns:a16="http://schemas.microsoft.com/office/drawing/2014/main" id="{E51FA86B-7EA7-2684-5F50-F2B28DCD8479}"/>
              </a:ext>
            </a:extLst>
          </p:cNvPr>
          <p:cNvSpPr txBox="1"/>
          <p:nvPr/>
        </p:nvSpPr>
        <p:spPr>
          <a:xfrm>
            <a:off x="5745755" y="1593178"/>
            <a:ext cx="3555421" cy="394788"/>
          </a:xfrm>
          <a:prstGeom prst="rect">
            <a:avLst/>
          </a:prstGeom>
          <a:noFill/>
        </p:spPr>
        <p:txBody>
          <a:bodyPr wrap="square">
            <a:spAutoFit/>
          </a:bodyPr>
          <a:lstStyle/>
          <a:p>
            <a:pPr algn="l">
              <a:lnSpc>
                <a:spcPts val="2250"/>
              </a:lnSpc>
              <a:buNone/>
            </a:pPr>
            <a:r>
              <a:rPr lang="en-IN" sz="2400" b="1" dirty="0">
                <a:solidFill>
                  <a:srgbClr val="141413"/>
                </a:solidFill>
                <a:latin typeface="anthropicSans"/>
              </a:rPr>
              <a:t>&lt;--  A</a:t>
            </a:r>
            <a:r>
              <a:rPr lang="en-IN" sz="2400" b="1" i="0" dirty="0">
                <a:solidFill>
                  <a:srgbClr val="141413"/>
                </a:solidFill>
                <a:effectLst/>
                <a:latin typeface="anthropicSans"/>
              </a:rPr>
              <a:t>ugmented LLM</a:t>
            </a:r>
          </a:p>
        </p:txBody>
      </p:sp>
      <p:sp>
        <p:nvSpPr>
          <p:cNvPr id="18" name="TextBox 17">
            <a:extLst>
              <a:ext uri="{FF2B5EF4-FFF2-40B4-BE49-F238E27FC236}">
                <a16:creationId xmlns:a16="http://schemas.microsoft.com/office/drawing/2014/main" id="{5ADEF3C5-E16E-2C95-A823-6256B3805DFD}"/>
              </a:ext>
            </a:extLst>
          </p:cNvPr>
          <p:cNvSpPr txBox="1"/>
          <p:nvPr/>
        </p:nvSpPr>
        <p:spPr>
          <a:xfrm>
            <a:off x="163784" y="6560352"/>
            <a:ext cx="8583609" cy="276999"/>
          </a:xfrm>
          <a:prstGeom prst="rect">
            <a:avLst/>
          </a:prstGeom>
          <a:noFill/>
        </p:spPr>
        <p:txBody>
          <a:bodyPr wrap="square">
            <a:spAutoFit/>
          </a:bodyPr>
          <a:lstStyle/>
          <a:p>
            <a:r>
              <a:rPr lang="en-IN" sz="1200" dirty="0"/>
              <a:t>Image Source: https://www.anthropic.com/engineering/building-effective-agents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0" y="1387933"/>
            <a:ext cx="6440557" cy="2448571"/>
          </a:xfrm>
        </p:spPr>
        <p:txBody>
          <a:bodyPr>
            <a:noAutofit/>
          </a:bodyPr>
          <a:lstStyle/>
          <a:p>
            <a:pPr marL="342900" indent="-342900">
              <a:buFont typeface="Arial" panose="020B0604020202020204" pitchFamily="34" charset="0"/>
              <a:buChar char="•"/>
            </a:pPr>
            <a:r>
              <a:rPr lang="en-US" sz="2000" dirty="0"/>
              <a:t>Breaking Problems into Sequential Steps</a:t>
            </a:r>
          </a:p>
          <a:p>
            <a:pPr marL="342900" indent="-342900">
              <a:buFont typeface="Arial" panose="020B0604020202020204" pitchFamily="34" charset="0"/>
              <a:buChar char="•"/>
            </a:pPr>
            <a:r>
              <a:rPr lang="en-US" sz="2000" dirty="0"/>
              <a:t>Traditional approach</a:t>
            </a:r>
          </a:p>
          <a:p>
            <a:pPr marL="800100" lvl="1" indent="-342900">
              <a:buFont typeface="Arial" panose="020B0604020202020204" pitchFamily="34" charset="0"/>
              <a:buChar char="•"/>
            </a:pPr>
            <a:r>
              <a:rPr lang="en-US" sz="2000" dirty="0"/>
              <a:t> One complex prompt → One output </a:t>
            </a:r>
          </a:p>
          <a:p>
            <a:pPr marL="342900" indent="-342900">
              <a:buFont typeface="Arial" panose="020B0604020202020204" pitchFamily="34" charset="0"/>
              <a:buChar char="•"/>
            </a:pPr>
            <a:r>
              <a:rPr lang="en-US" sz="2000" dirty="0"/>
              <a:t>Each step in the chain is modular and independently </a:t>
            </a:r>
            <a:r>
              <a:rPr lang="en-US" sz="2000" dirty="0" err="1"/>
              <a:t>debuggable</a:t>
            </a:r>
            <a:r>
              <a:rPr lang="en-US" sz="2000" dirty="0"/>
              <a:t> </a:t>
            </a:r>
          </a:p>
          <a:p>
            <a:pPr marL="342900" indent="-342900">
              <a:buFont typeface="Arial" panose="020B0604020202020204" pitchFamily="34" charset="0"/>
              <a:buChar char="•"/>
            </a:pPr>
            <a:r>
              <a:rPr lang="en-IN" sz="2000" dirty="0"/>
              <a:t>Ideal for situations where the task can be easily and cleanly decomposed into fixed subtasks</a:t>
            </a:r>
          </a:p>
        </p:txBody>
      </p:sp>
      <p:sp>
        <p:nvSpPr>
          <p:cNvPr id="3" name="Title 2"/>
          <p:cNvSpPr>
            <a:spLocks noGrp="1"/>
          </p:cNvSpPr>
          <p:nvPr>
            <p:ph type="title"/>
          </p:nvPr>
        </p:nvSpPr>
        <p:spPr/>
        <p:txBody>
          <a:bodyPr/>
          <a:lstStyle/>
          <a:p>
            <a:r>
              <a:rPr lang="en-US" dirty="0"/>
              <a:t>Prompt chaining</a:t>
            </a:r>
            <a:endParaRPr lang="en-IN" dirty="0"/>
          </a:p>
        </p:txBody>
      </p:sp>
      <p:pic>
        <p:nvPicPr>
          <p:cNvPr id="4" name="Picture 3"/>
          <p:cNvPicPr>
            <a:picLocks noChangeAspect="1"/>
          </p:cNvPicPr>
          <p:nvPr/>
        </p:nvPicPr>
        <p:blipFill>
          <a:blip r:embed="rId2"/>
          <a:stretch>
            <a:fillRect/>
          </a:stretch>
        </p:blipFill>
        <p:spPr>
          <a:xfrm>
            <a:off x="6808305" y="792694"/>
            <a:ext cx="5010740" cy="3562984"/>
          </a:xfrm>
          <a:prstGeom prst="rect">
            <a:avLst/>
          </a:prstGeom>
        </p:spPr>
      </p:pic>
      <p:pic>
        <p:nvPicPr>
          <p:cNvPr id="7" name="Picture 6">
            <a:extLst>
              <a:ext uri="{FF2B5EF4-FFF2-40B4-BE49-F238E27FC236}">
                <a16:creationId xmlns:a16="http://schemas.microsoft.com/office/drawing/2014/main" id="{05A675B4-1988-7BC4-0B0D-188D79D5B38A}"/>
              </a:ext>
            </a:extLst>
          </p:cNvPr>
          <p:cNvPicPr>
            <a:picLocks noChangeAspect="1"/>
          </p:cNvPicPr>
          <p:nvPr/>
        </p:nvPicPr>
        <p:blipFill>
          <a:blip r:embed="rId3"/>
          <a:stretch>
            <a:fillRect/>
          </a:stretch>
        </p:blipFill>
        <p:spPr>
          <a:xfrm>
            <a:off x="372956" y="4524411"/>
            <a:ext cx="9005745" cy="1624644"/>
          </a:xfrm>
          <a:prstGeom prst="rect">
            <a:avLst/>
          </a:prstGeom>
        </p:spPr>
      </p:pic>
      <p:sp>
        <p:nvSpPr>
          <p:cNvPr id="9" name="TextBox 8">
            <a:extLst>
              <a:ext uri="{FF2B5EF4-FFF2-40B4-BE49-F238E27FC236}">
                <a16:creationId xmlns:a16="http://schemas.microsoft.com/office/drawing/2014/main" id="{4AA2FFF0-50AC-9252-8900-18634940CF09}"/>
              </a:ext>
            </a:extLst>
          </p:cNvPr>
          <p:cNvSpPr txBox="1"/>
          <p:nvPr/>
        </p:nvSpPr>
        <p:spPr>
          <a:xfrm>
            <a:off x="6733573" y="5603641"/>
            <a:ext cx="5160204" cy="923330"/>
          </a:xfrm>
          <a:prstGeom prst="rect">
            <a:avLst/>
          </a:prstGeom>
          <a:solidFill>
            <a:schemeClr val="bg2">
              <a:lumMod val="75000"/>
            </a:schemeClr>
          </a:solidFill>
        </p:spPr>
        <p:txBody>
          <a:bodyPr wrap="square">
            <a:spAutoFit/>
          </a:bodyPr>
          <a:lstStyle/>
          <a:p>
            <a:r>
              <a:rPr lang="en-IN" dirty="0">
                <a:solidFill>
                  <a:srgbClr val="141413"/>
                </a:solidFill>
                <a:latin typeface="anthropicSerif"/>
              </a:rPr>
              <a:t>A</a:t>
            </a:r>
            <a:r>
              <a:rPr lang="en-IN" b="0" i="0" dirty="0">
                <a:solidFill>
                  <a:srgbClr val="141413"/>
                </a:solidFill>
                <a:effectLst/>
                <a:latin typeface="anthropicSerif"/>
              </a:rPr>
              <a:t>dd programmatic checks ( "gate” ) on any intermediate steps to ensure that the process is still on track.</a:t>
            </a:r>
            <a:endParaRPr lang="en-IN" dirty="0"/>
          </a:p>
        </p:txBody>
      </p:sp>
      <p:sp>
        <p:nvSpPr>
          <p:cNvPr id="11" name="TextBox 10">
            <a:extLst>
              <a:ext uri="{FF2B5EF4-FFF2-40B4-BE49-F238E27FC236}">
                <a16:creationId xmlns:a16="http://schemas.microsoft.com/office/drawing/2014/main" id="{E01A2607-89BC-68C7-1CCD-5343482AB9DD}"/>
              </a:ext>
            </a:extLst>
          </p:cNvPr>
          <p:cNvSpPr txBox="1"/>
          <p:nvPr/>
        </p:nvSpPr>
        <p:spPr>
          <a:xfrm>
            <a:off x="163784" y="6498847"/>
            <a:ext cx="8583609" cy="276999"/>
          </a:xfrm>
          <a:prstGeom prst="rect">
            <a:avLst/>
          </a:prstGeom>
          <a:noFill/>
        </p:spPr>
        <p:txBody>
          <a:bodyPr wrap="square">
            <a:spAutoFit/>
          </a:bodyPr>
          <a:lstStyle/>
          <a:p>
            <a:r>
              <a:rPr lang="en-IN" sz="1200" dirty="0"/>
              <a:t>Image Source: https://www.anthropic.com/engineering/building-effective-agents</a:t>
            </a:r>
          </a:p>
        </p:txBody>
      </p:sp>
    </p:spTree>
    <p:extLst>
      <p:ext uri="{BB962C8B-B14F-4D97-AF65-F5344CB8AC3E}">
        <p14:creationId xmlns:p14="http://schemas.microsoft.com/office/powerpoint/2010/main" val="430828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Chain with Multiple Prompts</a:t>
            </a:r>
          </a:p>
        </p:txBody>
      </p:sp>
      <p:pic>
        <p:nvPicPr>
          <p:cNvPr id="4" name="Picture 3"/>
          <p:cNvPicPr>
            <a:picLocks noChangeAspect="1"/>
          </p:cNvPicPr>
          <p:nvPr/>
        </p:nvPicPr>
        <p:blipFill>
          <a:blip r:embed="rId3"/>
          <a:stretch>
            <a:fillRect/>
          </a:stretch>
        </p:blipFill>
        <p:spPr>
          <a:xfrm>
            <a:off x="474368" y="1083305"/>
            <a:ext cx="5038725" cy="3286125"/>
          </a:xfrm>
          <a:prstGeom prst="rect">
            <a:avLst/>
          </a:prstGeom>
        </p:spPr>
      </p:pic>
      <p:pic>
        <p:nvPicPr>
          <p:cNvPr id="5" name="Picture 4"/>
          <p:cNvPicPr>
            <a:picLocks noChangeAspect="1"/>
          </p:cNvPicPr>
          <p:nvPr/>
        </p:nvPicPr>
        <p:blipFill>
          <a:blip r:embed="rId4"/>
          <a:stretch>
            <a:fillRect/>
          </a:stretch>
        </p:blipFill>
        <p:spPr>
          <a:xfrm>
            <a:off x="6334176" y="1497643"/>
            <a:ext cx="5086350" cy="2457450"/>
          </a:xfrm>
          <a:prstGeom prst="rect">
            <a:avLst/>
          </a:prstGeom>
        </p:spPr>
      </p:pic>
      <p:grpSp>
        <p:nvGrpSpPr>
          <p:cNvPr id="23" name="Group 22">
            <a:extLst>
              <a:ext uri="{FF2B5EF4-FFF2-40B4-BE49-F238E27FC236}">
                <a16:creationId xmlns:a16="http://schemas.microsoft.com/office/drawing/2014/main" id="{EEB96A28-E0E7-6858-FB9E-C2D862BA82FA}"/>
              </a:ext>
            </a:extLst>
          </p:cNvPr>
          <p:cNvGrpSpPr/>
          <p:nvPr/>
        </p:nvGrpSpPr>
        <p:grpSpPr>
          <a:xfrm>
            <a:off x="137085" y="4807026"/>
            <a:ext cx="11216640" cy="1548384"/>
            <a:chOff x="609600" y="1524000"/>
            <a:chExt cx="11216640" cy="1548384"/>
          </a:xfrm>
        </p:grpSpPr>
        <p:sp>
          <p:nvSpPr>
            <p:cNvPr id="24" name="Shape 4"/>
            <p:cNvSpPr/>
            <p:nvPr/>
          </p:nvSpPr>
          <p:spPr>
            <a:xfrm>
              <a:off x="609600" y="1524000"/>
              <a:ext cx="2438400" cy="1036320"/>
            </a:xfrm>
            <a:prstGeom prst="roundRect">
              <a:avLst>
                <a:gd name="adj" fmla="val 5882"/>
              </a:avLst>
            </a:prstGeom>
            <a:solidFill>
              <a:srgbClr val="1F3864"/>
            </a:solidFill>
            <a:ln/>
          </p:spPr>
          <p:txBody>
            <a:bodyPr/>
            <a:lstStyle/>
            <a:p>
              <a:endParaRPr lang="en-IN" sz="2000">
                <a:latin typeface="Cambria" panose="02040503050406030204" pitchFamily="18" charset="0"/>
                <a:ea typeface="Cambria" panose="02040503050406030204" pitchFamily="18" charset="0"/>
              </a:endParaRPr>
            </a:p>
          </p:txBody>
        </p:sp>
        <p:sp>
          <p:nvSpPr>
            <p:cNvPr id="25" name="Text 5"/>
            <p:cNvSpPr/>
            <p:nvPr/>
          </p:nvSpPr>
          <p:spPr>
            <a:xfrm>
              <a:off x="609600" y="1524000"/>
              <a:ext cx="2438400" cy="1036320"/>
            </a:xfrm>
            <a:prstGeom prst="rect">
              <a:avLst/>
            </a:prstGeom>
            <a:noFill/>
            <a:ln/>
          </p:spPr>
          <p:txBody>
            <a:bodyPr wrap="square" lIns="339" tIns="339" rIns="339" bIns="339" rtlCol="0" anchor="ctr"/>
            <a:lstStyle/>
            <a:p>
              <a:pPr algn="ctr"/>
              <a:r>
                <a:rPr lang="en-US" sz="2000" b="1" dirty="0">
                  <a:solidFill>
                    <a:srgbClr val="FFFFFF"/>
                  </a:solidFill>
                  <a:latin typeface="Cambria" panose="02040503050406030204" pitchFamily="18" charset="0"/>
                  <a:ea typeface="Cambria" panose="02040503050406030204" pitchFamily="18" charset="0"/>
                  <a:cs typeface="Calibri" pitchFamily="34" charset="-120"/>
                </a:rPr>
                <a:t>Stage 1: Summarize</a:t>
              </a:r>
              <a:endParaRPr lang="en-US" sz="2000" dirty="0">
                <a:latin typeface="Cambria" panose="02040503050406030204" pitchFamily="18" charset="0"/>
                <a:ea typeface="Cambria" panose="02040503050406030204" pitchFamily="18" charset="0"/>
              </a:endParaRPr>
            </a:p>
            <a:p>
              <a:pPr algn="ctr"/>
              <a:r>
                <a:rPr lang="en-US" sz="2000" dirty="0">
                  <a:solidFill>
                    <a:srgbClr val="FFFFFF"/>
                  </a:solidFill>
                  <a:latin typeface="Cambria" panose="02040503050406030204" pitchFamily="18" charset="0"/>
                  <a:ea typeface="Cambria" panose="02040503050406030204" pitchFamily="18" charset="0"/>
                  <a:cs typeface="Calibri" pitchFamily="34" charset="-120"/>
                </a:rPr>
                <a:t>meeting transcript → minutes</a:t>
              </a:r>
              <a:endParaRPr lang="en-US" sz="2000" dirty="0">
                <a:latin typeface="Cambria" panose="02040503050406030204" pitchFamily="18" charset="0"/>
                <a:ea typeface="Cambria" panose="02040503050406030204" pitchFamily="18" charset="0"/>
              </a:endParaRPr>
            </a:p>
          </p:txBody>
        </p:sp>
        <p:sp>
          <p:nvSpPr>
            <p:cNvPr id="26" name="Shape 6"/>
            <p:cNvSpPr/>
            <p:nvPr/>
          </p:nvSpPr>
          <p:spPr>
            <a:xfrm>
              <a:off x="3048000" y="2036064"/>
              <a:ext cx="487680" cy="0"/>
            </a:xfrm>
            <a:prstGeom prst="line">
              <a:avLst/>
            </a:prstGeom>
            <a:noFill/>
            <a:ln w="22225">
              <a:solidFill>
                <a:srgbClr val="6B6B6B"/>
              </a:solidFill>
              <a:prstDash val="solid"/>
              <a:tailEnd type="triangle"/>
            </a:ln>
          </p:spPr>
          <p:txBody>
            <a:bodyPr/>
            <a:lstStyle/>
            <a:p>
              <a:endParaRPr lang="en-IN" sz="2000">
                <a:latin typeface="Cambria" panose="02040503050406030204" pitchFamily="18" charset="0"/>
                <a:ea typeface="Cambria" panose="02040503050406030204" pitchFamily="18" charset="0"/>
              </a:endParaRPr>
            </a:p>
          </p:txBody>
        </p:sp>
        <p:sp>
          <p:nvSpPr>
            <p:cNvPr id="27" name="Shape 7"/>
            <p:cNvSpPr/>
            <p:nvPr/>
          </p:nvSpPr>
          <p:spPr>
            <a:xfrm>
              <a:off x="3596640" y="1524000"/>
              <a:ext cx="2438400" cy="1036320"/>
            </a:xfrm>
            <a:prstGeom prst="roundRect">
              <a:avLst>
                <a:gd name="adj" fmla="val 5882"/>
              </a:avLst>
            </a:prstGeom>
            <a:solidFill>
              <a:srgbClr val="1F3864"/>
            </a:solidFill>
            <a:ln/>
          </p:spPr>
          <p:txBody>
            <a:bodyPr/>
            <a:lstStyle/>
            <a:p>
              <a:endParaRPr lang="en-IN" sz="2000">
                <a:latin typeface="Cambria" panose="02040503050406030204" pitchFamily="18" charset="0"/>
                <a:ea typeface="Cambria" panose="02040503050406030204" pitchFamily="18" charset="0"/>
              </a:endParaRPr>
            </a:p>
          </p:txBody>
        </p:sp>
        <p:sp>
          <p:nvSpPr>
            <p:cNvPr id="28" name="Text 8"/>
            <p:cNvSpPr/>
            <p:nvPr/>
          </p:nvSpPr>
          <p:spPr>
            <a:xfrm>
              <a:off x="3596640" y="1524000"/>
              <a:ext cx="2438400" cy="1036320"/>
            </a:xfrm>
            <a:prstGeom prst="rect">
              <a:avLst/>
            </a:prstGeom>
            <a:noFill/>
            <a:ln/>
          </p:spPr>
          <p:txBody>
            <a:bodyPr wrap="square" lIns="339" tIns="339" rIns="339" bIns="339" rtlCol="0" anchor="ctr"/>
            <a:lstStyle/>
            <a:p>
              <a:pPr algn="ctr"/>
              <a:r>
                <a:rPr lang="en-US" sz="2000" b="1" dirty="0">
                  <a:solidFill>
                    <a:srgbClr val="FFFFFF"/>
                  </a:solidFill>
                  <a:latin typeface="Cambria" panose="02040503050406030204" pitchFamily="18" charset="0"/>
                  <a:ea typeface="Cambria" panose="02040503050406030204" pitchFamily="18" charset="0"/>
                  <a:cs typeface="Calibri" pitchFamily="34" charset="-120"/>
                </a:rPr>
                <a:t>Stage 2: Extract</a:t>
              </a:r>
              <a:endParaRPr lang="en-US" sz="2000" dirty="0">
                <a:latin typeface="Cambria" panose="02040503050406030204" pitchFamily="18" charset="0"/>
                <a:ea typeface="Cambria" panose="02040503050406030204" pitchFamily="18" charset="0"/>
              </a:endParaRPr>
            </a:p>
            <a:p>
              <a:pPr algn="ctr"/>
              <a:r>
                <a:rPr lang="en-US" sz="2000" dirty="0">
                  <a:solidFill>
                    <a:srgbClr val="FFFFFF"/>
                  </a:solidFill>
                  <a:latin typeface="Cambria" panose="02040503050406030204" pitchFamily="18" charset="0"/>
                  <a:ea typeface="Cambria" panose="02040503050406030204" pitchFamily="18" charset="0"/>
                  <a:cs typeface="Calibri" pitchFamily="34" charset="-120"/>
                </a:rPr>
                <a:t>minutes → action items (JSON)</a:t>
              </a:r>
              <a:endParaRPr lang="en-US" sz="2000" dirty="0">
                <a:latin typeface="Cambria" panose="02040503050406030204" pitchFamily="18" charset="0"/>
                <a:ea typeface="Cambria" panose="02040503050406030204" pitchFamily="18" charset="0"/>
              </a:endParaRPr>
            </a:p>
          </p:txBody>
        </p:sp>
        <p:sp>
          <p:nvSpPr>
            <p:cNvPr id="29" name="Shape 9"/>
            <p:cNvSpPr/>
            <p:nvPr/>
          </p:nvSpPr>
          <p:spPr>
            <a:xfrm>
              <a:off x="6035040" y="2036064"/>
              <a:ext cx="487680" cy="0"/>
            </a:xfrm>
            <a:prstGeom prst="line">
              <a:avLst/>
            </a:prstGeom>
            <a:noFill/>
            <a:ln w="22225">
              <a:solidFill>
                <a:srgbClr val="6B6B6B"/>
              </a:solidFill>
              <a:prstDash val="solid"/>
              <a:tailEnd type="triangle"/>
            </a:ln>
          </p:spPr>
          <p:txBody>
            <a:bodyPr/>
            <a:lstStyle/>
            <a:p>
              <a:endParaRPr lang="en-IN" sz="2000">
                <a:latin typeface="Cambria" panose="02040503050406030204" pitchFamily="18" charset="0"/>
                <a:ea typeface="Cambria" panose="02040503050406030204" pitchFamily="18" charset="0"/>
              </a:endParaRPr>
            </a:p>
          </p:txBody>
        </p:sp>
        <p:sp>
          <p:nvSpPr>
            <p:cNvPr id="30" name="Shape 10"/>
            <p:cNvSpPr/>
            <p:nvPr/>
          </p:nvSpPr>
          <p:spPr>
            <a:xfrm>
              <a:off x="6583680" y="1524000"/>
              <a:ext cx="2438400" cy="1036320"/>
            </a:xfrm>
            <a:prstGeom prst="roundRect">
              <a:avLst>
                <a:gd name="adj" fmla="val 5882"/>
              </a:avLst>
            </a:prstGeom>
            <a:solidFill>
              <a:srgbClr val="C9A227"/>
            </a:solidFill>
            <a:ln/>
          </p:spPr>
          <p:txBody>
            <a:bodyPr/>
            <a:lstStyle/>
            <a:p>
              <a:endParaRPr lang="en-IN" sz="2000">
                <a:latin typeface="Cambria" panose="02040503050406030204" pitchFamily="18" charset="0"/>
                <a:ea typeface="Cambria" panose="02040503050406030204" pitchFamily="18" charset="0"/>
              </a:endParaRPr>
            </a:p>
          </p:txBody>
        </p:sp>
        <p:sp>
          <p:nvSpPr>
            <p:cNvPr id="31" name="Text 11"/>
            <p:cNvSpPr/>
            <p:nvPr/>
          </p:nvSpPr>
          <p:spPr>
            <a:xfrm>
              <a:off x="6583680" y="1524000"/>
              <a:ext cx="2438400" cy="1036320"/>
            </a:xfrm>
            <a:prstGeom prst="rect">
              <a:avLst/>
            </a:prstGeom>
            <a:noFill/>
            <a:ln/>
          </p:spPr>
          <p:txBody>
            <a:bodyPr wrap="square" lIns="339" tIns="339" rIns="339" bIns="339" rtlCol="0" anchor="ctr"/>
            <a:lstStyle/>
            <a:p>
              <a:pPr algn="ctr"/>
              <a:r>
                <a:rPr lang="en-US" sz="2000" b="1" dirty="0">
                  <a:solidFill>
                    <a:srgbClr val="262626"/>
                  </a:solidFill>
                  <a:latin typeface="Cambria" panose="02040503050406030204" pitchFamily="18" charset="0"/>
                  <a:ea typeface="Cambria" panose="02040503050406030204" pitchFamily="18" charset="0"/>
                  <a:cs typeface="Calibri" pitchFamily="34" charset="-120"/>
                </a:rPr>
                <a:t>Gate (code)</a:t>
              </a:r>
              <a:endParaRPr lang="en-US" sz="2000" dirty="0">
                <a:latin typeface="Cambria" panose="02040503050406030204" pitchFamily="18" charset="0"/>
                <a:ea typeface="Cambria" panose="02040503050406030204" pitchFamily="18" charset="0"/>
              </a:endParaRPr>
            </a:p>
            <a:p>
              <a:pPr algn="ctr"/>
              <a:r>
                <a:rPr lang="en-US" sz="2000" dirty="0">
                  <a:solidFill>
                    <a:srgbClr val="262626"/>
                  </a:solidFill>
                  <a:latin typeface="Cambria" panose="02040503050406030204" pitchFamily="18" charset="0"/>
                  <a:ea typeface="Cambria" panose="02040503050406030204" pitchFamily="18" charset="0"/>
                  <a:cs typeface="Calibri" pitchFamily="34" charset="-120"/>
                </a:rPr>
                <a:t>valid JSON? owners known?</a:t>
              </a:r>
              <a:endParaRPr lang="en-US" sz="2000" dirty="0">
                <a:latin typeface="Cambria" panose="02040503050406030204" pitchFamily="18" charset="0"/>
                <a:ea typeface="Cambria" panose="02040503050406030204" pitchFamily="18" charset="0"/>
              </a:endParaRPr>
            </a:p>
          </p:txBody>
        </p:sp>
        <p:sp>
          <p:nvSpPr>
            <p:cNvPr id="32" name="Shape 12"/>
            <p:cNvSpPr/>
            <p:nvPr/>
          </p:nvSpPr>
          <p:spPr>
            <a:xfrm>
              <a:off x="9022080" y="2036064"/>
              <a:ext cx="487680" cy="0"/>
            </a:xfrm>
            <a:prstGeom prst="line">
              <a:avLst/>
            </a:prstGeom>
            <a:noFill/>
            <a:ln w="22225">
              <a:solidFill>
                <a:srgbClr val="6B6B6B"/>
              </a:solidFill>
              <a:prstDash val="solid"/>
              <a:tailEnd type="triangle"/>
            </a:ln>
          </p:spPr>
          <p:txBody>
            <a:bodyPr/>
            <a:lstStyle/>
            <a:p>
              <a:endParaRPr lang="en-IN" sz="2000">
                <a:latin typeface="Cambria" panose="02040503050406030204" pitchFamily="18" charset="0"/>
                <a:ea typeface="Cambria" panose="02040503050406030204" pitchFamily="18" charset="0"/>
              </a:endParaRPr>
            </a:p>
          </p:txBody>
        </p:sp>
        <p:sp>
          <p:nvSpPr>
            <p:cNvPr id="33" name="Shape 13"/>
            <p:cNvSpPr/>
            <p:nvPr/>
          </p:nvSpPr>
          <p:spPr>
            <a:xfrm>
              <a:off x="9570720" y="1524000"/>
              <a:ext cx="2255520" cy="1036320"/>
            </a:xfrm>
            <a:prstGeom prst="roundRect">
              <a:avLst>
                <a:gd name="adj" fmla="val 5882"/>
              </a:avLst>
            </a:prstGeom>
            <a:solidFill>
              <a:srgbClr val="8B0000"/>
            </a:solidFill>
            <a:ln/>
          </p:spPr>
          <p:txBody>
            <a:bodyPr/>
            <a:lstStyle/>
            <a:p>
              <a:endParaRPr lang="en-IN" sz="2000">
                <a:latin typeface="Cambria" panose="02040503050406030204" pitchFamily="18" charset="0"/>
                <a:ea typeface="Cambria" panose="02040503050406030204" pitchFamily="18" charset="0"/>
              </a:endParaRPr>
            </a:p>
          </p:txBody>
        </p:sp>
        <p:sp>
          <p:nvSpPr>
            <p:cNvPr id="34" name="Text 14"/>
            <p:cNvSpPr/>
            <p:nvPr/>
          </p:nvSpPr>
          <p:spPr>
            <a:xfrm>
              <a:off x="9570720" y="1524000"/>
              <a:ext cx="2255520" cy="1036320"/>
            </a:xfrm>
            <a:prstGeom prst="rect">
              <a:avLst/>
            </a:prstGeom>
            <a:noFill/>
            <a:ln/>
          </p:spPr>
          <p:txBody>
            <a:bodyPr wrap="square" lIns="339" tIns="339" rIns="339" bIns="339" rtlCol="0" anchor="ctr"/>
            <a:lstStyle/>
            <a:p>
              <a:pPr algn="ctr"/>
              <a:r>
                <a:rPr lang="en-US" sz="2000" b="1" dirty="0">
                  <a:solidFill>
                    <a:srgbClr val="FFFFFF"/>
                  </a:solidFill>
                  <a:latin typeface="Cambria" panose="02040503050406030204" pitchFamily="18" charset="0"/>
                  <a:ea typeface="Cambria" panose="02040503050406030204" pitchFamily="18" charset="0"/>
                  <a:cs typeface="Calibri" pitchFamily="34" charset="-120"/>
                </a:rPr>
                <a:t>Stage 3: Draft</a:t>
              </a:r>
              <a:endParaRPr lang="en-US" sz="2000" dirty="0">
                <a:latin typeface="Cambria" panose="02040503050406030204" pitchFamily="18" charset="0"/>
                <a:ea typeface="Cambria" panose="02040503050406030204" pitchFamily="18" charset="0"/>
              </a:endParaRPr>
            </a:p>
            <a:p>
              <a:pPr algn="ctr"/>
              <a:r>
                <a:rPr lang="en-US" sz="2000" dirty="0">
                  <a:solidFill>
                    <a:srgbClr val="FFFFFF"/>
                  </a:solidFill>
                  <a:latin typeface="Cambria" panose="02040503050406030204" pitchFamily="18" charset="0"/>
                  <a:ea typeface="Cambria" panose="02040503050406030204" pitchFamily="18" charset="0"/>
                  <a:cs typeface="Calibri" pitchFamily="34" charset="-120"/>
                </a:rPr>
                <a:t>items → follow-up emails</a:t>
              </a:r>
              <a:endParaRPr lang="en-US" sz="2000" dirty="0">
                <a:latin typeface="Cambria" panose="02040503050406030204" pitchFamily="18" charset="0"/>
                <a:ea typeface="Cambria" panose="02040503050406030204" pitchFamily="18" charset="0"/>
              </a:endParaRPr>
            </a:p>
          </p:txBody>
        </p:sp>
        <p:sp>
          <p:nvSpPr>
            <p:cNvPr id="35" name="Text 15"/>
            <p:cNvSpPr/>
            <p:nvPr/>
          </p:nvSpPr>
          <p:spPr>
            <a:xfrm>
              <a:off x="6035040" y="2821791"/>
              <a:ext cx="4134522" cy="250593"/>
            </a:xfrm>
            <a:prstGeom prst="rect">
              <a:avLst/>
            </a:prstGeom>
            <a:noFill/>
            <a:ln/>
          </p:spPr>
          <p:txBody>
            <a:bodyPr wrap="square" lIns="0" tIns="0" rIns="0" bIns="0" rtlCol="0" anchor="ctr"/>
            <a:lstStyle/>
            <a:p>
              <a:r>
                <a:rPr lang="en-US" sz="2000" i="1" dirty="0">
                  <a:solidFill>
                    <a:srgbClr val="6B6B6B"/>
                  </a:solidFill>
                  <a:latin typeface="Cambria" panose="02040503050406030204" pitchFamily="18" charset="0"/>
                  <a:ea typeface="Cambria" panose="02040503050406030204" pitchFamily="18" charset="0"/>
                  <a:cs typeface="Calibri" pitchFamily="34" charset="-120"/>
                </a:rPr>
                <a:t>on failure: retry / re-ask (loop back)</a:t>
              </a:r>
              <a:endParaRPr lang="en-US" sz="2000" dirty="0">
                <a:latin typeface="Cambria" panose="02040503050406030204" pitchFamily="18" charset="0"/>
                <a:ea typeface="Cambria" panose="02040503050406030204" pitchFamily="18" charset="0"/>
              </a:endParaRPr>
            </a:p>
          </p:txBody>
        </p:sp>
      </p:grpSp>
    </p:spTree>
    <p:extLst>
      <p:ext uri="{BB962C8B-B14F-4D97-AF65-F5344CB8AC3E}">
        <p14:creationId xmlns:p14="http://schemas.microsoft.com/office/powerpoint/2010/main" val="22903746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203105" y="1437406"/>
            <a:ext cx="5203634" cy="2690622"/>
          </a:xfrm>
        </p:spPr>
        <p:txBody>
          <a:bodyPr/>
          <a:lstStyle/>
          <a:p>
            <a:r>
              <a:rPr lang="en-IN" dirty="0"/>
              <a:t>Prompt chaining : sequence LLM steps so each output feeds the next. </a:t>
            </a:r>
            <a:r>
              <a:rPr lang="en-IN" dirty="0" err="1"/>
              <a:t>LangChain</a:t>
            </a:r>
            <a:r>
              <a:rPr lang="en-IN" dirty="0"/>
              <a:t> is one framework that implements it — a 'chain' is a reusable pipeline connecting a prompt, a model, and a parser</a:t>
            </a:r>
          </a:p>
        </p:txBody>
      </p:sp>
      <p:sp>
        <p:nvSpPr>
          <p:cNvPr id="3" name="Title 2"/>
          <p:cNvSpPr>
            <a:spLocks noGrp="1"/>
          </p:cNvSpPr>
          <p:nvPr>
            <p:ph type="title"/>
          </p:nvPr>
        </p:nvSpPr>
        <p:spPr/>
        <p:txBody>
          <a:bodyPr/>
          <a:lstStyle/>
          <a:p>
            <a:r>
              <a:rPr lang="en-US" dirty="0" err="1"/>
              <a:t>LangChain</a:t>
            </a:r>
            <a:r>
              <a:rPr lang="en-US" dirty="0"/>
              <a:t> chain</a:t>
            </a:r>
            <a:endParaRPr lang="en-IN" dirty="0"/>
          </a:p>
        </p:txBody>
      </p:sp>
      <p:pic>
        <p:nvPicPr>
          <p:cNvPr id="4" name="Picture 3"/>
          <p:cNvPicPr>
            <a:picLocks noChangeAspect="1"/>
          </p:cNvPicPr>
          <p:nvPr/>
        </p:nvPicPr>
        <p:blipFill>
          <a:blip r:embed="rId2"/>
          <a:stretch>
            <a:fillRect/>
          </a:stretch>
        </p:blipFill>
        <p:spPr>
          <a:xfrm>
            <a:off x="6096000" y="1346804"/>
            <a:ext cx="5799126" cy="2550700"/>
          </a:xfrm>
          <a:prstGeom prst="rect">
            <a:avLst/>
          </a:prstGeom>
        </p:spPr>
      </p:pic>
      <p:pic>
        <p:nvPicPr>
          <p:cNvPr id="5" name="Picture 4"/>
          <p:cNvPicPr>
            <a:picLocks noChangeAspect="1"/>
          </p:cNvPicPr>
          <p:nvPr/>
        </p:nvPicPr>
        <p:blipFill>
          <a:blip r:embed="rId3"/>
          <a:stretch>
            <a:fillRect/>
          </a:stretch>
        </p:blipFill>
        <p:spPr>
          <a:xfrm>
            <a:off x="407845" y="4339005"/>
            <a:ext cx="4895850" cy="1962150"/>
          </a:xfrm>
          <a:prstGeom prst="rect">
            <a:avLst/>
          </a:prstGeom>
        </p:spPr>
      </p:pic>
      <p:pic>
        <p:nvPicPr>
          <p:cNvPr id="6" name="Picture 5"/>
          <p:cNvPicPr>
            <a:picLocks noChangeAspect="1"/>
          </p:cNvPicPr>
          <p:nvPr/>
        </p:nvPicPr>
        <p:blipFill>
          <a:blip r:embed="rId4"/>
          <a:stretch>
            <a:fillRect/>
          </a:stretch>
        </p:blipFill>
        <p:spPr>
          <a:xfrm>
            <a:off x="6604000" y="4235846"/>
            <a:ext cx="4739955" cy="2012495"/>
          </a:xfrm>
          <a:prstGeom prst="rect">
            <a:avLst/>
          </a:prstGeom>
        </p:spPr>
      </p:pic>
    </p:spTree>
    <p:extLst>
      <p:ext uri="{BB962C8B-B14F-4D97-AF65-F5344CB8AC3E}">
        <p14:creationId xmlns:p14="http://schemas.microsoft.com/office/powerpoint/2010/main" val="41377074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a:extLst>
              <a:ext uri="{FF2B5EF4-FFF2-40B4-BE49-F238E27FC236}">
                <a16:creationId xmlns:a16="http://schemas.microsoft.com/office/drawing/2014/main" id="{89C9B4CD-D306-321B-0B39-CD4853A0603A}"/>
              </a:ext>
            </a:extLst>
          </p:cNvPr>
          <p:cNvSpPr>
            <a:spLocks noGrp="1"/>
          </p:cNvSpPr>
          <p:nvPr>
            <p:ph type="title"/>
          </p:nvPr>
        </p:nvSpPr>
        <p:spPr>
          <a:prstGeom prst="rect">
            <a:avLst/>
          </a:prstGeom>
        </p:spPr>
        <p:txBody>
          <a:bodyPr vert="horz" lIns="91440" tIns="45720" rIns="91440" bIns="45720" rtlCol="0" anchor="ctr">
            <a:normAutofit/>
          </a:bodyPr>
          <a:lstStyle/>
          <a:p>
            <a:r>
              <a:rPr lang="en-US" dirty="0"/>
              <a:t>Query Decomposition — Divide, Solve, Recombine</a:t>
            </a:r>
          </a:p>
        </p:txBody>
      </p:sp>
      <p:sp>
        <p:nvSpPr>
          <p:cNvPr id="7" name="Text 4">
            <a:extLst>
              <a:ext uri="{FF2B5EF4-FFF2-40B4-BE49-F238E27FC236}">
                <a16:creationId xmlns:a16="http://schemas.microsoft.com/office/drawing/2014/main" id="{E02309F1-DBF9-BEAA-F09E-ED473709CFB3}"/>
              </a:ext>
            </a:extLst>
          </p:cNvPr>
          <p:cNvSpPr/>
          <p:nvPr/>
        </p:nvSpPr>
        <p:spPr>
          <a:xfrm>
            <a:off x="66136" y="1373670"/>
            <a:ext cx="5842958" cy="4389120"/>
          </a:xfrm>
          <a:prstGeom prst="rect">
            <a:avLst/>
          </a:prstGeom>
          <a:noFill/>
          <a:ln/>
        </p:spPr>
        <p:txBody>
          <a:bodyPr wrap="square" lIns="0" tIns="0" rIns="0" bIns="0" rtlCol="0" anchor="t"/>
          <a:lstStyle/>
          <a:p>
            <a:pPr marL="342900" indent="-342900">
              <a:buSzPct val="100000"/>
              <a:buFont typeface="Arial" panose="020B0604020202020204" pitchFamily="34" charset="0"/>
              <a:buChar char="•"/>
            </a:pPr>
            <a:r>
              <a:rPr lang="en-IN" sz="2000" dirty="0">
                <a:solidFill>
                  <a:srgbClr val="333333"/>
                </a:solidFill>
                <a:latin typeface="Calibri" pitchFamily="34" charset="0"/>
                <a:ea typeface="Calibri" pitchFamily="34" charset="-122"/>
                <a:cs typeface="Calibri" pitchFamily="34" charset="-120"/>
              </a:rPr>
              <a:t>Complex questions often fail in a single LLM call because they require multiple reasoning or retrieval steps.</a:t>
            </a:r>
          </a:p>
          <a:p>
            <a:pPr marL="342900" indent="-342900">
              <a:buSzPct val="100000"/>
              <a:buFont typeface="Arial" panose="020B0604020202020204" pitchFamily="34" charset="0"/>
              <a:buChar char="•"/>
            </a:pPr>
            <a:r>
              <a:rPr lang="en-IN" sz="2000" dirty="0">
                <a:solidFill>
                  <a:srgbClr val="333333"/>
                </a:solidFill>
                <a:latin typeface="Calibri" pitchFamily="34" charset="0"/>
                <a:ea typeface="Calibri" pitchFamily="34" charset="-122"/>
                <a:cs typeface="Calibri" pitchFamily="34" charset="-120"/>
              </a:rPr>
              <a:t>Query decomposition breaks one hard query into smaller, answerable sub-questions.</a:t>
            </a:r>
          </a:p>
          <a:p>
            <a:pPr marL="342900" indent="-342900">
              <a:buSzPct val="100000"/>
              <a:buFont typeface="Arial" panose="020B0604020202020204" pitchFamily="34" charset="0"/>
              <a:buChar char="•"/>
            </a:pPr>
            <a:r>
              <a:rPr lang="en-IN" sz="2000" dirty="0">
                <a:solidFill>
                  <a:srgbClr val="333333"/>
                </a:solidFill>
                <a:latin typeface="Calibri" pitchFamily="34" charset="0"/>
                <a:ea typeface="Calibri" pitchFamily="34" charset="-122"/>
                <a:cs typeface="Calibri" pitchFamily="34" charset="-120"/>
              </a:rPr>
              <a:t>Each sub-question is solved independently, then the answers are recombined into a final response.</a:t>
            </a:r>
          </a:p>
          <a:p>
            <a:pPr marL="342900" indent="-342900">
              <a:buSzPct val="100000"/>
              <a:buFont typeface="Arial" panose="020B0604020202020204" pitchFamily="34" charset="0"/>
              <a:buChar char="•"/>
            </a:pPr>
            <a:r>
              <a:rPr lang="en-IN" sz="2000" dirty="0">
                <a:solidFill>
                  <a:srgbClr val="333333"/>
                </a:solidFill>
                <a:latin typeface="Calibri" pitchFamily="34" charset="0"/>
                <a:ea typeface="Calibri" pitchFamily="34" charset="-122"/>
                <a:cs typeface="Calibri" pitchFamily="34" charset="-120"/>
              </a:rPr>
              <a:t>In RAG systems, decomposition improves retrieval by turning one broad query into several focused ones</a:t>
            </a:r>
          </a:p>
          <a:p>
            <a:pPr marL="342900" indent="-342900">
              <a:buSzPct val="100000"/>
              <a:buFont typeface="Arial" panose="020B0604020202020204" pitchFamily="34" charset="0"/>
              <a:buChar char="•"/>
            </a:pPr>
            <a:r>
              <a:rPr lang="en-US" sz="2000" dirty="0">
                <a:solidFill>
                  <a:srgbClr val="333333"/>
                </a:solidFill>
                <a:latin typeface="Calibri" pitchFamily="34" charset="0"/>
                <a:ea typeface="Calibri" pitchFamily="34" charset="-122"/>
                <a:cs typeface="Calibri" pitchFamily="34" charset="-120"/>
              </a:rPr>
              <a:t>Least-to-Most prompting (Zhou et al., 2023): ask the model to first list sub-problems, then solve them in order, feeding earlier answers into later ones — enables easy-to-hard generalization</a:t>
            </a:r>
            <a:endParaRPr lang="en-US" sz="2000" dirty="0"/>
          </a:p>
          <a:p>
            <a:pPr marL="342900" indent="-342900">
              <a:buSzPct val="100000"/>
              <a:buFont typeface="Arial" panose="020B0604020202020204" pitchFamily="34" charset="0"/>
              <a:buChar char="•"/>
            </a:pPr>
            <a:endParaRPr lang="en-IN" sz="2000" dirty="0">
              <a:solidFill>
                <a:srgbClr val="333333"/>
              </a:solidFill>
              <a:latin typeface="Calibri" pitchFamily="34" charset="0"/>
              <a:ea typeface="Calibri" pitchFamily="34" charset="-122"/>
              <a:cs typeface="Calibri" pitchFamily="34" charset="-120"/>
            </a:endParaRPr>
          </a:p>
          <a:p>
            <a:pPr marL="342900" indent="-342900">
              <a:buSzPct val="100000"/>
              <a:buFont typeface="Arial" panose="020B0604020202020204" pitchFamily="34" charset="0"/>
              <a:buChar char="•"/>
            </a:pPr>
            <a:endParaRPr lang="en-IN" sz="2000" dirty="0">
              <a:solidFill>
                <a:srgbClr val="333333"/>
              </a:solidFill>
              <a:latin typeface="Calibri" pitchFamily="34" charset="0"/>
              <a:ea typeface="Calibri" pitchFamily="34" charset="-122"/>
              <a:cs typeface="Calibri" pitchFamily="34" charset="-120"/>
            </a:endParaRPr>
          </a:p>
          <a:p>
            <a:pPr marL="342900" indent="-342900">
              <a:lnSpc>
                <a:spcPct val="105000"/>
              </a:lnSpc>
              <a:spcAft>
                <a:spcPts val="800"/>
              </a:spcAft>
              <a:buSzPct val="100000"/>
              <a:buFont typeface="Arial" panose="020B0604020202020204" pitchFamily="34" charset="0"/>
              <a:buChar char="•"/>
            </a:pPr>
            <a:endParaRPr lang="en-US" sz="2000" dirty="0"/>
          </a:p>
        </p:txBody>
      </p:sp>
      <p:grpSp>
        <p:nvGrpSpPr>
          <p:cNvPr id="18" name="Group 17">
            <a:extLst>
              <a:ext uri="{FF2B5EF4-FFF2-40B4-BE49-F238E27FC236}">
                <a16:creationId xmlns:a16="http://schemas.microsoft.com/office/drawing/2014/main" id="{394EBE1A-56A7-A546-D851-D299D3ACA543}"/>
              </a:ext>
            </a:extLst>
          </p:cNvPr>
          <p:cNvGrpSpPr/>
          <p:nvPr/>
        </p:nvGrpSpPr>
        <p:grpSpPr>
          <a:xfrm>
            <a:off x="6461185" y="1322142"/>
            <a:ext cx="5664679" cy="5094186"/>
            <a:chOff x="5917721" y="1341120"/>
            <a:chExt cx="5664679" cy="5094186"/>
          </a:xfrm>
        </p:grpSpPr>
        <p:sp>
          <p:nvSpPr>
            <p:cNvPr id="13" name="Shape 5">
              <a:extLst>
                <a:ext uri="{FF2B5EF4-FFF2-40B4-BE49-F238E27FC236}">
                  <a16:creationId xmlns:a16="http://schemas.microsoft.com/office/drawing/2014/main" id="{4360AFA9-9B2D-8261-C4C4-814C73214BAF}"/>
                </a:ext>
              </a:extLst>
            </p:cNvPr>
            <p:cNvSpPr/>
            <p:nvPr/>
          </p:nvSpPr>
          <p:spPr>
            <a:xfrm>
              <a:off x="5917721" y="1341120"/>
              <a:ext cx="5664679" cy="5094186"/>
            </a:xfrm>
            <a:prstGeom prst="roundRect">
              <a:avLst>
                <a:gd name="adj" fmla="val 1299"/>
              </a:avLst>
            </a:prstGeom>
            <a:solidFill>
              <a:srgbClr val="F5F3EF"/>
            </a:solidFill>
            <a:ln w="9525">
              <a:solidFill>
                <a:srgbClr val="DDD5C7"/>
              </a:solidFill>
              <a:prstDash val="solid"/>
            </a:ln>
          </p:spPr>
          <p:txBody>
            <a:bodyPr/>
            <a:lstStyle/>
            <a:p>
              <a:endParaRPr lang="en-IN" sz="2400"/>
            </a:p>
          </p:txBody>
        </p:sp>
        <p:sp>
          <p:nvSpPr>
            <p:cNvPr id="15" name="Text 6">
              <a:extLst>
                <a:ext uri="{FF2B5EF4-FFF2-40B4-BE49-F238E27FC236}">
                  <a16:creationId xmlns:a16="http://schemas.microsoft.com/office/drawing/2014/main" id="{7F8F586F-8E40-4991-F35C-FD9DA6304824}"/>
                </a:ext>
              </a:extLst>
            </p:cNvPr>
            <p:cNvSpPr/>
            <p:nvPr/>
          </p:nvSpPr>
          <p:spPr>
            <a:xfrm>
              <a:off x="6103008" y="1438656"/>
              <a:ext cx="5333088" cy="291096"/>
            </a:xfrm>
            <a:prstGeom prst="rect">
              <a:avLst/>
            </a:prstGeom>
            <a:noFill/>
            <a:ln/>
          </p:spPr>
          <p:txBody>
            <a:bodyPr wrap="square" lIns="0" tIns="0" rIns="0" bIns="0" rtlCol="0" anchor="ctr"/>
            <a:lstStyle/>
            <a:p>
              <a:r>
                <a:rPr lang="en-US" sz="1267" b="1" kern="0" spc="200" dirty="0">
                  <a:solidFill>
                    <a:srgbClr val="6B6B6B"/>
                  </a:solidFill>
                  <a:latin typeface="Calibri" pitchFamily="34" charset="0"/>
                  <a:ea typeface="Calibri" pitchFamily="34" charset="-122"/>
                  <a:cs typeface="Calibri" pitchFamily="34" charset="-120"/>
                </a:rPr>
                <a:t>DECOMPOSER PROMPT → OUTPUT → PIPELINE</a:t>
              </a:r>
              <a:endParaRPr lang="en-US" sz="1267" dirty="0"/>
            </a:p>
          </p:txBody>
        </p:sp>
        <p:sp>
          <p:nvSpPr>
            <p:cNvPr id="17" name="Text 7">
              <a:extLst>
                <a:ext uri="{FF2B5EF4-FFF2-40B4-BE49-F238E27FC236}">
                  <a16:creationId xmlns:a16="http://schemas.microsoft.com/office/drawing/2014/main" id="{BB5F7919-E186-F1FD-0155-5FE4502CCDE3}"/>
                </a:ext>
              </a:extLst>
            </p:cNvPr>
            <p:cNvSpPr/>
            <p:nvPr/>
          </p:nvSpPr>
          <p:spPr>
            <a:xfrm>
              <a:off x="6103008" y="1731264"/>
              <a:ext cx="5333088" cy="4564920"/>
            </a:xfrm>
            <a:prstGeom prst="rect">
              <a:avLst/>
            </a:prstGeom>
            <a:noFill/>
            <a:ln/>
          </p:spPr>
          <p:txBody>
            <a:bodyPr wrap="square" lIns="0" tIns="0" rIns="0" bIns="0" rtlCol="0" anchor="t"/>
            <a:lstStyle/>
            <a:p>
              <a:pPr>
                <a:lnSpc>
                  <a:spcPct val="104000"/>
                </a:lnSpc>
              </a:pPr>
              <a:r>
                <a:rPr lang="en-US" sz="1600" b="1" dirty="0">
                  <a:solidFill>
                    <a:srgbClr val="8B0000"/>
                  </a:solidFill>
                  <a:latin typeface="Consolas" pitchFamily="34" charset="0"/>
                  <a:ea typeface="Consolas" pitchFamily="34" charset="-122"/>
                  <a:cs typeface="Consolas" pitchFamily="34" charset="-120"/>
                </a:rPr>
                <a:t># CALL 1 — DECOMPOSER PROMPT</a:t>
              </a:r>
              <a:endParaRPr lang="en-US" sz="1600" dirty="0"/>
            </a:p>
            <a:p>
              <a:pPr>
                <a:lnSpc>
                  <a:spcPct val="104000"/>
                </a:lnSpc>
              </a:pPr>
              <a:r>
                <a:rPr lang="en-US" sz="1600" dirty="0">
                  <a:solidFill>
                    <a:srgbClr val="262626"/>
                  </a:solidFill>
                  <a:latin typeface="Consolas" pitchFamily="34" charset="0"/>
                  <a:ea typeface="Consolas" pitchFamily="34" charset="-122"/>
                  <a:cs typeface="Consolas" pitchFamily="34" charset="-120"/>
                </a:rPr>
                <a:t>Break the question into 2-3 sub-questions</a:t>
              </a:r>
              <a:endParaRPr lang="en-US" sz="1600" dirty="0"/>
            </a:p>
            <a:p>
              <a:pPr>
                <a:lnSpc>
                  <a:spcPct val="104000"/>
                </a:lnSpc>
              </a:pPr>
              <a:r>
                <a:rPr lang="en-US" sz="1600" dirty="0">
                  <a:solidFill>
                    <a:srgbClr val="262626"/>
                  </a:solidFill>
                  <a:latin typeface="Consolas" pitchFamily="34" charset="0"/>
                  <a:ea typeface="Consolas" pitchFamily="34" charset="-122"/>
                  <a:cs typeface="Consolas" pitchFamily="34" charset="-120"/>
                </a:rPr>
                <a:t>that can each be answered independently.</a:t>
              </a:r>
              <a:endParaRPr lang="en-US" sz="1600" dirty="0"/>
            </a:p>
            <a:p>
              <a:pPr>
                <a:lnSpc>
                  <a:spcPct val="104000"/>
                </a:lnSpc>
              </a:pPr>
              <a:r>
                <a:rPr lang="en-US" sz="1600" dirty="0">
                  <a:solidFill>
                    <a:srgbClr val="262626"/>
                  </a:solidFill>
                  <a:latin typeface="Consolas" pitchFamily="34" charset="0"/>
                  <a:ea typeface="Consolas" pitchFamily="34" charset="-122"/>
                  <a:cs typeface="Consolas" pitchFamily="34" charset="-120"/>
                </a:rPr>
                <a:t>Output a numbered list only, nothing else.</a:t>
              </a:r>
              <a:endParaRPr lang="en-US" sz="1600" dirty="0"/>
            </a:p>
            <a:p>
              <a:pPr>
                <a:lnSpc>
                  <a:spcPct val="104000"/>
                </a:lnSpc>
              </a:pPr>
              <a:r>
                <a:rPr lang="en-US" sz="1600" dirty="0">
                  <a:solidFill>
                    <a:srgbClr val="262626"/>
                  </a:solidFill>
                  <a:latin typeface="Consolas" pitchFamily="34" charset="0"/>
                  <a:ea typeface="Consolas" pitchFamily="34" charset="-122"/>
                  <a:cs typeface="Consolas" pitchFamily="34" charset="-120"/>
                </a:rPr>
                <a:t> </a:t>
              </a:r>
              <a:endParaRPr lang="en-US" sz="1600" dirty="0"/>
            </a:p>
            <a:p>
              <a:pPr>
                <a:lnSpc>
                  <a:spcPct val="104000"/>
                </a:lnSpc>
              </a:pPr>
              <a:r>
                <a:rPr lang="en-US" sz="1600" dirty="0">
                  <a:solidFill>
                    <a:srgbClr val="262626"/>
                  </a:solidFill>
                  <a:latin typeface="Consolas" pitchFamily="34" charset="0"/>
                  <a:ea typeface="Consolas" pitchFamily="34" charset="-122"/>
                  <a:cs typeface="Consolas" pitchFamily="34" charset="-120"/>
                </a:rPr>
                <a:t>Question: "Did Company A or Company B</a:t>
              </a:r>
              <a:endParaRPr lang="en-US" sz="1600" dirty="0"/>
            </a:p>
            <a:p>
              <a:pPr>
                <a:lnSpc>
                  <a:spcPct val="104000"/>
                </a:lnSpc>
              </a:pPr>
              <a:r>
                <a:rPr lang="en-US" sz="1600" dirty="0">
                  <a:solidFill>
                    <a:srgbClr val="262626"/>
                  </a:solidFill>
                  <a:latin typeface="Consolas" pitchFamily="34" charset="0"/>
                  <a:ea typeface="Consolas" pitchFamily="34" charset="-122"/>
                  <a:cs typeface="Consolas" pitchFamily="34" charset="-120"/>
                </a:rPr>
                <a:t>grow revenue faster, FY23 to FY25?"</a:t>
              </a:r>
              <a:endParaRPr lang="en-US" sz="1600" dirty="0"/>
            </a:p>
            <a:p>
              <a:pPr>
                <a:lnSpc>
                  <a:spcPct val="104000"/>
                </a:lnSpc>
              </a:pPr>
              <a:r>
                <a:rPr lang="en-US" sz="1600" dirty="0">
                  <a:solidFill>
                    <a:srgbClr val="262626"/>
                  </a:solidFill>
                  <a:latin typeface="Consolas" pitchFamily="34" charset="0"/>
                  <a:ea typeface="Consolas" pitchFamily="34" charset="-122"/>
                  <a:cs typeface="Consolas" pitchFamily="34" charset="-120"/>
                </a:rPr>
                <a:t> </a:t>
              </a:r>
              <a:endParaRPr lang="en-US" sz="1600" dirty="0"/>
            </a:p>
            <a:p>
              <a:pPr>
                <a:lnSpc>
                  <a:spcPct val="104000"/>
                </a:lnSpc>
              </a:pPr>
              <a:r>
                <a:rPr lang="en-US" sz="1600" b="1" dirty="0">
                  <a:solidFill>
                    <a:srgbClr val="1F3864"/>
                  </a:solidFill>
                  <a:latin typeface="Consolas" pitchFamily="34" charset="0"/>
                  <a:ea typeface="Consolas" pitchFamily="34" charset="-122"/>
                  <a:cs typeface="Consolas" pitchFamily="34" charset="-120"/>
                </a:rPr>
                <a:t># CALL 1 OUTPUT → drives retrieval</a:t>
              </a:r>
              <a:endParaRPr lang="en-US" sz="1600" dirty="0"/>
            </a:p>
            <a:p>
              <a:pPr>
                <a:lnSpc>
                  <a:spcPct val="104000"/>
                </a:lnSpc>
              </a:pPr>
              <a:r>
                <a:rPr lang="en-US" sz="1600" dirty="0">
                  <a:solidFill>
                    <a:srgbClr val="262626"/>
                  </a:solidFill>
                  <a:latin typeface="Consolas" pitchFamily="34" charset="0"/>
                  <a:ea typeface="Consolas" pitchFamily="34" charset="-122"/>
                  <a:cs typeface="Consolas" pitchFamily="34" charset="-120"/>
                </a:rPr>
                <a:t>1. Revenue of A in FY23 and FY25?</a:t>
              </a:r>
              <a:endParaRPr lang="en-US" sz="1600" dirty="0"/>
            </a:p>
            <a:p>
              <a:pPr>
                <a:lnSpc>
                  <a:spcPct val="104000"/>
                </a:lnSpc>
              </a:pPr>
              <a:r>
                <a:rPr lang="en-US" sz="1600" dirty="0">
                  <a:solidFill>
                    <a:srgbClr val="262626"/>
                  </a:solidFill>
                  <a:latin typeface="Consolas" pitchFamily="34" charset="0"/>
                  <a:ea typeface="Consolas" pitchFamily="34" charset="-122"/>
                  <a:cs typeface="Consolas" pitchFamily="34" charset="-120"/>
                </a:rPr>
                <a:t>2. Revenue of B in FY23 and FY25?</a:t>
              </a:r>
              <a:endParaRPr lang="en-US" sz="1600" dirty="0"/>
            </a:p>
            <a:p>
              <a:pPr>
                <a:lnSpc>
                  <a:spcPct val="104000"/>
                </a:lnSpc>
              </a:pPr>
              <a:r>
                <a:rPr lang="en-US" sz="1600" dirty="0">
                  <a:solidFill>
                    <a:srgbClr val="262626"/>
                  </a:solidFill>
                  <a:latin typeface="Consolas" pitchFamily="34" charset="0"/>
                  <a:ea typeface="Consolas" pitchFamily="34" charset="-122"/>
                  <a:cs typeface="Consolas" pitchFamily="34" charset="-120"/>
                </a:rPr>
                <a:t>3. Revenue of A vs Revenue of B?</a:t>
              </a:r>
              <a:endParaRPr lang="en-US" sz="1600" dirty="0"/>
            </a:p>
            <a:p>
              <a:pPr>
                <a:lnSpc>
                  <a:spcPct val="104000"/>
                </a:lnSpc>
              </a:pPr>
              <a:r>
                <a:rPr lang="en-US" sz="1600" dirty="0">
                  <a:solidFill>
                    <a:srgbClr val="262626"/>
                  </a:solidFill>
                  <a:latin typeface="Consolas" pitchFamily="34" charset="0"/>
                  <a:ea typeface="Consolas" pitchFamily="34" charset="-122"/>
                  <a:cs typeface="Consolas" pitchFamily="34" charset="-120"/>
                </a:rPr>
                <a:t> </a:t>
              </a:r>
              <a:endParaRPr lang="en-US" sz="1600" dirty="0"/>
            </a:p>
            <a:p>
              <a:pPr>
                <a:lnSpc>
                  <a:spcPct val="104000"/>
                </a:lnSpc>
              </a:pPr>
              <a:r>
                <a:rPr lang="en-US" sz="1600" b="1" dirty="0">
                  <a:solidFill>
                    <a:srgbClr val="6B6B6B"/>
                  </a:solidFill>
                  <a:latin typeface="Consolas" pitchFamily="34" charset="0"/>
                  <a:ea typeface="Consolas" pitchFamily="34" charset="-122"/>
                  <a:cs typeface="Consolas" pitchFamily="34" charset="-120"/>
                </a:rPr>
                <a:t># CALLS 2-4 — PIPELINE</a:t>
              </a:r>
              <a:endParaRPr lang="en-US" sz="1600" dirty="0"/>
            </a:p>
            <a:p>
              <a:pPr>
                <a:lnSpc>
                  <a:spcPct val="104000"/>
                </a:lnSpc>
              </a:pPr>
              <a:r>
                <a:rPr lang="en-US" sz="1600" dirty="0">
                  <a:solidFill>
                    <a:srgbClr val="262626"/>
                  </a:solidFill>
                  <a:latin typeface="Consolas" pitchFamily="34" charset="0"/>
                  <a:ea typeface="Consolas" pitchFamily="34" charset="-122"/>
                  <a:cs typeface="Consolas" pitchFamily="34" charset="-120"/>
                </a:rPr>
                <a:t>Q1 → retrieve+answer ─┐</a:t>
              </a:r>
              <a:endParaRPr lang="en-US" sz="1600" dirty="0"/>
            </a:p>
            <a:p>
              <a:pPr>
                <a:lnSpc>
                  <a:spcPct val="104000"/>
                </a:lnSpc>
              </a:pPr>
              <a:r>
                <a:rPr lang="en-US" sz="1600" dirty="0">
                  <a:solidFill>
                    <a:srgbClr val="262626"/>
                  </a:solidFill>
                  <a:latin typeface="Consolas" pitchFamily="34" charset="0"/>
                  <a:ea typeface="Consolas" pitchFamily="34" charset="-122"/>
                  <a:cs typeface="Consolas" pitchFamily="34" charset="-120"/>
                </a:rPr>
                <a:t>Q2 → retrieve+answer ─┼→ synthesize</a:t>
              </a:r>
              <a:endParaRPr lang="en-US" sz="1600" dirty="0"/>
            </a:p>
            <a:p>
              <a:pPr>
                <a:lnSpc>
                  <a:spcPct val="104000"/>
                </a:lnSpc>
              </a:pPr>
              <a:r>
                <a:rPr lang="en-US" sz="1600" dirty="0">
                  <a:solidFill>
                    <a:srgbClr val="262626"/>
                  </a:solidFill>
                  <a:latin typeface="Consolas" pitchFamily="34" charset="0"/>
                  <a:ea typeface="Consolas" pitchFamily="34" charset="-122"/>
                  <a:cs typeface="Consolas" pitchFamily="34" charset="-120"/>
                </a:rPr>
                <a:t>Q3 ← uses Q1,Q2 answers ┘</a:t>
              </a:r>
              <a:endParaRPr lang="en-US" sz="1600" dirty="0"/>
            </a:p>
          </p:txBody>
        </p:sp>
      </p:grpSp>
    </p:spTree>
    <p:extLst>
      <p:ext uri="{BB962C8B-B14F-4D97-AF65-F5344CB8AC3E}">
        <p14:creationId xmlns:p14="http://schemas.microsoft.com/office/powerpoint/2010/main" val="37116329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7A4CAF0-EE65-5DAB-5D97-816A337219CF}"/>
              </a:ext>
            </a:extLst>
          </p:cNvPr>
          <p:cNvSpPr>
            <a:spLocks noGrp="1"/>
          </p:cNvSpPr>
          <p:nvPr>
            <p:ph type="title"/>
          </p:nvPr>
        </p:nvSpPr>
        <p:spPr/>
        <p:txBody>
          <a:bodyPr vert="horz" lIns="91440" tIns="45720" rIns="91440" bIns="45720" rtlCol="0" anchor="ctr">
            <a:normAutofit/>
          </a:bodyPr>
          <a:lstStyle/>
          <a:p>
            <a:r>
              <a:rPr lang="en-US" dirty="0"/>
              <a:t>Routing / Query Classification</a:t>
            </a:r>
            <a:br>
              <a:rPr lang="en-US" dirty="0"/>
            </a:br>
            <a:endParaRPr lang="en-IN" dirty="0"/>
          </a:p>
        </p:txBody>
      </p:sp>
      <p:sp>
        <p:nvSpPr>
          <p:cNvPr id="7" name="Text 4">
            <a:extLst>
              <a:ext uri="{FF2B5EF4-FFF2-40B4-BE49-F238E27FC236}">
                <a16:creationId xmlns:a16="http://schemas.microsoft.com/office/drawing/2014/main" id="{A084377F-0235-91EA-1828-2B2A1A1ABBF2}"/>
              </a:ext>
            </a:extLst>
          </p:cNvPr>
          <p:cNvSpPr/>
          <p:nvPr/>
        </p:nvSpPr>
        <p:spPr>
          <a:xfrm>
            <a:off x="112440" y="2615279"/>
            <a:ext cx="6312990" cy="4160093"/>
          </a:xfrm>
          <a:prstGeom prst="rect">
            <a:avLst/>
          </a:prstGeom>
          <a:noFill/>
          <a:ln/>
        </p:spPr>
        <p:txBody>
          <a:bodyPr wrap="square" lIns="0" tIns="0" rIns="0" bIns="0" rtlCol="0" anchor="t"/>
          <a:lstStyle/>
          <a:p>
            <a:pPr marL="342900" indent="-342900">
              <a:lnSpc>
                <a:spcPct val="105000"/>
              </a:lnSpc>
              <a:spcAft>
                <a:spcPts val="800"/>
              </a:spcAft>
              <a:buSzPct val="100000"/>
              <a:buFont typeface="Arial" panose="020B0604020202020204" pitchFamily="34" charset="0"/>
              <a:buChar char="•"/>
            </a:pPr>
            <a:r>
              <a:rPr lang="en-US" dirty="0">
                <a:solidFill>
                  <a:srgbClr val="333333"/>
                </a:solidFill>
                <a:latin typeface="Calibri" pitchFamily="34" charset="0"/>
                <a:ea typeface="Calibri" pitchFamily="34" charset="-122"/>
                <a:cs typeface="Calibri" pitchFamily="34" charset="-120"/>
              </a:rPr>
              <a:t>A router is a cheap classifier in front of expensive paths: send each query to the right prompt, tool, index, or model.</a:t>
            </a:r>
            <a:endParaRPr lang="en-US" dirty="0"/>
          </a:p>
          <a:p>
            <a:pPr marL="342900" indent="-342900">
              <a:lnSpc>
                <a:spcPct val="105000"/>
              </a:lnSpc>
              <a:spcAft>
                <a:spcPts val="800"/>
              </a:spcAft>
              <a:buSzPct val="100000"/>
              <a:buFont typeface="Arial" panose="020B0604020202020204" pitchFamily="34" charset="0"/>
              <a:buChar char="•"/>
            </a:pPr>
            <a:r>
              <a:rPr lang="en-US" dirty="0">
                <a:solidFill>
                  <a:srgbClr val="333333"/>
                </a:solidFill>
                <a:latin typeface="Calibri" pitchFamily="34" charset="0"/>
                <a:ea typeface="Calibri" pitchFamily="34" charset="-122"/>
                <a:cs typeface="Calibri" pitchFamily="34" charset="-120"/>
              </a:rPr>
              <a:t>Implementations: (a) LLM-as-router — a small/fast model with a classification prompt; (b) embedding/semantic router — nearest-route by cosine similarity (no LLM call); (c) fine-tuned classifier for high volume.</a:t>
            </a:r>
            <a:endParaRPr lang="en-US" dirty="0"/>
          </a:p>
          <a:p>
            <a:pPr marL="342900" indent="-342900">
              <a:lnSpc>
                <a:spcPct val="105000"/>
              </a:lnSpc>
              <a:spcAft>
                <a:spcPts val="800"/>
              </a:spcAft>
              <a:buSzPct val="100000"/>
              <a:buFont typeface="Arial" panose="020B0604020202020204" pitchFamily="34" charset="0"/>
              <a:buChar char="•"/>
            </a:pPr>
            <a:r>
              <a:rPr lang="en-US" dirty="0">
                <a:solidFill>
                  <a:srgbClr val="333333"/>
                </a:solidFill>
                <a:latin typeface="Calibri" pitchFamily="34" charset="0"/>
                <a:ea typeface="Calibri" pitchFamily="34" charset="-122"/>
                <a:cs typeface="Calibri" pitchFamily="34" charset="-120"/>
              </a:rPr>
              <a:t>Routing dimensions: intent (billing vs tech), difficulty (small model vs reasoning model — cost routing), safety (escalate to human), data source (which index).</a:t>
            </a:r>
            <a:endParaRPr lang="en-US" dirty="0"/>
          </a:p>
          <a:p>
            <a:pPr marL="342900" indent="-342900">
              <a:lnSpc>
                <a:spcPct val="105000"/>
              </a:lnSpc>
              <a:spcAft>
                <a:spcPts val="800"/>
              </a:spcAft>
              <a:buSzPct val="100000"/>
              <a:buFont typeface="Arial" panose="020B0604020202020204" pitchFamily="34" charset="0"/>
              <a:buChar char="•"/>
            </a:pPr>
            <a:r>
              <a:rPr lang="en-IN" dirty="0"/>
              <a:t>This workflow allows for separation of concerns, and building more specialized prompts.</a:t>
            </a:r>
            <a:endParaRPr lang="en-US" dirty="0"/>
          </a:p>
        </p:txBody>
      </p:sp>
      <p:sp>
        <p:nvSpPr>
          <p:cNvPr id="9" name="Shape 5">
            <a:extLst>
              <a:ext uri="{FF2B5EF4-FFF2-40B4-BE49-F238E27FC236}">
                <a16:creationId xmlns:a16="http://schemas.microsoft.com/office/drawing/2014/main" id="{D741DBE4-27D7-2EBD-871A-F4EF2E6A3DB3}"/>
              </a:ext>
            </a:extLst>
          </p:cNvPr>
          <p:cNvSpPr/>
          <p:nvPr/>
        </p:nvSpPr>
        <p:spPr>
          <a:xfrm>
            <a:off x="6704555" y="1341120"/>
            <a:ext cx="5264837" cy="5174026"/>
          </a:xfrm>
          <a:prstGeom prst="roundRect">
            <a:avLst>
              <a:gd name="adj" fmla="val 1351"/>
            </a:avLst>
          </a:prstGeom>
          <a:solidFill>
            <a:srgbClr val="F5F3EF"/>
          </a:solidFill>
          <a:ln w="9525">
            <a:solidFill>
              <a:srgbClr val="DDD5C7"/>
            </a:solidFill>
            <a:prstDash val="solid"/>
          </a:ln>
        </p:spPr>
        <p:txBody>
          <a:bodyPr/>
          <a:lstStyle/>
          <a:p>
            <a:endParaRPr lang="en-IN"/>
          </a:p>
        </p:txBody>
      </p:sp>
      <p:sp>
        <p:nvSpPr>
          <p:cNvPr id="11" name="Text 6">
            <a:extLst>
              <a:ext uri="{FF2B5EF4-FFF2-40B4-BE49-F238E27FC236}">
                <a16:creationId xmlns:a16="http://schemas.microsoft.com/office/drawing/2014/main" id="{BCECE7C5-8A03-9E9E-E357-4D6160D18CDC}"/>
              </a:ext>
            </a:extLst>
          </p:cNvPr>
          <p:cNvSpPr/>
          <p:nvPr/>
        </p:nvSpPr>
        <p:spPr>
          <a:xfrm>
            <a:off x="7037036" y="842338"/>
            <a:ext cx="5349026" cy="307645"/>
          </a:xfrm>
          <a:prstGeom prst="rect">
            <a:avLst/>
          </a:prstGeom>
          <a:noFill/>
          <a:ln/>
        </p:spPr>
        <p:txBody>
          <a:bodyPr wrap="square" lIns="0" tIns="0" rIns="0" bIns="0" rtlCol="0" anchor="ctr"/>
          <a:lstStyle/>
          <a:p>
            <a:r>
              <a:rPr lang="en-US" b="1" kern="0" spc="200" dirty="0">
                <a:solidFill>
                  <a:srgbClr val="6B6B6B"/>
                </a:solidFill>
                <a:latin typeface="Calibri" pitchFamily="34" charset="0"/>
                <a:ea typeface="Calibri" pitchFamily="34" charset="-122"/>
                <a:cs typeface="Calibri" pitchFamily="34" charset="-120"/>
              </a:rPr>
              <a:t>LLM-AS-ROUTER PROMPT</a:t>
            </a:r>
            <a:endParaRPr lang="en-US" dirty="0"/>
          </a:p>
        </p:txBody>
      </p:sp>
      <p:sp>
        <p:nvSpPr>
          <p:cNvPr id="13" name="Text 7">
            <a:extLst>
              <a:ext uri="{FF2B5EF4-FFF2-40B4-BE49-F238E27FC236}">
                <a16:creationId xmlns:a16="http://schemas.microsoft.com/office/drawing/2014/main" id="{8A89D80B-639B-B747-E806-2B4F7DDB4EC3}"/>
              </a:ext>
            </a:extLst>
          </p:cNvPr>
          <p:cNvSpPr/>
          <p:nvPr/>
        </p:nvSpPr>
        <p:spPr>
          <a:xfrm>
            <a:off x="6917634" y="1410337"/>
            <a:ext cx="4882801" cy="4935599"/>
          </a:xfrm>
          <a:prstGeom prst="rect">
            <a:avLst/>
          </a:prstGeom>
          <a:noFill/>
          <a:ln/>
        </p:spPr>
        <p:txBody>
          <a:bodyPr wrap="square" lIns="0" tIns="0" rIns="0" bIns="0" rtlCol="0" anchor="t"/>
          <a:lstStyle/>
          <a:p>
            <a:pPr>
              <a:lnSpc>
                <a:spcPct val="104000"/>
              </a:lnSpc>
            </a:pPr>
            <a:r>
              <a:rPr lang="en-US" sz="1600" dirty="0">
                <a:solidFill>
                  <a:srgbClr val="262626"/>
                </a:solidFill>
                <a:latin typeface="Consolas" pitchFamily="34" charset="0"/>
                <a:ea typeface="Consolas" pitchFamily="34" charset="-122"/>
                <a:cs typeface="Consolas" pitchFamily="34" charset="-120"/>
              </a:rPr>
              <a:t>You are a router for a telecom assistant.</a:t>
            </a:r>
            <a:endParaRPr lang="en-US" sz="1600" dirty="0"/>
          </a:p>
          <a:p>
            <a:pPr>
              <a:lnSpc>
                <a:spcPct val="104000"/>
              </a:lnSpc>
            </a:pPr>
            <a:r>
              <a:rPr lang="en-US" sz="1600" dirty="0">
                <a:solidFill>
                  <a:srgbClr val="262626"/>
                </a:solidFill>
                <a:latin typeface="Consolas" pitchFamily="34" charset="0"/>
                <a:ea typeface="Consolas" pitchFamily="34" charset="-122"/>
                <a:cs typeface="Consolas" pitchFamily="34" charset="-120"/>
              </a:rPr>
              <a:t>Classify the query into exactly one route:</a:t>
            </a:r>
            <a:endParaRPr lang="en-US" sz="1600" dirty="0"/>
          </a:p>
          <a:p>
            <a:pPr>
              <a:lnSpc>
                <a:spcPct val="104000"/>
              </a:lnSpc>
            </a:pPr>
            <a:r>
              <a:rPr lang="en-US" sz="1600" dirty="0">
                <a:solidFill>
                  <a:srgbClr val="262626"/>
                </a:solidFill>
                <a:latin typeface="Consolas" pitchFamily="34" charset="0"/>
                <a:ea typeface="Consolas" pitchFamily="34" charset="-122"/>
                <a:cs typeface="Consolas" pitchFamily="34" charset="-120"/>
              </a:rPr>
              <a:t> </a:t>
            </a:r>
            <a:endParaRPr lang="en-US" sz="1600" dirty="0"/>
          </a:p>
          <a:p>
            <a:pPr>
              <a:lnSpc>
                <a:spcPct val="104000"/>
              </a:lnSpc>
            </a:pPr>
            <a:r>
              <a:rPr lang="en-US" sz="1600" dirty="0">
                <a:solidFill>
                  <a:srgbClr val="262626"/>
                </a:solidFill>
                <a:latin typeface="Consolas" pitchFamily="34" charset="0"/>
                <a:ea typeface="Consolas" pitchFamily="34" charset="-122"/>
                <a:cs typeface="Consolas" pitchFamily="34" charset="-120"/>
              </a:rPr>
              <a:t>- BILLING   payments, invoices, refunds</a:t>
            </a:r>
            <a:endParaRPr lang="en-US" sz="1600" dirty="0"/>
          </a:p>
          <a:p>
            <a:pPr>
              <a:lnSpc>
                <a:spcPct val="104000"/>
              </a:lnSpc>
            </a:pPr>
            <a:r>
              <a:rPr lang="en-US" sz="1600" dirty="0">
                <a:solidFill>
                  <a:srgbClr val="262626"/>
                </a:solidFill>
                <a:latin typeface="Consolas" pitchFamily="34" charset="0"/>
                <a:ea typeface="Consolas" pitchFamily="34" charset="-122"/>
                <a:cs typeface="Consolas" pitchFamily="34" charset="-120"/>
              </a:rPr>
              <a:t>- TECH      connectivity, device, outage</a:t>
            </a:r>
            <a:endParaRPr lang="en-US" sz="1600" dirty="0"/>
          </a:p>
          <a:p>
            <a:pPr>
              <a:lnSpc>
                <a:spcPct val="104000"/>
              </a:lnSpc>
            </a:pPr>
            <a:r>
              <a:rPr lang="en-US" sz="1600" dirty="0">
                <a:solidFill>
                  <a:srgbClr val="262626"/>
                </a:solidFill>
                <a:latin typeface="Consolas" pitchFamily="34" charset="0"/>
                <a:ea typeface="Consolas" pitchFamily="34" charset="-122"/>
                <a:cs typeface="Consolas" pitchFamily="34" charset="-120"/>
              </a:rPr>
              <a:t>- SALES     new plans, upgrades</a:t>
            </a:r>
            <a:endParaRPr lang="en-US" sz="1600" dirty="0"/>
          </a:p>
          <a:p>
            <a:pPr>
              <a:lnSpc>
                <a:spcPct val="104000"/>
              </a:lnSpc>
            </a:pPr>
            <a:r>
              <a:rPr lang="en-US" sz="1600" dirty="0">
                <a:solidFill>
                  <a:srgbClr val="262626"/>
                </a:solidFill>
                <a:latin typeface="Consolas" pitchFamily="34" charset="0"/>
                <a:ea typeface="Consolas" pitchFamily="34" charset="-122"/>
                <a:cs typeface="Consolas" pitchFamily="34" charset="-120"/>
              </a:rPr>
              <a:t>- HUMAN     legal threats, churn risk,</a:t>
            </a:r>
            <a:endParaRPr lang="en-US" sz="1600" dirty="0"/>
          </a:p>
          <a:p>
            <a:pPr>
              <a:lnSpc>
                <a:spcPct val="104000"/>
              </a:lnSpc>
            </a:pPr>
            <a:r>
              <a:rPr lang="en-US" sz="1600" dirty="0">
                <a:solidFill>
                  <a:srgbClr val="262626"/>
                </a:solidFill>
                <a:latin typeface="Consolas" pitchFamily="34" charset="0"/>
                <a:ea typeface="Consolas" pitchFamily="34" charset="-122"/>
                <a:cs typeface="Consolas" pitchFamily="34" charset="-120"/>
              </a:rPr>
              <a:t>            anything you are unsure about</a:t>
            </a:r>
            <a:endParaRPr lang="en-US" sz="1600" dirty="0"/>
          </a:p>
          <a:p>
            <a:pPr>
              <a:lnSpc>
                <a:spcPct val="104000"/>
              </a:lnSpc>
            </a:pPr>
            <a:r>
              <a:rPr lang="en-US" sz="1600" dirty="0">
                <a:solidFill>
                  <a:srgbClr val="262626"/>
                </a:solidFill>
                <a:latin typeface="Consolas" pitchFamily="34" charset="0"/>
                <a:ea typeface="Consolas" pitchFamily="34" charset="-122"/>
                <a:cs typeface="Consolas" pitchFamily="34" charset="-120"/>
              </a:rPr>
              <a:t> </a:t>
            </a:r>
            <a:endParaRPr lang="en-US" sz="1600" dirty="0"/>
          </a:p>
          <a:p>
            <a:pPr>
              <a:lnSpc>
                <a:spcPct val="104000"/>
              </a:lnSpc>
            </a:pPr>
            <a:r>
              <a:rPr lang="en-US" sz="1600" dirty="0">
                <a:solidFill>
                  <a:srgbClr val="262626"/>
                </a:solidFill>
                <a:latin typeface="Consolas" pitchFamily="34" charset="0"/>
                <a:ea typeface="Consolas" pitchFamily="34" charset="-122"/>
                <a:cs typeface="Consolas" pitchFamily="34" charset="-120"/>
              </a:rPr>
              <a:t>Return ONLY: {"route":"...",</a:t>
            </a:r>
            <a:endParaRPr lang="en-US" sz="1600" dirty="0"/>
          </a:p>
          <a:p>
            <a:pPr>
              <a:lnSpc>
                <a:spcPct val="104000"/>
              </a:lnSpc>
            </a:pPr>
            <a:r>
              <a:rPr lang="en-US" sz="1600" dirty="0">
                <a:solidFill>
                  <a:srgbClr val="262626"/>
                </a:solidFill>
                <a:latin typeface="Consolas" pitchFamily="34" charset="0"/>
                <a:ea typeface="Consolas" pitchFamily="34" charset="-122"/>
                <a:cs typeface="Consolas" pitchFamily="34" charset="-120"/>
              </a:rPr>
              <a:t>              "confidence":0.0-1.0}</a:t>
            </a:r>
            <a:endParaRPr lang="en-US" sz="1600" dirty="0"/>
          </a:p>
          <a:p>
            <a:pPr>
              <a:lnSpc>
                <a:spcPct val="104000"/>
              </a:lnSpc>
            </a:pPr>
            <a:r>
              <a:rPr lang="en-US" sz="1600" dirty="0">
                <a:solidFill>
                  <a:srgbClr val="262626"/>
                </a:solidFill>
                <a:latin typeface="Consolas" pitchFamily="34" charset="0"/>
                <a:ea typeface="Consolas" pitchFamily="34" charset="-122"/>
                <a:cs typeface="Consolas" pitchFamily="34" charset="-120"/>
              </a:rPr>
              <a:t> </a:t>
            </a:r>
            <a:endParaRPr lang="en-US" sz="1600" dirty="0"/>
          </a:p>
          <a:p>
            <a:pPr>
              <a:lnSpc>
                <a:spcPct val="104000"/>
              </a:lnSpc>
            </a:pPr>
            <a:r>
              <a:rPr lang="en-US" sz="1600" dirty="0">
                <a:solidFill>
                  <a:srgbClr val="262626"/>
                </a:solidFill>
                <a:latin typeface="Consolas" pitchFamily="34" charset="0"/>
                <a:ea typeface="Consolas" pitchFamily="34" charset="-122"/>
                <a:cs typeface="Consolas" pitchFamily="34" charset="-120"/>
              </a:rPr>
              <a:t>Query: "Internet down since morning and</a:t>
            </a:r>
            <a:endParaRPr lang="en-US" sz="1600" dirty="0"/>
          </a:p>
          <a:p>
            <a:pPr>
              <a:lnSpc>
                <a:spcPct val="104000"/>
              </a:lnSpc>
            </a:pPr>
            <a:r>
              <a:rPr lang="en-US" sz="1600" dirty="0">
                <a:solidFill>
                  <a:srgbClr val="262626"/>
                </a:solidFill>
                <a:latin typeface="Consolas" pitchFamily="34" charset="0"/>
                <a:ea typeface="Consolas" pitchFamily="34" charset="-122"/>
                <a:cs typeface="Consolas" pitchFamily="34" charset="-120"/>
              </a:rPr>
              <a:t>your app shows a bill for a closed account!“</a:t>
            </a:r>
          </a:p>
          <a:p>
            <a:pPr>
              <a:lnSpc>
                <a:spcPct val="104000"/>
              </a:lnSpc>
            </a:pPr>
            <a:endParaRPr lang="en-US" sz="1600" dirty="0"/>
          </a:p>
          <a:p>
            <a:pPr>
              <a:lnSpc>
                <a:spcPct val="104000"/>
              </a:lnSpc>
            </a:pPr>
            <a:r>
              <a:rPr lang="en-US" sz="1600" b="1" dirty="0">
                <a:solidFill>
                  <a:srgbClr val="2C6E49"/>
                </a:solidFill>
                <a:latin typeface="Consolas" pitchFamily="34" charset="0"/>
                <a:ea typeface="Consolas" pitchFamily="34" charset="-122"/>
                <a:cs typeface="Consolas" pitchFamily="34" charset="-120"/>
              </a:rPr>
              <a:t>→ {"route":"HUMAN","confidence":0.72}</a:t>
            </a:r>
            <a:endParaRPr lang="en-US" sz="1600" dirty="0"/>
          </a:p>
        </p:txBody>
      </p:sp>
      <p:pic>
        <p:nvPicPr>
          <p:cNvPr id="4" name="Picture 3">
            <a:extLst>
              <a:ext uri="{FF2B5EF4-FFF2-40B4-BE49-F238E27FC236}">
                <a16:creationId xmlns:a16="http://schemas.microsoft.com/office/drawing/2014/main" id="{653A4310-C1A3-C755-F1C0-C3687D1182BF}"/>
              </a:ext>
            </a:extLst>
          </p:cNvPr>
          <p:cNvPicPr>
            <a:picLocks noChangeAspect="1"/>
          </p:cNvPicPr>
          <p:nvPr/>
        </p:nvPicPr>
        <p:blipFill>
          <a:blip r:embed="rId3"/>
          <a:stretch>
            <a:fillRect/>
          </a:stretch>
        </p:blipFill>
        <p:spPr>
          <a:xfrm>
            <a:off x="625179" y="753789"/>
            <a:ext cx="4529786" cy="1544583"/>
          </a:xfrm>
          <a:prstGeom prst="rect">
            <a:avLst/>
          </a:prstGeom>
          <a:ln>
            <a:solidFill>
              <a:schemeClr val="tx1"/>
            </a:solidFill>
          </a:ln>
        </p:spPr>
      </p:pic>
    </p:spTree>
    <p:extLst>
      <p:ext uri="{BB962C8B-B14F-4D97-AF65-F5344CB8AC3E}">
        <p14:creationId xmlns:p14="http://schemas.microsoft.com/office/powerpoint/2010/main" val="38168006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0" y="1408064"/>
            <a:ext cx="12192000" cy="5449936"/>
          </a:xfrm>
        </p:spPr>
        <p:txBody>
          <a:bodyPr>
            <a:normAutofit/>
          </a:bodyPr>
          <a:lstStyle/>
          <a:p>
            <a:pPr marL="342900" indent="-342900">
              <a:buFont typeface="Arial" panose="020B0604020202020204" pitchFamily="34" charset="0"/>
              <a:buChar char="•"/>
            </a:pPr>
            <a:r>
              <a:rPr lang="en-IN" dirty="0"/>
              <a:t>E</a:t>
            </a:r>
            <a:r>
              <a:rPr lang="en-US" dirty="0" err="1"/>
              <a:t>xtend</a:t>
            </a:r>
            <a:r>
              <a:rPr lang="en-US" dirty="0"/>
              <a:t> LLMs with custom capabilities by enabling them to call external functions based on </a:t>
            </a:r>
            <a:r>
              <a:rPr lang="en-US" i="1" dirty="0"/>
              <a:t>natural language instructions + function descriptions</a:t>
            </a:r>
            <a:r>
              <a:rPr lang="en-US" dirty="0"/>
              <a:t> and output a string that invokes that function</a:t>
            </a:r>
          </a:p>
          <a:p>
            <a:pPr marL="342900" indent="-342900">
              <a:buFont typeface="Arial" panose="020B0604020202020204" pitchFamily="34" charset="0"/>
              <a:buChar char="•"/>
            </a:pPr>
            <a:r>
              <a:rPr lang="en-US" dirty="0">
                <a:solidFill>
                  <a:srgbClr val="FF0000"/>
                </a:solidFill>
              </a:rPr>
              <a:t>LLMs only </a:t>
            </a:r>
            <a:r>
              <a:rPr lang="en-US" i="1" dirty="0">
                <a:solidFill>
                  <a:srgbClr val="FF0000"/>
                </a:solidFill>
              </a:rPr>
              <a:t>generate</a:t>
            </a:r>
            <a:r>
              <a:rPr lang="en-US" dirty="0">
                <a:solidFill>
                  <a:srgbClr val="FF0000"/>
                </a:solidFill>
              </a:rPr>
              <a:t> function call strings—they don't actually execute them</a:t>
            </a:r>
          </a:p>
          <a:p>
            <a:pPr marL="342900" indent="-342900">
              <a:buFont typeface="Arial" panose="020B0604020202020204" pitchFamily="34" charset="0"/>
              <a:buChar char="•"/>
            </a:pPr>
            <a:r>
              <a:rPr lang="en-US" dirty="0"/>
              <a:t>Function Calling: LLM capability to generate function call strings</a:t>
            </a:r>
          </a:p>
          <a:p>
            <a:pPr marL="342900" indent="-342900">
              <a:buFont typeface="Arial" panose="020B0604020202020204" pitchFamily="34" charset="0"/>
              <a:buChar char="•"/>
            </a:pPr>
            <a:r>
              <a:rPr lang="en-US" dirty="0"/>
              <a:t>Tools: Actual functions being called by the LLM</a:t>
            </a:r>
          </a:p>
          <a:p>
            <a:pPr marL="342900" indent="-342900">
              <a:buFont typeface="Arial" panose="020B0604020202020204" pitchFamily="34" charset="0"/>
              <a:buChar char="•"/>
            </a:pPr>
            <a:r>
              <a:rPr lang="en-US" dirty="0"/>
              <a:t>Function Description: Text explaining what the tool does</a:t>
            </a:r>
          </a:p>
          <a:p>
            <a:pPr marL="342900" indent="-342900">
              <a:buFont typeface="Arial" panose="020B0604020202020204" pitchFamily="34" charset="0"/>
              <a:buChar char="•"/>
            </a:pPr>
            <a:r>
              <a:rPr lang="en-US" dirty="0"/>
              <a:t>Function Prototype: Function signature in the expected format (Python, JSON, etc.)</a:t>
            </a:r>
          </a:p>
          <a:p>
            <a:pPr marL="342900" indent="-342900">
              <a:buFont typeface="Arial" panose="020B0604020202020204" pitchFamily="34" charset="0"/>
              <a:buChar char="•"/>
            </a:pPr>
            <a:r>
              <a:rPr lang="en-IN" dirty="0"/>
              <a:t>General-Purpose LLMs: Respond to all query types (including function calling)</a:t>
            </a:r>
          </a:p>
          <a:p>
            <a:pPr marL="342900" indent="-342900">
              <a:buFont typeface="Arial" panose="020B0604020202020204" pitchFamily="34" charset="0"/>
              <a:buChar char="•"/>
            </a:pPr>
            <a:r>
              <a:rPr lang="en-IN" dirty="0"/>
              <a:t>Special-Purpose LLMs: Fine-tuned for specific tasks like function calling</a:t>
            </a:r>
          </a:p>
          <a:p>
            <a:pPr marL="800100" lvl="1" indent="-342900">
              <a:buFont typeface="Arial" panose="020B0604020202020204" pitchFamily="34" charset="0"/>
              <a:buChar char="•"/>
            </a:pPr>
            <a:r>
              <a:rPr lang="en-IN" dirty="0"/>
              <a:t>Example: NexusRavenV2-13B, </a:t>
            </a:r>
            <a:r>
              <a:rPr lang="en-US" dirty="0"/>
              <a:t>gorilla-openfunctions-v2 (Based on Llama 3), functionary-small-v3.1 (based on Llama 3)</a:t>
            </a:r>
            <a:endParaRPr lang="en-IN" dirty="0"/>
          </a:p>
          <a:p>
            <a:pPr marL="342900" indent="-342900">
              <a:buFont typeface="Arial" panose="020B0604020202020204" pitchFamily="34" charset="0"/>
              <a:buChar char="•"/>
            </a:pPr>
            <a:endParaRPr lang="en-IN" dirty="0"/>
          </a:p>
        </p:txBody>
      </p:sp>
      <p:sp>
        <p:nvSpPr>
          <p:cNvPr id="3" name="Title 2"/>
          <p:cNvSpPr>
            <a:spLocks noGrp="1"/>
          </p:cNvSpPr>
          <p:nvPr>
            <p:ph type="title"/>
          </p:nvPr>
        </p:nvSpPr>
        <p:spPr/>
        <p:txBody>
          <a:bodyPr/>
          <a:lstStyle/>
          <a:p>
            <a:r>
              <a:rPr lang="en-US" dirty="0"/>
              <a:t> </a:t>
            </a:r>
            <a:r>
              <a:rPr lang="en-IN" dirty="0"/>
              <a:t>Function-calling</a:t>
            </a:r>
          </a:p>
        </p:txBody>
      </p:sp>
    </p:spTree>
    <p:extLst>
      <p:ext uri="{BB962C8B-B14F-4D97-AF65-F5344CB8AC3E}">
        <p14:creationId xmlns:p14="http://schemas.microsoft.com/office/powerpoint/2010/main" val="10316827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5004" y="1494424"/>
            <a:ext cx="12034595" cy="4525963"/>
          </a:xfrm>
        </p:spPr>
        <p:txBody>
          <a:bodyPr>
            <a:normAutofit/>
          </a:bodyPr>
          <a:lstStyle/>
          <a:p>
            <a:pPr marL="342900" indent="-342900">
              <a:buFont typeface="Arial" panose="020B0604020202020204" pitchFamily="34" charset="0"/>
              <a:buChar char="•"/>
            </a:pPr>
            <a:r>
              <a:rPr lang="en-US" dirty="0"/>
              <a:t>Standard LLMs are "Closed-Box" systems—they only know what they were trained on</a:t>
            </a:r>
          </a:p>
          <a:p>
            <a:pPr marL="342900" indent="-342900">
              <a:buFont typeface="Arial" panose="020B0604020202020204" pitchFamily="34" charset="0"/>
              <a:buChar char="•"/>
            </a:pPr>
            <a:r>
              <a:rPr lang="en-US" dirty="0"/>
              <a:t>Traditional LLM: "I think the weather in Paris is usually mild in May." (Stale Data)</a:t>
            </a:r>
          </a:p>
          <a:p>
            <a:pPr marL="342900" indent="-342900">
              <a:buFont typeface="Arial" panose="020B0604020202020204" pitchFamily="34" charset="0"/>
              <a:buChar char="•"/>
            </a:pPr>
            <a:r>
              <a:rPr lang="en-US" dirty="0"/>
              <a:t>Tool-Enabled LLM: "I don't know the current weather, but I see a </a:t>
            </a:r>
            <a:r>
              <a:rPr lang="en-US" dirty="0" err="1"/>
              <a:t>get_weather</a:t>
            </a:r>
            <a:r>
              <a:rPr lang="en-US" dirty="0"/>
              <a:t> tool. I will call it." (Real-time Data)</a:t>
            </a:r>
          </a:p>
          <a:p>
            <a:pPr marL="342900" indent="-342900">
              <a:buFont typeface="Arial" panose="020B0604020202020204" pitchFamily="34" charset="0"/>
              <a:buChar char="•"/>
            </a:pPr>
            <a:r>
              <a:rPr lang="en-US" dirty="0"/>
              <a:t>Tools are not "installed" into the model; they are described to it</a:t>
            </a:r>
          </a:p>
          <a:p>
            <a:pPr marL="342900" indent="-342900">
              <a:buFont typeface="Arial" panose="020B0604020202020204" pitchFamily="34" charset="0"/>
              <a:buChar char="•"/>
            </a:pPr>
            <a:r>
              <a:rPr lang="en-US" dirty="0"/>
              <a:t>Model decides </a:t>
            </a:r>
            <a:r>
              <a:rPr lang="en-US" i="1" dirty="0"/>
              <a:t>if and when</a:t>
            </a:r>
            <a:r>
              <a:rPr lang="en-US" dirty="0"/>
              <a:t> to use tools; your app executes them.</a:t>
            </a:r>
          </a:p>
          <a:p>
            <a:pPr marL="342900" indent="-342900">
              <a:buFont typeface="Arial" panose="020B0604020202020204" pitchFamily="34" charset="0"/>
              <a:buChar char="•"/>
            </a:pPr>
            <a:r>
              <a:rPr lang="en-US" dirty="0"/>
              <a:t>Example Tools </a:t>
            </a:r>
          </a:p>
          <a:p>
            <a:pPr marL="800100" lvl="1" indent="-342900">
              <a:buFont typeface="Arial" panose="020B0604020202020204" pitchFamily="34" charset="0"/>
              <a:buChar char="•"/>
            </a:pPr>
            <a:r>
              <a:rPr lang="en-US" dirty="0" err="1"/>
              <a:t>get_weather</a:t>
            </a:r>
            <a:r>
              <a:rPr lang="en-US" dirty="0"/>
              <a:t> — retrieve current weather for a location</a:t>
            </a:r>
          </a:p>
          <a:p>
            <a:pPr marL="800100" lvl="1" indent="-342900">
              <a:buFont typeface="Arial" panose="020B0604020202020204" pitchFamily="34" charset="0"/>
              <a:buChar char="•"/>
            </a:pPr>
            <a:r>
              <a:rPr lang="en-US" dirty="0" err="1"/>
              <a:t>get_account_details</a:t>
            </a:r>
            <a:r>
              <a:rPr lang="en-US" dirty="0"/>
              <a:t> — look up user account by ID</a:t>
            </a:r>
          </a:p>
          <a:p>
            <a:pPr marL="800100" lvl="1" indent="-342900">
              <a:buFont typeface="Arial" panose="020B0604020202020204" pitchFamily="34" charset="0"/>
              <a:buChar char="•"/>
            </a:pPr>
            <a:r>
              <a:rPr lang="en-US" dirty="0" err="1"/>
              <a:t>issue_refund</a:t>
            </a:r>
            <a:r>
              <a:rPr lang="en-US" dirty="0"/>
              <a:t> — process a refund for an order</a:t>
            </a:r>
          </a:p>
          <a:p>
            <a:pPr marL="800100" lvl="1" indent="-342900">
              <a:buFont typeface="Arial" panose="020B0604020202020204" pitchFamily="34" charset="0"/>
              <a:buChar char="•"/>
            </a:pPr>
            <a:r>
              <a:rPr lang="en-US" dirty="0" err="1"/>
              <a:t>search_docs</a:t>
            </a:r>
            <a:r>
              <a:rPr lang="en-US" dirty="0"/>
              <a:t> — query a knowledge base or database</a:t>
            </a:r>
          </a:p>
          <a:p>
            <a:pPr marL="342900" indent="-342900">
              <a:buFont typeface="Arial" panose="020B0604020202020204" pitchFamily="34" charset="0"/>
              <a:buChar char="•"/>
            </a:pPr>
            <a:endParaRPr lang="en-IN" dirty="0"/>
          </a:p>
        </p:txBody>
      </p:sp>
      <p:sp>
        <p:nvSpPr>
          <p:cNvPr id="3" name="Title 2"/>
          <p:cNvSpPr>
            <a:spLocks noGrp="1"/>
          </p:cNvSpPr>
          <p:nvPr>
            <p:ph type="title"/>
          </p:nvPr>
        </p:nvSpPr>
        <p:spPr>
          <a:xfrm>
            <a:off x="359885" y="99152"/>
            <a:ext cx="10881209" cy="1219200"/>
          </a:xfrm>
        </p:spPr>
        <p:txBody>
          <a:bodyPr/>
          <a:lstStyle/>
          <a:p>
            <a:r>
              <a:rPr lang="en-US" dirty="0"/>
              <a:t>Tools – Functionality We Give the LLM</a:t>
            </a:r>
            <a:endParaRPr lang="en-IN" dirty="0"/>
          </a:p>
        </p:txBody>
      </p:sp>
    </p:spTree>
    <p:extLst>
      <p:ext uri="{BB962C8B-B14F-4D97-AF65-F5344CB8AC3E}">
        <p14:creationId xmlns:p14="http://schemas.microsoft.com/office/powerpoint/2010/main" val="37274510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0"/>
          </p:nvPr>
        </p:nvPicPr>
        <p:blipFill>
          <a:blip r:embed="rId2"/>
          <a:stretch>
            <a:fillRect/>
          </a:stretch>
        </p:blipFill>
        <p:spPr>
          <a:xfrm>
            <a:off x="877315" y="1219200"/>
            <a:ext cx="8762443" cy="5117000"/>
          </a:xfrm>
          <a:prstGeom prst="rect">
            <a:avLst/>
          </a:prstGeom>
        </p:spPr>
      </p:pic>
      <p:sp>
        <p:nvSpPr>
          <p:cNvPr id="3" name="Title 2"/>
          <p:cNvSpPr>
            <a:spLocks noGrp="1"/>
          </p:cNvSpPr>
          <p:nvPr>
            <p:ph type="title"/>
          </p:nvPr>
        </p:nvSpPr>
        <p:spPr/>
        <p:txBody>
          <a:bodyPr/>
          <a:lstStyle/>
          <a:p>
            <a:r>
              <a:rPr lang="en-US" dirty="0"/>
              <a:t>Tools – Functionality We Give the LLM</a:t>
            </a:r>
            <a:endParaRPr lang="en-IN" dirty="0"/>
          </a:p>
        </p:txBody>
      </p:sp>
    </p:spTree>
    <p:extLst>
      <p:ext uri="{BB962C8B-B14F-4D97-AF65-F5344CB8AC3E}">
        <p14:creationId xmlns:p14="http://schemas.microsoft.com/office/powerpoint/2010/main" val="15221617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Function-calling</a:t>
            </a:r>
          </a:p>
        </p:txBody>
      </p:sp>
      <p:pic>
        <p:nvPicPr>
          <p:cNvPr id="1026" name="Picture 2" descr="Function Calling"/>
          <p:cNvPicPr>
            <a:picLocks noGrp="1" noChangeAspect="1" noChangeArrowheads="1"/>
          </p:cNvPicPr>
          <p:nvPr>
            <p:ph idx="10"/>
          </p:nvPr>
        </p:nvPicPr>
        <p:blipFill>
          <a:blip r:embed="rId3">
            <a:extLst>
              <a:ext uri="{28A0092B-C50C-407E-A947-70E740481C1C}">
                <a14:useLocalDpi xmlns:a14="http://schemas.microsoft.com/office/drawing/2010/main" val="0"/>
              </a:ext>
            </a:extLst>
          </a:blip>
          <a:srcRect/>
          <a:stretch>
            <a:fillRect/>
          </a:stretch>
        </p:blipFill>
        <p:spPr bwMode="auto">
          <a:xfrm>
            <a:off x="0" y="1019055"/>
            <a:ext cx="6757011" cy="542553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7182998" y="1536174"/>
            <a:ext cx="4827040" cy="3785652"/>
          </a:xfrm>
          <a:prstGeom prst="rect">
            <a:avLst/>
          </a:prstGeom>
        </p:spPr>
        <p:txBody>
          <a:bodyPr vert="horz" lIns="91440" tIns="45720" rIns="91440" bIns="45720" rtlCol="0">
            <a:normAutofit/>
          </a:bodyPr>
          <a:lstStyle/>
          <a:p>
            <a:r>
              <a:rPr lang="en-US" sz="2400" dirty="0">
                <a:latin typeface="Cambria" panose="02040503050406030204" pitchFamily="18" charset="0"/>
                <a:ea typeface="Cambria" panose="02040503050406030204" pitchFamily="18" charset="0"/>
              </a:rPr>
              <a:t>Using Tools (Function Definitions)</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Tools are the primary way to define callable functions for your LLM. Each tool requires:</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A unique name</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A clear description</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A JSON schema defining the expected parameters</a:t>
            </a:r>
          </a:p>
        </p:txBody>
      </p:sp>
    </p:spTree>
    <p:extLst>
      <p:ext uri="{BB962C8B-B14F-4D97-AF65-F5344CB8AC3E}">
        <p14:creationId xmlns:p14="http://schemas.microsoft.com/office/powerpoint/2010/main" val="42718515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304800" y="1545224"/>
            <a:ext cx="6149028" cy="4525963"/>
          </a:xfrm>
        </p:spPr>
        <p:txBody>
          <a:bodyPr>
            <a:normAutofit/>
          </a:bodyPr>
          <a:lstStyle/>
          <a:p>
            <a:pPr marL="342900" indent="-342900">
              <a:buFont typeface="Arial" panose="020B0604020202020204" pitchFamily="34" charset="0"/>
              <a:buChar char="•"/>
            </a:pPr>
            <a:r>
              <a:rPr lang="en-US" sz="2000" dirty="0"/>
              <a:t>Step 1: Provide user query + function description to LLM</a:t>
            </a:r>
          </a:p>
          <a:p>
            <a:pPr marL="342900" indent="-342900">
              <a:buFont typeface="Arial" panose="020B0604020202020204" pitchFamily="34" charset="0"/>
              <a:buChar char="•"/>
            </a:pPr>
            <a:r>
              <a:rPr lang="en-US" sz="2000" dirty="0"/>
              <a:t>Step 2: LLM recognizes it can use the function to answer</a:t>
            </a:r>
          </a:p>
          <a:p>
            <a:pPr marL="342900" indent="-342900">
              <a:buFont typeface="Arial" panose="020B0604020202020204" pitchFamily="34" charset="0"/>
              <a:buChar char="•"/>
            </a:pPr>
            <a:r>
              <a:rPr lang="en-US" sz="2000" dirty="0"/>
              <a:t>Step 3: LLM generates executable function call string</a:t>
            </a:r>
          </a:p>
          <a:p>
            <a:pPr marL="342900" indent="-342900">
              <a:buFont typeface="Arial" panose="020B0604020202020204" pitchFamily="34" charset="0"/>
              <a:buChar char="•"/>
            </a:pPr>
            <a:r>
              <a:rPr lang="en-US" sz="2000" dirty="0"/>
              <a:t>Step 4: System executes the function</a:t>
            </a:r>
          </a:p>
          <a:p>
            <a:pPr marL="342900" indent="-342900">
              <a:buFont typeface="Arial" panose="020B0604020202020204" pitchFamily="34" charset="0"/>
              <a:buChar char="•"/>
            </a:pPr>
            <a:r>
              <a:rPr lang="en-US" sz="2000" dirty="0"/>
              <a:t>Step 5: Return results and original query to LLM</a:t>
            </a:r>
          </a:p>
          <a:p>
            <a:pPr marL="342900" indent="-342900">
              <a:buFont typeface="Arial" panose="020B0604020202020204" pitchFamily="34" charset="0"/>
              <a:buChar char="•"/>
            </a:pPr>
            <a:r>
              <a:rPr lang="en-US" sz="2000" dirty="0"/>
              <a:t>Step 6: LLM generates final answer</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IN" sz="2000" dirty="0"/>
          </a:p>
        </p:txBody>
      </p:sp>
      <p:sp>
        <p:nvSpPr>
          <p:cNvPr id="3" name="Title 2"/>
          <p:cNvSpPr>
            <a:spLocks noGrp="1"/>
          </p:cNvSpPr>
          <p:nvPr>
            <p:ph type="title"/>
          </p:nvPr>
        </p:nvSpPr>
        <p:spPr/>
        <p:txBody>
          <a:bodyPr/>
          <a:lstStyle/>
          <a:p>
            <a:r>
              <a:rPr lang="en-US" dirty="0"/>
              <a:t>Function Calling Workflow</a:t>
            </a:r>
            <a:br>
              <a:rPr lang="en-US" dirty="0"/>
            </a:br>
            <a:endParaRPr lang="en-IN" dirty="0"/>
          </a:p>
        </p:txBody>
      </p:sp>
      <p:pic>
        <p:nvPicPr>
          <p:cNvPr id="4" name="Picture 3"/>
          <p:cNvPicPr>
            <a:picLocks noChangeAspect="1"/>
          </p:cNvPicPr>
          <p:nvPr/>
        </p:nvPicPr>
        <p:blipFill>
          <a:blip r:embed="rId2"/>
          <a:stretch>
            <a:fillRect/>
          </a:stretch>
        </p:blipFill>
        <p:spPr>
          <a:xfrm>
            <a:off x="6325040" y="609600"/>
            <a:ext cx="5738172" cy="5687837"/>
          </a:xfrm>
          <a:prstGeom prst="rect">
            <a:avLst/>
          </a:prstGeom>
        </p:spPr>
      </p:pic>
      <p:sp>
        <p:nvSpPr>
          <p:cNvPr id="5" name="Rectangle 4"/>
          <p:cNvSpPr/>
          <p:nvPr/>
        </p:nvSpPr>
        <p:spPr>
          <a:xfrm>
            <a:off x="76200" y="6497048"/>
            <a:ext cx="6096000" cy="276999"/>
          </a:xfrm>
          <a:prstGeom prst="rect">
            <a:avLst/>
          </a:prstGeom>
        </p:spPr>
        <p:txBody>
          <a:bodyPr>
            <a:spAutoFit/>
          </a:bodyPr>
          <a:lstStyle/>
          <a:p>
            <a:r>
              <a:rPr lang="en-IN" sz="1200" dirty="0"/>
              <a:t>Figure credits : https://github.com/ksm26/Function-Calling-and-Data-Extraction-with-LLMs</a:t>
            </a:r>
          </a:p>
        </p:txBody>
      </p:sp>
    </p:spTree>
    <p:extLst>
      <p:ext uri="{BB962C8B-B14F-4D97-AF65-F5344CB8AC3E}">
        <p14:creationId xmlns:p14="http://schemas.microsoft.com/office/powerpoint/2010/main" val="17932301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0" y="1407548"/>
            <a:ext cx="4013200" cy="4525963"/>
          </a:xfrm>
        </p:spPr>
        <p:txBody>
          <a:bodyPr>
            <a:normAutofit/>
          </a:bodyPr>
          <a:lstStyle/>
          <a:p>
            <a:pPr marL="342900" indent="-342900">
              <a:buFont typeface="Arial" panose="020B0604020202020204" pitchFamily="34" charset="0"/>
              <a:buChar char="•"/>
            </a:pPr>
            <a:r>
              <a:rPr lang="en-US" dirty="0"/>
              <a:t>Specialized capability where an LLM generates multiple tool requests in a single response</a:t>
            </a:r>
          </a:p>
          <a:p>
            <a:pPr marL="342900" indent="-342900">
              <a:buFont typeface="Arial" panose="020B0604020202020204" pitchFamily="34" charset="0"/>
              <a:buChar char="•"/>
            </a:pPr>
            <a:r>
              <a:rPr lang="en-US" dirty="0"/>
              <a:t>LLM outputs an array of tool calls in a structured format (usually JSON), </a:t>
            </a:r>
            <a:r>
              <a:rPr lang="en-US" dirty="0" err="1"/>
              <a:t>e.g</a:t>
            </a:r>
            <a:endParaRPr lang="en-US" dirty="0"/>
          </a:p>
          <a:p>
            <a:endParaRPr lang="en-US" dirty="0"/>
          </a:p>
        </p:txBody>
      </p:sp>
      <p:sp>
        <p:nvSpPr>
          <p:cNvPr id="3" name="Title 2"/>
          <p:cNvSpPr>
            <a:spLocks noGrp="1"/>
          </p:cNvSpPr>
          <p:nvPr>
            <p:ph type="title"/>
          </p:nvPr>
        </p:nvSpPr>
        <p:spPr/>
        <p:txBody>
          <a:bodyPr/>
          <a:lstStyle/>
          <a:p>
            <a:r>
              <a:rPr lang="en-US" dirty="0"/>
              <a:t>Parallel function calling</a:t>
            </a:r>
            <a:endParaRPr lang="en-IN" dirty="0"/>
          </a:p>
        </p:txBody>
      </p:sp>
      <p:sp>
        <p:nvSpPr>
          <p:cNvPr id="4" name="Rectangle 3"/>
          <p:cNvSpPr/>
          <p:nvPr/>
        </p:nvSpPr>
        <p:spPr>
          <a:xfrm>
            <a:off x="4013200" y="1407548"/>
            <a:ext cx="8178799" cy="4524315"/>
          </a:xfrm>
          <a:prstGeom prst="rect">
            <a:avLst/>
          </a:prstGeom>
          <a:solidFill>
            <a:schemeClr val="accent6">
              <a:lumMod val="40000"/>
              <a:lumOff val="60000"/>
            </a:schemeClr>
          </a:solidFill>
        </p:spPr>
        <p:txBody>
          <a:bodyPr wrap="square">
            <a:spAutoFit/>
          </a:bodyPr>
          <a:lstStyle/>
          <a:p>
            <a:r>
              <a:rPr lang="en-IN" dirty="0">
                <a:latin typeface="Cambria" panose="02040503050406030204" pitchFamily="18" charset="0"/>
                <a:ea typeface="Cambria" panose="02040503050406030204" pitchFamily="18" charset="0"/>
              </a:rPr>
              <a:t>{</a:t>
            </a:r>
          </a:p>
          <a:p>
            <a:r>
              <a:rPr lang="en-IN" dirty="0">
                <a:latin typeface="Cambria" panose="02040503050406030204" pitchFamily="18" charset="0"/>
                <a:ea typeface="Cambria" panose="02040503050406030204" pitchFamily="18" charset="0"/>
              </a:rPr>
              <a:t>  "</a:t>
            </a:r>
            <a:r>
              <a:rPr lang="en-IN" dirty="0" err="1">
                <a:latin typeface="Cambria" panose="02040503050406030204" pitchFamily="18" charset="0"/>
                <a:ea typeface="Cambria" panose="02040503050406030204" pitchFamily="18" charset="0"/>
              </a:rPr>
              <a:t>tool_calls</a:t>
            </a:r>
            <a:r>
              <a:rPr lang="en-IN" dirty="0">
                <a:latin typeface="Cambria" panose="02040503050406030204" pitchFamily="18" charset="0"/>
                <a:ea typeface="Cambria" panose="02040503050406030204" pitchFamily="18" charset="0"/>
              </a:rPr>
              <a:t>": [</a:t>
            </a:r>
          </a:p>
          <a:p>
            <a:r>
              <a:rPr lang="en-IN" dirty="0">
                <a:latin typeface="Cambria" panose="02040503050406030204" pitchFamily="18" charset="0"/>
                <a:ea typeface="Cambria" panose="02040503050406030204" pitchFamily="18" charset="0"/>
              </a:rPr>
              <a:t>    {</a:t>
            </a:r>
          </a:p>
          <a:p>
            <a:r>
              <a:rPr lang="en-IN" dirty="0">
                <a:latin typeface="Cambria" panose="02040503050406030204" pitchFamily="18" charset="0"/>
                <a:ea typeface="Cambria" panose="02040503050406030204" pitchFamily="18" charset="0"/>
              </a:rPr>
              <a:t>      "id": "call_001",</a:t>
            </a:r>
          </a:p>
          <a:p>
            <a:r>
              <a:rPr lang="en-IN" dirty="0">
                <a:latin typeface="Cambria" panose="02040503050406030204" pitchFamily="18" charset="0"/>
                <a:ea typeface="Cambria" panose="02040503050406030204" pitchFamily="18" charset="0"/>
              </a:rPr>
              <a:t>      "type": "function",</a:t>
            </a:r>
          </a:p>
          <a:p>
            <a:r>
              <a:rPr lang="en-IN" dirty="0">
                <a:latin typeface="Cambria" panose="02040503050406030204" pitchFamily="18" charset="0"/>
                <a:ea typeface="Cambria" panose="02040503050406030204" pitchFamily="18" charset="0"/>
              </a:rPr>
              <a:t>      "function": { "name": "</a:t>
            </a:r>
            <a:r>
              <a:rPr lang="en-IN" dirty="0" err="1">
                <a:latin typeface="Cambria" panose="02040503050406030204" pitchFamily="18" charset="0"/>
                <a:ea typeface="Cambria" panose="02040503050406030204" pitchFamily="18" charset="0"/>
              </a:rPr>
              <a:t>get_weather</a:t>
            </a:r>
            <a:r>
              <a:rPr lang="en-IN" dirty="0">
                <a:latin typeface="Cambria" panose="02040503050406030204" pitchFamily="18" charset="0"/>
                <a:ea typeface="Cambria" panose="02040503050406030204" pitchFamily="18" charset="0"/>
              </a:rPr>
              <a:t>", "arguments": "{\"location\": \"London\"}"                      </a:t>
            </a:r>
          </a:p>
          <a:p>
            <a:r>
              <a:rPr lang="en-IN" dirty="0">
                <a:latin typeface="Cambria" panose="02040503050406030204" pitchFamily="18" charset="0"/>
                <a:ea typeface="Cambria" panose="02040503050406030204" pitchFamily="18" charset="0"/>
              </a:rPr>
              <a:t>                             }</a:t>
            </a:r>
          </a:p>
          <a:p>
            <a:r>
              <a:rPr lang="en-IN" dirty="0">
                <a:latin typeface="Cambria" panose="02040503050406030204" pitchFamily="18" charset="0"/>
                <a:ea typeface="Cambria" panose="02040503050406030204" pitchFamily="18" charset="0"/>
              </a:rPr>
              <a:t>    },</a:t>
            </a:r>
          </a:p>
          <a:p>
            <a:endParaRPr lang="en-IN" dirty="0">
              <a:latin typeface="Cambria" panose="02040503050406030204" pitchFamily="18" charset="0"/>
              <a:ea typeface="Cambria" panose="02040503050406030204" pitchFamily="18" charset="0"/>
            </a:endParaRPr>
          </a:p>
          <a:p>
            <a:r>
              <a:rPr lang="en-IN" dirty="0">
                <a:latin typeface="Cambria" panose="02040503050406030204" pitchFamily="18" charset="0"/>
                <a:ea typeface="Cambria" panose="02040503050406030204" pitchFamily="18" charset="0"/>
              </a:rPr>
              <a:t>    {</a:t>
            </a:r>
          </a:p>
          <a:p>
            <a:r>
              <a:rPr lang="en-IN" dirty="0">
                <a:latin typeface="Cambria" panose="02040503050406030204" pitchFamily="18" charset="0"/>
                <a:ea typeface="Cambria" panose="02040503050406030204" pitchFamily="18" charset="0"/>
              </a:rPr>
              <a:t>      "id": "call_002",</a:t>
            </a:r>
          </a:p>
          <a:p>
            <a:r>
              <a:rPr lang="en-IN" dirty="0">
                <a:latin typeface="Cambria" panose="02040503050406030204" pitchFamily="18" charset="0"/>
                <a:ea typeface="Cambria" panose="02040503050406030204" pitchFamily="18" charset="0"/>
              </a:rPr>
              <a:t>      "type": "function",</a:t>
            </a:r>
          </a:p>
          <a:p>
            <a:r>
              <a:rPr lang="en-IN" dirty="0">
                <a:latin typeface="Cambria" panose="02040503050406030204" pitchFamily="18" charset="0"/>
                <a:ea typeface="Cambria" panose="02040503050406030204" pitchFamily="18" charset="0"/>
              </a:rPr>
              <a:t>      "function": { "name": "</a:t>
            </a:r>
            <a:r>
              <a:rPr lang="en-IN" dirty="0" err="1">
                <a:latin typeface="Cambria" panose="02040503050406030204" pitchFamily="18" charset="0"/>
                <a:ea typeface="Cambria" panose="02040503050406030204" pitchFamily="18" charset="0"/>
              </a:rPr>
              <a:t>get_weather</a:t>
            </a:r>
            <a:r>
              <a:rPr lang="en-IN" dirty="0">
                <a:latin typeface="Cambria" panose="02040503050406030204" pitchFamily="18" charset="0"/>
                <a:ea typeface="Cambria" panose="02040503050406030204" pitchFamily="18" charset="0"/>
              </a:rPr>
              <a:t>", "arguments": "{\"location\": \"Tokyo\"}" }</a:t>
            </a:r>
          </a:p>
          <a:p>
            <a:r>
              <a:rPr lang="en-IN" dirty="0">
                <a:latin typeface="Cambria" panose="02040503050406030204" pitchFamily="18" charset="0"/>
                <a:ea typeface="Cambria" panose="02040503050406030204" pitchFamily="18" charset="0"/>
              </a:rPr>
              <a:t>    }</a:t>
            </a:r>
          </a:p>
          <a:p>
            <a:r>
              <a:rPr lang="en-IN" dirty="0">
                <a:latin typeface="Cambria" panose="02040503050406030204" pitchFamily="18" charset="0"/>
                <a:ea typeface="Cambria" panose="02040503050406030204" pitchFamily="18" charset="0"/>
              </a:rPr>
              <a:t>  ]</a:t>
            </a:r>
          </a:p>
          <a:p>
            <a:r>
              <a:rPr lang="en-IN"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18212846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426720" y="436856"/>
            <a:ext cx="11338560" cy="670560"/>
          </a:xfrm>
          <a:prstGeom prst="rect">
            <a:avLst/>
          </a:prstGeom>
        </p:spPr>
        <p:txBody>
          <a:bodyPr vert="horz" lIns="91440" tIns="45720" rIns="91440" bIns="45720" rtlCol="0" anchor="ctr">
            <a:noAutofit/>
          </a:bodyPr>
          <a:lstStyle/>
          <a:p>
            <a:r>
              <a:rPr lang="en-US" sz="3600" dirty="0">
                <a:latin typeface="Cambria" panose="02040503050406030204" pitchFamily="18" charset="0"/>
                <a:ea typeface="Cambria" panose="02040503050406030204" pitchFamily="18" charset="0"/>
                <a:cs typeface="+mj-cs"/>
              </a:rPr>
              <a:t>Iterative reasoning</a:t>
            </a:r>
          </a:p>
        </p:txBody>
      </p:sp>
      <p:sp>
        <p:nvSpPr>
          <p:cNvPr id="6" name="Text 4"/>
          <p:cNvSpPr/>
          <p:nvPr/>
        </p:nvSpPr>
        <p:spPr>
          <a:xfrm>
            <a:off x="306635" y="1968200"/>
            <a:ext cx="5627417" cy="4632960"/>
          </a:xfrm>
          <a:prstGeom prst="rect">
            <a:avLst/>
          </a:prstGeom>
          <a:noFill/>
          <a:ln/>
        </p:spPr>
        <p:txBody>
          <a:bodyPr wrap="square" lIns="0" tIns="0" rIns="0" bIns="0" rtlCol="0" anchor="t"/>
          <a:lstStyle/>
          <a:p>
            <a:pPr marL="342900" indent="-342900">
              <a:lnSpc>
                <a:spcPct val="105000"/>
              </a:lnSpc>
              <a:spcAft>
                <a:spcPts val="800"/>
              </a:spcAft>
              <a:buSzPct val="100000"/>
              <a:buFont typeface="Arial" panose="020B0604020202020204" pitchFamily="34" charset="0"/>
              <a:buChar char="•"/>
            </a:pPr>
            <a:r>
              <a:rPr lang="en-US" sz="2000" dirty="0">
                <a:solidFill>
                  <a:srgbClr val="333333"/>
                </a:solidFill>
                <a:latin typeface="Cambria" panose="02040503050406030204" pitchFamily="18" charset="0"/>
                <a:ea typeface="Cambria" panose="02040503050406030204" pitchFamily="18" charset="0"/>
                <a:cs typeface="Calibri" pitchFamily="34" charset="-120"/>
              </a:rPr>
              <a:t>Interleave three message types in a loop: Thought (free-form reasoning about what to do next), Action (a tool call: search, lookup, calculator, API), Observation (the tool’s result, appended to context).</a:t>
            </a:r>
            <a:endParaRPr lang="en-US" sz="2000" dirty="0">
              <a:latin typeface="Cambria" panose="02040503050406030204" pitchFamily="18" charset="0"/>
              <a:ea typeface="Cambria" panose="02040503050406030204" pitchFamily="18" charset="0"/>
            </a:endParaRPr>
          </a:p>
          <a:p>
            <a:pPr marL="342900" indent="-342900">
              <a:lnSpc>
                <a:spcPct val="105000"/>
              </a:lnSpc>
              <a:spcAft>
                <a:spcPts val="800"/>
              </a:spcAft>
              <a:buSzPct val="100000"/>
              <a:buFont typeface="Arial" panose="020B0604020202020204" pitchFamily="34" charset="0"/>
              <a:buChar char="•"/>
            </a:pPr>
            <a:r>
              <a:rPr lang="en-US" sz="2000" dirty="0">
                <a:solidFill>
                  <a:srgbClr val="333333"/>
                </a:solidFill>
                <a:latin typeface="Cambria" panose="02040503050406030204" pitchFamily="18" charset="0"/>
                <a:ea typeface="Cambria" panose="02040503050406030204" pitchFamily="18" charset="0"/>
                <a:cs typeface="Calibri" pitchFamily="34" charset="-120"/>
              </a:rPr>
              <a:t>Reasoning guides acting (decide what to look up); acting grounds reasoning (real evidence replaces hallucinated facts).</a:t>
            </a:r>
            <a:endParaRPr lang="en-US" sz="2000" dirty="0">
              <a:latin typeface="Cambria" panose="02040503050406030204" pitchFamily="18" charset="0"/>
              <a:ea typeface="Cambria" panose="02040503050406030204" pitchFamily="18" charset="0"/>
            </a:endParaRPr>
          </a:p>
          <a:p>
            <a:pPr marL="342900" indent="-342900">
              <a:lnSpc>
                <a:spcPct val="105000"/>
              </a:lnSpc>
              <a:spcAft>
                <a:spcPts val="800"/>
              </a:spcAft>
              <a:buSzPct val="100000"/>
              <a:buFont typeface="Arial" panose="020B0604020202020204" pitchFamily="34" charset="0"/>
              <a:buChar char="•"/>
            </a:pPr>
            <a:r>
              <a:rPr lang="en-US" sz="2000" b="1" dirty="0" err="1">
                <a:solidFill>
                  <a:srgbClr val="333333"/>
                </a:solidFill>
                <a:latin typeface="Cambria" panose="02040503050406030204" pitchFamily="18" charset="0"/>
                <a:ea typeface="Cambria" panose="02040503050406030204" pitchFamily="18" charset="0"/>
                <a:cs typeface="Calibri" pitchFamily="34" charset="-120"/>
              </a:rPr>
              <a:t>ReAct</a:t>
            </a:r>
            <a:r>
              <a:rPr lang="en-US" sz="2000" b="1" dirty="0">
                <a:solidFill>
                  <a:srgbClr val="333333"/>
                </a:solidFill>
                <a:latin typeface="Cambria" panose="02040503050406030204" pitchFamily="18" charset="0"/>
                <a:ea typeface="Cambria" panose="02040503050406030204" pitchFamily="18" charset="0"/>
                <a:cs typeface="Calibri" pitchFamily="34" charset="-120"/>
              </a:rPr>
              <a:t> is the founding pattern of today’s tool-using agents</a:t>
            </a:r>
            <a:endParaRPr lang="en-US" sz="2000" dirty="0">
              <a:latin typeface="Cambria" panose="02040503050406030204" pitchFamily="18" charset="0"/>
              <a:ea typeface="Cambria" panose="02040503050406030204" pitchFamily="18" charset="0"/>
            </a:endParaRPr>
          </a:p>
        </p:txBody>
      </p:sp>
      <p:sp>
        <p:nvSpPr>
          <p:cNvPr id="7" name="Shape 5"/>
          <p:cNvSpPr/>
          <p:nvPr/>
        </p:nvSpPr>
        <p:spPr>
          <a:xfrm>
            <a:off x="7498080" y="1584960"/>
            <a:ext cx="1950720" cy="755904"/>
          </a:xfrm>
          <a:prstGeom prst="roundRect">
            <a:avLst>
              <a:gd name="adj" fmla="val 8065"/>
            </a:avLst>
          </a:prstGeom>
          <a:solidFill>
            <a:srgbClr val="1F3864"/>
          </a:solidFill>
          <a:ln/>
        </p:spPr>
        <p:txBody>
          <a:bodyPr/>
          <a:lstStyle/>
          <a:p>
            <a:endParaRPr lang="en-IN" sz="2400"/>
          </a:p>
        </p:txBody>
      </p:sp>
      <p:sp>
        <p:nvSpPr>
          <p:cNvPr id="8" name="Text 6"/>
          <p:cNvSpPr/>
          <p:nvPr/>
        </p:nvSpPr>
        <p:spPr>
          <a:xfrm>
            <a:off x="7498080" y="1584960"/>
            <a:ext cx="1950720" cy="755904"/>
          </a:xfrm>
          <a:prstGeom prst="rect">
            <a:avLst/>
          </a:prstGeom>
          <a:noFill/>
          <a:ln/>
        </p:spPr>
        <p:txBody>
          <a:bodyPr wrap="square" lIns="339" tIns="339" rIns="339" bIns="339" rtlCol="0" anchor="ctr"/>
          <a:lstStyle/>
          <a:p>
            <a:pPr algn="ctr"/>
            <a:r>
              <a:rPr lang="en-US" sz="2000" b="1" dirty="0">
                <a:solidFill>
                  <a:srgbClr val="FFFFFF"/>
                </a:solidFill>
                <a:latin typeface="Cambria" panose="02040503050406030204" pitchFamily="18" charset="0"/>
                <a:ea typeface="Cambria" panose="02040503050406030204" pitchFamily="18" charset="0"/>
                <a:cs typeface="Calibri" pitchFamily="34" charset="-120"/>
              </a:rPr>
              <a:t>Thought</a:t>
            </a:r>
            <a:endParaRPr lang="en-US" sz="2000" dirty="0">
              <a:latin typeface="Cambria" panose="02040503050406030204" pitchFamily="18" charset="0"/>
              <a:ea typeface="Cambria" panose="02040503050406030204" pitchFamily="18" charset="0"/>
            </a:endParaRPr>
          </a:p>
          <a:p>
            <a:pPr algn="ctr"/>
            <a:r>
              <a:rPr lang="en-US" sz="2000" dirty="0">
                <a:solidFill>
                  <a:srgbClr val="FFFFFF"/>
                </a:solidFill>
                <a:latin typeface="Cambria" panose="02040503050406030204" pitchFamily="18" charset="0"/>
                <a:ea typeface="Cambria" panose="02040503050406030204" pitchFamily="18" charset="0"/>
                <a:cs typeface="Calibri" pitchFamily="34" charset="-120"/>
              </a:rPr>
              <a:t>what do I need?</a:t>
            </a:r>
            <a:endParaRPr lang="en-US" sz="2000" dirty="0">
              <a:latin typeface="Cambria" panose="02040503050406030204" pitchFamily="18" charset="0"/>
              <a:ea typeface="Cambria" panose="02040503050406030204" pitchFamily="18" charset="0"/>
            </a:endParaRPr>
          </a:p>
        </p:txBody>
      </p:sp>
      <p:sp>
        <p:nvSpPr>
          <p:cNvPr id="9" name="Shape 7"/>
          <p:cNvSpPr/>
          <p:nvPr/>
        </p:nvSpPr>
        <p:spPr>
          <a:xfrm>
            <a:off x="9448800" y="1962912"/>
            <a:ext cx="548640" cy="0"/>
          </a:xfrm>
          <a:prstGeom prst="line">
            <a:avLst/>
          </a:prstGeom>
          <a:noFill/>
          <a:ln w="22225">
            <a:solidFill>
              <a:srgbClr val="6B6B6B"/>
            </a:solidFill>
            <a:prstDash val="solid"/>
            <a:tailEnd type="triangle"/>
          </a:ln>
        </p:spPr>
        <p:txBody>
          <a:bodyPr/>
          <a:lstStyle/>
          <a:p>
            <a:endParaRPr lang="en-IN" sz="2400"/>
          </a:p>
        </p:txBody>
      </p:sp>
      <p:sp>
        <p:nvSpPr>
          <p:cNvPr id="10" name="Shape 8"/>
          <p:cNvSpPr/>
          <p:nvPr/>
        </p:nvSpPr>
        <p:spPr>
          <a:xfrm>
            <a:off x="10058400" y="1584960"/>
            <a:ext cx="1584960" cy="755904"/>
          </a:xfrm>
          <a:prstGeom prst="roundRect">
            <a:avLst>
              <a:gd name="adj" fmla="val 8065"/>
            </a:avLst>
          </a:prstGeom>
          <a:solidFill>
            <a:srgbClr val="8B0000"/>
          </a:solidFill>
          <a:ln/>
        </p:spPr>
        <p:txBody>
          <a:bodyPr/>
          <a:lstStyle/>
          <a:p>
            <a:endParaRPr lang="en-IN" sz="2000">
              <a:latin typeface="Cambria" panose="02040503050406030204" pitchFamily="18" charset="0"/>
              <a:ea typeface="Cambria" panose="02040503050406030204" pitchFamily="18" charset="0"/>
            </a:endParaRPr>
          </a:p>
        </p:txBody>
      </p:sp>
      <p:sp>
        <p:nvSpPr>
          <p:cNvPr id="11" name="Text 9"/>
          <p:cNvSpPr/>
          <p:nvPr/>
        </p:nvSpPr>
        <p:spPr>
          <a:xfrm>
            <a:off x="10058400" y="1584960"/>
            <a:ext cx="1584960" cy="755904"/>
          </a:xfrm>
          <a:prstGeom prst="rect">
            <a:avLst/>
          </a:prstGeom>
          <a:noFill/>
          <a:ln/>
        </p:spPr>
        <p:txBody>
          <a:bodyPr wrap="square" lIns="339" tIns="339" rIns="339" bIns="339" rtlCol="0" anchor="ctr"/>
          <a:lstStyle/>
          <a:p>
            <a:pPr algn="ctr"/>
            <a:r>
              <a:rPr lang="en-US" sz="1533" b="1" dirty="0">
                <a:solidFill>
                  <a:srgbClr val="FFFFFF"/>
                </a:solidFill>
                <a:latin typeface="Calibri" pitchFamily="34" charset="0"/>
                <a:ea typeface="Calibri" pitchFamily="34" charset="-122"/>
                <a:cs typeface="Calibri" pitchFamily="34" charset="-120"/>
              </a:rPr>
              <a:t>Action</a:t>
            </a:r>
            <a:endParaRPr lang="en-US" sz="1533" dirty="0"/>
          </a:p>
          <a:p>
            <a:pPr algn="ctr"/>
            <a:r>
              <a:rPr lang="en-US" sz="1267" dirty="0">
                <a:solidFill>
                  <a:srgbClr val="FFFFFF"/>
                </a:solidFill>
                <a:latin typeface="Calibri" pitchFamily="34" charset="0"/>
                <a:ea typeface="Calibri" pitchFamily="34" charset="-122"/>
                <a:cs typeface="Calibri" pitchFamily="34" charset="-120"/>
              </a:rPr>
              <a:t>tool call</a:t>
            </a:r>
            <a:endParaRPr lang="en-US" sz="1533" dirty="0"/>
          </a:p>
        </p:txBody>
      </p:sp>
      <p:sp>
        <p:nvSpPr>
          <p:cNvPr id="12" name="Shape 10"/>
          <p:cNvSpPr/>
          <p:nvPr/>
        </p:nvSpPr>
        <p:spPr>
          <a:xfrm>
            <a:off x="10850880" y="2340864"/>
            <a:ext cx="0" cy="670560"/>
          </a:xfrm>
          <a:prstGeom prst="line">
            <a:avLst/>
          </a:prstGeom>
          <a:noFill/>
          <a:ln w="22225">
            <a:solidFill>
              <a:srgbClr val="6B6B6B"/>
            </a:solidFill>
            <a:prstDash val="solid"/>
            <a:tailEnd type="triangle"/>
          </a:ln>
        </p:spPr>
        <p:txBody>
          <a:bodyPr/>
          <a:lstStyle/>
          <a:p>
            <a:endParaRPr lang="en-IN" sz="2400"/>
          </a:p>
        </p:txBody>
      </p:sp>
      <p:sp>
        <p:nvSpPr>
          <p:cNvPr id="13" name="Shape 11"/>
          <p:cNvSpPr/>
          <p:nvPr/>
        </p:nvSpPr>
        <p:spPr>
          <a:xfrm>
            <a:off x="9083040" y="3108960"/>
            <a:ext cx="1950720" cy="755904"/>
          </a:xfrm>
          <a:prstGeom prst="roundRect">
            <a:avLst>
              <a:gd name="adj" fmla="val 8065"/>
            </a:avLst>
          </a:prstGeom>
          <a:solidFill>
            <a:srgbClr val="2C6E49"/>
          </a:solidFill>
          <a:ln/>
        </p:spPr>
        <p:txBody>
          <a:bodyPr/>
          <a:lstStyle/>
          <a:p>
            <a:endParaRPr lang="en-IN" sz="2400"/>
          </a:p>
        </p:txBody>
      </p:sp>
      <p:sp>
        <p:nvSpPr>
          <p:cNvPr id="14" name="Text 12"/>
          <p:cNvSpPr/>
          <p:nvPr/>
        </p:nvSpPr>
        <p:spPr>
          <a:xfrm>
            <a:off x="9083040" y="3108960"/>
            <a:ext cx="1950720" cy="755904"/>
          </a:xfrm>
          <a:prstGeom prst="rect">
            <a:avLst/>
          </a:prstGeom>
          <a:noFill/>
          <a:ln/>
        </p:spPr>
        <p:txBody>
          <a:bodyPr wrap="square" lIns="339" tIns="339" rIns="339" bIns="339" rtlCol="0" anchor="ctr"/>
          <a:lstStyle/>
          <a:p>
            <a:pPr algn="ctr"/>
            <a:r>
              <a:rPr lang="en-US" sz="2000" b="1" dirty="0">
                <a:solidFill>
                  <a:srgbClr val="FFFFFF"/>
                </a:solidFill>
                <a:latin typeface="Cambria" panose="02040503050406030204" pitchFamily="18" charset="0"/>
                <a:ea typeface="Cambria" panose="02040503050406030204" pitchFamily="18" charset="0"/>
                <a:cs typeface="Calibri" pitchFamily="34" charset="-120"/>
              </a:rPr>
              <a:t>Observation</a:t>
            </a:r>
            <a:endParaRPr lang="en-US" sz="2000" dirty="0">
              <a:latin typeface="Cambria" panose="02040503050406030204" pitchFamily="18" charset="0"/>
              <a:ea typeface="Cambria" panose="02040503050406030204" pitchFamily="18" charset="0"/>
            </a:endParaRPr>
          </a:p>
          <a:p>
            <a:pPr algn="ctr"/>
            <a:r>
              <a:rPr lang="en-US" sz="2000" dirty="0">
                <a:solidFill>
                  <a:srgbClr val="FFFFFF"/>
                </a:solidFill>
                <a:latin typeface="Cambria" panose="02040503050406030204" pitchFamily="18" charset="0"/>
                <a:ea typeface="Cambria" panose="02040503050406030204" pitchFamily="18" charset="0"/>
                <a:cs typeface="Calibri" pitchFamily="34" charset="-120"/>
              </a:rPr>
              <a:t>tool result</a:t>
            </a:r>
            <a:endParaRPr lang="en-US" sz="2000" dirty="0">
              <a:latin typeface="Cambria" panose="02040503050406030204" pitchFamily="18" charset="0"/>
              <a:ea typeface="Cambria" panose="02040503050406030204" pitchFamily="18" charset="0"/>
            </a:endParaRPr>
          </a:p>
        </p:txBody>
      </p:sp>
      <p:sp>
        <p:nvSpPr>
          <p:cNvPr id="15" name="Shape 13"/>
          <p:cNvSpPr/>
          <p:nvPr/>
        </p:nvSpPr>
        <p:spPr>
          <a:xfrm>
            <a:off x="9083040" y="3486912"/>
            <a:ext cx="0" cy="0"/>
          </a:xfrm>
          <a:prstGeom prst="line">
            <a:avLst/>
          </a:prstGeom>
          <a:noFill/>
          <a:ln w="22225">
            <a:solidFill>
              <a:srgbClr val="6B6B6B"/>
            </a:solidFill>
            <a:prstDash val="solid"/>
          </a:ln>
        </p:spPr>
        <p:txBody>
          <a:bodyPr/>
          <a:lstStyle/>
          <a:p>
            <a:endParaRPr lang="en-IN" sz="2400"/>
          </a:p>
        </p:txBody>
      </p:sp>
      <p:sp>
        <p:nvSpPr>
          <p:cNvPr id="16" name="Shape 14"/>
          <p:cNvSpPr/>
          <p:nvPr/>
        </p:nvSpPr>
        <p:spPr>
          <a:xfrm>
            <a:off x="8473440" y="3486912"/>
            <a:ext cx="0" cy="0"/>
          </a:xfrm>
          <a:prstGeom prst="line">
            <a:avLst/>
          </a:prstGeom>
          <a:noFill/>
          <a:ln w="22225">
            <a:solidFill>
              <a:srgbClr val="6B6B6B"/>
            </a:solidFill>
            <a:prstDash val="solid"/>
            <a:tailEnd type="triangle"/>
          </a:ln>
        </p:spPr>
        <p:txBody>
          <a:bodyPr/>
          <a:lstStyle/>
          <a:p>
            <a:endParaRPr lang="en-IN" sz="2400"/>
          </a:p>
        </p:txBody>
      </p:sp>
      <p:sp>
        <p:nvSpPr>
          <p:cNvPr id="17" name="Text 15"/>
          <p:cNvSpPr/>
          <p:nvPr/>
        </p:nvSpPr>
        <p:spPr>
          <a:xfrm>
            <a:off x="7132320" y="4206240"/>
            <a:ext cx="4632960" cy="731520"/>
          </a:xfrm>
          <a:prstGeom prst="rect">
            <a:avLst/>
          </a:prstGeom>
          <a:noFill/>
          <a:ln/>
        </p:spPr>
        <p:txBody>
          <a:bodyPr wrap="square" lIns="0" tIns="0" rIns="0" bIns="0" rtlCol="0" anchor="ctr"/>
          <a:lstStyle/>
          <a:p>
            <a:r>
              <a:rPr lang="en-US" sz="2000" i="1" dirty="0">
                <a:solidFill>
                  <a:srgbClr val="6B6B6B"/>
                </a:solidFill>
                <a:latin typeface="Cambria" panose="02040503050406030204" pitchFamily="18" charset="0"/>
                <a:ea typeface="Cambria" panose="02040503050406030204" pitchFamily="18" charset="0"/>
                <a:cs typeface="Calibri" pitchFamily="34" charset="-120"/>
              </a:rPr>
              <a:t>loop until Thought concludes “I now know the answer” → Final Answer</a:t>
            </a:r>
            <a:endParaRPr lang="en-US" sz="2000" dirty="0">
              <a:latin typeface="Cambria" panose="02040503050406030204" pitchFamily="18" charset="0"/>
              <a:ea typeface="Cambria" panose="02040503050406030204" pitchFamily="18" charset="0"/>
            </a:endParaRPr>
          </a:p>
        </p:txBody>
      </p:sp>
      <p:sp>
        <p:nvSpPr>
          <p:cNvPr id="20" name="TextBox 19">
            <a:extLst>
              <a:ext uri="{FF2B5EF4-FFF2-40B4-BE49-F238E27FC236}">
                <a16:creationId xmlns:a16="http://schemas.microsoft.com/office/drawing/2014/main" id="{F4DAF4DF-DE89-2537-FA5F-A0B41AD81B5E}"/>
              </a:ext>
            </a:extLst>
          </p:cNvPr>
          <p:cNvSpPr txBox="1"/>
          <p:nvPr/>
        </p:nvSpPr>
        <p:spPr>
          <a:xfrm>
            <a:off x="0" y="6473677"/>
            <a:ext cx="6097836" cy="276999"/>
          </a:xfrm>
          <a:prstGeom prst="rect">
            <a:avLst/>
          </a:prstGeom>
          <a:noFill/>
        </p:spPr>
        <p:txBody>
          <a:bodyPr wrap="square">
            <a:spAutoFit/>
          </a:bodyPr>
          <a:lstStyle/>
          <a:p>
            <a:r>
              <a:rPr lang="en-IN" sz="1200" dirty="0"/>
              <a:t>REAC T : SYNERGIZING REASONING AND ACTING INLANGUAGE MODELS</a:t>
            </a:r>
          </a:p>
        </p:txBody>
      </p:sp>
      <p:sp>
        <p:nvSpPr>
          <p:cNvPr id="22" name="TextBox 21">
            <a:extLst>
              <a:ext uri="{FF2B5EF4-FFF2-40B4-BE49-F238E27FC236}">
                <a16:creationId xmlns:a16="http://schemas.microsoft.com/office/drawing/2014/main" id="{9ACA5CEB-FC65-3E4B-9AA7-B801A36DBCAE}"/>
              </a:ext>
            </a:extLst>
          </p:cNvPr>
          <p:cNvSpPr txBox="1"/>
          <p:nvPr/>
        </p:nvSpPr>
        <p:spPr>
          <a:xfrm>
            <a:off x="306635" y="1437724"/>
            <a:ext cx="6326620" cy="461665"/>
          </a:xfrm>
          <a:prstGeom prst="rect">
            <a:avLst/>
          </a:prstGeom>
          <a:solidFill>
            <a:schemeClr val="bg2">
              <a:lumMod val="90000"/>
            </a:schemeClr>
          </a:solidFill>
        </p:spPr>
        <p:txBody>
          <a:bodyPr wrap="square">
            <a:spAutoFit/>
          </a:bodyPr>
          <a:lstStyle/>
          <a:p>
            <a:r>
              <a:rPr lang="en-US" sz="2400" dirty="0" err="1">
                <a:latin typeface="Cambria" panose="02040503050406030204" pitchFamily="18" charset="0"/>
                <a:ea typeface="Cambria" panose="02040503050406030204" pitchFamily="18" charset="0"/>
                <a:cs typeface="+mj-cs"/>
              </a:rPr>
              <a:t>ReAct</a:t>
            </a:r>
            <a:r>
              <a:rPr lang="en-US" sz="2400" dirty="0">
                <a:latin typeface="Cambria" panose="02040503050406030204" pitchFamily="18" charset="0"/>
                <a:ea typeface="Cambria" panose="02040503050406030204" pitchFamily="18" charset="0"/>
                <a:cs typeface="+mj-cs"/>
              </a:rPr>
              <a:t> — Reasoning + Acting (Yao et al., 2023)</a:t>
            </a:r>
          </a:p>
        </p:txBody>
      </p:sp>
    </p:spTree>
    <p:extLst>
      <p:ext uri="{BB962C8B-B14F-4D97-AF65-F5344CB8AC3E}">
        <p14:creationId xmlns:p14="http://schemas.microsoft.com/office/powerpoint/2010/main" val="27383507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609600" y="512064"/>
            <a:ext cx="11338560" cy="670560"/>
          </a:xfrm>
          <a:prstGeom prst="rect">
            <a:avLst/>
          </a:prstGeom>
        </p:spPr>
        <p:txBody>
          <a:bodyPr vert="horz" lIns="91440" tIns="45720" rIns="91440" bIns="45720" rtlCol="0" anchor="ctr">
            <a:noAutofit/>
          </a:bodyPr>
          <a:lstStyle/>
          <a:p>
            <a:r>
              <a:rPr lang="en-US" sz="3600">
                <a:latin typeface="Cambria" panose="02040503050406030204" pitchFamily="18" charset="0"/>
                <a:ea typeface="Cambria" panose="02040503050406030204" pitchFamily="18" charset="0"/>
                <a:cs typeface="+mj-cs"/>
              </a:rPr>
              <a:t>ReAct</a:t>
            </a:r>
            <a:endParaRPr lang="en-US" sz="3600" dirty="0">
              <a:latin typeface="Cambria" panose="02040503050406030204" pitchFamily="18" charset="0"/>
              <a:ea typeface="Cambria" panose="02040503050406030204" pitchFamily="18" charset="0"/>
              <a:cs typeface="+mj-cs"/>
            </a:endParaRPr>
          </a:p>
        </p:txBody>
      </p:sp>
      <p:pic>
        <p:nvPicPr>
          <p:cNvPr id="11" name="Picture 10">
            <a:extLst>
              <a:ext uri="{FF2B5EF4-FFF2-40B4-BE49-F238E27FC236}">
                <a16:creationId xmlns:a16="http://schemas.microsoft.com/office/drawing/2014/main" id="{F9520DFE-7C14-F026-5F3E-BA220DAB01D5}"/>
              </a:ext>
            </a:extLst>
          </p:cNvPr>
          <p:cNvPicPr>
            <a:picLocks noChangeAspect="1"/>
          </p:cNvPicPr>
          <p:nvPr/>
        </p:nvPicPr>
        <p:blipFill>
          <a:blip r:embed="rId3"/>
          <a:stretch>
            <a:fillRect/>
          </a:stretch>
        </p:blipFill>
        <p:spPr>
          <a:xfrm>
            <a:off x="367107" y="1259743"/>
            <a:ext cx="11823546" cy="4983018"/>
          </a:xfrm>
          <a:prstGeom prst="rect">
            <a:avLst/>
          </a:prstGeom>
        </p:spPr>
      </p:pic>
      <p:sp>
        <p:nvSpPr>
          <p:cNvPr id="13" name="TextBox 12">
            <a:extLst>
              <a:ext uri="{FF2B5EF4-FFF2-40B4-BE49-F238E27FC236}">
                <a16:creationId xmlns:a16="http://schemas.microsoft.com/office/drawing/2014/main" id="{04157674-92D0-8125-C7D5-9BBA7126C4C6}"/>
              </a:ext>
            </a:extLst>
          </p:cNvPr>
          <p:cNvSpPr txBox="1"/>
          <p:nvPr/>
        </p:nvSpPr>
        <p:spPr>
          <a:xfrm>
            <a:off x="0" y="6473677"/>
            <a:ext cx="6097836" cy="276999"/>
          </a:xfrm>
          <a:prstGeom prst="rect">
            <a:avLst/>
          </a:prstGeom>
          <a:noFill/>
        </p:spPr>
        <p:txBody>
          <a:bodyPr wrap="square">
            <a:spAutoFit/>
          </a:bodyPr>
          <a:lstStyle/>
          <a:p>
            <a:r>
              <a:rPr lang="en-IN" sz="1200" dirty="0"/>
              <a:t>REAC T : SYNERGIZING REASONING AND ACTING INLANGUAGE MODELS</a:t>
            </a:r>
          </a:p>
        </p:txBody>
      </p:sp>
    </p:spTree>
    <p:extLst>
      <p:ext uri="{BB962C8B-B14F-4D97-AF65-F5344CB8AC3E}">
        <p14:creationId xmlns:p14="http://schemas.microsoft.com/office/powerpoint/2010/main" val="2652077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AD2A8A0-46E3-70B5-4804-D5D35A99A941}"/>
              </a:ext>
            </a:extLst>
          </p:cNvPr>
          <p:cNvSpPr>
            <a:spLocks noGrp="1"/>
          </p:cNvSpPr>
          <p:nvPr>
            <p:ph idx="10"/>
          </p:nvPr>
        </p:nvSpPr>
        <p:spPr/>
        <p:txBody>
          <a:bodyPr/>
          <a:lstStyle/>
          <a:p>
            <a:pPr marL="571500" indent="-571500" algn="l">
              <a:buFont typeface="Arial" panose="020B0604020202020204" pitchFamily="34" charset="0"/>
              <a:buChar char="•"/>
            </a:pPr>
            <a:r>
              <a:rPr lang="en-US" b="1" dirty="0">
                <a:solidFill>
                  <a:schemeClr val="tx1"/>
                </a:solidFill>
                <a:cs typeface="Calibri" pitchFamily="34" charset="-120"/>
              </a:rPr>
              <a:t>Step-Back Prompting</a:t>
            </a:r>
            <a:endParaRPr lang="en-US" dirty="0">
              <a:solidFill>
                <a:schemeClr val="tx1"/>
              </a:solidFill>
            </a:endParaRPr>
          </a:p>
          <a:p>
            <a:pPr marL="914400" lvl="1" indent="-457200" algn="l">
              <a:buFont typeface="Arial" panose="020B0604020202020204" pitchFamily="34" charset="0"/>
              <a:buChar char="•"/>
            </a:pPr>
            <a:r>
              <a:rPr lang="en-IN" dirty="0">
                <a:solidFill>
                  <a:schemeClr val="tx1"/>
                </a:solidFill>
              </a:rPr>
              <a:t>Before answering, the model first derives the general principle or higher-level concept behind the question, then uses it to answer the specific case</a:t>
            </a:r>
          </a:p>
          <a:p>
            <a:pPr marL="457200" indent="-457200" algn="l">
              <a:buFont typeface="Arial" panose="020B0604020202020204" pitchFamily="34" charset="0"/>
              <a:buChar char="•"/>
            </a:pPr>
            <a:r>
              <a:rPr lang="en-US" b="1" dirty="0">
                <a:solidFill>
                  <a:schemeClr val="tx1"/>
                </a:solidFill>
                <a:cs typeface="Calibri" pitchFamily="34" charset="-120"/>
              </a:rPr>
              <a:t>Self-Reflection / Critique</a:t>
            </a:r>
            <a:endParaRPr lang="en-US" dirty="0">
              <a:solidFill>
                <a:schemeClr val="tx1"/>
              </a:solidFill>
            </a:endParaRPr>
          </a:p>
          <a:p>
            <a:pPr marL="914400" lvl="1" indent="-457200" algn="l">
              <a:buFont typeface="Arial" panose="020B0604020202020204" pitchFamily="34" charset="0"/>
              <a:buChar char="•"/>
            </a:pPr>
            <a:r>
              <a:rPr lang="en-IN" dirty="0">
                <a:solidFill>
                  <a:schemeClr val="tx1"/>
                </a:solidFill>
              </a:rPr>
              <a:t>model reviews its own first output, critiques it, and produces a revised version, Expensive </a:t>
            </a:r>
            <a:endParaRPr lang="en-US" dirty="0">
              <a:solidFill>
                <a:schemeClr val="tx1"/>
              </a:solidFill>
            </a:endParaRPr>
          </a:p>
          <a:p>
            <a:endParaRPr lang="en-IN" dirty="0"/>
          </a:p>
        </p:txBody>
      </p:sp>
      <p:sp>
        <p:nvSpPr>
          <p:cNvPr id="3" name="Title 2">
            <a:extLst>
              <a:ext uri="{FF2B5EF4-FFF2-40B4-BE49-F238E27FC236}">
                <a16:creationId xmlns:a16="http://schemas.microsoft.com/office/drawing/2014/main" id="{BC65418B-FD34-41E5-B8B6-F321378E2B77}"/>
              </a:ext>
            </a:extLst>
          </p:cNvPr>
          <p:cNvSpPr>
            <a:spLocks noGrp="1"/>
          </p:cNvSpPr>
          <p:nvPr>
            <p:ph type="title"/>
          </p:nvPr>
        </p:nvSpPr>
        <p:spPr/>
        <p:txBody>
          <a:bodyPr/>
          <a:lstStyle/>
          <a:p>
            <a:r>
              <a:rPr lang="en-US" dirty="0"/>
              <a:t>Iterative reasoning</a:t>
            </a:r>
            <a:endParaRPr lang="en-IN" dirty="0"/>
          </a:p>
        </p:txBody>
      </p:sp>
    </p:spTree>
    <p:extLst>
      <p:ext uri="{BB962C8B-B14F-4D97-AF65-F5344CB8AC3E}">
        <p14:creationId xmlns:p14="http://schemas.microsoft.com/office/powerpoint/2010/main" val="15137353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52A1443-AF2C-D0AA-6B6C-57CAD061A02F}"/>
              </a:ext>
            </a:extLst>
          </p:cNvPr>
          <p:cNvSpPr>
            <a:spLocks noGrp="1"/>
          </p:cNvSpPr>
          <p:nvPr>
            <p:ph idx="10"/>
          </p:nvPr>
        </p:nvSpPr>
        <p:spPr/>
        <p:txBody>
          <a:bodyPr/>
          <a:lstStyle/>
          <a:p>
            <a:pPr marL="342900" indent="-342900">
              <a:buFont typeface="Arial" panose="020B0604020202020204" pitchFamily="34" charset="0"/>
              <a:buChar char="•"/>
            </a:pPr>
            <a:r>
              <a:rPr lang="en-US" dirty="0"/>
              <a:t>Input</a:t>
            </a:r>
          </a:p>
          <a:p>
            <a:pPr marL="800100" lvl="1" indent="-342900">
              <a:buFont typeface="Arial" panose="020B0604020202020204" pitchFamily="34" charset="0"/>
              <a:buChar char="•"/>
            </a:pPr>
            <a:r>
              <a:rPr lang="en-US" dirty="0"/>
              <a:t>Tables → LLM (input): how do you get structured data into the model? </a:t>
            </a:r>
          </a:p>
          <a:p>
            <a:pPr marL="800100" lvl="1" indent="-342900">
              <a:buFont typeface="Arial" panose="020B0604020202020204" pitchFamily="34" charset="0"/>
              <a:buChar char="•"/>
            </a:pPr>
            <a:r>
              <a:rPr lang="en-US" dirty="0"/>
              <a:t>Serialize, image, or query</a:t>
            </a:r>
          </a:p>
          <a:p>
            <a:pPr marL="800100" lvl="1"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Output</a:t>
            </a:r>
          </a:p>
          <a:p>
            <a:pPr marL="800100" lvl="1" indent="-342900">
              <a:buFont typeface="Arial" panose="020B0604020202020204" pitchFamily="34" charset="0"/>
              <a:buChar char="•"/>
            </a:pPr>
            <a:r>
              <a:rPr lang="en-US" dirty="0"/>
              <a:t>LLM → JSON (output): how do you get structured data out of the model reliably? Manual, JSON mode, constrained decoding</a:t>
            </a:r>
          </a:p>
          <a:p>
            <a:pPr marL="342900" indent="-342900">
              <a:buFont typeface="Arial" panose="020B0604020202020204" pitchFamily="34" charset="0"/>
              <a:buChar char="•"/>
            </a:pPr>
            <a:endParaRPr lang="en-US" dirty="0"/>
          </a:p>
        </p:txBody>
      </p:sp>
      <p:sp>
        <p:nvSpPr>
          <p:cNvPr id="3" name="Title 2">
            <a:extLst>
              <a:ext uri="{FF2B5EF4-FFF2-40B4-BE49-F238E27FC236}">
                <a16:creationId xmlns:a16="http://schemas.microsoft.com/office/drawing/2014/main" id="{3A134949-522A-75D0-32FF-49D87D8ACA61}"/>
              </a:ext>
            </a:extLst>
          </p:cNvPr>
          <p:cNvSpPr>
            <a:spLocks noGrp="1"/>
          </p:cNvSpPr>
          <p:nvPr>
            <p:ph type="title"/>
          </p:nvPr>
        </p:nvSpPr>
        <p:spPr/>
        <p:txBody>
          <a:bodyPr/>
          <a:lstStyle/>
          <a:p>
            <a:r>
              <a:rPr lang="en-US" dirty="0"/>
              <a:t>Structured Data Handling</a:t>
            </a:r>
            <a:br>
              <a:rPr lang="en-US" dirty="0"/>
            </a:br>
            <a:endParaRPr lang="en-IN" dirty="0"/>
          </a:p>
        </p:txBody>
      </p:sp>
    </p:spTree>
    <p:extLst>
      <p:ext uri="{BB962C8B-B14F-4D97-AF65-F5344CB8AC3E}">
        <p14:creationId xmlns:p14="http://schemas.microsoft.com/office/powerpoint/2010/main" val="12362456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1F69B-78B2-CA7F-E802-31A320DA13A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A97386-F8E3-425A-74B6-2623EEEC2069}"/>
              </a:ext>
            </a:extLst>
          </p:cNvPr>
          <p:cNvSpPr>
            <a:spLocks noGrp="1"/>
          </p:cNvSpPr>
          <p:nvPr>
            <p:ph idx="10"/>
          </p:nvPr>
        </p:nvSpPr>
        <p:spPr>
          <a:xfrm>
            <a:off x="128530" y="1390988"/>
            <a:ext cx="12063470" cy="5064896"/>
          </a:xfrm>
        </p:spPr>
        <p:txBody>
          <a:bodyPr>
            <a:normAutofit/>
          </a:bodyPr>
          <a:lstStyle/>
          <a:p>
            <a:pPr marL="342900" indent="-342900">
              <a:buFont typeface="Arial" panose="020B0604020202020204" pitchFamily="34" charset="0"/>
              <a:buChar char="•"/>
            </a:pPr>
            <a:r>
              <a:rPr lang="en-IN" dirty="0"/>
              <a:t> A table isn't text. Before an LLM can use one, you choose </a:t>
            </a:r>
            <a:r>
              <a:rPr lang="en-IN" i="1" dirty="0"/>
              <a:t>how it enters the model, 3 </a:t>
            </a:r>
            <a:r>
              <a:rPr lang="en-IN" b="1" dirty="0"/>
              <a:t>paths</a:t>
            </a:r>
            <a:endParaRPr lang="en-IN" dirty="0"/>
          </a:p>
          <a:p>
            <a:pPr marL="342900" indent="-342900">
              <a:buFont typeface="Arial" panose="020B0604020202020204" pitchFamily="34" charset="0"/>
              <a:buChar char="•"/>
            </a:pPr>
            <a:r>
              <a:rPr lang="en-IN" i="1" dirty="0"/>
              <a:t>Serialize into the prompt</a:t>
            </a:r>
            <a:endParaRPr lang="en-IN" dirty="0"/>
          </a:p>
          <a:p>
            <a:pPr marL="800100" lvl="1" indent="-342900">
              <a:buFont typeface="Arial" panose="020B0604020202020204" pitchFamily="34" charset="0"/>
              <a:buChar char="•"/>
            </a:pPr>
            <a:r>
              <a:rPr lang="en-IN" dirty="0"/>
              <a:t>Extract → render as text (Markdown / CSV / JSON / key-value) → put in prompt</a:t>
            </a:r>
          </a:p>
          <a:p>
            <a:pPr marL="800100" lvl="1" indent="-342900">
              <a:buFont typeface="Arial" panose="020B0604020202020204" pitchFamily="34" charset="0"/>
              <a:buChar char="•"/>
            </a:pPr>
            <a:r>
              <a:rPr lang="en-IN" dirty="0"/>
              <a:t>Best for: small tables the model must reason over as a whole</a:t>
            </a:r>
          </a:p>
          <a:p>
            <a:pPr marL="800100" lvl="1" indent="-342900">
              <a:buFont typeface="Arial" panose="020B0604020202020204" pitchFamily="34" charset="0"/>
              <a:buChar char="•"/>
            </a:pPr>
            <a:r>
              <a:rPr lang="en-IN" dirty="0"/>
              <a:t>Cost: the format choice affects accuracy </a:t>
            </a:r>
            <a:r>
              <a:rPr lang="en-IN" i="1" dirty="0"/>
              <a:t>and</a:t>
            </a:r>
            <a:r>
              <a:rPr lang="en-IN" dirty="0"/>
              <a:t> tokens</a:t>
            </a:r>
          </a:p>
          <a:p>
            <a:pPr marL="342900" indent="-342900">
              <a:buFont typeface="Arial" panose="020B0604020202020204" pitchFamily="34" charset="0"/>
              <a:buChar char="•"/>
            </a:pPr>
            <a:r>
              <a:rPr lang="en-IN" i="1" dirty="0"/>
              <a:t>Feed as an image</a:t>
            </a:r>
            <a:endParaRPr lang="en-IN" dirty="0"/>
          </a:p>
          <a:p>
            <a:pPr marL="800100" lvl="1" indent="-342900">
              <a:buFont typeface="Arial" panose="020B0604020202020204" pitchFamily="34" charset="0"/>
              <a:buChar char="•"/>
            </a:pPr>
            <a:r>
              <a:rPr lang="en-IN" dirty="0"/>
              <a:t>Skip extraction; hand the page/table image to a multimodal model</a:t>
            </a:r>
          </a:p>
          <a:p>
            <a:pPr marL="800100" lvl="1" indent="-342900">
              <a:buFont typeface="Arial" panose="020B0604020202020204" pitchFamily="34" charset="0"/>
              <a:buChar char="•"/>
            </a:pPr>
            <a:r>
              <a:rPr lang="en-IN" dirty="0"/>
              <a:t>Best for: messy, merged-cell, visually-complex tables</a:t>
            </a:r>
          </a:p>
          <a:p>
            <a:pPr marL="800100" lvl="1" indent="-342900">
              <a:buFont typeface="Arial" panose="020B0604020202020204" pitchFamily="34" charset="0"/>
              <a:buChar char="•"/>
            </a:pPr>
            <a:r>
              <a:rPr lang="en-IN" dirty="0"/>
              <a:t>Cost: higher token cost; no clean structured copy of the data</a:t>
            </a:r>
          </a:p>
          <a:p>
            <a:pPr marL="342900" indent="-342900">
              <a:buFont typeface="Arial" panose="020B0604020202020204" pitchFamily="34" charset="0"/>
              <a:buChar char="•"/>
            </a:pPr>
            <a:r>
              <a:rPr lang="en-IN" i="1" dirty="0"/>
              <a:t>Query the table</a:t>
            </a:r>
            <a:endParaRPr lang="en-IN" dirty="0"/>
          </a:p>
          <a:p>
            <a:pPr marL="800100" lvl="1" indent="-342900">
              <a:buFont typeface="Arial" panose="020B0604020202020204" pitchFamily="34" charset="0"/>
              <a:buChar char="•"/>
            </a:pPr>
            <a:r>
              <a:rPr lang="en-IN" dirty="0"/>
              <a:t>Extract to </a:t>
            </a:r>
            <a:r>
              <a:rPr lang="en-IN" dirty="0" err="1"/>
              <a:t>DataFrame</a:t>
            </a:r>
            <a:r>
              <a:rPr lang="en-IN" dirty="0"/>
              <a:t> / SQL → LLM writes code or SQL → sees only the answer</a:t>
            </a:r>
          </a:p>
          <a:p>
            <a:pPr marL="800100" lvl="1" indent="-342900">
              <a:buFont typeface="Arial" panose="020B0604020202020204" pitchFamily="34" charset="0"/>
              <a:buChar char="•"/>
            </a:pPr>
            <a:r>
              <a:rPr lang="en-IN" dirty="0"/>
              <a:t>Best for: large tables; specific facts or aggregates</a:t>
            </a:r>
          </a:p>
          <a:p>
            <a:pPr marL="800100" lvl="1" indent="-342900">
              <a:buFont typeface="Arial" panose="020B0604020202020204" pitchFamily="34" charset="0"/>
              <a:buChar char="•"/>
            </a:pPr>
            <a:r>
              <a:rPr lang="en-IN" dirty="0"/>
              <a:t>Cost: needs a tool/execution step,</a:t>
            </a:r>
          </a:p>
          <a:p>
            <a:pPr marL="342900" indent="-342900">
              <a:buFont typeface="Arial" panose="020B0604020202020204" pitchFamily="34" charset="0"/>
              <a:buChar char="•"/>
            </a:pPr>
            <a:endParaRPr lang="en-IN" dirty="0"/>
          </a:p>
        </p:txBody>
      </p:sp>
      <p:sp>
        <p:nvSpPr>
          <p:cNvPr id="3" name="Title 2">
            <a:extLst>
              <a:ext uri="{FF2B5EF4-FFF2-40B4-BE49-F238E27FC236}">
                <a16:creationId xmlns:a16="http://schemas.microsoft.com/office/drawing/2014/main" id="{36DC3AF9-BAED-01E8-472A-A75C114A41F0}"/>
              </a:ext>
            </a:extLst>
          </p:cNvPr>
          <p:cNvSpPr>
            <a:spLocks noGrp="1"/>
          </p:cNvSpPr>
          <p:nvPr>
            <p:ph type="title"/>
          </p:nvPr>
        </p:nvSpPr>
        <p:spPr/>
        <p:txBody>
          <a:bodyPr/>
          <a:lstStyle/>
          <a:p>
            <a:r>
              <a:rPr lang="en-IN" dirty="0"/>
              <a:t>Handling Tables with LLMs</a:t>
            </a:r>
          </a:p>
        </p:txBody>
      </p:sp>
    </p:spTree>
    <p:extLst>
      <p:ext uri="{BB962C8B-B14F-4D97-AF65-F5344CB8AC3E}">
        <p14:creationId xmlns:p14="http://schemas.microsoft.com/office/powerpoint/2010/main" val="35572650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7212-6209-0C4C-313A-ED889BBA78E8}"/>
            </a:ext>
          </a:extLst>
        </p:cNvPr>
        <p:cNvGrpSpPr/>
        <p:nvPr/>
      </p:nvGrpSpPr>
      <p:grpSpPr>
        <a:xfrm>
          <a:off x="0" y="0"/>
          <a:ext cx="0" cy="0"/>
          <a:chOff x="0" y="0"/>
          <a:chExt cx="0" cy="0"/>
        </a:xfrm>
      </p:grpSpPr>
      <p:sp>
        <p:nvSpPr>
          <p:cNvPr id="5" name="Text 3">
            <a:extLst>
              <a:ext uri="{FF2B5EF4-FFF2-40B4-BE49-F238E27FC236}">
                <a16:creationId xmlns:a16="http://schemas.microsoft.com/office/drawing/2014/main" id="{2DF3D1A2-A9E7-5D60-4569-357B65B8931B}"/>
              </a:ext>
            </a:extLst>
          </p:cNvPr>
          <p:cNvSpPr/>
          <p:nvPr/>
        </p:nvSpPr>
        <p:spPr>
          <a:xfrm>
            <a:off x="97536" y="277368"/>
            <a:ext cx="11338560" cy="670560"/>
          </a:xfrm>
          <a:prstGeom prst="rect">
            <a:avLst/>
          </a:prstGeom>
        </p:spPr>
        <p:txBody>
          <a:bodyPr vert="horz" lIns="91440" tIns="45720" rIns="91440" bIns="45720" rtlCol="0" anchor="ctr">
            <a:normAutofit/>
          </a:bodyPr>
          <a:lstStyle/>
          <a:p>
            <a:r>
              <a:rPr lang="en-US" sz="3600" dirty="0">
                <a:latin typeface="Cambria" panose="02040503050406030204" pitchFamily="18" charset="0"/>
                <a:ea typeface="Cambria" panose="02040503050406030204" pitchFamily="18" charset="0"/>
                <a:cs typeface="+mj-cs"/>
              </a:rPr>
              <a:t>Tabular Serialization — Feeding Tables to an LLM</a:t>
            </a:r>
          </a:p>
        </p:txBody>
      </p:sp>
      <p:sp>
        <p:nvSpPr>
          <p:cNvPr id="6" name="Text 4">
            <a:extLst>
              <a:ext uri="{FF2B5EF4-FFF2-40B4-BE49-F238E27FC236}">
                <a16:creationId xmlns:a16="http://schemas.microsoft.com/office/drawing/2014/main" id="{E8C0744E-4764-610E-57B3-7DE498F87C44}"/>
              </a:ext>
            </a:extLst>
          </p:cNvPr>
          <p:cNvSpPr/>
          <p:nvPr/>
        </p:nvSpPr>
        <p:spPr>
          <a:xfrm>
            <a:off x="226213" y="1585432"/>
            <a:ext cx="5869787" cy="4389120"/>
          </a:xfrm>
          <a:prstGeom prst="rect">
            <a:avLst/>
          </a:prstGeom>
        </p:spPr>
        <p:txBody>
          <a:bodyPr vert="horz" lIns="91440" tIns="45720" rIns="91440" bIns="45720" rtlCol="0">
            <a:normAutofit fontScale="85000" lnSpcReduction="20000"/>
          </a:bodyPr>
          <a:lstStyle/>
          <a:p>
            <a:pPr marL="342900" indent="-342900">
              <a:lnSpc>
                <a:spcPct val="120000"/>
              </a:lnSpc>
              <a:buFont typeface="Arial" panose="020B0604020202020204" pitchFamily="34" charset="0"/>
              <a:buChar char="•"/>
            </a:pPr>
            <a:r>
              <a:rPr lang="en-US" sz="2400" dirty="0">
                <a:latin typeface="Cambria" panose="02040503050406030204" pitchFamily="18" charset="0"/>
                <a:ea typeface="Cambria" panose="02040503050406030204" pitchFamily="18" charset="0"/>
              </a:rPr>
              <a:t>LLMs read token streams — a table must be serialized to text. The choice of serialization measurably changes accuracy on table-QA tasks.</a:t>
            </a:r>
          </a:p>
          <a:p>
            <a:pPr marL="342900" indent="-342900">
              <a:lnSpc>
                <a:spcPct val="120000"/>
              </a:lnSpc>
              <a:buFont typeface="Arial" panose="020B0604020202020204" pitchFamily="34" charset="0"/>
              <a:buChar char="•"/>
            </a:pPr>
            <a:r>
              <a:rPr lang="en-US" sz="2400" dirty="0">
                <a:latin typeface="Cambria" panose="02040503050406030204" pitchFamily="18" charset="0"/>
                <a:ea typeface="Cambria" panose="02040503050406030204" pitchFamily="18" charset="0"/>
              </a:rPr>
              <a:t>Markdown / pipe tables: compact, well represented in pretraining; good default for small-to-medium tables.</a:t>
            </a:r>
          </a:p>
          <a:p>
            <a:pPr marL="342900" indent="-342900">
              <a:lnSpc>
                <a:spcPct val="120000"/>
              </a:lnSpc>
              <a:buFont typeface="Arial" panose="020B0604020202020204" pitchFamily="34" charset="0"/>
              <a:buChar char="•"/>
            </a:pPr>
            <a:r>
              <a:rPr lang="en-US" sz="2400" dirty="0">
                <a:latin typeface="Cambria" panose="02040503050406030204" pitchFamily="18" charset="0"/>
                <a:ea typeface="Cambria" panose="02040503050406030204" pitchFamily="18" charset="0"/>
              </a:rPr>
              <a:t>JSON records (row-wise dicts): verbose but robust — column–value binding is explicit, best when rows are processed individually.</a:t>
            </a:r>
          </a:p>
          <a:p>
            <a:pPr marL="342900" indent="-342900">
              <a:lnSpc>
                <a:spcPct val="120000"/>
              </a:lnSpc>
              <a:buFont typeface="Arial" panose="020B0604020202020204" pitchFamily="34" charset="0"/>
              <a:buChar char="•"/>
            </a:pPr>
            <a:r>
              <a:rPr lang="en-US" sz="2400" dirty="0">
                <a:latin typeface="Cambria" panose="02040503050406030204" pitchFamily="18" charset="0"/>
                <a:ea typeface="Cambria" panose="02040503050406030204" pitchFamily="18" charset="0"/>
              </a:rPr>
              <a:t>CSV: cheapest in tokens but column alignment is implicit — errors grow with wide tables.</a:t>
            </a:r>
          </a:p>
          <a:p>
            <a:pPr marL="342900" indent="-342900">
              <a:lnSpc>
                <a:spcPct val="120000"/>
              </a:lnSpc>
              <a:buFont typeface="Arial" panose="020B0604020202020204" pitchFamily="34" charset="0"/>
              <a:buChar char="•"/>
            </a:pPr>
            <a:r>
              <a:rPr lang="en-US" sz="2400" dirty="0">
                <a:latin typeface="Cambria" panose="02040503050406030204" pitchFamily="18" charset="0"/>
                <a:ea typeface="Cambria" panose="02040503050406030204" pitchFamily="18" charset="0"/>
              </a:rPr>
              <a:t>Practical rules: keep header row, prune unused columns, chunk long tables, and state units in headers (“</a:t>
            </a:r>
            <a:r>
              <a:rPr lang="en-US" sz="2400" dirty="0" err="1">
                <a:latin typeface="Cambria" panose="02040503050406030204" pitchFamily="18" charset="0"/>
                <a:ea typeface="Cambria" panose="02040503050406030204" pitchFamily="18" charset="0"/>
              </a:rPr>
              <a:t>revenue_inr_cr</a:t>
            </a:r>
            <a:r>
              <a:rPr lang="en-US" sz="2400" dirty="0">
                <a:latin typeface="Cambria" panose="02040503050406030204" pitchFamily="18" charset="0"/>
                <a:ea typeface="Cambria" panose="02040503050406030204" pitchFamily="18" charset="0"/>
              </a:rPr>
              <a:t>”).</a:t>
            </a:r>
          </a:p>
        </p:txBody>
      </p:sp>
      <p:sp>
        <p:nvSpPr>
          <p:cNvPr id="7" name="Shape 5">
            <a:extLst>
              <a:ext uri="{FF2B5EF4-FFF2-40B4-BE49-F238E27FC236}">
                <a16:creationId xmlns:a16="http://schemas.microsoft.com/office/drawing/2014/main" id="{23EE1F7E-37EE-92E8-324F-CD577E961725}"/>
              </a:ext>
            </a:extLst>
          </p:cNvPr>
          <p:cNvSpPr/>
          <p:nvPr/>
        </p:nvSpPr>
        <p:spPr>
          <a:xfrm>
            <a:off x="6522720" y="1341119"/>
            <a:ext cx="5059680" cy="5103747"/>
          </a:xfrm>
          <a:prstGeom prst="roundRect">
            <a:avLst>
              <a:gd name="adj" fmla="val 1299"/>
            </a:avLst>
          </a:prstGeom>
          <a:solidFill>
            <a:srgbClr val="F5F3EF"/>
          </a:solidFill>
          <a:ln w="9525">
            <a:solidFill>
              <a:srgbClr val="DDD5C7"/>
            </a:solidFill>
            <a:prstDash val="solid"/>
          </a:ln>
        </p:spPr>
        <p:txBody>
          <a:bodyPr/>
          <a:lstStyle/>
          <a:p>
            <a:endParaRPr lang="en-IN" sz="2400"/>
          </a:p>
        </p:txBody>
      </p:sp>
      <p:sp>
        <p:nvSpPr>
          <p:cNvPr id="8" name="Text 6">
            <a:extLst>
              <a:ext uri="{FF2B5EF4-FFF2-40B4-BE49-F238E27FC236}">
                <a16:creationId xmlns:a16="http://schemas.microsoft.com/office/drawing/2014/main" id="{69E9BC1D-A3C5-1A96-B15A-0D2FD1653EF6}"/>
              </a:ext>
            </a:extLst>
          </p:cNvPr>
          <p:cNvSpPr/>
          <p:nvPr/>
        </p:nvSpPr>
        <p:spPr>
          <a:xfrm>
            <a:off x="6669024" y="1438656"/>
            <a:ext cx="4767072" cy="293552"/>
          </a:xfrm>
          <a:prstGeom prst="rect">
            <a:avLst/>
          </a:prstGeom>
          <a:noFill/>
          <a:ln/>
        </p:spPr>
        <p:txBody>
          <a:bodyPr wrap="square" lIns="0" tIns="0" rIns="0" bIns="0" rtlCol="0" anchor="ctr"/>
          <a:lstStyle/>
          <a:p>
            <a:r>
              <a:rPr lang="en-US" b="1" kern="0" spc="200" dirty="0">
                <a:solidFill>
                  <a:srgbClr val="6B6B6B"/>
                </a:solidFill>
                <a:latin typeface="Calibri" pitchFamily="34" charset="0"/>
                <a:ea typeface="Calibri" pitchFamily="34" charset="-122"/>
                <a:cs typeface="Calibri" pitchFamily="34" charset="-120"/>
              </a:rPr>
              <a:t>SAME TABLE, THREE SERIALIZATIONS</a:t>
            </a:r>
            <a:endParaRPr lang="en-US" dirty="0"/>
          </a:p>
        </p:txBody>
      </p:sp>
      <p:sp>
        <p:nvSpPr>
          <p:cNvPr id="9" name="Text 7">
            <a:extLst>
              <a:ext uri="{FF2B5EF4-FFF2-40B4-BE49-F238E27FC236}">
                <a16:creationId xmlns:a16="http://schemas.microsoft.com/office/drawing/2014/main" id="{762ED9FF-4374-DA97-096C-208F8C642B31}"/>
              </a:ext>
            </a:extLst>
          </p:cNvPr>
          <p:cNvSpPr/>
          <p:nvPr/>
        </p:nvSpPr>
        <p:spPr>
          <a:xfrm>
            <a:off x="6669024" y="1731263"/>
            <a:ext cx="4767072" cy="4603435"/>
          </a:xfrm>
          <a:prstGeom prst="rect">
            <a:avLst/>
          </a:prstGeom>
          <a:noFill/>
          <a:ln/>
        </p:spPr>
        <p:txBody>
          <a:bodyPr wrap="square" lIns="0" tIns="0" rIns="0" bIns="0" rtlCol="0" anchor="t"/>
          <a:lstStyle/>
          <a:p>
            <a:pPr>
              <a:lnSpc>
                <a:spcPct val="104000"/>
              </a:lnSpc>
            </a:pPr>
            <a:r>
              <a:rPr lang="en-US" b="1" dirty="0">
                <a:solidFill>
                  <a:srgbClr val="6B6B6B"/>
                </a:solidFill>
                <a:latin typeface="Consolas" pitchFamily="34" charset="0"/>
                <a:ea typeface="Consolas" pitchFamily="34" charset="-122"/>
                <a:cs typeface="Consolas" pitchFamily="34" charset="-120"/>
              </a:rPr>
              <a:t># Markdown (good default)</a:t>
            </a:r>
            <a:endParaRPr lang="en-US" dirty="0"/>
          </a:p>
          <a:p>
            <a:pPr>
              <a:lnSpc>
                <a:spcPct val="104000"/>
              </a:lnSpc>
            </a:pPr>
            <a:r>
              <a:rPr lang="en-US" dirty="0">
                <a:solidFill>
                  <a:srgbClr val="262626"/>
                </a:solidFill>
                <a:latin typeface="Consolas" pitchFamily="34" charset="0"/>
                <a:ea typeface="Consolas" pitchFamily="34" charset="-122"/>
                <a:cs typeface="Consolas" pitchFamily="34" charset="-120"/>
              </a:rPr>
              <a:t>| qtr | revenue_inr_cr | margin_pct |</a:t>
            </a:r>
            <a:endParaRPr lang="en-US" dirty="0"/>
          </a:p>
          <a:p>
            <a:pPr>
              <a:lnSpc>
                <a:spcPct val="104000"/>
              </a:lnSpc>
            </a:pPr>
            <a:r>
              <a:rPr lang="en-US" dirty="0">
                <a:solidFill>
                  <a:srgbClr val="262626"/>
                </a:solidFill>
                <a:latin typeface="Consolas" pitchFamily="34" charset="0"/>
                <a:ea typeface="Consolas" pitchFamily="34" charset="-122"/>
                <a:cs typeface="Consolas" pitchFamily="34" charset="-120"/>
              </a:rPr>
              <a:t>|-----|---------------|------------|</a:t>
            </a:r>
            <a:endParaRPr lang="en-US" dirty="0"/>
          </a:p>
          <a:p>
            <a:pPr>
              <a:lnSpc>
                <a:spcPct val="104000"/>
              </a:lnSpc>
            </a:pPr>
            <a:r>
              <a:rPr lang="en-US" dirty="0">
                <a:solidFill>
                  <a:srgbClr val="262626"/>
                </a:solidFill>
                <a:latin typeface="Consolas" pitchFamily="34" charset="0"/>
                <a:ea typeface="Consolas" pitchFamily="34" charset="-122"/>
                <a:cs typeface="Consolas" pitchFamily="34" charset="-120"/>
              </a:rPr>
              <a:t>| Q1  | 142.5         | 18.2       |</a:t>
            </a:r>
            <a:endParaRPr lang="en-US" dirty="0"/>
          </a:p>
          <a:p>
            <a:pPr>
              <a:lnSpc>
                <a:spcPct val="104000"/>
              </a:lnSpc>
            </a:pPr>
            <a:r>
              <a:rPr lang="en-US" dirty="0">
                <a:solidFill>
                  <a:srgbClr val="262626"/>
                </a:solidFill>
                <a:latin typeface="Consolas" pitchFamily="34" charset="0"/>
                <a:ea typeface="Consolas" pitchFamily="34" charset="-122"/>
                <a:cs typeface="Consolas" pitchFamily="34" charset="-120"/>
              </a:rPr>
              <a:t>| Q2  | 156.1         | 19.0       |</a:t>
            </a:r>
            <a:endParaRPr lang="en-US" dirty="0"/>
          </a:p>
          <a:p>
            <a:pPr>
              <a:lnSpc>
                <a:spcPct val="104000"/>
              </a:lnSpc>
            </a:pPr>
            <a:r>
              <a:rPr lang="en-US" dirty="0">
                <a:solidFill>
                  <a:srgbClr val="262626"/>
                </a:solidFill>
                <a:latin typeface="Consolas" pitchFamily="34" charset="0"/>
                <a:ea typeface="Consolas" pitchFamily="34" charset="-122"/>
                <a:cs typeface="Consolas" pitchFamily="34" charset="-120"/>
              </a:rPr>
              <a:t> </a:t>
            </a:r>
            <a:endParaRPr lang="en-US" dirty="0"/>
          </a:p>
          <a:p>
            <a:pPr>
              <a:lnSpc>
                <a:spcPct val="104000"/>
              </a:lnSpc>
            </a:pPr>
            <a:r>
              <a:rPr lang="en-US" b="1" dirty="0">
                <a:solidFill>
                  <a:srgbClr val="6B6B6B"/>
                </a:solidFill>
                <a:latin typeface="Consolas" pitchFamily="34" charset="0"/>
                <a:ea typeface="Consolas" pitchFamily="34" charset="-122"/>
                <a:cs typeface="Consolas" pitchFamily="34" charset="-120"/>
              </a:rPr>
              <a:t># JSON records (explicit binding)</a:t>
            </a:r>
            <a:endParaRPr lang="en-US" dirty="0"/>
          </a:p>
          <a:p>
            <a:pPr>
              <a:lnSpc>
                <a:spcPct val="104000"/>
              </a:lnSpc>
            </a:pPr>
            <a:r>
              <a:rPr lang="en-US" dirty="0">
                <a:solidFill>
                  <a:srgbClr val="262626"/>
                </a:solidFill>
                <a:latin typeface="Consolas" pitchFamily="34" charset="0"/>
                <a:ea typeface="Consolas" pitchFamily="34" charset="-122"/>
                <a:cs typeface="Consolas" pitchFamily="34" charset="-120"/>
              </a:rPr>
              <a:t>[{"qtr":"Q1","revenue_inr_cr":142.5,</a:t>
            </a:r>
            <a:endParaRPr lang="en-US" dirty="0"/>
          </a:p>
          <a:p>
            <a:pPr>
              <a:lnSpc>
                <a:spcPct val="104000"/>
              </a:lnSpc>
            </a:pPr>
            <a:r>
              <a:rPr lang="en-US" dirty="0">
                <a:solidFill>
                  <a:srgbClr val="262626"/>
                </a:solidFill>
                <a:latin typeface="Consolas" pitchFamily="34" charset="0"/>
                <a:ea typeface="Consolas" pitchFamily="34" charset="-122"/>
                <a:cs typeface="Consolas" pitchFamily="34" charset="-120"/>
              </a:rPr>
              <a:t>  "margin_pct":18.2},</a:t>
            </a:r>
            <a:endParaRPr lang="en-US" dirty="0"/>
          </a:p>
          <a:p>
            <a:pPr>
              <a:lnSpc>
                <a:spcPct val="104000"/>
              </a:lnSpc>
            </a:pPr>
            <a:r>
              <a:rPr lang="en-US" dirty="0">
                <a:solidFill>
                  <a:srgbClr val="262626"/>
                </a:solidFill>
                <a:latin typeface="Consolas" pitchFamily="34" charset="0"/>
                <a:ea typeface="Consolas" pitchFamily="34" charset="-122"/>
                <a:cs typeface="Consolas" pitchFamily="34" charset="-120"/>
              </a:rPr>
              <a:t> {"qtr":"Q2","revenue_inr_cr":156.1,</a:t>
            </a:r>
            <a:endParaRPr lang="en-US" dirty="0"/>
          </a:p>
          <a:p>
            <a:pPr>
              <a:lnSpc>
                <a:spcPct val="104000"/>
              </a:lnSpc>
            </a:pPr>
            <a:r>
              <a:rPr lang="en-US" dirty="0">
                <a:solidFill>
                  <a:srgbClr val="262626"/>
                </a:solidFill>
                <a:latin typeface="Consolas" pitchFamily="34" charset="0"/>
                <a:ea typeface="Consolas" pitchFamily="34" charset="-122"/>
                <a:cs typeface="Consolas" pitchFamily="34" charset="-120"/>
              </a:rPr>
              <a:t>  "margin_pct":19.0}]</a:t>
            </a:r>
            <a:endParaRPr lang="en-US" dirty="0"/>
          </a:p>
          <a:p>
            <a:pPr>
              <a:lnSpc>
                <a:spcPct val="104000"/>
              </a:lnSpc>
            </a:pPr>
            <a:r>
              <a:rPr lang="en-US" dirty="0">
                <a:solidFill>
                  <a:srgbClr val="262626"/>
                </a:solidFill>
                <a:latin typeface="Consolas" pitchFamily="34" charset="0"/>
                <a:ea typeface="Consolas" pitchFamily="34" charset="-122"/>
                <a:cs typeface="Consolas" pitchFamily="34" charset="-120"/>
              </a:rPr>
              <a:t> </a:t>
            </a:r>
            <a:endParaRPr lang="en-US" dirty="0"/>
          </a:p>
          <a:p>
            <a:pPr>
              <a:lnSpc>
                <a:spcPct val="104000"/>
              </a:lnSpc>
            </a:pPr>
            <a:r>
              <a:rPr lang="en-US" b="1" dirty="0">
                <a:solidFill>
                  <a:srgbClr val="6B6B6B"/>
                </a:solidFill>
                <a:latin typeface="Consolas" pitchFamily="34" charset="0"/>
                <a:ea typeface="Consolas" pitchFamily="34" charset="-122"/>
                <a:cs typeface="Consolas" pitchFamily="34" charset="-120"/>
              </a:rPr>
              <a:t># CSV (cheap, fragile when wide)</a:t>
            </a:r>
            <a:endParaRPr lang="en-US" dirty="0"/>
          </a:p>
          <a:p>
            <a:pPr>
              <a:lnSpc>
                <a:spcPct val="104000"/>
              </a:lnSpc>
            </a:pPr>
            <a:r>
              <a:rPr lang="en-US" dirty="0">
                <a:solidFill>
                  <a:srgbClr val="262626"/>
                </a:solidFill>
                <a:latin typeface="Consolas" pitchFamily="34" charset="0"/>
                <a:ea typeface="Consolas" pitchFamily="34" charset="-122"/>
                <a:cs typeface="Consolas" pitchFamily="34" charset="-120"/>
              </a:rPr>
              <a:t>qtr,revenue_inr_cr,margin_pct</a:t>
            </a:r>
            <a:endParaRPr lang="en-US" dirty="0"/>
          </a:p>
          <a:p>
            <a:pPr>
              <a:lnSpc>
                <a:spcPct val="104000"/>
              </a:lnSpc>
            </a:pPr>
            <a:r>
              <a:rPr lang="en-US" dirty="0">
                <a:solidFill>
                  <a:srgbClr val="262626"/>
                </a:solidFill>
                <a:latin typeface="Consolas" pitchFamily="34" charset="0"/>
                <a:ea typeface="Consolas" pitchFamily="34" charset="-122"/>
                <a:cs typeface="Consolas" pitchFamily="34" charset="-120"/>
              </a:rPr>
              <a:t>Q1,142.5,18.2</a:t>
            </a:r>
            <a:endParaRPr lang="en-US" dirty="0"/>
          </a:p>
        </p:txBody>
      </p:sp>
      <p:sp>
        <p:nvSpPr>
          <p:cNvPr id="10" name="Text 8">
            <a:extLst>
              <a:ext uri="{FF2B5EF4-FFF2-40B4-BE49-F238E27FC236}">
                <a16:creationId xmlns:a16="http://schemas.microsoft.com/office/drawing/2014/main" id="{9B5187FF-30FC-BE93-75A1-09E3D698C706}"/>
              </a:ext>
            </a:extLst>
          </p:cNvPr>
          <p:cNvSpPr/>
          <p:nvPr/>
        </p:nvSpPr>
        <p:spPr>
          <a:xfrm>
            <a:off x="463296" y="6624920"/>
            <a:ext cx="10972800" cy="414528"/>
          </a:xfrm>
          <a:prstGeom prst="rect">
            <a:avLst/>
          </a:prstGeom>
          <a:noFill/>
          <a:ln/>
        </p:spPr>
        <p:txBody>
          <a:bodyPr wrap="square" lIns="0" tIns="0" rIns="0" bIns="0" rtlCol="0" anchor="ctr"/>
          <a:lstStyle/>
          <a:p>
            <a:r>
              <a:rPr lang="en-US" sz="1267" i="1" dirty="0">
                <a:solidFill>
                  <a:srgbClr val="6B6B6B"/>
                </a:solidFill>
                <a:latin typeface="Calibri" pitchFamily="34" charset="0"/>
                <a:ea typeface="Calibri" pitchFamily="34" charset="-122"/>
                <a:cs typeface="Calibri" pitchFamily="34" charset="-120"/>
              </a:rPr>
              <a:t>Refs: Sui et al., “Table Meets LLM” (WSDM 2024); Fang et al., “LLMs on Tabular Data — a Survey” (arXiv:2402.17944); Singha et al., “Tabular Representation in LLMs” (2023).</a:t>
            </a:r>
            <a:endParaRPr lang="en-US" sz="1267" dirty="0"/>
          </a:p>
        </p:txBody>
      </p:sp>
    </p:spTree>
    <p:extLst>
      <p:ext uri="{BB962C8B-B14F-4D97-AF65-F5344CB8AC3E}">
        <p14:creationId xmlns:p14="http://schemas.microsoft.com/office/powerpoint/2010/main" val="17176557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243840"/>
            <a:ext cx="11338560" cy="585216"/>
          </a:xfrm>
          <a:prstGeom prst="rect">
            <a:avLst/>
          </a:prstGeom>
        </p:spPr>
        <p:txBody>
          <a:bodyPr vert="horz" lIns="91440" tIns="45720" rIns="91440" bIns="45720" rtlCol="0" anchor="ctr">
            <a:normAutofit lnSpcReduction="10000"/>
          </a:bodyPr>
          <a:lstStyle/>
          <a:p>
            <a:r>
              <a:rPr lang="en-US" sz="3600" dirty="0">
                <a:latin typeface="Cambria" panose="02040503050406030204" pitchFamily="18" charset="0"/>
                <a:ea typeface="Cambria" panose="02040503050406030204" pitchFamily="18" charset="0"/>
                <a:cs typeface="+mj-cs"/>
              </a:rPr>
              <a:t>Structured Output : Generate and Verify</a:t>
            </a:r>
          </a:p>
        </p:txBody>
      </p:sp>
      <p:grpSp>
        <p:nvGrpSpPr>
          <p:cNvPr id="26" name="Group 25">
            <a:extLst>
              <a:ext uri="{FF2B5EF4-FFF2-40B4-BE49-F238E27FC236}">
                <a16:creationId xmlns:a16="http://schemas.microsoft.com/office/drawing/2014/main" id="{808C82E6-ADFC-54E4-E573-750FC9C2A034}"/>
              </a:ext>
            </a:extLst>
          </p:cNvPr>
          <p:cNvGrpSpPr/>
          <p:nvPr/>
        </p:nvGrpSpPr>
        <p:grpSpPr>
          <a:xfrm>
            <a:off x="236568" y="1277353"/>
            <a:ext cx="11405616" cy="1301495"/>
            <a:chOff x="408432" y="1609343"/>
            <a:chExt cx="11405616" cy="1301495"/>
          </a:xfrm>
        </p:grpSpPr>
        <p:sp>
          <p:nvSpPr>
            <p:cNvPr id="4" name="Text 2"/>
            <p:cNvSpPr/>
            <p:nvPr/>
          </p:nvSpPr>
          <p:spPr>
            <a:xfrm>
              <a:off x="408432" y="1828800"/>
              <a:ext cx="950976" cy="633984"/>
            </a:xfrm>
            <a:prstGeom prst="rect">
              <a:avLst/>
            </a:prstGeom>
            <a:noFill/>
            <a:ln/>
          </p:spPr>
          <p:txBody>
            <a:bodyPr wrap="square" lIns="0" tIns="0" rIns="0" bIns="0" rtlCol="0" anchor="ctr"/>
            <a:lstStyle/>
            <a:p>
              <a:pPr algn="ctr"/>
              <a:r>
                <a:rPr lang="en-US" sz="2000" b="1" dirty="0">
                  <a:solidFill>
                    <a:srgbClr val="1F3864"/>
                  </a:solidFill>
                  <a:latin typeface="Cambria" panose="02040503050406030204" pitchFamily="18" charset="0"/>
                  <a:ea typeface="Cambria" panose="02040503050406030204" pitchFamily="18" charset="0"/>
                  <a:cs typeface="Calibri" pitchFamily="34" charset="-120"/>
                </a:rPr>
                <a:t>User</a:t>
              </a:r>
              <a:endParaRPr lang="en-US" sz="2000" dirty="0">
                <a:latin typeface="Cambria" panose="02040503050406030204" pitchFamily="18" charset="0"/>
                <a:ea typeface="Cambria" panose="02040503050406030204" pitchFamily="18" charset="0"/>
              </a:endParaRPr>
            </a:p>
            <a:p>
              <a:pPr algn="ctr"/>
              <a:r>
                <a:rPr lang="en-US" sz="2000" b="1" dirty="0">
                  <a:solidFill>
                    <a:srgbClr val="1F3864"/>
                  </a:solidFill>
                  <a:latin typeface="Cambria" panose="02040503050406030204" pitchFamily="18" charset="0"/>
                  <a:ea typeface="Cambria" panose="02040503050406030204" pitchFamily="18" charset="0"/>
                  <a:cs typeface="Calibri" pitchFamily="34" charset="-120"/>
                </a:rPr>
                <a:t>input</a:t>
              </a:r>
              <a:endParaRPr lang="en-US" sz="2000" dirty="0">
                <a:latin typeface="Cambria" panose="02040503050406030204" pitchFamily="18" charset="0"/>
                <a:ea typeface="Cambria" panose="02040503050406030204" pitchFamily="18" charset="0"/>
              </a:endParaRPr>
            </a:p>
          </p:txBody>
        </p:sp>
        <p:sp>
          <p:nvSpPr>
            <p:cNvPr id="5" name="Shape 3"/>
            <p:cNvSpPr/>
            <p:nvPr/>
          </p:nvSpPr>
          <p:spPr>
            <a:xfrm>
              <a:off x="1223166" y="2145792"/>
              <a:ext cx="297456" cy="0"/>
            </a:xfrm>
            <a:prstGeom prst="line">
              <a:avLst/>
            </a:prstGeom>
            <a:ln>
              <a:tailEnd type="triangle"/>
            </a:ln>
          </p:spPr>
          <p:style>
            <a:lnRef idx="3">
              <a:schemeClr val="dk1"/>
            </a:lnRef>
            <a:fillRef idx="0">
              <a:schemeClr val="dk1"/>
            </a:fillRef>
            <a:effectRef idx="2">
              <a:schemeClr val="dk1"/>
            </a:effectRef>
            <a:fontRef idx="minor">
              <a:schemeClr val="tx1"/>
            </a:fontRef>
          </p:style>
          <p:txBody>
            <a:bodyPr/>
            <a:lstStyle/>
            <a:p>
              <a:endParaRPr lang="en-IN" sz="2000" dirty="0">
                <a:latin typeface="Cambria" panose="02040503050406030204" pitchFamily="18" charset="0"/>
                <a:ea typeface="Cambria" panose="02040503050406030204" pitchFamily="18" charset="0"/>
              </a:endParaRPr>
            </a:p>
          </p:txBody>
        </p:sp>
        <p:sp>
          <p:nvSpPr>
            <p:cNvPr id="6" name="Shape 4"/>
            <p:cNvSpPr/>
            <p:nvPr/>
          </p:nvSpPr>
          <p:spPr>
            <a:xfrm>
              <a:off x="1520621" y="1609344"/>
              <a:ext cx="6062803" cy="1072896"/>
            </a:xfrm>
            <a:prstGeom prst="roundRect">
              <a:avLst>
                <a:gd name="adj" fmla="val 5682"/>
              </a:avLst>
            </a:prstGeom>
            <a:solidFill>
              <a:srgbClr val="EAEEF6"/>
            </a:solidFill>
            <a:ln w="12700">
              <a:solidFill>
                <a:srgbClr val="1F3864"/>
              </a:solidFill>
              <a:prstDash val="solid"/>
            </a:ln>
          </p:spPr>
          <p:txBody>
            <a:bodyPr/>
            <a:lstStyle/>
            <a:p>
              <a:r>
                <a:rPr lang="en-US" sz="2000" b="1" dirty="0">
                  <a:solidFill>
                    <a:srgbClr val="1F3864"/>
                  </a:solidFill>
                  <a:latin typeface="Cambria" panose="02040503050406030204" pitchFamily="18" charset="0"/>
                  <a:ea typeface="Cambria" panose="02040503050406030204" pitchFamily="18" charset="0"/>
                  <a:cs typeface="Calibri" pitchFamily="34" charset="-120"/>
                </a:rPr>
                <a:t>GENERATION</a:t>
              </a:r>
              <a:r>
                <a:rPr lang="en-US" sz="2000" i="1" dirty="0">
                  <a:solidFill>
                    <a:srgbClr val="5A5A5A"/>
                  </a:solidFill>
                  <a:latin typeface="Cambria" panose="02040503050406030204" pitchFamily="18" charset="0"/>
                  <a:ea typeface="Cambria" panose="02040503050406030204" pitchFamily="18" charset="0"/>
                  <a:cs typeface="Calibri" pitchFamily="34" charset="-120"/>
                </a:rPr>
                <a:t> : </a:t>
              </a:r>
              <a:r>
                <a:rPr lang="en-US" sz="2000" b="1" i="1" dirty="0">
                  <a:solidFill>
                    <a:srgbClr val="5A5A5A"/>
                  </a:solidFill>
                  <a:latin typeface="Cambria" panose="02040503050406030204" pitchFamily="18" charset="0"/>
                  <a:ea typeface="Cambria" panose="02040503050406030204" pitchFamily="18" charset="0"/>
                  <a:cs typeface="Calibri" pitchFamily="34" charset="-120"/>
                </a:rPr>
                <a:t>enforcement during generation</a:t>
              </a:r>
              <a:endParaRPr lang="en-US" sz="2000" b="1" dirty="0">
                <a:latin typeface="Cambria" panose="02040503050406030204" pitchFamily="18" charset="0"/>
                <a:ea typeface="Cambria" panose="02040503050406030204" pitchFamily="18" charset="0"/>
              </a:endParaRPr>
            </a:p>
            <a:p>
              <a:endParaRPr lang="en-IN" sz="2000" dirty="0">
                <a:latin typeface="Cambria" panose="02040503050406030204" pitchFamily="18" charset="0"/>
                <a:ea typeface="Cambria" panose="02040503050406030204" pitchFamily="18" charset="0"/>
              </a:endParaRPr>
            </a:p>
          </p:txBody>
        </p:sp>
        <p:sp>
          <p:nvSpPr>
            <p:cNvPr id="7" name="Text 5"/>
            <p:cNvSpPr/>
            <p:nvPr/>
          </p:nvSpPr>
          <p:spPr>
            <a:xfrm>
              <a:off x="1914144" y="1658112"/>
              <a:ext cx="5376672" cy="268224"/>
            </a:xfrm>
            <a:prstGeom prst="rect">
              <a:avLst/>
            </a:prstGeom>
            <a:noFill/>
            <a:ln/>
          </p:spPr>
          <p:txBody>
            <a:bodyPr wrap="square" lIns="0" tIns="0" rIns="0" bIns="0" rtlCol="0" anchor="ctr"/>
            <a:lstStyle/>
            <a:p>
              <a:endParaRPr lang="en-US" sz="2000" dirty="0">
                <a:latin typeface="Cambria" panose="02040503050406030204" pitchFamily="18" charset="0"/>
                <a:ea typeface="Cambria" panose="02040503050406030204" pitchFamily="18" charset="0"/>
              </a:endParaRPr>
            </a:p>
          </p:txBody>
        </p:sp>
        <p:sp>
          <p:nvSpPr>
            <p:cNvPr id="8" name="Shape 6"/>
            <p:cNvSpPr/>
            <p:nvPr/>
          </p:nvSpPr>
          <p:spPr>
            <a:xfrm>
              <a:off x="1938528" y="1999488"/>
              <a:ext cx="1560576" cy="560832"/>
            </a:xfrm>
            <a:prstGeom prst="roundRect">
              <a:avLst>
                <a:gd name="adj" fmla="val 10870"/>
              </a:avLst>
            </a:prstGeom>
            <a:solidFill>
              <a:srgbClr val="F7ECEC"/>
            </a:solidFill>
            <a:ln w="12700">
              <a:solidFill>
                <a:srgbClr val="8B0000"/>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9" name="Text 7"/>
            <p:cNvSpPr/>
            <p:nvPr/>
          </p:nvSpPr>
          <p:spPr>
            <a:xfrm>
              <a:off x="1938528" y="1999488"/>
              <a:ext cx="1560576" cy="560832"/>
            </a:xfrm>
            <a:prstGeom prst="rect">
              <a:avLst/>
            </a:prstGeom>
            <a:noFill/>
            <a:ln/>
          </p:spPr>
          <p:txBody>
            <a:bodyPr wrap="square" lIns="16933" tIns="16933" rIns="16933" bIns="16933" rtlCol="0" anchor="ctr"/>
            <a:lstStyle/>
            <a:p>
              <a:pPr algn="ctr"/>
              <a:r>
                <a:rPr lang="en-US" sz="2000" b="1" dirty="0">
                  <a:solidFill>
                    <a:srgbClr val="8B0000"/>
                  </a:solidFill>
                  <a:latin typeface="Cambria" panose="02040503050406030204" pitchFamily="18" charset="0"/>
                  <a:ea typeface="Cambria" panose="02040503050406030204" pitchFamily="18" charset="0"/>
                  <a:cs typeface="Calibri" pitchFamily="34" charset="-120"/>
                </a:rPr>
                <a:t>Manual</a:t>
              </a:r>
              <a:endParaRPr lang="en-US" sz="2000" dirty="0">
                <a:latin typeface="Cambria" panose="02040503050406030204" pitchFamily="18" charset="0"/>
                <a:ea typeface="Cambria" panose="02040503050406030204" pitchFamily="18" charset="0"/>
              </a:endParaRPr>
            </a:p>
          </p:txBody>
        </p:sp>
        <p:sp>
          <p:nvSpPr>
            <p:cNvPr id="10" name="Shape 8"/>
            <p:cNvSpPr/>
            <p:nvPr/>
          </p:nvSpPr>
          <p:spPr>
            <a:xfrm>
              <a:off x="3657600" y="1999488"/>
              <a:ext cx="1560576" cy="560832"/>
            </a:xfrm>
            <a:prstGeom prst="roundRect">
              <a:avLst>
                <a:gd name="adj" fmla="val 10870"/>
              </a:avLst>
            </a:prstGeom>
            <a:solidFill>
              <a:srgbClr val="FBF1D9"/>
            </a:solidFill>
            <a:ln w="12700">
              <a:solidFill>
                <a:srgbClr val="D4A017"/>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11" name="Text 9"/>
            <p:cNvSpPr/>
            <p:nvPr/>
          </p:nvSpPr>
          <p:spPr>
            <a:xfrm>
              <a:off x="3657600" y="1999488"/>
              <a:ext cx="1560576" cy="560832"/>
            </a:xfrm>
            <a:prstGeom prst="rect">
              <a:avLst/>
            </a:prstGeom>
            <a:noFill/>
            <a:ln/>
          </p:spPr>
          <p:txBody>
            <a:bodyPr wrap="square" lIns="16933" tIns="16933" rIns="16933" bIns="16933" rtlCol="0" anchor="ctr"/>
            <a:lstStyle/>
            <a:p>
              <a:pPr algn="ctr"/>
              <a:r>
                <a:rPr lang="en-US" sz="2000" b="1" dirty="0">
                  <a:solidFill>
                    <a:srgbClr val="9C7611"/>
                  </a:solidFill>
                  <a:latin typeface="Cambria" panose="02040503050406030204" pitchFamily="18" charset="0"/>
                  <a:ea typeface="Cambria" panose="02040503050406030204" pitchFamily="18" charset="0"/>
                  <a:cs typeface="Calibri" pitchFamily="34" charset="-120"/>
                </a:rPr>
                <a:t>JSON mode</a:t>
              </a:r>
              <a:endParaRPr lang="en-US" sz="2000" dirty="0">
                <a:latin typeface="Cambria" panose="02040503050406030204" pitchFamily="18" charset="0"/>
                <a:ea typeface="Cambria" panose="02040503050406030204" pitchFamily="18" charset="0"/>
              </a:endParaRPr>
            </a:p>
          </p:txBody>
        </p:sp>
        <p:sp>
          <p:nvSpPr>
            <p:cNvPr id="12" name="Shape 10"/>
            <p:cNvSpPr/>
            <p:nvPr/>
          </p:nvSpPr>
          <p:spPr>
            <a:xfrm>
              <a:off x="5376672" y="1999488"/>
              <a:ext cx="1731264" cy="560832"/>
            </a:xfrm>
            <a:prstGeom prst="roundRect">
              <a:avLst>
                <a:gd name="adj" fmla="val 10870"/>
              </a:avLst>
            </a:prstGeom>
            <a:solidFill>
              <a:srgbClr val="E6F0E6"/>
            </a:solidFill>
            <a:ln w="12700">
              <a:solidFill>
                <a:srgbClr val="2E7D32"/>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13" name="Text 11"/>
            <p:cNvSpPr/>
            <p:nvPr/>
          </p:nvSpPr>
          <p:spPr>
            <a:xfrm>
              <a:off x="5376672" y="1999488"/>
              <a:ext cx="1731264" cy="560832"/>
            </a:xfrm>
            <a:prstGeom prst="rect">
              <a:avLst/>
            </a:prstGeom>
            <a:noFill/>
            <a:ln/>
          </p:spPr>
          <p:txBody>
            <a:bodyPr wrap="square" lIns="16933" tIns="16933" rIns="16933" bIns="16933" rtlCol="0" anchor="ctr"/>
            <a:lstStyle/>
            <a:p>
              <a:pPr algn="ctr"/>
              <a:r>
                <a:rPr lang="en-US" sz="2000" b="1" dirty="0">
                  <a:solidFill>
                    <a:srgbClr val="245E27"/>
                  </a:solidFill>
                  <a:latin typeface="Cambria" panose="02040503050406030204" pitchFamily="18" charset="0"/>
                  <a:ea typeface="Cambria" panose="02040503050406030204" pitchFamily="18" charset="0"/>
                  <a:cs typeface="Calibri" pitchFamily="34" charset="-120"/>
                </a:rPr>
                <a:t>Constrained</a:t>
              </a:r>
              <a:endParaRPr lang="en-US" sz="2000" dirty="0">
                <a:latin typeface="Cambria" panose="02040503050406030204" pitchFamily="18" charset="0"/>
                <a:ea typeface="Cambria" panose="02040503050406030204" pitchFamily="18" charset="0"/>
              </a:endParaRPr>
            </a:p>
          </p:txBody>
        </p:sp>
        <p:sp>
          <p:nvSpPr>
            <p:cNvPr id="14" name="Shape 12"/>
            <p:cNvSpPr/>
            <p:nvPr/>
          </p:nvSpPr>
          <p:spPr>
            <a:xfrm>
              <a:off x="3511296" y="2279904"/>
              <a:ext cx="158496" cy="0"/>
            </a:xfrm>
            <a:prstGeom prst="line">
              <a:avLst/>
            </a:prstGeom>
            <a:noFill/>
            <a:ln w="12700">
              <a:solidFill>
                <a:srgbClr val="5A5A5A"/>
              </a:solidFill>
              <a:prstDash val="solid"/>
              <a:tailEnd type="triangle"/>
            </a:ln>
          </p:spPr>
          <p:txBody>
            <a:bodyPr/>
            <a:lstStyle/>
            <a:p>
              <a:endParaRPr lang="en-IN" sz="2000">
                <a:latin typeface="Cambria" panose="02040503050406030204" pitchFamily="18" charset="0"/>
                <a:ea typeface="Cambria" panose="02040503050406030204" pitchFamily="18" charset="0"/>
              </a:endParaRPr>
            </a:p>
          </p:txBody>
        </p:sp>
        <p:sp>
          <p:nvSpPr>
            <p:cNvPr id="15" name="Shape 13"/>
            <p:cNvSpPr/>
            <p:nvPr/>
          </p:nvSpPr>
          <p:spPr>
            <a:xfrm>
              <a:off x="5230368" y="2279904"/>
              <a:ext cx="158496" cy="0"/>
            </a:xfrm>
            <a:prstGeom prst="line">
              <a:avLst/>
            </a:prstGeom>
            <a:noFill/>
            <a:ln w="12700">
              <a:solidFill>
                <a:srgbClr val="5A5A5A"/>
              </a:solidFill>
              <a:prstDash val="solid"/>
              <a:tailEnd type="triangle"/>
            </a:ln>
          </p:spPr>
          <p:txBody>
            <a:bodyPr/>
            <a:lstStyle/>
            <a:p>
              <a:endParaRPr lang="en-IN" sz="2000">
                <a:latin typeface="Cambria" panose="02040503050406030204" pitchFamily="18" charset="0"/>
                <a:ea typeface="Cambria" panose="02040503050406030204" pitchFamily="18" charset="0"/>
              </a:endParaRPr>
            </a:p>
          </p:txBody>
        </p:sp>
        <p:sp>
          <p:nvSpPr>
            <p:cNvPr id="16" name="Shape 14"/>
            <p:cNvSpPr/>
            <p:nvPr/>
          </p:nvSpPr>
          <p:spPr>
            <a:xfrm>
              <a:off x="7461504" y="2145792"/>
              <a:ext cx="414528" cy="0"/>
            </a:xfrm>
            <a:prstGeom prst="line">
              <a:avLst/>
            </a:prstGeom>
            <a:ln>
              <a:tailEnd type="triangle"/>
            </a:ln>
          </p:spPr>
          <p:style>
            <a:lnRef idx="3">
              <a:schemeClr val="dk1"/>
            </a:lnRef>
            <a:fillRef idx="0">
              <a:schemeClr val="dk1"/>
            </a:fillRef>
            <a:effectRef idx="2">
              <a:schemeClr val="dk1"/>
            </a:effectRef>
            <a:fontRef idx="minor">
              <a:schemeClr val="tx1"/>
            </a:fontRef>
          </p:style>
          <p:txBody>
            <a:bodyPr/>
            <a:lstStyle/>
            <a:p>
              <a:endParaRPr lang="en-IN" sz="2000">
                <a:latin typeface="Cambria" panose="02040503050406030204" pitchFamily="18" charset="0"/>
                <a:ea typeface="Cambria" panose="02040503050406030204" pitchFamily="18" charset="0"/>
              </a:endParaRPr>
            </a:p>
          </p:txBody>
        </p:sp>
        <p:sp>
          <p:nvSpPr>
            <p:cNvPr id="17" name="Shape 15"/>
            <p:cNvSpPr/>
            <p:nvPr/>
          </p:nvSpPr>
          <p:spPr>
            <a:xfrm>
              <a:off x="7876032" y="1609344"/>
              <a:ext cx="2340864" cy="1301494"/>
            </a:xfrm>
            <a:prstGeom prst="roundRect">
              <a:avLst>
                <a:gd name="adj" fmla="val 5682"/>
              </a:avLst>
            </a:prstGeom>
            <a:solidFill>
              <a:srgbClr val="E6F1F0"/>
            </a:solidFill>
            <a:ln w="12700">
              <a:solidFill>
                <a:srgbClr val="2E8A8A"/>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18" name="Text 16"/>
            <p:cNvSpPr/>
            <p:nvPr/>
          </p:nvSpPr>
          <p:spPr>
            <a:xfrm>
              <a:off x="7876032" y="1609343"/>
              <a:ext cx="2340864" cy="1301495"/>
            </a:xfrm>
            <a:prstGeom prst="rect">
              <a:avLst/>
            </a:prstGeom>
            <a:noFill/>
            <a:ln/>
          </p:spPr>
          <p:txBody>
            <a:bodyPr wrap="square" lIns="33867" tIns="33867" rIns="33867" bIns="33867" rtlCol="0" anchor="ctr"/>
            <a:lstStyle/>
            <a:p>
              <a:pPr algn="ctr"/>
              <a:r>
                <a:rPr lang="en-US" sz="2000" b="1" dirty="0">
                  <a:solidFill>
                    <a:srgbClr val="236B6B"/>
                  </a:solidFill>
                  <a:latin typeface="Cambria" panose="02040503050406030204" pitchFamily="18" charset="0"/>
                  <a:ea typeface="Cambria" panose="02040503050406030204" pitchFamily="18" charset="0"/>
                  <a:cs typeface="Calibri" pitchFamily="34" charset="-120"/>
                </a:rPr>
                <a:t>VERIFICATION</a:t>
              </a:r>
              <a:endParaRPr lang="en-US" sz="2000" dirty="0">
                <a:latin typeface="Cambria" panose="02040503050406030204" pitchFamily="18" charset="0"/>
                <a:ea typeface="Cambria" panose="02040503050406030204" pitchFamily="18" charset="0"/>
              </a:endParaRPr>
            </a:p>
            <a:p>
              <a:pPr algn="ctr"/>
              <a:r>
                <a:rPr lang="en-US" sz="2000" i="1" dirty="0">
                  <a:solidFill>
                    <a:srgbClr val="5A5A5A"/>
                  </a:solidFill>
                  <a:latin typeface="Cambria" panose="02040503050406030204" pitchFamily="18" charset="0"/>
                  <a:ea typeface="Cambria" panose="02040503050406030204" pitchFamily="18" charset="0"/>
                  <a:cs typeface="Calibri" pitchFamily="34" charset="-120"/>
                </a:rPr>
                <a:t> parse / validate</a:t>
              </a:r>
              <a:endParaRPr lang="en-US" sz="2000" dirty="0">
                <a:latin typeface="Cambria" panose="02040503050406030204" pitchFamily="18" charset="0"/>
                <a:ea typeface="Cambria" panose="02040503050406030204" pitchFamily="18" charset="0"/>
              </a:endParaRPr>
            </a:p>
            <a:p>
              <a:pPr algn="ctr"/>
              <a:r>
                <a:rPr lang="en-US" sz="2000" i="1" dirty="0">
                  <a:solidFill>
                    <a:srgbClr val="5A5A5A"/>
                  </a:solidFill>
                  <a:latin typeface="Cambria" panose="02040503050406030204" pitchFamily="18" charset="0"/>
                  <a:ea typeface="Cambria" panose="02040503050406030204" pitchFamily="18" charset="0"/>
                  <a:cs typeface="Calibri" pitchFamily="34" charset="-120"/>
                </a:rPr>
                <a:t>applies to ANY method</a:t>
              </a:r>
              <a:endParaRPr lang="en-US" sz="2000" dirty="0">
                <a:latin typeface="Cambria" panose="02040503050406030204" pitchFamily="18" charset="0"/>
                <a:ea typeface="Cambria" panose="02040503050406030204" pitchFamily="18" charset="0"/>
              </a:endParaRPr>
            </a:p>
          </p:txBody>
        </p:sp>
        <p:sp>
          <p:nvSpPr>
            <p:cNvPr id="19" name="Shape 17"/>
            <p:cNvSpPr/>
            <p:nvPr/>
          </p:nvSpPr>
          <p:spPr>
            <a:xfrm>
              <a:off x="10241280" y="2145792"/>
              <a:ext cx="243840" cy="0"/>
            </a:xfrm>
            <a:prstGeom prst="line">
              <a:avLst/>
            </a:prstGeom>
            <a:ln>
              <a:tailEnd type="triangle"/>
            </a:ln>
          </p:spPr>
          <p:style>
            <a:lnRef idx="3">
              <a:schemeClr val="dk1"/>
            </a:lnRef>
            <a:fillRef idx="0">
              <a:schemeClr val="dk1"/>
            </a:fillRef>
            <a:effectRef idx="2">
              <a:schemeClr val="dk1"/>
            </a:effectRef>
            <a:fontRef idx="minor">
              <a:schemeClr val="tx1"/>
            </a:fontRef>
          </p:style>
          <p:txBody>
            <a:bodyPr/>
            <a:lstStyle/>
            <a:p>
              <a:endParaRPr lang="en-IN" sz="2000">
                <a:latin typeface="Cambria" panose="02040503050406030204" pitchFamily="18" charset="0"/>
                <a:ea typeface="Cambria" panose="02040503050406030204" pitchFamily="18" charset="0"/>
              </a:endParaRPr>
            </a:p>
          </p:txBody>
        </p:sp>
        <p:sp>
          <p:nvSpPr>
            <p:cNvPr id="20" name="Text 18"/>
            <p:cNvSpPr/>
            <p:nvPr/>
          </p:nvSpPr>
          <p:spPr>
            <a:xfrm>
              <a:off x="10509504" y="1828800"/>
              <a:ext cx="1304544" cy="633984"/>
            </a:xfrm>
            <a:prstGeom prst="rect">
              <a:avLst/>
            </a:prstGeom>
            <a:noFill/>
            <a:ln/>
          </p:spPr>
          <p:txBody>
            <a:bodyPr wrap="square" lIns="0" tIns="0" rIns="0" bIns="0" rtlCol="0" anchor="ctr"/>
            <a:lstStyle/>
            <a:p>
              <a:pPr algn="ctr"/>
              <a:r>
                <a:rPr lang="en-US" sz="2000" b="1" dirty="0">
                  <a:solidFill>
                    <a:srgbClr val="1F3864"/>
                  </a:solidFill>
                  <a:latin typeface="Cambria" panose="02040503050406030204" pitchFamily="18" charset="0"/>
                  <a:ea typeface="Cambria" panose="02040503050406030204" pitchFamily="18" charset="0"/>
                  <a:cs typeface="Calibri" pitchFamily="34" charset="-120"/>
                </a:rPr>
                <a:t>Structured</a:t>
              </a:r>
              <a:endParaRPr lang="en-US" sz="2000" dirty="0">
                <a:latin typeface="Cambria" panose="02040503050406030204" pitchFamily="18" charset="0"/>
                <a:ea typeface="Cambria" panose="02040503050406030204" pitchFamily="18" charset="0"/>
              </a:endParaRPr>
            </a:p>
            <a:p>
              <a:pPr algn="ctr"/>
              <a:r>
                <a:rPr lang="en-US" sz="2000" b="1" dirty="0">
                  <a:solidFill>
                    <a:srgbClr val="1F3864"/>
                  </a:solidFill>
                  <a:latin typeface="Cambria" panose="02040503050406030204" pitchFamily="18" charset="0"/>
                  <a:ea typeface="Cambria" panose="02040503050406030204" pitchFamily="18" charset="0"/>
                  <a:cs typeface="Calibri" pitchFamily="34" charset="-120"/>
                </a:rPr>
                <a:t>output</a:t>
              </a:r>
              <a:endParaRPr lang="en-US" sz="2000" dirty="0">
                <a:latin typeface="Cambria" panose="02040503050406030204" pitchFamily="18" charset="0"/>
                <a:ea typeface="Cambria" panose="02040503050406030204" pitchFamily="18" charset="0"/>
              </a:endParaRPr>
            </a:p>
          </p:txBody>
        </p:sp>
      </p:grpSp>
      <p:graphicFrame>
        <p:nvGraphicFramePr>
          <p:cNvPr id="21" name="Table 0"/>
          <p:cNvGraphicFramePr>
            <a:graphicFrameLocks noGrp="1"/>
          </p:cNvGraphicFramePr>
          <p:nvPr/>
        </p:nvGraphicFramePr>
        <p:xfrm>
          <a:off x="137124" y="2630666"/>
          <a:ext cx="11811036" cy="2793324"/>
        </p:xfrm>
        <a:graphic>
          <a:graphicData uri="http://schemas.openxmlformats.org/drawingml/2006/table">
            <a:tbl>
              <a:tblPr/>
              <a:tblGrid>
                <a:gridCol w="2822864">
                  <a:extLst>
                    <a:ext uri="{9D8B030D-6E8A-4147-A177-3AD203B41FA5}">
                      <a16:colId xmlns:a16="http://schemas.microsoft.com/office/drawing/2014/main" val="20000"/>
                    </a:ext>
                  </a:extLst>
                </a:gridCol>
                <a:gridCol w="2559551">
                  <a:extLst>
                    <a:ext uri="{9D8B030D-6E8A-4147-A177-3AD203B41FA5}">
                      <a16:colId xmlns:a16="http://schemas.microsoft.com/office/drawing/2014/main" val="20001"/>
                    </a:ext>
                  </a:extLst>
                </a:gridCol>
                <a:gridCol w="3299238">
                  <a:extLst>
                    <a:ext uri="{9D8B030D-6E8A-4147-A177-3AD203B41FA5}">
                      <a16:colId xmlns:a16="http://schemas.microsoft.com/office/drawing/2014/main" val="20002"/>
                    </a:ext>
                  </a:extLst>
                </a:gridCol>
                <a:gridCol w="3129383">
                  <a:extLst>
                    <a:ext uri="{9D8B030D-6E8A-4147-A177-3AD203B41FA5}">
                      <a16:colId xmlns:a16="http://schemas.microsoft.com/office/drawing/2014/main" val="20003"/>
                    </a:ext>
                  </a:extLst>
                </a:gridCol>
              </a:tblGrid>
              <a:tr h="414528">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Method  </a:t>
                      </a:r>
                      <a:endParaRPr lang="en-US" sz="2000" dirty="0">
                        <a:latin typeface="Calibri" charset="0"/>
                        <a:ea typeface="Calibri" charset="0"/>
                        <a:cs typeface="Calibri" charset="0"/>
                      </a:endParaRPr>
                    </a:p>
                  </a:txBody>
                  <a:tcPr marL="67733" marR="67733" marT="33867" marB="33867"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Also called  </a:t>
                      </a:r>
                      <a:endParaRPr lang="en-US" sz="2000" dirty="0">
                        <a:latin typeface="Calibri" charset="0"/>
                        <a:ea typeface="Calibri" charset="0"/>
                        <a:cs typeface="Calibri" charset="0"/>
                      </a:endParaRPr>
                    </a:p>
                  </a:txBody>
                  <a:tcPr marL="67733" marR="67733" marT="33867" marB="33867"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Enforcement · grammar</a:t>
                      </a:r>
                      <a:endParaRPr lang="en-US" sz="2000" dirty="0">
                        <a:latin typeface="Calibri" charset="0"/>
                        <a:ea typeface="Calibri" charset="0"/>
                        <a:cs typeface="Calibri" charset="0"/>
                      </a:endParaRPr>
                    </a:p>
                  </a:txBody>
                  <a:tcPr marL="67733" marR="67733" marT="33867" marB="33867"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Guarantee</a:t>
                      </a:r>
                      <a:endParaRPr lang="en-US" sz="2000" dirty="0">
                        <a:latin typeface="Calibri" charset="0"/>
                        <a:ea typeface="Calibri" charset="0"/>
                        <a:cs typeface="Calibri" charset="0"/>
                      </a:endParaRPr>
                    </a:p>
                  </a:txBody>
                  <a:tcPr marL="67733" marR="67733" marT="33867" marB="33867"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512064">
                <a:tc>
                  <a:txBody>
                    <a:bodyPr/>
                    <a:lstStyle/>
                    <a:p>
                      <a:pPr marL="0" indent="0" algn="l">
                        <a:buNone/>
                      </a:pPr>
                      <a:r>
                        <a:rPr lang="en-US" sz="2000" b="1" dirty="0">
                          <a:solidFill>
                            <a:srgbClr val="8B0000"/>
                          </a:solidFill>
                          <a:latin typeface="Calibri" pitchFamily="34" charset="0"/>
                          <a:ea typeface="Calibri" pitchFamily="34" charset="-122"/>
                          <a:cs typeface="Calibri" pitchFamily="34" charset="-120"/>
                        </a:rPr>
                        <a:t>Manual (prompt + parse)</a:t>
                      </a:r>
                      <a:endParaRPr lang="en-US" sz="2000" dirty="0">
                        <a:latin typeface="Calibri" charset="0"/>
                        <a:ea typeface="Calibri" charset="0"/>
                        <a:cs typeface="Calibri" charset="0"/>
                      </a:endParaRPr>
                    </a:p>
                  </a:txBody>
                  <a:tcPr marL="67733" marR="67733" marT="33867" marB="33867"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33333"/>
                          </a:solidFill>
                          <a:latin typeface="Calibri" pitchFamily="34" charset="0"/>
                          <a:ea typeface="Calibri" pitchFamily="34" charset="-122"/>
                          <a:cs typeface="Calibri" pitchFamily="34" charset="-120"/>
                        </a:rPr>
                        <a:t>Output Verification</a:t>
                      </a:r>
                      <a:endParaRPr lang="en-US" sz="2000" dirty="0">
                        <a:latin typeface="Calibri" charset="0"/>
                        <a:ea typeface="Calibri" charset="0"/>
                        <a:cs typeface="Calibri" charset="0"/>
                      </a:endParaRPr>
                    </a:p>
                  </a:txBody>
                  <a:tcPr marL="67733" marR="67733" marT="33867" marB="33867"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33333"/>
                          </a:solidFill>
                          <a:latin typeface="Calibri" pitchFamily="34" charset="0"/>
                          <a:ea typeface="Calibri" pitchFamily="34" charset="-122"/>
                          <a:cs typeface="Calibri" pitchFamily="34" charset="-120"/>
                        </a:rPr>
                        <a:t>After generation · no grammar</a:t>
                      </a:r>
                      <a:endParaRPr lang="en-US" sz="2000" dirty="0">
                        <a:latin typeface="Calibri" charset="0"/>
                        <a:ea typeface="Calibri" charset="0"/>
                        <a:cs typeface="Calibri" charset="0"/>
                      </a:endParaRPr>
                    </a:p>
                  </a:txBody>
                  <a:tcPr marL="67733" marR="67733" marT="33867" marB="33867"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33333"/>
                          </a:solidFill>
                          <a:latin typeface="Calibri" pitchFamily="34" charset="0"/>
                          <a:ea typeface="Calibri" pitchFamily="34" charset="-122"/>
                          <a:cs typeface="Calibri" pitchFamily="34" charset="-120"/>
                        </a:rPr>
                        <a:t>None</a:t>
                      </a:r>
                      <a:endParaRPr lang="en-US" sz="2000" dirty="0">
                        <a:latin typeface="Calibri" charset="0"/>
                        <a:ea typeface="Calibri" charset="0"/>
                        <a:cs typeface="Calibri" charset="0"/>
                      </a:endParaRPr>
                    </a:p>
                  </a:txBody>
                  <a:tcPr marL="67733" marR="67733" marT="33867" marB="33867"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lgn="l">
                        <a:buNone/>
                      </a:pPr>
                      <a:r>
                        <a:rPr lang="en-US" sz="2000" b="1" dirty="0">
                          <a:solidFill>
                            <a:srgbClr val="9C7611"/>
                          </a:solidFill>
                          <a:latin typeface="Calibri" pitchFamily="34" charset="0"/>
                          <a:ea typeface="Calibri" pitchFamily="34" charset="-122"/>
                          <a:cs typeface="Calibri" pitchFamily="34" charset="-120"/>
                        </a:rPr>
                        <a:t>Fine-tuning</a:t>
                      </a:r>
                      <a:endParaRPr lang="en-US" sz="2000" dirty="0">
                        <a:latin typeface="Calibri" charset="0"/>
                        <a:ea typeface="Calibri" charset="0"/>
                        <a:cs typeface="Calibri" charset="0"/>
                      </a:endParaRPr>
                    </a:p>
                  </a:txBody>
                  <a:tcPr marL="84667" marR="84667" marT="33867" marB="33867"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33333"/>
                          </a:solidFill>
                          <a:latin typeface="Calibri" pitchFamily="34" charset="0"/>
                          <a:ea typeface="Calibri" pitchFamily="34" charset="-122"/>
                          <a:cs typeface="Calibri" pitchFamily="34" charset="-120"/>
                        </a:rPr>
                        <a:t>(training-based)</a:t>
                      </a:r>
                      <a:endParaRPr lang="en-US" sz="2000" dirty="0">
                        <a:latin typeface="Calibri" charset="0"/>
                        <a:ea typeface="Calibri" charset="0"/>
                        <a:cs typeface="Calibri" charset="0"/>
                      </a:endParaRPr>
                    </a:p>
                  </a:txBody>
                  <a:tcPr marL="84667" marR="84667" marT="33867" marB="33867"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33333"/>
                          </a:solidFill>
                          <a:latin typeface="Calibri" pitchFamily="34" charset="0"/>
                          <a:ea typeface="Calibri" pitchFamily="34" charset="-122"/>
                          <a:cs typeface="Calibri" pitchFamily="34" charset="-120"/>
                        </a:rPr>
                        <a:t>In the weights · training time</a:t>
                      </a:r>
                      <a:endParaRPr lang="en-US" sz="2000" dirty="0">
                        <a:latin typeface="Calibri" charset="0"/>
                        <a:ea typeface="Calibri" charset="0"/>
                        <a:cs typeface="Calibri" charset="0"/>
                      </a:endParaRPr>
                    </a:p>
                  </a:txBody>
                  <a:tcPr marL="84667" marR="84667" marT="33867" marB="33867"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33333"/>
                          </a:solidFill>
                          <a:latin typeface="Calibri" pitchFamily="34" charset="0"/>
                          <a:ea typeface="Calibri" pitchFamily="34" charset="-122"/>
                          <a:cs typeface="Calibri" pitchFamily="34" charset="-120"/>
                        </a:rPr>
                        <a:t>Soft — one format, costly to change</a:t>
                      </a:r>
                      <a:endParaRPr lang="en-US" sz="2000" dirty="0">
                        <a:latin typeface="Calibri" charset="0"/>
                        <a:ea typeface="Calibri" charset="0"/>
                        <a:cs typeface="Calibri" charset="0"/>
                      </a:endParaRPr>
                    </a:p>
                  </a:txBody>
                  <a:tcPr marL="84667" marR="84667" marT="33867" marB="33867"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4159448652"/>
                  </a:ext>
                </a:extLst>
              </a:tr>
              <a:tr h="512064">
                <a:tc>
                  <a:txBody>
                    <a:bodyPr/>
                    <a:lstStyle/>
                    <a:p>
                      <a:pPr marL="0" indent="0" algn="l">
                        <a:buNone/>
                      </a:pPr>
                      <a:r>
                        <a:rPr lang="en-US" sz="2000" b="1" dirty="0">
                          <a:solidFill>
                            <a:srgbClr val="9C7611"/>
                          </a:solidFill>
                          <a:latin typeface="Calibri" pitchFamily="34" charset="0"/>
                          <a:ea typeface="Calibri" pitchFamily="34" charset="-122"/>
                          <a:cs typeface="Calibri" pitchFamily="34" charset="-120"/>
                        </a:rPr>
                        <a:t>JSON mode</a:t>
                      </a:r>
                      <a:endParaRPr lang="en-US" sz="2000" dirty="0">
                        <a:latin typeface="Calibri" charset="0"/>
                        <a:ea typeface="Calibri" charset="0"/>
                        <a:cs typeface="Calibri" charset="0"/>
                      </a:endParaRPr>
                    </a:p>
                  </a:txBody>
                  <a:tcPr marL="67733" marR="67733" marT="33867" marB="33867"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6FA"/>
                    </a:solidFill>
                  </a:tcPr>
                </a:tc>
                <a:tc>
                  <a:txBody>
                    <a:bodyPr/>
                    <a:lstStyle/>
                    <a:p>
                      <a:pPr marL="0" indent="0" algn="l">
                        <a:buNone/>
                      </a:pPr>
                      <a:r>
                        <a:rPr lang="en-US" sz="2000" dirty="0">
                          <a:solidFill>
                            <a:srgbClr val="333333"/>
                          </a:solidFill>
                          <a:latin typeface="Calibri" pitchFamily="34" charset="0"/>
                          <a:ea typeface="Calibri" pitchFamily="34" charset="-122"/>
                          <a:cs typeface="Calibri" pitchFamily="34" charset="-120"/>
                        </a:rPr>
                        <a:t>Structured Generation</a:t>
                      </a:r>
                      <a:endParaRPr lang="en-US" sz="2000" dirty="0">
                        <a:latin typeface="Calibri" charset="0"/>
                        <a:ea typeface="Calibri" charset="0"/>
                        <a:cs typeface="Calibri" charset="0"/>
                      </a:endParaRPr>
                    </a:p>
                  </a:txBody>
                  <a:tcPr marL="67733" marR="67733" marT="33867" marB="33867"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6FA"/>
                    </a:solidFill>
                  </a:tcPr>
                </a:tc>
                <a:tc>
                  <a:txBody>
                    <a:bodyPr/>
                    <a:lstStyle/>
                    <a:p>
                      <a:pPr marL="0" indent="0" algn="l">
                        <a:buNone/>
                      </a:pPr>
                      <a:r>
                        <a:rPr lang="en-US" sz="2000" dirty="0">
                          <a:solidFill>
                            <a:srgbClr val="333333"/>
                          </a:solidFill>
                          <a:latin typeface="Calibri" pitchFamily="34" charset="0"/>
                          <a:ea typeface="Calibri" pitchFamily="34" charset="-122"/>
                          <a:cs typeface="Calibri" pitchFamily="34" charset="-120"/>
                        </a:rPr>
                        <a:t>During · generic JSON grammar</a:t>
                      </a:r>
                      <a:endParaRPr lang="en-US" sz="2000" dirty="0">
                        <a:latin typeface="Calibri" charset="0"/>
                        <a:ea typeface="Calibri" charset="0"/>
                        <a:cs typeface="Calibri" charset="0"/>
                      </a:endParaRPr>
                    </a:p>
                  </a:txBody>
                  <a:tcPr marL="67733" marR="67733" marT="33867" marB="33867"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6FA"/>
                    </a:solidFill>
                  </a:tcPr>
                </a:tc>
                <a:tc>
                  <a:txBody>
                    <a:bodyPr/>
                    <a:lstStyle/>
                    <a:p>
                      <a:pPr marL="0" indent="0" algn="l">
                        <a:buNone/>
                      </a:pPr>
                      <a:r>
                        <a:rPr lang="en-US" sz="2000" dirty="0">
                          <a:solidFill>
                            <a:srgbClr val="333333"/>
                          </a:solidFill>
                          <a:latin typeface="Calibri" pitchFamily="34" charset="0"/>
                          <a:ea typeface="Calibri" pitchFamily="34" charset="-122"/>
                          <a:cs typeface="Calibri" pitchFamily="34" charset="-120"/>
                        </a:rPr>
                        <a:t>Valid syntax, not schema</a:t>
                      </a:r>
                      <a:endParaRPr lang="en-US" sz="2000" dirty="0">
                        <a:latin typeface="Calibri" charset="0"/>
                        <a:ea typeface="Calibri" charset="0"/>
                        <a:cs typeface="Calibri" charset="0"/>
                      </a:endParaRPr>
                    </a:p>
                  </a:txBody>
                  <a:tcPr marL="67733" marR="67733" marT="33867" marB="33867"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512064">
                <a:tc>
                  <a:txBody>
                    <a:bodyPr/>
                    <a:lstStyle/>
                    <a:p>
                      <a:pPr marL="0" indent="0" algn="l">
                        <a:buNone/>
                      </a:pPr>
                      <a:r>
                        <a:rPr lang="en-US" sz="2000" b="1" dirty="0">
                          <a:solidFill>
                            <a:srgbClr val="245E27"/>
                          </a:solidFill>
                          <a:latin typeface="Calibri" pitchFamily="34" charset="0"/>
                          <a:ea typeface="Calibri" pitchFamily="34" charset="-122"/>
                          <a:cs typeface="Calibri" pitchFamily="34" charset="-120"/>
                        </a:rPr>
                        <a:t>Constrained decoding</a:t>
                      </a:r>
                      <a:endParaRPr lang="en-US" sz="2000" dirty="0">
                        <a:latin typeface="Calibri" charset="0"/>
                        <a:ea typeface="Calibri" charset="0"/>
                        <a:cs typeface="Calibri" charset="0"/>
                      </a:endParaRPr>
                    </a:p>
                  </a:txBody>
                  <a:tcPr marL="67733" marR="67733" marT="33867" marB="33867"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33333"/>
                          </a:solidFill>
                          <a:latin typeface="Calibri" pitchFamily="34" charset="0"/>
                          <a:ea typeface="Calibri" pitchFamily="34" charset="-122"/>
                          <a:cs typeface="Calibri" pitchFamily="34" charset="-120"/>
                        </a:rPr>
                        <a:t>Constrained Decoding</a:t>
                      </a:r>
                      <a:endParaRPr lang="en-US" sz="2000" dirty="0">
                        <a:latin typeface="Calibri" charset="0"/>
                        <a:ea typeface="Calibri" charset="0"/>
                        <a:cs typeface="Calibri" charset="0"/>
                      </a:endParaRPr>
                    </a:p>
                  </a:txBody>
                  <a:tcPr marL="67733" marR="67733" marT="33867" marB="33867"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33333"/>
                          </a:solidFill>
                          <a:latin typeface="Calibri" pitchFamily="34" charset="0"/>
                          <a:ea typeface="Calibri" pitchFamily="34" charset="-122"/>
                          <a:cs typeface="Calibri" pitchFamily="34" charset="-120"/>
                        </a:rPr>
                        <a:t>During · schema-specific FSM</a:t>
                      </a:r>
                      <a:endParaRPr lang="en-US" sz="2000" dirty="0">
                        <a:latin typeface="Calibri" charset="0"/>
                        <a:ea typeface="Calibri" charset="0"/>
                        <a:cs typeface="Calibri" charset="0"/>
                      </a:endParaRPr>
                    </a:p>
                  </a:txBody>
                  <a:tcPr marL="67733" marR="67733" marT="33867" marB="33867"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33333"/>
                          </a:solidFill>
                          <a:latin typeface="Calibri" pitchFamily="34" charset="0"/>
                          <a:ea typeface="Calibri" pitchFamily="34" charset="-122"/>
                          <a:cs typeface="Calibri" pitchFamily="34" charset="-120"/>
                        </a:rPr>
                        <a:t>Hard schema compliance</a:t>
                      </a:r>
                      <a:endParaRPr lang="en-US" sz="2000" dirty="0">
                        <a:latin typeface="Calibri" charset="0"/>
                        <a:ea typeface="Calibri" charset="0"/>
                        <a:cs typeface="Calibri" charset="0"/>
                      </a:endParaRPr>
                    </a:p>
                  </a:txBody>
                  <a:tcPr marL="67733" marR="67733" marT="33867" marB="33867"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3" name="Text 20"/>
          <p:cNvSpPr/>
          <p:nvPr/>
        </p:nvSpPr>
        <p:spPr>
          <a:xfrm>
            <a:off x="161214" y="5686357"/>
            <a:ext cx="11996928" cy="804672"/>
          </a:xfrm>
          <a:prstGeom prst="rect">
            <a:avLst/>
          </a:prstGeom>
          <a:solidFill>
            <a:schemeClr val="accent1">
              <a:lumMod val="40000"/>
              <a:lumOff val="60000"/>
            </a:schemeClr>
          </a:solidFill>
          <a:ln/>
        </p:spPr>
        <p:txBody>
          <a:bodyPr wrap="square" lIns="0" tIns="0" rIns="0" bIns="0" rtlCol="0" anchor="ctr"/>
          <a:lstStyle/>
          <a:p>
            <a:r>
              <a:rPr lang="en-US" sz="2000" b="1" dirty="0">
                <a:solidFill>
                  <a:srgbClr val="1F3864"/>
                </a:solidFill>
                <a:latin typeface="Cambria" panose="02040503050406030204" pitchFamily="18" charset="0"/>
                <a:ea typeface="Cambria" panose="02040503050406030204" pitchFamily="18" charset="0"/>
                <a:cs typeface="Calibri" pitchFamily="34" charset="-120"/>
              </a:rPr>
              <a:t>C</a:t>
            </a:r>
            <a:r>
              <a:rPr lang="en-US" sz="2000" dirty="0">
                <a:solidFill>
                  <a:srgbClr val="333333"/>
                </a:solidFill>
                <a:latin typeface="Cambria" panose="02040503050406030204" pitchFamily="18" charset="0"/>
                <a:ea typeface="Cambria" panose="02040503050406030204" pitchFamily="18" charset="0"/>
                <a:cs typeface="Calibri" pitchFamily="34" charset="-120"/>
              </a:rPr>
              <a:t>onstrain generation to guarantee the </a:t>
            </a:r>
            <a:r>
              <a:rPr lang="en-US" sz="2000" b="1" dirty="0">
                <a:solidFill>
                  <a:srgbClr val="245E27"/>
                </a:solidFill>
                <a:latin typeface="Cambria" panose="02040503050406030204" pitchFamily="18" charset="0"/>
                <a:ea typeface="Cambria" panose="02040503050406030204" pitchFamily="18" charset="0"/>
                <a:cs typeface="Calibri" pitchFamily="34" charset="-120"/>
              </a:rPr>
              <a:t>shape</a:t>
            </a:r>
            <a:r>
              <a:rPr lang="en-US" sz="2000" dirty="0">
                <a:solidFill>
                  <a:srgbClr val="333333"/>
                </a:solidFill>
                <a:latin typeface="Cambria" panose="02040503050406030204" pitchFamily="18" charset="0"/>
                <a:ea typeface="Cambria" panose="02040503050406030204" pitchFamily="18" charset="0"/>
                <a:cs typeface="Calibri" pitchFamily="34" charset="-120"/>
              </a:rPr>
              <a:t>;  verify output to guarantee </a:t>
            </a:r>
            <a:r>
              <a:rPr lang="en-US" sz="2000" b="1" dirty="0">
                <a:solidFill>
                  <a:srgbClr val="236B6B"/>
                </a:solidFill>
                <a:latin typeface="Cambria" panose="02040503050406030204" pitchFamily="18" charset="0"/>
                <a:ea typeface="Cambria" panose="02040503050406030204" pitchFamily="18" charset="0"/>
                <a:cs typeface="Calibri" pitchFamily="34" charset="-120"/>
              </a:rPr>
              <a:t>meaning</a:t>
            </a:r>
            <a:r>
              <a:rPr lang="en-US" sz="2000" dirty="0">
                <a:solidFill>
                  <a:srgbClr val="333333"/>
                </a:solidFill>
                <a:latin typeface="Cambria" panose="02040503050406030204" pitchFamily="18" charset="0"/>
                <a:ea typeface="Cambria" panose="02040503050406030204" pitchFamily="18" charset="0"/>
                <a:cs typeface="Calibri" pitchFamily="34" charset="-120"/>
              </a:rPr>
              <a:t>.  Robust systems do both.</a:t>
            </a: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9349332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66961" y="239827"/>
            <a:ext cx="11338560" cy="609600"/>
          </a:xfrm>
          <a:prstGeom prst="rect">
            <a:avLst/>
          </a:prstGeom>
        </p:spPr>
        <p:txBody>
          <a:bodyPr vert="horz" lIns="91440" tIns="45720" rIns="91440" bIns="45720" rtlCol="0" anchor="ctr">
            <a:normAutofit lnSpcReduction="10000"/>
          </a:bodyPr>
          <a:lstStyle/>
          <a:p>
            <a:r>
              <a:rPr lang="en-US" sz="3600" dirty="0">
                <a:latin typeface="Cambria" panose="02040503050406030204" pitchFamily="18" charset="0"/>
                <a:ea typeface="Cambria" panose="02040503050406030204" pitchFamily="18" charset="0"/>
                <a:cs typeface="+mj-cs"/>
              </a:rPr>
              <a:t>Output Verification</a:t>
            </a:r>
          </a:p>
        </p:txBody>
      </p:sp>
      <p:sp>
        <p:nvSpPr>
          <p:cNvPr id="5" name="Shape 3"/>
          <p:cNvSpPr/>
          <p:nvPr/>
        </p:nvSpPr>
        <p:spPr>
          <a:xfrm>
            <a:off x="609600" y="1828800"/>
            <a:ext cx="6644640" cy="1036320"/>
          </a:xfrm>
          <a:prstGeom prst="roundRect">
            <a:avLst>
              <a:gd name="adj" fmla="val 5882"/>
            </a:avLst>
          </a:prstGeom>
          <a:solidFill>
            <a:srgbClr val="E6F0E6"/>
          </a:solidFill>
          <a:ln w="12700">
            <a:solidFill>
              <a:srgbClr val="2E7D32"/>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6" name="Shape 4"/>
          <p:cNvSpPr/>
          <p:nvPr/>
        </p:nvSpPr>
        <p:spPr>
          <a:xfrm>
            <a:off x="755904" y="1975104"/>
            <a:ext cx="609600" cy="487680"/>
          </a:xfrm>
          <a:prstGeom prst="roundRect">
            <a:avLst>
              <a:gd name="adj" fmla="val 10000"/>
            </a:avLst>
          </a:prstGeom>
          <a:solidFill>
            <a:srgbClr val="2E7D32"/>
          </a:solidFill>
          <a:ln/>
        </p:spPr>
        <p:txBody>
          <a:bodyPr/>
          <a:lstStyle/>
          <a:p>
            <a:endParaRPr lang="en-IN" sz="2000">
              <a:latin typeface="Cambria" panose="02040503050406030204" pitchFamily="18" charset="0"/>
              <a:ea typeface="Cambria" panose="02040503050406030204" pitchFamily="18" charset="0"/>
            </a:endParaRPr>
          </a:p>
        </p:txBody>
      </p:sp>
      <p:sp>
        <p:nvSpPr>
          <p:cNvPr id="7" name="Text 5"/>
          <p:cNvSpPr/>
          <p:nvPr/>
        </p:nvSpPr>
        <p:spPr>
          <a:xfrm>
            <a:off x="755904" y="1975104"/>
            <a:ext cx="609600" cy="487680"/>
          </a:xfrm>
          <a:prstGeom prst="rect">
            <a:avLst/>
          </a:prstGeom>
          <a:noFill/>
          <a:ln/>
        </p:spPr>
        <p:txBody>
          <a:bodyPr wrap="square" lIns="0" tIns="0" rIns="0" bIns="0" rtlCol="0" anchor="ctr"/>
          <a:lstStyle/>
          <a:p>
            <a:pPr algn="ctr"/>
            <a:r>
              <a:rPr lang="en-US" sz="2000" b="1" dirty="0">
                <a:solidFill>
                  <a:srgbClr val="FFFFFF"/>
                </a:solidFill>
                <a:latin typeface="Cambria" panose="02040503050406030204" pitchFamily="18" charset="0"/>
                <a:ea typeface="Cambria" panose="02040503050406030204" pitchFamily="18" charset="0"/>
                <a:cs typeface="Calibri" pitchFamily="34" charset="-120"/>
              </a:rPr>
              <a:t>L1</a:t>
            </a:r>
            <a:endParaRPr lang="en-US" sz="2000" dirty="0">
              <a:latin typeface="Cambria" panose="02040503050406030204" pitchFamily="18" charset="0"/>
              <a:ea typeface="Cambria" panose="02040503050406030204" pitchFamily="18" charset="0"/>
            </a:endParaRPr>
          </a:p>
        </p:txBody>
      </p:sp>
      <p:sp>
        <p:nvSpPr>
          <p:cNvPr id="8" name="Text 6"/>
          <p:cNvSpPr/>
          <p:nvPr/>
        </p:nvSpPr>
        <p:spPr>
          <a:xfrm>
            <a:off x="1511808" y="1901952"/>
            <a:ext cx="5596128" cy="890016"/>
          </a:xfrm>
          <a:prstGeom prst="rect">
            <a:avLst/>
          </a:prstGeom>
          <a:noFill/>
          <a:ln/>
        </p:spPr>
        <p:txBody>
          <a:bodyPr wrap="square" lIns="0" tIns="0" rIns="0" bIns="0" rtlCol="0" anchor="ctr"/>
          <a:lstStyle/>
          <a:p>
            <a:r>
              <a:rPr lang="en-US" sz="2000" b="1" dirty="0">
                <a:solidFill>
                  <a:srgbClr val="245E27"/>
                </a:solidFill>
                <a:latin typeface="Cambria" panose="02040503050406030204" pitchFamily="18" charset="0"/>
                <a:ea typeface="Cambria" panose="02040503050406030204" pitchFamily="18" charset="0"/>
                <a:cs typeface="Calibri" pitchFamily="34" charset="-120"/>
              </a:rPr>
              <a:t>Syntactic   </a:t>
            </a:r>
            <a:r>
              <a:rPr lang="en-US" sz="2000" dirty="0">
                <a:solidFill>
                  <a:srgbClr val="333333"/>
                </a:solidFill>
                <a:latin typeface="Cambria" panose="02040503050406030204" pitchFamily="18" charset="0"/>
                <a:ea typeface="Cambria" panose="02040503050406030204" pitchFamily="18" charset="0"/>
                <a:cs typeface="Calibri" pitchFamily="34" charset="-120"/>
              </a:rPr>
              <a:t>Does it parse at all? (valid JSON / expected format)</a:t>
            </a:r>
            <a:endParaRPr lang="en-US" sz="2000" dirty="0">
              <a:latin typeface="Cambria" panose="02040503050406030204" pitchFamily="18" charset="0"/>
              <a:ea typeface="Cambria" panose="02040503050406030204" pitchFamily="18" charset="0"/>
            </a:endParaRPr>
          </a:p>
          <a:p>
            <a:r>
              <a:rPr lang="en-US" sz="2000" b="1" dirty="0">
                <a:solidFill>
                  <a:srgbClr val="5A5A5A"/>
                </a:solidFill>
                <a:latin typeface="Cambria" panose="02040503050406030204" pitchFamily="18" charset="0"/>
                <a:ea typeface="Cambria" panose="02040503050406030204" pitchFamily="18" charset="0"/>
                <a:cs typeface="Calibri" pitchFamily="34" charset="-120"/>
              </a:rPr>
              <a:t>How:  </a:t>
            </a:r>
            <a:r>
              <a:rPr lang="en-US" sz="2000" dirty="0">
                <a:solidFill>
                  <a:srgbClr val="5A5A5A"/>
                </a:solidFill>
                <a:latin typeface="Cambria" panose="02040503050406030204" pitchFamily="18" charset="0"/>
                <a:ea typeface="Cambria" panose="02040503050406030204" pitchFamily="18" charset="0"/>
                <a:cs typeface="Calibri" pitchFamily="34" charset="-120"/>
              </a:rPr>
              <a:t>a parser, e.g. json.loads  ·  deterministic</a:t>
            </a:r>
            <a:endParaRPr lang="en-US" sz="2000" dirty="0">
              <a:latin typeface="Cambria" panose="02040503050406030204" pitchFamily="18" charset="0"/>
              <a:ea typeface="Cambria" panose="02040503050406030204" pitchFamily="18" charset="0"/>
            </a:endParaRPr>
          </a:p>
        </p:txBody>
      </p:sp>
      <p:sp>
        <p:nvSpPr>
          <p:cNvPr id="9" name="Shape 7"/>
          <p:cNvSpPr/>
          <p:nvPr/>
        </p:nvSpPr>
        <p:spPr>
          <a:xfrm>
            <a:off x="609600" y="2962656"/>
            <a:ext cx="6644640" cy="1036320"/>
          </a:xfrm>
          <a:prstGeom prst="roundRect">
            <a:avLst>
              <a:gd name="adj" fmla="val 5882"/>
            </a:avLst>
          </a:prstGeom>
          <a:solidFill>
            <a:srgbClr val="EAEEF6"/>
          </a:solidFill>
          <a:ln w="12700">
            <a:solidFill>
              <a:srgbClr val="1F3864"/>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10" name="Shape 8"/>
          <p:cNvSpPr/>
          <p:nvPr/>
        </p:nvSpPr>
        <p:spPr>
          <a:xfrm>
            <a:off x="755904" y="3108960"/>
            <a:ext cx="609600" cy="487680"/>
          </a:xfrm>
          <a:prstGeom prst="roundRect">
            <a:avLst>
              <a:gd name="adj" fmla="val 10000"/>
            </a:avLst>
          </a:prstGeom>
          <a:solidFill>
            <a:srgbClr val="1F3864"/>
          </a:solidFill>
          <a:ln/>
        </p:spPr>
        <p:txBody>
          <a:bodyPr/>
          <a:lstStyle/>
          <a:p>
            <a:endParaRPr lang="en-IN" sz="2000">
              <a:latin typeface="Cambria" panose="02040503050406030204" pitchFamily="18" charset="0"/>
              <a:ea typeface="Cambria" panose="02040503050406030204" pitchFamily="18" charset="0"/>
            </a:endParaRPr>
          </a:p>
        </p:txBody>
      </p:sp>
      <p:sp>
        <p:nvSpPr>
          <p:cNvPr id="11" name="Text 9"/>
          <p:cNvSpPr/>
          <p:nvPr/>
        </p:nvSpPr>
        <p:spPr>
          <a:xfrm>
            <a:off x="755904" y="3108960"/>
            <a:ext cx="609600" cy="487680"/>
          </a:xfrm>
          <a:prstGeom prst="rect">
            <a:avLst/>
          </a:prstGeom>
          <a:noFill/>
          <a:ln/>
        </p:spPr>
        <p:txBody>
          <a:bodyPr wrap="square" lIns="0" tIns="0" rIns="0" bIns="0" rtlCol="0" anchor="ctr"/>
          <a:lstStyle/>
          <a:p>
            <a:pPr algn="ctr"/>
            <a:r>
              <a:rPr lang="en-US" sz="2000" b="1" dirty="0">
                <a:solidFill>
                  <a:srgbClr val="FFFFFF"/>
                </a:solidFill>
                <a:latin typeface="Cambria" panose="02040503050406030204" pitchFamily="18" charset="0"/>
                <a:ea typeface="Cambria" panose="02040503050406030204" pitchFamily="18" charset="0"/>
                <a:cs typeface="Calibri" pitchFamily="34" charset="-120"/>
              </a:rPr>
              <a:t>L2</a:t>
            </a:r>
            <a:endParaRPr lang="en-US" sz="2000" dirty="0">
              <a:latin typeface="Cambria" panose="02040503050406030204" pitchFamily="18" charset="0"/>
              <a:ea typeface="Cambria" panose="02040503050406030204" pitchFamily="18" charset="0"/>
            </a:endParaRPr>
          </a:p>
        </p:txBody>
      </p:sp>
      <p:sp>
        <p:nvSpPr>
          <p:cNvPr id="12" name="Text 10"/>
          <p:cNvSpPr/>
          <p:nvPr/>
        </p:nvSpPr>
        <p:spPr>
          <a:xfrm>
            <a:off x="1511808" y="3044434"/>
            <a:ext cx="5596128" cy="890016"/>
          </a:xfrm>
          <a:prstGeom prst="rect">
            <a:avLst/>
          </a:prstGeom>
          <a:noFill/>
          <a:ln/>
        </p:spPr>
        <p:txBody>
          <a:bodyPr wrap="square" lIns="0" tIns="0" rIns="0" bIns="0" rtlCol="0" anchor="ctr"/>
          <a:lstStyle/>
          <a:p>
            <a:r>
              <a:rPr lang="en-US" sz="2000" b="1" dirty="0">
                <a:solidFill>
                  <a:srgbClr val="1F3864"/>
                </a:solidFill>
                <a:latin typeface="Cambria" panose="02040503050406030204" pitchFamily="18" charset="0"/>
                <a:ea typeface="Cambria" panose="02040503050406030204" pitchFamily="18" charset="0"/>
                <a:cs typeface="Calibri" pitchFamily="34" charset="-120"/>
              </a:rPr>
              <a:t>Schema / structural   </a:t>
            </a:r>
            <a:r>
              <a:rPr lang="en-US" sz="2000" dirty="0">
                <a:solidFill>
                  <a:srgbClr val="333333"/>
                </a:solidFill>
                <a:latin typeface="Cambria" panose="02040503050406030204" pitchFamily="18" charset="0"/>
                <a:ea typeface="Cambria" panose="02040503050406030204" pitchFamily="18" charset="0"/>
                <a:cs typeface="Calibri" pitchFamily="34" charset="-120"/>
              </a:rPr>
              <a:t>Right keys, types, enums, required fields?</a:t>
            </a:r>
            <a:endParaRPr lang="en-US" sz="2000" dirty="0">
              <a:latin typeface="Cambria" panose="02040503050406030204" pitchFamily="18" charset="0"/>
              <a:ea typeface="Cambria" panose="02040503050406030204" pitchFamily="18" charset="0"/>
            </a:endParaRPr>
          </a:p>
          <a:p>
            <a:r>
              <a:rPr lang="en-US" sz="2000" b="1" dirty="0">
                <a:solidFill>
                  <a:srgbClr val="5A5A5A"/>
                </a:solidFill>
                <a:latin typeface="Cambria" panose="02040503050406030204" pitchFamily="18" charset="0"/>
                <a:ea typeface="Cambria" panose="02040503050406030204" pitchFamily="18" charset="0"/>
                <a:cs typeface="Calibri" pitchFamily="34" charset="-120"/>
              </a:rPr>
              <a:t>How:  </a:t>
            </a:r>
            <a:r>
              <a:rPr lang="en-US" sz="2000" dirty="0">
                <a:solidFill>
                  <a:srgbClr val="5A5A5A"/>
                </a:solidFill>
                <a:latin typeface="Cambria" panose="02040503050406030204" pitchFamily="18" charset="0"/>
                <a:ea typeface="Cambria" panose="02040503050406030204" pitchFamily="18" charset="0"/>
                <a:cs typeface="Calibri" pitchFamily="34" charset="-120"/>
              </a:rPr>
              <a:t>JSON Schema / Pydantic  ·  deterministic</a:t>
            </a:r>
            <a:endParaRPr lang="en-US" sz="2000" dirty="0">
              <a:latin typeface="Cambria" panose="02040503050406030204" pitchFamily="18" charset="0"/>
              <a:ea typeface="Cambria" panose="02040503050406030204" pitchFamily="18" charset="0"/>
            </a:endParaRPr>
          </a:p>
        </p:txBody>
      </p:sp>
      <p:sp>
        <p:nvSpPr>
          <p:cNvPr id="13" name="Shape 11"/>
          <p:cNvSpPr/>
          <p:nvPr/>
        </p:nvSpPr>
        <p:spPr>
          <a:xfrm>
            <a:off x="609600" y="4096512"/>
            <a:ext cx="6644640" cy="1292352"/>
          </a:xfrm>
          <a:prstGeom prst="roundRect">
            <a:avLst>
              <a:gd name="adj" fmla="val 4717"/>
            </a:avLst>
          </a:prstGeom>
          <a:solidFill>
            <a:srgbClr val="E6F1F0"/>
          </a:solidFill>
          <a:ln w="12700">
            <a:solidFill>
              <a:srgbClr val="2E8A8A"/>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14" name="Shape 12"/>
          <p:cNvSpPr/>
          <p:nvPr/>
        </p:nvSpPr>
        <p:spPr>
          <a:xfrm>
            <a:off x="755904" y="4242816"/>
            <a:ext cx="609600" cy="487680"/>
          </a:xfrm>
          <a:prstGeom prst="roundRect">
            <a:avLst>
              <a:gd name="adj" fmla="val 10000"/>
            </a:avLst>
          </a:prstGeom>
          <a:solidFill>
            <a:srgbClr val="2E8A8A"/>
          </a:solidFill>
          <a:ln/>
        </p:spPr>
        <p:txBody>
          <a:bodyPr/>
          <a:lstStyle/>
          <a:p>
            <a:endParaRPr lang="en-IN" sz="2000">
              <a:latin typeface="Cambria" panose="02040503050406030204" pitchFamily="18" charset="0"/>
              <a:ea typeface="Cambria" panose="02040503050406030204" pitchFamily="18" charset="0"/>
            </a:endParaRPr>
          </a:p>
        </p:txBody>
      </p:sp>
      <p:sp>
        <p:nvSpPr>
          <p:cNvPr id="15" name="Text 13"/>
          <p:cNvSpPr/>
          <p:nvPr/>
        </p:nvSpPr>
        <p:spPr>
          <a:xfrm>
            <a:off x="755904" y="4242816"/>
            <a:ext cx="609600" cy="487680"/>
          </a:xfrm>
          <a:prstGeom prst="rect">
            <a:avLst/>
          </a:prstGeom>
          <a:noFill/>
          <a:ln/>
        </p:spPr>
        <p:txBody>
          <a:bodyPr wrap="square" lIns="0" tIns="0" rIns="0" bIns="0" rtlCol="0" anchor="ctr"/>
          <a:lstStyle/>
          <a:p>
            <a:pPr algn="ctr"/>
            <a:r>
              <a:rPr lang="en-US" sz="2000" b="1" dirty="0">
                <a:solidFill>
                  <a:srgbClr val="FFFFFF"/>
                </a:solidFill>
                <a:latin typeface="Cambria" panose="02040503050406030204" pitchFamily="18" charset="0"/>
                <a:ea typeface="Cambria" panose="02040503050406030204" pitchFamily="18" charset="0"/>
                <a:cs typeface="Calibri" pitchFamily="34" charset="-120"/>
              </a:rPr>
              <a:t>L3</a:t>
            </a:r>
            <a:endParaRPr lang="en-US" sz="2000" dirty="0">
              <a:latin typeface="Cambria" panose="02040503050406030204" pitchFamily="18" charset="0"/>
              <a:ea typeface="Cambria" panose="02040503050406030204" pitchFamily="18" charset="0"/>
            </a:endParaRPr>
          </a:p>
        </p:txBody>
      </p:sp>
      <p:sp>
        <p:nvSpPr>
          <p:cNvPr id="16" name="Text 14"/>
          <p:cNvSpPr/>
          <p:nvPr/>
        </p:nvSpPr>
        <p:spPr>
          <a:xfrm>
            <a:off x="1511808" y="4169664"/>
            <a:ext cx="5596128" cy="1146048"/>
          </a:xfrm>
          <a:prstGeom prst="rect">
            <a:avLst/>
          </a:prstGeom>
          <a:noFill/>
          <a:ln/>
        </p:spPr>
        <p:txBody>
          <a:bodyPr wrap="square" lIns="0" tIns="0" rIns="0" bIns="0" rtlCol="0" anchor="ctr"/>
          <a:lstStyle/>
          <a:p>
            <a:r>
              <a:rPr lang="en-US" sz="2000" b="1" dirty="0">
                <a:solidFill>
                  <a:srgbClr val="236B6B"/>
                </a:solidFill>
                <a:latin typeface="Cambria" panose="02040503050406030204" pitchFamily="18" charset="0"/>
                <a:ea typeface="Cambria" panose="02040503050406030204" pitchFamily="18" charset="0"/>
                <a:cs typeface="Calibri" pitchFamily="34" charset="-120"/>
              </a:rPr>
              <a:t>Semantic / business rules   </a:t>
            </a:r>
            <a:r>
              <a:rPr lang="en-US" sz="2000" dirty="0">
                <a:solidFill>
                  <a:srgbClr val="333333"/>
                </a:solidFill>
                <a:latin typeface="Cambria" panose="02040503050406030204" pitchFamily="18" charset="0"/>
                <a:ea typeface="Cambria" panose="02040503050406030204" pitchFamily="18" charset="0"/>
                <a:cs typeface="Calibri" pitchFamily="34" charset="-120"/>
              </a:rPr>
              <a:t>Are the values actually correct &amp; safe? (dates in range, totals add up, IDs exist, content accurate)</a:t>
            </a:r>
            <a:endParaRPr lang="en-US" sz="2000" dirty="0">
              <a:latin typeface="Cambria" panose="02040503050406030204" pitchFamily="18" charset="0"/>
              <a:ea typeface="Cambria" panose="02040503050406030204" pitchFamily="18" charset="0"/>
            </a:endParaRPr>
          </a:p>
          <a:p>
            <a:r>
              <a:rPr lang="en-US" sz="2000" b="1" dirty="0">
                <a:solidFill>
                  <a:srgbClr val="5A5A5A"/>
                </a:solidFill>
                <a:latin typeface="Cambria" panose="02040503050406030204" pitchFamily="18" charset="0"/>
                <a:ea typeface="Cambria" panose="02040503050406030204" pitchFamily="18" charset="0"/>
                <a:cs typeface="Calibri" pitchFamily="34" charset="-120"/>
              </a:rPr>
              <a:t>How:  </a:t>
            </a:r>
            <a:r>
              <a:rPr lang="en-US" sz="2000" dirty="0">
                <a:solidFill>
                  <a:srgbClr val="5A5A5A"/>
                </a:solidFill>
                <a:latin typeface="Cambria" panose="02040503050406030204" pitchFamily="18" charset="0"/>
                <a:ea typeface="Cambria" panose="02040503050406030204" pitchFamily="18" charset="0"/>
                <a:cs typeface="Calibri" pitchFamily="34" charset="-120"/>
              </a:rPr>
              <a:t>coded rules where possible, else a model</a:t>
            </a:r>
            <a:endParaRPr lang="en-US" sz="2000" dirty="0">
              <a:latin typeface="Cambria" panose="02040503050406030204" pitchFamily="18" charset="0"/>
              <a:ea typeface="Cambria" panose="02040503050406030204" pitchFamily="18" charset="0"/>
            </a:endParaRPr>
          </a:p>
        </p:txBody>
      </p:sp>
      <p:sp>
        <p:nvSpPr>
          <p:cNvPr id="17" name="Shape 15"/>
          <p:cNvSpPr/>
          <p:nvPr/>
        </p:nvSpPr>
        <p:spPr>
          <a:xfrm>
            <a:off x="7498079" y="1828799"/>
            <a:ext cx="4609458" cy="3877937"/>
          </a:xfrm>
          <a:prstGeom prst="roundRect">
            <a:avLst>
              <a:gd name="adj" fmla="val 2055"/>
            </a:avLst>
          </a:prstGeom>
          <a:solidFill>
            <a:srgbClr val="F7F8FB"/>
          </a:solidFill>
          <a:ln w="9525">
            <a:solidFill>
              <a:srgbClr val="1F3864"/>
            </a:solidFill>
            <a:prstDash val="solid"/>
          </a:ln>
          <a:effectLst>
            <a:outerShdw blurRad="76200" dist="25400" dir="5400000" algn="bl" rotWithShape="0">
              <a:srgbClr val="000000">
                <a:alpha val="14000"/>
              </a:srgbClr>
            </a:outerShdw>
          </a:effectLst>
        </p:spPr>
        <p:txBody>
          <a:bodyPr/>
          <a:lstStyle/>
          <a:p>
            <a:pPr>
              <a:lnSpc>
                <a:spcPct val="102000"/>
              </a:lnSpc>
            </a:pPr>
            <a:r>
              <a:rPr lang="en-US" sz="2000" b="1" dirty="0">
                <a:solidFill>
                  <a:srgbClr val="245E27"/>
                </a:solidFill>
                <a:latin typeface="Cambria" panose="02040503050406030204" pitchFamily="18" charset="0"/>
                <a:ea typeface="Cambria" panose="02040503050406030204" pitchFamily="18" charset="0"/>
                <a:cs typeface="Calibri" pitchFamily="34" charset="-120"/>
              </a:rPr>
              <a:t>Deterministic (code)</a:t>
            </a:r>
            <a:endParaRPr lang="en-US" sz="2000" dirty="0">
              <a:latin typeface="Cambria" panose="02040503050406030204" pitchFamily="18" charset="0"/>
              <a:ea typeface="Cambria" panose="02040503050406030204" pitchFamily="18" charset="0"/>
            </a:endParaRPr>
          </a:p>
          <a:p>
            <a:pPr>
              <a:lnSpc>
                <a:spcPct val="102000"/>
              </a:lnSpc>
            </a:pPr>
            <a:r>
              <a:rPr lang="en-US" sz="2000" i="1" dirty="0">
                <a:solidFill>
                  <a:srgbClr val="5A5A5A"/>
                </a:solidFill>
                <a:latin typeface="Cambria" panose="02040503050406030204" pitchFamily="18" charset="0"/>
                <a:ea typeface="Cambria" panose="02040503050406030204" pitchFamily="18" charset="0"/>
                <a:cs typeface="Calibri" pitchFamily="34" charset="-120"/>
              </a:rPr>
              <a:t>fast · free · reliable</a:t>
            </a:r>
            <a:endParaRPr lang="en-US" sz="2000" dirty="0">
              <a:latin typeface="Cambria" panose="02040503050406030204" pitchFamily="18" charset="0"/>
              <a:ea typeface="Cambria" panose="02040503050406030204" pitchFamily="18" charset="0"/>
            </a:endParaRPr>
          </a:p>
          <a:p>
            <a:pPr marL="800100" lvl="1" indent="-342900">
              <a:lnSpc>
                <a:spcPct val="102000"/>
              </a:lnSpc>
              <a:buFont typeface="Arial" panose="020B0604020202020204" pitchFamily="34" charset="0"/>
              <a:buChar char="•"/>
            </a:pPr>
            <a:r>
              <a:rPr lang="en-US" sz="2000" dirty="0">
                <a:solidFill>
                  <a:srgbClr val="333333"/>
                </a:solidFill>
                <a:latin typeface="Cambria" panose="02040503050406030204" pitchFamily="18" charset="0"/>
                <a:ea typeface="Cambria" panose="02040503050406030204" pitchFamily="18" charset="0"/>
                <a:cs typeface="Calibri" pitchFamily="34" charset="-120"/>
              </a:rPr>
              <a:t>Schema validation (</a:t>
            </a:r>
            <a:r>
              <a:rPr lang="en-US" sz="2000" dirty="0" err="1">
                <a:solidFill>
                  <a:srgbClr val="333333"/>
                </a:solidFill>
                <a:latin typeface="Cambria" panose="02040503050406030204" pitchFamily="18" charset="0"/>
                <a:ea typeface="Cambria" panose="02040503050406030204" pitchFamily="18" charset="0"/>
                <a:cs typeface="Calibri" pitchFamily="34" charset="-120"/>
              </a:rPr>
              <a:t>Pydantic</a:t>
            </a:r>
            <a:r>
              <a:rPr lang="en-US" sz="2000" dirty="0">
                <a:solidFill>
                  <a:srgbClr val="333333"/>
                </a:solidFill>
                <a:latin typeface="Cambria" panose="02040503050406030204" pitchFamily="18" charset="0"/>
                <a:ea typeface="Cambria" panose="02040503050406030204" pitchFamily="18" charset="0"/>
                <a:cs typeface="Calibri" pitchFamily="34" charset="-120"/>
              </a:rPr>
              <a:t>)</a:t>
            </a:r>
            <a:endParaRPr lang="en-US" sz="2000" dirty="0">
              <a:latin typeface="Cambria" panose="02040503050406030204" pitchFamily="18" charset="0"/>
              <a:ea typeface="Cambria" panose="02040503050406030204" pitchFamily="18" charset="0"/>
            </a:endParaRPr>
          </a:p>
          <a:p>
            <a:pPr marL="800100" lvl="1" indent="-342900">
              <a:lnSpc>
                <a:spcPct val="102000"/>
              </a:lnSpc>
              <a:buFont typeface="Arial" panose="020B0604020202020204" pitchFamily="34" charset="0"/>
              <a:buChar char="•"/>
            </a:pPr>
            <a:r>
              <a:rPr lang="en-US" sz="2000" dirty="0">
                <a:solidFill>
                  <a:srgbClr val="333333"/>
                </a:solidFill>
                <a:latin typeface="Cambria" panose="02040503050406030204" pitchFamily="18" charset="0"/>
                <a:ea typeface="Cambria" panose="02040503050406030204" pitchFamily="18" charset="0"/>
                <a:cs typeface="Calibri" pitchFamily="34" charset="-120"/>
              </a:rPr>
              <a:t> Regex / pattern matching</a:t>
            </a:r>
            <a:endParaRPr lang="en-US" sz="2000" dirty="0">
              <a:latin typeface="Cambria" panose="02040503050406030204" pitchFamily="18" charset="0"/>
              <a:ea typeface="Cambria" panose="02040503050406030204" pitchFamily="18" charset="0"/>
            </a:endParaRPr>
          </a:p>
          <a:p>
            <a:pPr marL="800100" lvl="1" indent="-342900">
              <a:lnSpc>
                <a:spcPct val="102000"/>
              </a:lnSpc>
              <a:buFont typeface="Arial" panose="020B0604020202020204" pitchFamily="34" charset="0"/>
              <a:buChar char="•"/>
            </a:pPr>
            <a:r>
              <a:rPr lang="en-US" sz="2000" dirty="0">
                <a:solidFill>
                  <a:srgbClr val="333333"/>
                </a:solidFill>
                <a:latin typeface="Cambria" panose="02040503050406030204" pitchFamily="18" charset="0"/>
                <a:ea typeface="Cambria" panose="02040503050406030204" pitchFamily="18" charset="0"/>
                <a:cs typeface="Calibri" pitchFamily="34" charset="-120"/>
              </a:rPr>
              <a:t> Type &amp; range checks</a:t>
            </a:r>
            <a:endParaRPr lang="en-US" sz="2000" dirty="0">
              <a:latin typeface="Cambria" panose="02040503050406030204" pitchFamily="18" charset="0"/>
              <a:ea typeface="Cambria" panose="02040503050406030204" pitchFamily="18" charset="0"/>
            </a:endParaRPr>
          </a:p>
          <a:p>
            <a:pPr marL="800100" lvl="1" indent="-342900">
              <a:lnSpc>
                <a:spcPct val="102000"/>
              </a:lnSpc>
              <a:buFont typeface="Arial" panose="020B0604020202020204" pitchFamily="34" charset="0"/>
              <a:buChar char="•"/>
            </a:pPr>
            <a:r>
              <a:rPr lang="en-US" sz="2000" dirty="0">
                <a:solidFill>
                  <a:srgbClr val="333333"/>
                </a:solidFill>
                <a:latin typeface="Cambria" panose="02040503050406030204" pitchFamily="18" charset="0"/>
                <a:ea typeface="Cambria" panose="02040503050406030204" pitchFamily="18" charset="0"/>
                <a:cs typeface="Calibri" pitchFamily="34" charset="-120"/>
              </a:rPr>
              <a:t> Whitelist / blacklist</a:t>
            </a:r>
          </a:p>
          <a:p>
            <a:pPr>
              <a:lnSpc>
                <a:spcPct val="102000"/>
              </a:lnSpc>
            </a:pPr>
            <a:r>
              <a:rPr lang="en-US" sz="2000" b="1" dirty="0">
                <a:solidFill>
                  <a:srgbClr val="236B6B"/>
                </a:solidFill>
                <a:latin typeface="Cambria" panose="02040503050406030204" pitchFamily="18" charset="0"/>
                <a:ea typeface="Cambria" panose="02040503050406030204" pitchFamily="18" charset="0"/>
                <a:cs typeface="Calibri" pitchFamily="34" charset="-120"/>
              </a:rPr>
              <a:t>Model-based (LLM)</a:t>
            </a:r>
            <a:endParaRPr lang="en-US" sz="2000" dirty="0">
              <a:latin typeface="Cambria" panose="02040503050406030204" pitchFamily="18" charset="0"/>
              <a:ea typeface="Cambria" panose="02040503050406030204" pitchFamily="18" charset="0"/>
            </a:endParaRPr>
          </a:p>
          <a:p>
            <a:pPr>
              <a:lnSpc>
                <a:spcPct val="102000"/>
              </a:lnSpc>
            </a:pPr>
            <a:r>
              <a:rPr lang="en-US" sz="2000" i="1" dirty="0">
                <a:solidFill>
                  <a:srgbClr val="5A5A5A"/>
                </a:solidFill>
                <a:latin typeface="Cambria" panose="02040503050406030204" pitchFamily="18" charset="0"/>
                <a:ea typeface="Cambria" panose="02040503050406030204" pitchFamily="18" charset="0"/>
                <a:cs typeface="Calibri" pitchFamily="34" charset="-120"/>
              </a:rPr>
              <a:t>for judgments code can’t express</a:t>
            </a:r>
            <a:endParaRPr lang="en-US" sz="2000" dirty="0">
              <a:latin typeface="Cambria" panose="02040503050406030204" pitchFamily="18" charset="0"/>
              <a:ea typeface="Cambria" panose="02040503050406030204" pitchFamily="18" charset="0"/>
            </a:endParaRPr>
          </a:p>
          <a:p>
            <a:pPr marL="800100" lvl="1" indent="-342900">
              <a:lnSpc>
                <a:spcPct val="102000"/>
              </a:lnSpc>
              <a:buFont typeface="Arial" panose="020B0604020202020204" pitchFamily="34" charset="0"/>
              <a:buChar char="•"/>
            </a:pPr>
            <a:r>
              <a:rPr lang="en-US" sz="2000" dirty="0">
                <a:solidFill>
                  <a:srgbClr val="333333"/>
                </a:solidFill>
                <a:latin typeface="Cambria" panose="02040503050406030204" pitchFamily="18" charset="0"/>
                <a:ea typeface="Cambria" panose="02040503050406030204" pitchFamily="18" charset="0"/>
                <a:cs typeface="Calibri" pitchFamily="34" charset="-120"/>
              </a:rPr>
              <a:t>Self-verification</a:t>
            </a:r>
            <a:endParaRPr lang="en-US" sz="2000" dirty="0">
              <a:latin typeface="Cambria" panose="02040503050406030204" pitchFamily="18" charset="0"/>
              <a:ea typeface="Cambria" panose="02040503050406030204" pitchFamily="18" charset="0"/>
            </a:endParaRPr>
          </a:p>
          <a:p>
            <a:pPr marL="800100" lvl="1" indent="-342900">
              <a:lnSpc>
                <a:spcPct val="102000"/>
              </a:lnSpc>
              <a:buFont typeface="Arial" panose="020B0604020202020204" pitchFamily="34" charset="0"/>
              <a:buChar char="•"/>
            </a:pPr>
            <a:r>
              <a:rPr lang="en-US" sz="2000" dirty="0">
                <a:solidFill>
                  <a:srgbClr val="333333"/>
                </a:solidFill>
                <a:latin typeface="Cambria" panose="02040503050406030204" pitchFamily="18" charset="0"/>
                <a:ea typeface="Cambria" panose="02040503050406030204" pitchFamily="18" charset="0"/>
                <a:cs typeface="Calibri" pitchFamily="34" charset="-120"/>
              </a:rPr>
              <a:t>Chain-of-Verification (</a:t>
            </a:r>
            <a:r>
              <a:rPr lang="en-US" sz="2000" dirty="0" err="1">
                <a:solidFill>
                  <a:srgbClr val="333333"/>
                </a:solidFill>
                <a:latin typeface="Cambria" panose="02040503050406030204" pitchFamily="18" charset="0"/>
                <a:ea typeface="Cambria" panose="02040503050406030204" pitchFamily="18" charset="0"/>
                <a:cs typeface="Calibri" pitchFamily="34" charset="-120"/>
              </a:rPr>
              <a:t>CoVe</a:t>
            </a:r>
            <a:r>
              <a:rPr lang="en-US" sz="2000" dirty="0">
                <a:solidFill>
                  <a:srgbClr val="333333"/>
                </a:solidFill>
                <a:latin typeface="Cambria" panose="02040503050406030204" pitchFamily="18" charset="0"/>
                <a:ea typeface="Cambria" panose="02040503050406030204" pitchFamily="18" charset="0"/>
                <a:cs typeface="Calibri" pitchFamily="34" charset="-120"/>
              </a:rPr>
              <a:t>)</a:t>
            </a:r>
            <a:endParaRPr lang="en-US" sz="2000" dirty="0">
              <a:latin typeface="Cambria" panose="02040503050406030204" pitchFamily="18" charset="0"/>
              <a:ea typeface="Cambria" panose="02040503050406030204" pitchFamily="18" charset="0"/>
            </a:endParaRPr>
          </a:p>
          <a:p>
            <a:pPr marL="800100" lvl="1" indent="-342900">
              <a:lnSpc>
                <a:spcPct val="102000"/>
              </a:lnSpc>
              <a:buFont typeface="Arial" panose="020B0604020202020204" pitchFamily="34" charset="0"/>
              <a:buChar char="•"/>
            </a:pPr>
            <a:r>
              <a:rPr lang="en-US" sz="2000" dirty="0">
                <a:solidFill>
                  <a:srgbClr val="333333"/>
                </a:solidFill>
                <a:latin typeface="Cambria" panose="02040503050406030204" pitchFamily="18" charset="0"/>
                <a:ea typeface="Cambria" panose="02040503050406030204" pitchFamily="18" charset="0"/>
                <a:cs typeface="Calibri" pitchFamily="34" charset="-120"/>
              </a:rPr>
              <a:t>Verifier agent (separate model)</a:t>
            </a:r>
            <a:endParaRPr lang="en-US" sz="2000" dirty="0">
              <a:latin typeface="Cambria" panose="02040503050406030204" pitchFamily="18" charset="0"/>
              <a:ea typeface="Cambria" panose="02040503050406030204" pitchFamily="18" charset="0"/>
            </a:endParaRPr>
          </a:p>
          <a:p>
            <a:pPr marL="800100" lvl="1" indent="-342900">
              <a:lnSpc>
                <a:spcPct val="102000"/>
              </a:lnSpc>
              <a:buFont typeface="Arial" panose="020B0604020202020204" pitchFamily="34" charset="0"/>
              <a:buChar char="•"/>
            </a:pPr>
            <a:r>
              <a:rPr lang="en-US" sz="2000" dirty="0">
                <a:solidFill>
                  <a:srgbClr val="333333"/>
                </a:solidFill>
                <a:latin typeface="Cambria" panose="02040503050406030204" pitchFamily="18" charset="0"/>
                <a:ea typeface="Cambria" panose="02040503050406030204" pitchFamily="18" charset="0"/>
                <a:cs typeface="Calibri" pitchFamily="34" charset="-120"/>
              </a:rPr>
              <a:t>LLM-as-checker</a:t>
            </a:r>
            <a:endParaRPr lang="en-US" sz="2000" dirty="0">
              <a:latin typeface="Cambria" panose="02040503050406030204" pitchFamily="18" charset="0"/>
              <a:ea typeface="Cambria" panose="02040503050406030204" pitchFamily="18" charset="0"/>
            </a:endParaRPr>
          </a:p>
          <a:p>
            <a:pPr>
              <a:lnSpc>
                <a:spcPct val="102000"/>
              </a:lnSpc>
            </a:pPr>
            <a:endParaRPr lang="en-IN" sz="2000" dirty="0">
              <a:latin typeface="Cambria" panose="02040503050406030204" pitchFamily="18" charset="0"/>
              <a:ea typeface="Cambria" panose="02040503050406030204" pitchFamily="18" charset="0"/>
            </a:endParaRPr>
          </a:p>
        </p:txBody>
      </p:sp>
      <p:sp>
        <p:nvSpPr>
          <p:cNvPr id="19" name="Text 17"/>
          <p:cNvSpPr/>
          <p:nvPr/>
        </p:nvSpPr>
        <p:spPr>
          <a:xfrm>
            <a:off x="8546592" y="1657304"/>
            <a:ext cx="3645408" cy="1463040"/>
          </a:xfrm>
          <a:prstGeom prst="rect">
            <a:avLst/>
          </a:prstGeom>
          <a:noFill/>
          <a:ln/>
        </p:spPr>
        <p:txBody>
          <a:bodyPr wrap="square" lIns="0" tIns="0" rIns="0" bIns="0" rtlCol="0" anchor="t"/>
          <a:lstStyle/>
          <a:p>
            <a:pPr>
              <a:lnSpc>
                <a:spcPct val="102000"/>
              </a:lnSpc>
            </a:pPr>
            <a:endParaRPr lang="en-US" sz="2000" dirty="0">
              <a:latin typeface="Cambria" panose="02040503050406030204" pitchFamily="18" charset="0"/>
              <a:ea typeface="Cambria" panose="02040503050406030204" pitchFamily="18" charset="0"/>
            </a:endParaRPr>
          </a:p>
        </p:txBody>
      </p:sp>
      <p:sp>
        <p:nvSpPr>
          <p:cNvPr id="21" name="Shape 19"/>
          <p:cNvSpPr/>
          <p:nvPr/>
        </p:nvSpPr>
        <p:spPr>
          <a:xfrm>
            <a:off x="356212" y="5853040"/>
            <a:ext cx="10972800" cy="829056"/>
          </a:xfrm>
          <a:prstGeom prst="roundRect">
            <a:avLst>
              <a:gd name="adj" fmla="val 8824"/>
            </a:avLst>
          </a:prstGeom>
          <a:solidFill>
            <a:srgbClr val="EAEEF6"/>
          </a:solidFill>
          <a:ln w="9525">
            <a:solidFill>
              <a:srgbClr val="1F3864"/>
            </a:solidFill>
            <a:prstDash val="solid"/>
          </a:ln>
          <a:effectLst>
            <a:outerShdw blurRad="76200" dist="25400" dir="5400000" algn="bl" rotWithShape="0">
              <a:srgbClr val="000000">
                <a:alpha val="14000"/>
              </a:srgbClr>
            </a:outerShdw>
          </a:effectLst>
        </p:spPr>
        <p:txBody>
          <a:bodyPr/>
          <a:lstStyle/>
          <a:p>
            <a:r>
              <a:rPr lang="en-US" sz="2000" b="1" dirty="0">
                <a:solidFill>
                  <a:srgbClr val="1F3864"/>
                </a:solidFill>
                <a:latin typeface="Cambria" panose="02040503050406030204" pitchFamily="18" charset="0"/>
                <a:ea typeface="Cambria" panose="02040503050406030204" pitchFamily="18" charset="0"/>
                <a:cs typeface="Calibri" pitchFamily="34" charset="-120"/>
              </a:rPr>
              <a:t>Rule of thumb:  </a:t>
            </a:r>
            <a:r>
              <a:rPr lang="en-US" sz="2000" dirty="0">
                <a:solidFill>
                  <a:srgbClr val="333333"/>
                </a:solidFill>
                <a:latin typeface="Cambria" panose="02040503050406030204" pitchFamily="18" charset="0"/>
                <a:ea typeface="Cambria" panose="02040503050406030204" pitchFamily="18" charset="0"/>
                <a:cs typeface="Calibri" pitchFamily="34" charset="-120"/>
              </a:rPr>
              <a:t>push each check to the cheapest layer that can catch it — </a:t>
            </a:r>
            <a:r>
              <a:rPr lang="en-US" sz="2000" b="1" dirty="0">
                <a:solidFill>
                  <a:srgbClr val="245E27"/>
                </a:solidFill>
                <a:latin typeface="Cambria" panose="02040503050406030204" pitchFamily="18" charset="0"/>
                <a:ea typeface="Cambria" panose="02040503050406030204" pitchFamily="18" charset="0"/>
                <a:cs typeface="Calibri" pitchFamily="34" charset="-120"/>
              </a:rPr>
              <a:t>code before model</a:t>
            </a:r>
            <a:r>
              <a:rPr lang="en-US" sz="2000" dirty="0">
                <a:solidFill>
                  <a:srgbClr val="333333"/>
                </a:solidFill>
                <a:latin typeface="Cambria" panose="02040503050406030204" pitchFamily="18" charset="0"/>
                <a:ea typeface="Cambria" panose="02040503050406030204" pitchFamily="18" charset="0"/>
                <a:cs typeface="Calibri" pitchFamily="34" charset="-120"/>
              </a:rPr>
              <a:t>.  Constrained decoding already guarantees L1–L2, so verification then focuses on </a:t>
            </a:r>
            <a:r>
              <a:rPr lang="en-US" sz="2000" b="1" dirty="0">
                <a:solidFill>
                  <a:srgbClr val="236B6B"/>
                </a:solidFill>
                <a:latin typeface="Cambria" panose="02040503050406030204" pitchFamily="18" charset="0"/>
                <a:ea typeface="Cambria" panose="02040503050406030204" pitchFamily="18" charset="0"/>
                <a:cs typeface="Calibri" pitchFamily="34" charset="-120"/>
              </a:rPr>
              <a:t>L3 (semantics)</a:t>
            </a:r>
            <a:r>
              <a:rPr lang="en-US" sz="2000" dirty="0">
                <a:solidFill>
                  <a:srgbClr val="333333"/>
                </a:solidFill>
                <a:latin typeface="Cambria" panose="02040503050406030204" pitchFamily="18" charset="0"/>
                <a:ea typeface="Cambria" panose="02040503050406030204" pitchFamily="18" charset="0"/>
                <a:cs typeface="Calibri" pitchFamily="34" charset="-120"/>
              </a:rPr>
              <a:t>.</a:t>
            </a:r>
            <a:endParaRPr lang="en-US" sz="2000" dirty="0">
              <a:latin typeface="Cambria" panose="02040503050406030204" pitchFamily="18" charset="0"/>
              <a:ea typeface="Cambria" panose="02040503050406030204" pitchFamily="18" charset="0"/>
            </a:endParaRPr>
          </a:p>
          <a:p>
            <a:endParaRPr lang="en-IN" sz="2000" dirty="0">
              <a:latin typeface="Cambria" panose="02040503050406030204" pitchFamily="18" charset="0"/>
              <a:ea typeface="Cambria" panose="02040503050406030204" pitchFamily="18" charset="0"/>
            </a:endParaRPr>
          </a:p>
        </p:txBody>
      </p:sp>
      <p:sp>
        <p:nvSpPr>
          <p:cNvPr id="24" name="TextBox 23">
            <a:extLst>
              <a:ext uri="{FF2B5EF4-FFF2-40B4-BE49-F238E27FC236}">
                <a16:creationId xmlns:a16="http://schemas.microsoft.com/office/drawing/2014/main" id="{059740E4-F4C3-CB37-8C69-E28E22DBD5CF}"/>
              </a:ext>
            </a:extLst>
          </p:cNvPr>
          <p:cNvSpPr txBox="1"/>
          <p:nvPr/>
        </p:nvSpPr>
        <p:spPr>
          <a:xfrm>
            <a:off x="1924500" y="1386315"/>
            <a:ext cx="6097836" cy="369332"/>
          </a:xfrm>
          <a:prstGeom prst="rect">
            <a:avLst/>
          </a:prstGeom>
          <a:noFill/>
        </p:spPr>
        <p:txBody>
          <a:bodyPr wrap="square">
            <a:spAutoFit/>
          </a:bodyPr>
          <a:lstStyle/>
          <a:p>
            <a:r>
              <a:rPr lang="en-US" sz="1800" b="1" dirty="0">
                <a:solidFill>
                  <a:srgbClr val="8B0000"/>
                </a:solidFill>
                <a:latin typeface="Georgia" pitchFamily="34" charset="0"/>
                <a:ea typeface="Georgia" pitchFamily="34" charset="-122"/>
                <a:cs typeface="Georgia" pitchFamily="34" charset="-120"/>
              </a:rPr>
              <a:t>What to Check</a:t>
            </a:r>
            <a:endParaRPr lang="en-IN" dirty="0"/>
          </a:p>
        </p:txBody>
      </p:sp>
      <p:sp>
        <p:nvSpPr>
          <p:cNvPr id="26" name="TextBox 25">
            <a:extLst>
              <a:ext uri="{FF2B5EF4-FFF2-40B4-BE49-F238E27FC236}">
                <a16:creationId xmlns:a16="http://schemas.microsoft.com/office/drawing/2014/main" id="{6E05901C-3171-F6F7-ECE3-ED74C00D6865}"/>
              </a:ext>
            </a:extLst>
          </p:cNvPr>
          <p:cNvSpPr txBox="1"/>
          <p:nvPr/>
        </p:nvSpPr>
        <p:spPr>
          <a:xfrm>
            <a:off x="8987009" y="1425558"/>
            <a:ext cx="1963757" cy="369332"/>
          </a:xfrm>
          <a:prstGeom prst="rect">
            <a:avLst/>
          </a:prstGeom>
          <a:noFill/>
        </p:spPr>
        <p:txBody>
          <a:bodyPr wrap="square">
            <a:spAutoFit/>
          </a:bodyPr>
          <a:lstStyle/>
          <a:p>
            <a:r>
              <a:rPr lang="en-US" sz="1800" b="1" dirty="0">
                <a:solidFill>
                  <a:srgbClr val="8B0000"/>
                </a:solidFill>
                <a:latin typeface="Georgia" pitchFamily="34" charset="0"/>
                <a:ea typeface="Georgia" pitchFamily="34" charset="-122"/>
                <a:cs typeface="Georgia" pitchFamily="34" charset="-120"/>
              </a:rPr>
              <a:t>How</a:t>
            </a:r>
            <a:endParaRPr lang="en-IN" dirty="0"/>
          </a:p>
        </p:txBody>
      </p:sp>
    </p:spTree>
    <p:extLst>
      <p:ext uri="{BB962C8B-B14F-4D97-AF65-F5344CB8AC3E}">
        <p14:creationId xmlns:p14="http://schemas.microsoft.com/office/powerpoint/2010/main" val="31482047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BB95C54-EA32-608D-4573-A0C0E14AF5F5}"/>
              </a:ext>
            </a:extLst>
          </p:cNvPr>
          <p:cNvGraphicFramePr>
            <a:graphicFrameLocks noGrp="1"/>
          </p:cNvGraphicFramePr>
          <p:nvPr>
            <p:extLst>
              <p:ext uri="{D42A27DB-BD31-4B8C-83A1-F6EECF244321}">
                <p14:modId xmlns:p14="http://schemas.microsoft.com/office/powerpoint/2010/main" val="182589537"/>
              </p:ext>
            </p:extLst>
          </p:nvPr>
        </p:nvGraphicFramePr>
        <p:xfrm>
          <a:off x="406400" y="2754702"/>
          <a:ext cx="10515600" cy="2011680"/>
        </p:xfrm>
        <a:graphic>
          <a:graphicData uri="http://schemas.openxmlformats.org/drawingml/2006/table">
            <a:tbl>
              <a:tblPr>
                <a:tableStyleId>{3C2FFA5D-87B4-456A-9821-1D502468CF0F}</a:tableStyleId>
              </a:tblPr>
              <a:tblGrid>
                <a:gridCol w="2664604">
                  <a:extLst>
                    <a:ext uri="{9D8B030D-6E8A-4147-A177-3AD203B41FA5}">
                      <a16:colId xmlns:a16="http://schemas.microsoft.com/office/drawing/2014/main" val="863980513"/>
                    </a:ext>
                  </a:extLst>
                </a:gridCol>
                <a:gridCol w="7850996">
                  <a:extLst>
                    <a:ext uri="{9D8B030D-6E8A-4147-A177-3AD203B41FA5}">
                      <a16:colId xmlns:a16="http://schemas.microsoft.com/office/drawing/2014/main" val="898244530"/>
                    </a:ext>
                  </a:extLst>
                </a:gridCol>
              </a:tblGrid>
              <a:tr h="0">
                <a:tc>
                  <a:txBody>
                    <a:bodyPr/>
                    <a:lstStyle/>
                    <a:p>
                      <a:pPr>
                        <a:buNone/>
                      </a:pPr>
                      <a:r>
                        <a:rPr lang="en-IN" dirty="0"/>
                        <a:t>Component</a:t>
                      </a:r>
                    </a:p>
                  </a:txBody>
                  <a:tcPr anchor="ctr"/>
                </a:tc>
                <a:tc>
                  <a:txBody>
                    <a:bodyPr/>
                    <a:lstStyle/>
                    <a:p>
                      <a:pPr>
                        <a:buNone/>
                      </a:pPr>
                      <a:r>
                        <a:rPr lang="en-IN" dirty="0"/>
                        <a:t>Lab 1.2</a:t>
                      </a:r>
                    </a:p>
                  </a:txBody>
                  <a:tcPr anchor="ctr"/>
                </a:tc>
                <a:extLst>
                  <a:ext uri="{0D108BD9-81ED-4DB2-BD59-A6C34878D82A}">
                    <a16:rowId xmlns:a16="http://schemas.microsoft.com/office/drawing/2014/main" val="3271225075"/>
                  </a:ext>
                </a:extLst>
              </a:tr>
              <a:tr h="0">
                <a:tc>
                  <a:txBody>
                    <a:bodyPr/>
                    <a:lstStyle/>
                    <a:p>
                      <a:pPr>
                        <a:buNone/>
                      </a:pPr>
                      <a:r>
                        <a:rPr lang="en-IN" b="1" dirty="0"/>
                        <a:t>Manual generation</a:t>
                      </a:r>
                      <a:endParaRPr lang="en-IN" dirty="0"/>
                    </a:p>
                  </a:txBody>
                  <a:tcPr anchor="ctr"/>
                </a:tc>
                <a:tc>
                  <a:txBody>
                    <a:bodyPr/>
                    <a:lstStyle/>
                    <a:p>
                      <a:pPr>
                        <a:buNone/>
                      </a:pPr>
                      <a:r>
                        <a:rPr lang="en-IN" dirty="0"/>
                        <a:t>The three prompt builders (prose, numbered, delimited) — all just ask for JSON in different structural styles. Nothing constrains the decoder</a:t>
                      </a:r>
                    </a:p>
                  </a:txBody>
                  <a:tcPr anchor="ctr"/>
                </a:tc>
                <a:extLst>
                  <a:ext uri="{0D108BD9-81ED-4DB2-BD59-A6C34878D82A}">
                    <a16:rowId xmlns:a16="http://schemas.microsoft.com/office/drawing/2014/main" val="2017554633"/>
                  </a:ext>
                </a:extLst>
              </a:tr>
              <a:tr h="0">
                <a:tc>
                  <a:txBody>
                    <a:bodyPr/>
                    <a:lstStyle/>
                    <a:p>
                      <a:pPr>
                        <a:buNone/>
                      </a:pPr>
                      <a:r>
                        <a:rPr lang="en-IN" b="1"/>
                        <a:t>Verification (parse)</a:t>
                      </a:r>
                      <a:endParaRPr lang="en-IN"/>
                    </a:p>
                  </a:txBody>
                  <a:tcPr anchor="ctr"/>
                </a:tc>
                <a:tc>
                  <a:txBody>
                    <a:bodyPr/>
                    <a:lstStyle/>
                    <a:p>
                      <a:pPr>
                        <a:buNone/>
                      </a:pPr>
                      <a:r>
                        <a:rPr lang="en-IN" dirty="0" err="1"/>
                        <a:t>try_parse_json</a:t>
                      </a:r>
                      <a:r>
                        <a:rPr lang="en-IN" dirty="0"/>
                        <a:t>() — brace-match and </a:t>
                      </a:r>
                      <a:r>
                        <a:rPr lang="en-IN" dirty="0" err="1"/>
                        <a:t>json.loads</a:t>
                      </a:r>
                      <a:r>
                        <a:rPr lang="en-IN" dirty="0"/>
                        <a:t>()</a:t>
                      </a:r>
                    </a:p>
                  </a:txBody>
                  <a:tcPr anchor="ctr"/>
                </a:tc>
                <a:extLst>
                  <a:ext uri="{0D108BD9-81ED-4DB2-BD59-A6C34878D82A}">
                    <a16:rowId xmlns:a16="http://schemas.microsoft.com/office/drawing/2014/main" val="1299525517"/>
                  </a:ext>
                </a:extLst>
              </a:tr>
              <a:tr h="0">
                <a:tc>
                  <a:txBody>
                    <a:bodyPr/>
                    <a:lstStyle/>
                    <a:p>
                      <a:pPr>
                        <a:buNone/>
                      </a:pPr>
                      <a:r>
                        <a:rPr lang="en-IN" b="1" dirty="0"/>
                        <a:t>Verification (validate)</a:t>
                      </a:r>
                      <a:endParaRPr lang="en-IN" dirty="0"/>
                    </a:p>
                  </a:txBody>
                  <a:tcPr anchor="ctr"/>
                </a:tc>
                <a:tc>
                  <a:txBody>
                    <a:bodyPr/>
                    <a:lstStyle/>
                    <a:p>
                      <a:pPr>
                        <a:buNone/>
                      </a:pPr>
                      <a:r>
                        <a:rPr lang="en-IN" dirty="0" err="1"/>
                        <a:t>is_reliable</a:t>
                      </a:r>
                      <a:r>
                        <a:rPr lang="en-IN" dirty="0"/>
                        <a:t>() / </a:t>
                      </a:r>
                      <a:r>
                        <a:rPr lang="en-IN" dirty="0" err="1"/>
                        <a:t>score_response</a:t>
                      </a:r>
                      <a:r>
                        <a:rPr lang="en-IN" dirty="0"/>
                        <a:t>() — check keys present, </a:t>
                      </a:r>
                      <a:r>
                        <a:rPr lang="en-IN" dirty="0" err="1"/>
                        <a:t>enums</a:t>
                      </a:r>
                      <a:r>
                        <a:rPr lang="en-IN" dirty="0"/>
                        <a:t> valid, </a:t>
                      </a:r>
                      <a:r>
                        <a:rPr lang="en-IN" dirty="0" err="1"/>
                        <a:t>order_number</a:t>
                      </a:r>
                      <a:r>
                        <a:rPr lang="en-IN" dirty="0"/>
                        <a:t> digits-only</a:t>
                      </a:r>
                    </a:p>
                  </a:txBody>
                  <a:tcPr anchor="ctr"/>
                </a:tc>
                <a:extLst>
                  <a:ext uri="{0D108BD9-81ED-4DB2-BD59-A6C34878D82A}">
                    <a16:rowId xmlns:a16="http://schemas.microsoft.com/office/drawing/2014/main" val="2107357784"/>
                  </a:ext>
                </a:extLst>
              </a:tr>
            </a:tbl>
          </a:graphicData>
        </a:graphic>
      </p:graphicFrame>
      <p:sp>
        <p:nvSpPr>
          <p:cNvPr id="6" name="TextBox 5">
            <a:extLst>
              <a:ext uri="{FF2B5EF4-FFF2-40B4-BE49-F238E27FC236}">
                <a16:creationId xmlns:a16="http://schemas.microsoft.com/office/drawing/2014/main" id="{356E615D-9A96-2CB0-443B-4BD6A994B76C}"/>
              </a:ext>
            </a:extLst>
          </p:cNvPr>
          <p:cNvSpPr txBox="1"/>
          <p:nvPr/>
        </p:nvSpPr>
        <p:spPr>
          <a:xfrm>
            <a:off x="338586" y="1335512"/>
            <a:ext cx="10515600" cy="923330"/>
          </a:xfrm>
          <a:prstGeom prst="rect">
            <a:avLst/>
          </a:prstGeom>
          <a:noFill/>
        </p:spPr>
        <p:txBody>
          <a:bodyPr wrap="square">
            <a:spAutoFit/>
          </a:bodyPr>
          <a:lstStyle/>
          <a:p>
            <a:r>
              <a:rPr lang="en-IN" dirty="0"/>
              <a:t>"After generation · no grammar · Guarantee: None." And the lab's result is the honest advertisement of that row's "None" guarantee — even the best-structured prompt (</a:t>
            </a:r>
            <a:r>
              <a:rPr lang="en-IN" dirty="0">
                <a:latin typeface="Courier New" panose="02070309020205020404" pitchFamily="49" charset="0"/>
              </a:rPr>
              <a:t>delimited</a:t>
            </a:r>
            <a:r>
              <a:rPr lang="en-IN" dirty="0"/>
              <a:t>) still produced off-</a:t>
            </a:r>
            <a:r>
              <a:rPr lang="en-IN" dirty="0" err="1"/>
              <a:t>enum</a:t>
            </a:r>
            <a:r>
              <a:rPr lang="en-IN" dirty="0"/>
              <a:t> sentiment labels like </a:t>
            </a:r>
            <a:r>
              <a:rPr lang="en-IN" dirty="0">
                <a:latin typeface="Courier New" panose="02070309020205020404" pitchFamily="49" charset="0"/>
              </a:rPr>
              <a:t>"Neutral/Positive"</a:t>
            </a:r>
            <a:r>
              <a:rPr lang="en-IN" dirty="0"/>
              <a:t>, because prompting is a request, not a constraint.</a:t>
            </a:r>
          </a:p>
        </p:txBody>
      </p:sp>
      <p:sp>
        <p:nvSpPr>
          <p:cNvPr id="8" name="TextBox 7">
            <a:extLst>
              <a:ext uri="{FF2B5EF4-FFF2-40B4-BE49-F238E27FC236}">
                <a16:creationId xmlns:a16="http://schemas.microsoft.com/office/drawing/2014/main" id="{FC36952D-6E10-9D7B-1C85-0EC982B9F72B}"/>
              </a:ext>
            </a:extLst>
          </p:cNvPr>
          <p:cNvSpPr txBox="1"/>
          <p:nvPr/>
        </p:nvSpPr>
        <p:spPr>
          <a:xfrm>
            <a:off x="726776" y="332298"/>
            <a:ext cx="6094562" cy="646331"/>
          </a:xfrm>
          <a:prstGeom prst="rect">
            <a:avLst/>
          </a:prstGeom>
        </p:spPr>
        <p:txBody>
          <a:bodyPr vert="horz" lIns="91440" tIns="45720" rIns="91440" bIns="45720" rtlCol="0" anchor="ctr">
            <a:normAutofit/>
          </a:bodyPr>
          <a:lstStyle>
            <a:defPPr>
              <a:defRPr lang="en-US"/>
            </a:defPPr>
            <a:lvl1pPr>
              <a:defRPr sz="3600">
                <a:latin typeface="Cambria" panose="02040503050406030204" pitchFamily="18" charset="0"/>
                <a:ea typeface="Cambria" panose="02040503050406030204" pitchFamily="18" charset="0"/>
                <a:cs typeface="+mj-cs"/>
              </a:defRPr>
            </a:lvl1pPr>
          </a:lstStyle>
          <a:p>
            <a:r>
              <a:rPr lang="en-US" dirty="0"/>
              <a:t>Manual (prompt + parse)</a:t>
            </a:r>
          </a:p>
        </p:txBody>
      </p:sp>
      <p:sp>
        <p:nvSpPr>
          <p:cNvPr id="10" name="TextBox 9">
            <a:extLst>
              <a:ext uri="{FF2B5EF4-FFF2-40B4-BE49-F238E27FC236}">
                <a16:creationId xmlns:a16="http://schemas.microsoft.com/office/drawing/2014/main" id="{0E3A40D5-6B67-545E-AA2D-EAAB45642DA2}"/>
              </a:ext>
            </a:extLst>
          </p:cNvPr>
          <p:cNvSpPr txBox="1"/>
          <p:nvPr/>
        </p:nvSpPr>
        <p:spPr>
          <a:xfrm>
            <a:off x="487392" y="5060823"/>
            <a:ext cx="10366794" cy="923330"/>
          </a:xfrm>
          <a:prstGeom prst="rect">
            <a:avLst/>
          </a:prstGeom>
          <a:noFill/>
        </p:spPr>
        <p:txBody>
          <a:bodyPr wrap="square">
            <a:spAutoFit/>
          </a:bodyPr>
          <a:lstStyle/>
          <a:p>
            <a:r>
              <a:rPr lang="en-IN" dirty="0"/>
              <a:t>Lab 1.2's </a:t>
            </a:r>
            <a:r>
              <a:rPr lang="en-IN" dirty="0" err="1">
                <a:latin typeface="Courier New" panose="02070309020205020404" pitchFamily="49" charset="0"/>
              </a:rPr>
              <a:t>try_parse_json</a:t>
            </a:r>
            <a:r>
              <a:rPr lang="en-IN" dirty="0"/>
              <a:t> is L1. </a:t>
            </a:r>
            <a:r>
              <a:rPr lang="en-IN" dirty="0" err="1">
                <a:latin typeface="Courier New" panose="02070309020205020404" pitchFamily="49" charset="0"/>
              </a:rPr>
              <a:t>is_reliable</a:t>
            </a:r>
            <a:r>
              <a:rPr lang="en-IN" dirty="0"/>
              <a:t> / </a:t>
            </a:r>
            <a:r>
              <a:rPr lang="en-IN" dirty="0" err="1">
                <a:latin typeface="Courier New" panose="02070309020205020404" pitchFamily="49" charset="0"/>
              </a:rPr>
              <a:t>score_response</a:t>
            </a:r>
            <a:r>
              <a:rPr lang="en-IN" dirty="0"/>
              <a:t> are L2 (keys present, sentiment in </a:t>
            </a:r>
            <a:r>
              <a:rPr lang="en-IN" dirty="0" err="1"/>
              <a:t>enum</a:t>
            </a:r>
            <a:r>
              <a:rPr lang="en-IN" dirty="0"/>
              <a:t>, urgency in </a:t>
            </a:r>
            <a:r>
              <a:rPr lang="en-IN" dirty="0" err="1"/>
              <a:t>enum</a:t>
            </a:r>
            <a:r>
              <a:rPr lang="en-IN" dirty="0"/>
              <a:t>, </a:t>
            </a:r>
            <a:r>
              <a:rPr lang="en-IN" dirty="0" err="1"/>
              <a:t>order_number</a:t>
            </a:r>
            <a:r>
              <a:rPr lang="en-IN" dirty="0"/>
              <a:t> digits-only). There's no L3 check in the lab — we never verify that the extracted </a:t>
            </a:r>
            <a:r>
              <a:rPr lang="en-IN" dirty="0">
                <a:latin typeface="Courier New" panose="02070309020205020404" pitchFamily="49" charset="0"/>
              </a:rPr>
              <a:t>product</a:t>
            </a:r>
            <a:r>
              <a:rPr lang="en-IN" dirty="0"/>
              <a:t> matches what the message actually names, or that the </a:t>
            </a:r>
            <a:r>
              <a:rPr lang="en-IN" dirty="0">
                <a:latin typeface="Courier New" panose="02070309020205020404" pitchFamily="49" charset="0"/>
              </a:rPr>
              <a:t>issue</a:t>
            </a:r>
            <a:r>
              <a:rPr lang="en-IN" dirty="0"/>
              <a:t> is faithful. </a:t>
            </a:r>
          </a:p>
        </p:txBody>
      </p:sp>
    </p:spTree>
    <p:extLst>
      <p:ext uri="{BB962C8B-B14F-4D97-AF65-F5344CB8AC3E}">
        <p14:creationId xmlns:p14="http://schemas.microsoft.com/office/powerpoint/2010/main" val="8193323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243840" y="292608"/>
            <a:ext cx="11338560" cy="609600"/>
          </a:xfrm>
          <a:prstGeom prst="rect">
            <a:avLst/>
          </a:prstGeom>
        </p:spPr>
        <p:txBody>
          <a:bodyPr vert="horz" lIns="91440" tIns="45720" rIns="91440" bIns="45720" rtlCol="0" anchor="ctr">
            <a:normAutofit/>
          </a:bodyPr>
          <a:lstStyle/>
          <a:p>
            <a:r>
              <a:rPr lang="en-IN" sz="3200" dirty="0">
                <a:latin typeface="Cambria" panose="02040503050406030204" pitchFamily="18" charset="0"/>
                <a:ea typeface="Cambria" panose="02040503050406030204" pitchFamily="18" charset="0"/>
                <a:cs typeface="+mj-cs"/>
              </a:rPr>
              <a:t>What to do when a check fails : </a:t>
            </a:r>
            <a:r>
              <a:rPr lang="en-US" sz="3200" dirty="0">
                <a:latin typeface="Cambria" panose="02040503050406030204" pitchFamily="18" charset="0"/>
                <a:ea typeface="Cambria" panose="02040503050406030204" pitchFamily="18" charset="0"/>
                <a:cs typeface="+mj-cs"/>
              </a:rPr>
              <a:t>Validate-and-Repair Loop</a:t>
            </a:r>
          </a:p>
        </p:txBody>
      </p:sp>
      <p:sp>
        <p:nvSpPr>
          <p:cNvPr id="6" name="Text 4"/>
          <p:cNvSpPr/>
          <p:nvPr/>
        </p:nvSpPr>
        <p:spPr>
          <a:xfrm>
            <a:off x="122654" y="1464086"/>
            <a:ext cx="11338559" cy="3929827"/>
          </a:xfrm>
          <a:prstGeom prst="rect">
            <a:avLst/>
          </a:prstGeom>
          <a:noFill/>
          <a:ln/>
        </p:spPr>
        <p:txBody>
          <a:bodyPr wrap="square" lIns="0" tIns="0" rIns="0" bIns="0" rtlCol="0" anchor="t"/>
          <a:lstStyle/>
          <a:p>
            <a:pPr marL="342900" indent="-342900">
              <a:buFont typeface="Arial" panose="020B0604020202020204" pitchFamily="34" charset="0"/>
              <a:buChar char="•"/>
            </a:pPr>
            <a:r>
              <a:rPr lang="en-US" sz="2000" dirty="0">
                <a:solidFill>
                  <a:srgbClr val="333333"/>
                </a:solidFill>
                <a:latin typeface="Cambria" panose="02040503050406030204" pitchFamily="18" charset="0"/>
                <a:ea typeface="Cambria" panose="02040503050406030204" pitchFamily="18" charset="0"/>
                <a:cs typeface="Calibri" pitchFamily="34" charset="-120"/>
              </a:rPr>
              <a:t>When a check fails, don’t discard the output — </a:t>
            </a:r>
            <a:r>
              <a:rPr lang="en-US" sz="2000" b="1" dirty="0">
                <a:solidFill>
                  <a:srgbClr val="8B0000"/>
                </a:solidFill>
                <a:latin typeface="Cambria" panose="02040503050406030204" pitchFamily="18" charset="0"/>
                <a:ea typeface="Cambria" panose="02040503050406030204" pitchFamily="18" charset="0"/>
                <a:cs typeface="Calibri" pitchFamily="34" charset="-120"/>
              </a:rPr>
              <a:t>feed the error back</a:t>
            </a:r>
            <a:r>
              <a:rPr lang="en-US" sz="2000" dirty="0">
                <a:solidFill>
                  <a:srgbClr val="333333"/>
                </a:solidFill>
                <a:latin typeface="Cambria" panose="02040503050406030204" pitchFamily="18" charset="0"/>
                <a:ea typeface="Cambria" panose="02040503050406030204" pitchFamily="18" charset="0"/>
                <a:cs typeface="Calibri" pitchFamily="34" charset="-120"/>
              </a:rPr>
              <a:t>. The validation message is itself a prompt, and a </a:t>
            </a:r>
            <a:r>
              <a:rPr lang="en-US" sz="2000" i="1" dirty="0">
                <a:solidFill>
                  <a:srgbClr val="333333"/>
                </a:solidFill>
                <a:latin typeface="Cambria" panose="02040503050406030204" pitchFamily="18" charset="0"/>
                <a:ea typeface="Cambria" panose="02040503050406030204" pitchFamily="18" charset="0"/>
                <a:cs typeface="Calibri" pitchFamily="34" charset="-120"/>
              </a:rPr>
              <a:t>specific</a:t>
            </a:r>
            <a:r>
              <a:rPr lang="en-US" sz="2000" dirty="0">
                <a:solidFill>
                  <a:srgbClr val="333333"/>
                </a:solidFill>
                <a:latin typeface="Cambria" panose="02040503050406030204" pitchFamily="18" charset="0"/>
                <a:ea typeface="Cambria" panose="02040503050406030204" pitchFamily="18" charset="0"/>
                <a:cs typeface="Calibri" pitchFamily="34" charset="-120"/>
              </a:rPr>
              <a:t> error repairs far better than “invalid, try again”.</a:t>
            </a:r>
            <a:endParaRPr lang="en-US" sz="2000" dirty="0">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cs typeface="Calibri" pitchFamily="34" charset="-120"/>
              </a:rPr>
              <a:t>pattern</a:t>
            </a:r>
            <a:endParaRPr lang="en-US" sz="2000" dirty="0">
              <a:latin typeface="Cambria" panose="02040503050406030204" pitchFamily="18" charset="0"/>
              <a:ea typeface="Cambria" panose="02040503050406030204" pitchFamily="18" charset="0"/>
            </a:endParaRPr>
          </a:p>
          <a:p>
            <a:pPr marL="800100" lvl="1" indent="-342900">
              <a:buFont typeface="Arial" panose="020B0604020202020204" pitchFamily="34" charset="0"/>
              <a:buChar char="•"/>
            </a:pPr>
            <a:r>
              <a:rPr lang="en-US" sz="2000" dirty="0">
                <a:latin typeface="Cambria" panose="02040503050406030204" pitchFamily="18" charset="0"/>
                <a:ea typeface="Cambria" panose="02040503050406030204" pitchFamily="18" charset="0"/>
                <a:cs typeface="Calibri" pitchFamily="34" charset="-120"/>
              </a:rPr>
              <a:t>Generate the output from the LLM.</a:t>
            </a:r>
            <a:endParaRPr lang="en-US" sz="2000" dirty="0">
              <a:latin typeface="Cambria" panose="02040503050406030204" pitchFamily="18" charset="0"/>
              <a:ea typeface="Cambria" panose="02040503050406030204" pitchFamily="18" charset="0"/>
            </a:endParaRPr>
          </a:p>
          <a:p>
            <a:pPr marL="800100" lvl="1" indent="-342900">
              <a:buFont typeface="Arial" panose="020B0604020202020204" pitchFamily="34" charset="0"/>
              <a:buChar char="•"/>
            </a:pPr>
            <a:r>
              <a:rPr lang="en-US" sz="2000" dirty="0">
                <a:latin typeface="Cambria" panose="02040503050406030204" pitchFamily="18" charset="0"/>
                <a:ea typeface="Cambria" panose="02040503050406030204" pitchFamily="18" charset="0"/>
                <a:cs typeface="Calibri" pitchFamily="34" charset="-120"/>
              </a:rPr>
              <a:t>Parse &amp; validate against the schema (Pydantic).</a:t>
            </a:r>
            <a:endParaRPr lang="en-US" sz="2000" dirty="0">
              <a:latin typeface="Cambria" panose="02040503050406030204" pitchFamily="18" charset="0"/>
              <a:ea typeface="Cambria" panose="02040503050406030204" pitchFamily="18" charset="0"/>
            </a:endParaRPr>
          </a:p>
          <a:p>
            <a:pPr marL="800100" lvl="1" indent="-342900">
              <a:buFont typeface="Arial" panose="020B0604020202020204" pitchFamily="34" charset="0"/>
              <a:buChar char="•"/>
            </a:pPr>
            <a:r>
              <a:rPr lang="en-US" sz="2000" dirty="0">
                <a:latin typeface="Cambria" panose="02040503050406030204" pitchFamily="18" charset="0"/>
                <a:ea typeface="Cambria" panose="02040503050406030204" pitchFamily="18" charset="0"/>
                <a:cs typeface="Calibri" pitchFamily="34" charset="-120"/>
              </a:rPr>
              <a:t>On failure, re-prompt with the exact error appended.</a:t>
            </a:r>
            <a:endParaRPr lang="en-US" sz="2000" dirty="0">
              <a:latin typeface="Cambria" panose="02040503050406030204" pitchFamily="18" charset="0"/>
              <a:ea typeface="Cambria" panose="02040503050406030204" pitchFamily="18" charset="0"/>
            </a:endParaRPr>
          </a:p>
          <a:p>
            <a:pPr marL="800100" lvl="1"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cs typeface="Calibri" pitchFamily="34" charset="-120"/>
              </a:rPr>
              <a:t> </a:t>
            </a:r>
            <a:r>
              <a:rPr lang="en-US" sz="2000" dirty="0">
                <a:latin typeface="Cambria" panose="02040503050406030204" pitchFamily="18" charset="0"/>
                <a:ea typeface="Cambria" panose="02040503050406030204" pitchFamily="18" charset="0"/>
                <a:cs typeface="Calibri" pitchFamily="34" charset="-120"/>
              </a:rPr>
              <a:t>Cap retries (e.g. 3 attempts).</a:t>
            </a:r>
            <a:endParaRPr lang="en-US" sz="2000" dirty="0">
              <a:latin typeface="Cambria" panose="02040503050406030204" pitchFamily="18" charset="0"/>
              <a:ea typeface="Cambria" panose="02040503050406030204" pitchFamily="18" charset="0"/>
            </a:endParaRPr>
          </a:p>
          <a:p>
            <a:pPr marL="800100" lvl="1" indent="-342900">
              <a:buFont typeface="Arial" panose="020B0604020202020204" pitchFamily="34" charset="0"/>
              <a:buChar char="•"/>
            </a:pPr>
            <a:r>
              <a:rPr lang="en-US" sz="2000" dirty="0">
                <a:latin typeface="Cambria" panose="02040503050406030204" pitchFamily="18" charset="0"/>
                <a:ea typeface="Cambria" panose="02040503050406030204" pitchFamily="18" charset="0"/>
                <a:cs typeface="Calibri" pitchFamily="34" charset="-120"/>
              </a:rPr>
              <a:t>Still failing? Route to a fallback.</a:t>
            </a:r>
          </a:p>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cs typeface="Calibri" pitchFamily="34" charset="-120"/>
              </a:rPr>
              <a:t>Works with any model — no special API</a:t>
            </a:r>
            <a:endParaRPr lang="en-US" sz="2000" dirty="0">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cs typeface="Calibri" pitchFamily="34" charset="-120"/>
              </a:rPr>
              <a:t>Latency only on failures (success = one call)</a:t>
            </a:r>
            <a:endParaRPr lang="en-US" sz="2000" dirty="0">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cs typeface="Calibri" pitchFamily="34" charset="-120"/>
              </a:rPr>
              <a:t> </a:t>
            </a:r>
            <a:r>
              <a:rPr lang="en-US" sz="2000" dirty="0">
                <a:latin typeface="Cambria" panose="02040503050406030204" pitchFamily="18" charset="0"/>
                <a:ea typeface="Cambria" panose="02040503050406030204" pitchFamily="18" charset="0"/>
                <a:cs typeface="Calibri" pitchFamily="34" charset="-120"/>
              </a:rPr>
              <a:t>Layers on top of JSON mode or constrained decoding</a:t>
            </a:r>
          </a:p>
          <a:p>
            <a:pPr marL="342900" indent="-342900">
              <a:buFont typeface="Arial" panose="020B0604020202020204" pitchFamily="34" charset="0"/>
              <a:buChar char="•"/>
            </a:pPr>
            <a:r>
              <a:rPr lang="en-US" sz="2000" b="1" dirty="0">
                <a:solidFill>
                  <a:srgbClr val="1F3864"/>
                </a:solidFill>
                <a:latin typeface="Cambria" panose="02040503050406030204" pitchFamily="18" charset="0"/>
                <a:ea typeface="Cambria" panose="02040503050406030204" pitchFamily="18" charset="0"/>
                <a:cs typeface="Calibri" pitchFamily="34" charset="-120"/>
              </a:rPr>
              <a:t>Libraries: </a:t>
            </a:r>
            <a:r>
              <a:rPr lang="en-US" sz="2000" dirty="0">
                <a:solidFill>
                  <a:srgbClr val="333333"/>
                </a:solidFill>
                <a:latin typeface="Cambria" panose="02040503050406030204" pitchFamily="18" charset="0"/>
                <a:ea typeface="Cambria" panose="02040503050406030204" pitchFamily="18" charset="0"/>
                <a:cs typeface="Calibri" pitchFamily="34" charset="-120"/>
              </a:rPr>
              <a:t>instructor · guardrails-ai · </a:t>
            </a:r>
            <a:r>
              <a:rPr lang="en-US" sz="2000" dirty="0" err="1">
                <a:solidFill>
                  <a:srgbClr val="333333"/>
                </a:solidFill>
                <a:latin typeface="Cambria" panose="02040503050406030204" pitchFamily="18" charset="0"/>
                <a:ea typeface="Cambria" panose="02040503050406030204" pitchFamily="18" charset="0"/>
                <a:cs typeface="Calibri" pitchFamily="34" charset="-120"/>
              </a:rPr>
              <a:t>LangChain</a:t>
            </a:r>
            <a:r>
              <a:rPr lang="en-US" sz="2000" dirty="0">
                <a:solidFill>
                  <a:srgbClr val="333333"/>
                </a:solidFill>
                <a:latin typeface="Cambria" panose="02040503050406030204" pitchFamily="18" charset="0"/>
                <a:ea typeface="Cambria" panose="02040503050406030204" pitchFamily="18" charset="0"/>
                <a:cs typeface="Calibri" pitchFamily="34" charset="-120"/>
              </a:rPr>
              <a:t> parsers.</a:t>
            </a:r>
            <a:endParaRPr lang="en-US" sz="2000" dirty="0">
              <a:latin typeface="Cambria" panose="02040503050406030204" pitchFamily="18" charset="0"/>
              <a:ea typeface="Cambria" panose="02040503050406030204" pitchFamily="18" charset="0"/>
            </a:endParaRPr>
          </a:p>
          <a:p>
            <a:pPr marL="457200" indent="-457200">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a:p>
            <a:pPr marL="457200" indent="-457200">
              <a:spcAft>
                <a:spcPts val="800"/>
              </a:spcAft>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p:txBody>
      </p:sp>
      <p:pic>
        <p:nvPicPr>
          <p:cNvPr id="15" name="Picture 14">
            <a:extLst>
              <a:ext uri="{FF2B5EF4-FFF2-40B4-BE49-F238E27FC236}">
                <a16:creationId xmlns:a16="http://schemas.microsoft.com/office/drawing/2014/main" id="{126DD8DE-C4D6-C382-3299-3649B46B7ACA}"/>
              </a:ext>
            </a:extLst>
          </p:cNvPr>
          <p:cNvPicPr>
            <a:picLocks noChangeAspect="1"/>
          </p:cNvPicPr>
          <p:nvPr/>
        </p:nvPicPr>
        <p:blipFill>
          <a:blip r:embed="rId3"/>
          <a:stretch>
            <a:fillRect/>
          </a:stretch>
        </p:blipFill>
        <p:spPr>
          <a:xfrm>
            <a:off x="6955272" y="2473848"/>
            <a:ext cx="4972050" cy="2438400"/>
          </a:xfrm>
          <a:prstGeom prst="rect">
            <a:avLst/>
          </a:prstGeom>
        </p:spPr>
      </p:pic>
    </p:spTree>
    <p:extLst>
      <p:ext uri="{BB962C8B-B14F-4D97-AF65-F5344CB8AC3E}">
        <p14:creationId xmlns:p14="http://schemas.microsoft.com/office/powerpoint/2010/main" val="22096484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D0919E2-5B3B-B356-A7FD-0245FE62080C}"/>
              </a:ext>
            </a:extLst>
          </p:cNvPr>
          <p:cNvSpPr>
            <a:spLocks noGrp="1"/>
          </p:cNvSpPr>
          <p:nvPr>
            <p:ph idx="10"/>
          </p:nvPr>
        </p:nvSpPr>
        <p:spPr>
          <a:xfrm>
            <a:off x="304800" y="1545224"/>
            <a:ext cx="11887200" cy="4984785"/>
          </a:xfrm>
        </p:spPr>
        <p:txBody>
          <a:bodyPr>
            <a:normAutofit/>
          </a:bodyPr>
          <a:lstStyle/>
          <a:p>
            <a:pPr marL="342900" indent="-342900">
              <a:buFont typeface="Arial" panose="020B0604020202020204" pitchFamily="34" charset="0"/>
              <a:buChar char="•"/>
            </a:pPr>
            <a:r>
              <a:rPr lang="en-US" dirty="0">
                <a:solidFill>
                  <a:srgbClr val="333333"/>
                </a:solidFill>
                <a:latin typeface="Calibri" pitchFamily="34" charset="0"/>
                <a:ea typeface="Calibri" pitchFamily="34" charset="-122"/>
                <a:cs typeface="Calibri" pitchFamily="34" charset="-120"/>
              </a:rPr>
              <a:t>Mechanism: compile the schema/grammar (regex, CFG, JSON Schema) into a finite-state machine over tokens. At each step, tokens that would leave the valid language are masked to −∞ before sampling.</a:t>
            </a:r>
            <a:endParaRPr lang="en-US" dirty="0"/>
          </a:p>
          <a:p>
            <a:pPr marL="342900" indent="-342900">
              <a:buFont typeface="Arial" panose="020B0604020202020204" pitchFamily="34" charset="0"/>
              <a:buChar char="•"/>
            </a:pPr>
            <a:r>
              <a:rPr lang="en-IN" dirty="0"/>
              <a:t>Three main ways that a structured output can be defined for constrained decoding: regex, code (</a:t>
            </a:r>
            <a:r>
              <a:rPr lang="en-IN" dirty="0" err="1"/>
              <a:t>Pydantic</a:t>
            </a:r>
            <a:r>
              <a:rPr lang="en-IN" dirty="0"/>
              <a:t> models), and generative constructs.</a:t>
            </a:r>
          </a:p>
          <a:p>
            <a:pPr marL="342900" indent="-342900">
              <a:buFont typeface="Arial" panose="020B0604020202020204" pitchFamily="34" charset="0"/>
              <a:buChar char="•"/>
            </a:pPr>
            <a:r>
              <a:rPr lang="en-IN" dirty="0"/>
              <a:t>Some recent models are already fine-tuned to incorporate these constraints inherently, reducing the need for extensive post-processing. </a:t>
            </a:r>
          </a:p>
          <a:p>
            <a:pPr marL="342900" indent="-342900">
              <a:buFont typeface="Arial" panose="020B0604020202020204" pitchFamily="34" charset="0"/>
              <a:buChar char="•"/>
            </a:pPr>
            <a:r>
              <a:rPr lang="en-IN" dirty="0"/>
              <a:t>Example applications:  automated content creation, data validation, and real-time language translation</a:t>
            </a:r>
          </a:p>
          <a:p>
            <a:pPr marL="342900" indent="-342900">
              <a:buFont typeface="Arial" panose="020B0604020202020204" pitchFamily="34" charset="0"/>
              <a:buChar char="•"/>
            </a:pPr>
            <a:r>
              <a:rPr lang="en-IN" dirty="0"/>
              <a:t>When models are not inherently fine-tuned for constrained decoding, or when more precise control over the output is desired, dedicated libraries like </a:t>
            </a:r>
            <a:r>
              <a:rPr lang="en-IN" i="1" dirty="0"/>
              <a:t>LM Format Enforcer</a:t>
            </a:r>
            <a:r>
              <a:rPr lang="en-IN" dirty="0"/>
              <a:t> and </a:t>
            </a:r>
            <a:r>
              <a:rPr lang="en-IN" i="1" dirty="0"/>
              <a:t>Outlines</a:t>
            </a:r>
            <a:r>
              <a:rPr lang="en-IN" dirty="0"/>
              <a:t>  provide tools to enforce specific constraints on model outputs</a:t>
            </a:r>
          </a:p>
        </p:txBody>
      </p:sp>
      <p:sp>
        <p:nvSpPr>
          <p:cNvPr id="3" name="Title 2">
            <a:extLst>
              <a:ext uri="{FF2B5EF4-FFF2-40B4-BE49-F238E27FC236}">
                <a16:creationId xmlns:a16="http://schemas.microsoft.com/office/drawing/2014/main" id="{D6D9C1F2-40F5-1CB3-DA80-D96525802A2B}"/>
              </a:ext>
            </a:extLst>
          </p:cNvPr>
          <p:cNvSpPr>
            <a:spLocks noGrp="1"/>
          </p:cNvSpPr>
          <p:nvPr>
            <p:ph type="title"/>
          </p:nvPr>
        </p:nvSpPr>
        <p:spPr/>
        <p:txBody>
          <a:bodyPr/>
          <a:lstStyle/>
          <a:p>
            <a:r>
              <a:rPr lang="en-IN" dirty="0"/>
              <a:t>Constrained decoding</a:t>
            </a:r>
          </a:p>
        </p:txBody>
      </p:sp>
    </p:spTree>
    <p:extLst>
      <p:ext uri="{BB962C8B-B14F-4D97-AF65-F5344CB8AC3E}">
        <p14:creationId xmlns:p14="http://schemas.microsoft.com/office/powerpoint/2010/main" val="36222702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p:txBody>
          <a:bodyPr/>
          <a:lstStyle/>
          <a:p>
            <a:pPr marL="342900" indent="-342900">
              <a:buFont typeface="Arial" panose="020B0604020202020204" pitchFamily="34" charset="0"/>
              <a:buChar char="•"/>
            </a:pPr>
            <a:r>
              <a:rPr lang="en-IN" dirty="0"/>
              <a:t>Restrict token generation to only grammar-valid sequences</a:t>
            </a:r>
          </a:p>
          <a:p>
            <a:pPr marL="342900" indent="-342900">
              <a:buFont typeface="Arial" panose="020B0604020202020204" pitchFamily="34" charset="0"/>
              <a:buChar char="•"/>
            </a:pPr>
            <a:r>
              <a:rPr lang="en-IN" dirty="0"/>
              <a:t>Guarantees syntactically valid output (e.g., valid JSON, SQL)</a:t>
            </a:r>
          </a:p>
          <a:p>
            <a:pPr marL="342900" indent="-342900">
              <a:buFont typeface="Arial" panose="020B0604020202020204" pitchFamily="34" charset="0"/>
              <a:buChar char="•"/>
            </a:pPr>
            <a:r>
              <a:rPr lang="en-IN" dirty="0"/>
              <a:t>Filter next-token distribution based on grammar at each decoding step</a:t>
            </a:r>
          </a:p>
        </p:txBody>
      </p:sp>
      <p:sp>
        <p:nvSpPr>
          <p:cNvPr id="3" name="Title 2"/>
          <p:cNvSpPr>
            <a:spLocks noGrp="1"/>
          </p:cNvSpPr>
          <p:nvPr>
            <p:ph type="title"/>
          </p:nvPr>
        </p:nvSpPr>
        <p:spPr/>
        <p:txBody>
          <a:bodyPr/>
          <a:lstStyle/>
          <a:p>
            <a:r>
              <a:rPr lang="en-IN" dirty="0"/>
              <a:t>Grammar-Constrained Sampling</a:t>
            </a:r>
            <a:br>
              <a:rPr lang="en-IN" dirty="0"/>
            </a:br>
            <a:endParaRPr lang="en-IN" dirty="0"/>
          </a:p>
        </p:txBody>
      </p:sp>
      <p:pic>
        <p:nvPicPr>
          <p:cNvPr id="5" name="Picture 4"/>
          <p:cNvPicPr>
            <a:picLocks noChangeAspect="1"/>
          </p:cNvPicPr>
          <p:nvPr/>
        </p:nvPicPr>
        <p:blipFill>
          <a:blip r:embed="rId3"/>
          <a:stretch>
            <a:fillRect/>
          </a:stretch>
        </p:blipFill>
        <p:spPr>
          <a:xfrm>
            <a:off x="3235567" y="3002280"/>
            <a:ext cx="6344428" cy="3394931"/>
          </a:xfrm>
          <a:prstGeom prst="rect">
            <a:avLst/>
          </a:prstGeom>
        </p:spPr>
      </p:pic>
    </p:spTree>
    <p:extLst>
      <p:ext uri="{BB962C8B-B14F-4D97-AF65-F5344CB8AC3E}">
        <p14:creationId xmlns:p14="http://schemas.microsoft.com/office/powerpoint/2010/main" val="1035613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F2A09E-6815-C3BF-CB08-7B9F747569C0}"/>
              </a:ext>
            </a:extLst>
          </p:cNvPr>
          <p:cNvSpPr>
            <a:spLocks noGrp="1"/>
          </p:cNvSpPr>
          <p:nvPr>
            <p:ph type="title"/>
          </p:nvPr>
        </p:nvSpPr>
        <p:spPr/>
        <p:txBody>
          <a:bodyPr/>
          <a:lstStyle/>
          <a:p>
            <a:r>
              <a:rPr lang="en-IN" dirty="0"/>
              <a:t>Constrained decoding</a:t>
            </a:r>
          </a:p>
        </p:txBody>
      </p:sp>
      <p:pic>
        <p:nvPicPr>
          <p:cNvPr id="5122" name="Picture 2">
            <a:extLst>
              <a:ext uri="{FF2B5EF4-FFF2-40B4-BE49-F238E27FC236}">
                <a16:creationId xmlns:a16="http://schemas.microsoft.com/office/drawing/2014/main" id="{0E370205-5066-8836-7A3B-AABC7C86C031}"/>
              </a:ext>
            </a:extLst>
          </p:cNvPr>
          <p:cNvPicPr>
            <a:picLocks noGrp="1" noChangeAspect="1" noChangeArrowheads="1"/>
          </p:cNvPicPr>
          <p:nvPr>
            <p:ph idx="10"/>
          </p:nvPr>
        </p:nvPicPr>
        <p:blipFill>
          <a:blip r:embed="rId3" cstate="print">
            <a:extLst>
              <a:ext uri="{28A0092B-C50C-407E-A947-70E740481C1C}">
                <a14:useLocalDpi xmlns:a14="http://schemas.microsoft.com/office/drawing/2010/main" val="0"/>
              </a:ext>
            </a:extLst>
          </a:blip>
          <a:srcRect/>
          <a:stretch>
            <a:fillRect/>
          </a:stretch>
        </p:blipFill>
        <p:spPr bwMode="auto">
          <a:xfrm>
            <a:off x="502057" y="1872629"/>
            <a:ext cx="9694807" cy="452596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792A340-BE71-4F38-6E63-FA6B72D8B329}"/>
              </a:ext>
            </a:extLst>
          </p:cNvPr>
          <p:cNvSpPr txBox="1"/>
          <p:nvPr/>
        </p:nvSpPr>
        <p:spPr>
          <a:xfrm>
            <a:off x="106845" y="6581001"/>
            <a:ext cx="6097656" cy="276999"/>
          </a:xfrm>
          <a:prstGeom prst="rect">
            <a:avLst/>
          </a:prstGeom>
          <a:noFill/>
        </p:spPr>
        <p:txBody>
          <a:bodyPr wrap="square">
            <a:spAutoFit/>
          </a:bodyPr>
          <a:lstStyle/>
          <a:p>
            <a:r>
              <a:rPr lang="en-IN" sz="1200" dirty="0"/>
              <a:t>https://www.lmsys.org/blog/2024-02-05-compressed-fsm/</a:t>
            </a:r>
          </a:p>
        </p:txBody>
      </p:sp>
      <p:sp>
        <p:nvSpPr>
          <p:cNvPr id="7" name="TextBox 6">
            <a:extLst>
              <a:ext uri="{FF2B5EF4-FFF2-40B4-BE49-F238E27FC236}">
                <a16:creationId xmlns:a16="http://schemas.microsoft.com/office/drawing/2014/main" id="{557CBDC7-7409-45BB-55E6-F9D4938F617C}"/>
              </a:ext>
            </a:extLst>
          </p:cNvPr>
          <p:cNvSpPr txBox="1"/>
          <p:nvPr/>
        </p:nvSpPr>
        <p:spPr>
          <a:xfrm>
            <a:off x="2300632" y="1361248"/>
            <a:ext cx="6097656" cy="369332"/>
          </a:xfrm>
          <a:prstGeom prst="rect">
            <a:avLst/>
          </a:prstGeom>
          <a:noFill/>
        </p:spPr>
        <p:txBody>
          <a:bodyPr wrap="square">
            <a:spAutoFit/>
          </a:bodyPr>
          <a:lstStyle/>
          <a:p>
            <a:r>
              <a:rPr lang="en-IN" dirty="0"/>
              <a:t>schema → regex → finite-state machine → token masking</a:t>
            </a:r>
          </a:p>
        </p:txBody>
      </p:sp>
    </p:spTree>
    <p:extLst>
      <p:ext uri="{BB962C8B-B14F-4D97-AF65-F5344CB8AC3E}">
        <p14:creationId xmlns:p14="http://schemas.microsoft.com/office/powerpoint/2010/main" val="1958813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426720" y="195073"/>
            <a:ext cx="11338560" cy="670560"/>
          </a:xfrm>
          <a:prstGeom prst="rect">
            <a:avLst/>
          </a:prstGeom>
        </p:spPr>
        <p:txBody>
          <a:bodyPr vert="horz" lIns="91440" tIns="45720" rIns="91440" bIns="45720" rtlCol="0" anchor="ctr">
            <a:normAutofit/>
          </a:bodyPr>
          <a:lstStyle/>
          <a:p>
            <a:r>
              <a:rPr lang="en-US" sz="3600" dirty="0">
                <a:latin typeface="Cambria" panose="02040503050406030204" pitchFamily="18" charset="0"/>
                <a:ea typeface="Cambria" panose="02040503050406030204" pitchFamily="18" charset="0"/>
                <a:cs typeface="+mj-cs"/>
              </a:rPr>
              <a:t>Case Study — Customer-Support Copilot, End to End</a:t>
            </a:r>
          </a:p>
        </p:txBody>
      </p:sp>
      <p:grpSp>
        <p:nvGrpSpPr>
          <p:cNvPr id="23" name="Group 22">
            <a:extLst>
              <a:ext uri="{FF2B5EF4-FFF2-40B4-BE49-F238E27FC236}">
                <a16:creationId xmlns:a16="http://schemas.microsoft.com/office/drawing/2014/main" id="{D13D8C01-4194-885D-1C2A-A17A23ED9A39}"/>
              </a:ext>
            </a:extLst>
          </p:cNvPr>
          <p:cNvGrpSpPr/>
          <p:nvPr/>
        </p:nvGrpSpPr>
        <p:grpSpPr>
          <a:xfrm>
            <a:off x="539459" y="1182624"/>
            <a:ext cx="10972800" cy="2560320"/>
            <a:chOff x="609600" y="1158240"/>
            <a:chExt cx="10972800" cy="2560320"/>
          </a:xfrm>
        </p:grpSpPr>
        <p:sp>
          <p:nvSpPr>
            <p:cNvPr id="6" name="Shape 4"/>
            <p:cNvSpPr/>
            <p:nvPr/>
          </p:nvSpPr>
          <p:spPr>
            <a:xfrm>
              <a:off x="609600" y="1584960"/>
              <a:ext cx="1889760" cy="975360"/>
            </a:xfrm>
            <a:prstGeom prst="roundRect">
              <a:avLst>
                <a:gd name="adj" fmla="val 6250"/>
              </a:avLst>
            </a:prstGeom>
            <a:solidFill>
              <a:srgbClr val="6B6B6B"/>
            </a:solidFill>
            <a:ln/>
          </p:spPr>
          <p:txBody>
            <a:bodyPr/>
            <a:lstStyle/>
            <a:p>
              <a:endParaRPr lang="en-IN" sz="2000">
                <a:latin typeface="Cambria" panose="02040503050406030204" pitchFamily="18" charset="0"/>
                <a:ea typeface="Cambria" panose="02040503050406030204" pitchFamily="18" charset="0"/>
              </a:endParaRPr>
            </a:p>
          </p:txBody>
        </p:sp>
        <p:sp>
          <p:nvSpPr>
            <p:cNvPr id="7" name="Text 5"/>
            <p:cNvSpPr/>
            <p:nvPr/>
          </p:nvSpPr>
          <p:spPr>
            <a:xfrm>
              <a:off x="609600" y="1584960"/>
              <a:ext cx="1889760" cy="975360"/>
            </a:xfrm>
            <a:prstGeom prst="rect">
              <a:avLst/>
            </a:prstGeom>
            <a:noFill/>
            <a:ln/>
          </p:spPr>
          <p:txBody>
            <a:bodyPr wrap="square" lIns="339" tIns="339" rIns="339" bIns="339" rtlCol="0" anchor="ctr"/>
            <a:lstStyle/>
            <a:p>
              <a:pPr algn="ctr"/>
              <a:r>
                <a:rPr lang="en-US" sz="2000" b="1" dirty="0">
                  <a:solidFill>
                    <a:srgbClr val="FFFFFF"/>
                  </a:solidFill>
                  <a:latin typeface="Cambria" panose="02040503050406030204" pitchFamily="18" charset="0"/>
                  <a:ea typeface="Cambria" panose="02040503050406030204" pitchFamily="18" charset="0"/>
                  <a:cs typeface="Calibri" pitchFamily="34" charset="-120"/>
                </a:rPr>
                <a:t>User query</a:t>
              </a:r>
              <a:endParaRPr lang="en-US" sz="2000" dirty="0">
                <a:latin typeface="Cambria" panose="02040503050406030204" pitchFamily="18" charset="0"/>
                <a:ea typeface="Cambria" panose="02040503050406030204" pitchFamily="18" charset="0"/>
              </a:endParaRPr>
            </a:p>
          </p:txBody>
        </p:sp>
        <p:sp>
          <p:nvSpPr>
            <p:cNvPr id="8" name="Shape 6"/>
            <p:cNvSpPr/>
            <p:nvPr/>
          </p:nvSpPr>
          <p:spPr>
            <a:xfrm>
              <a:off x="2499360" y="2072640"/>
              <a:ext cx="426720" cy="0"/>
            </a:xfrm>
            <a:prstGeom prst="line">
              <a:avLst/>
            </a:prstGeom>
            <a:noFill/>
            <a:ln w="22225">
              <a:solidFill>
                <a:srgbClr val="6B6B6B"/>
              </a:solidFill>
              <a:prstDash val="solid"/>
              <a:tailEnd type="triangle"/>
            </a:ln>
          </p:spPr>
          <p:txBody>
            <a:bodyPr/>
            <a:lstStyle/>
            <a:p>
              <a:endParaRPr lang="en-IN" sz="2000">
                <a:latin typeface="Cambria" panose="02040503050406030204" pitchFamily="18" charset="0"/>
                <a:ea typeface="Cambria" panose="02040503050406030204" pitchFamily="18" charset="0"/>
              </a:endParaRPr>
            </a:p>
          </p:txBody>
        </p:sp>
        <p:sp>
          <p:nvSpPr>
            <p:cNvPr id="9" name="Shape 7"/>
            <p:cNvSpPr/>
            <p:nvPr/>
          </p:nvSpPr>
          <p:spPr>
            <a:xfrm>
              <a:off x="2987040" y="1584960"/>
              <a:ext cx="2072640" cy="975360"/>
            </a:xfrm>
            <a:prstGeom prst="roundRect">
              <a:avLst>
                <a:gd name="adj" fmla="val 6250"/>
              </a:avLst>
            </a:prstGeom>
            <a:solidFill>
              <a:srgbClr val="C9A227"/>
            </a:solidFill>
            <a:ln/>
          </p:spPr>
          <p:txBody>
            <a:bodyPr/>
            <a:lstStyle/>
            <a:p>
              <a:endParaRPr lang="en-IN" sz="2000">
                <a:latin typeface="Cambria" panose="02040503050406030204" pitchFamily="18" charset="0"/>
                <a:ea typeface="Cambria" panose="02040503050406030204" pitchFamily="18" charset="0"/>
              </a:endParaRPr>
            </a:p>
          </p:txBody>
        </p:sp>
        <p:sp>
          <p:nvSpPr>
            <p:cNvPr id="10" name="Text 8"/>
            <p:cNvSpPr/>
            <p:nvPr/>
          </p:nvSpPr>
          <p:spPr>
            <a:xfrm>
              <a:off x="2987040" y="1584960"/>
              <a:ext cx="2072640" cy="975360"/>
            </a:xfrm>
            <a:prstGeom prst="rect">
              <a:avLst/>
            </a:prstGeom>
            <a:noFill/>
            <a:ln/>
          </p:spPr>
          <p:txBody>
            <a:bodyPr wrap="square" lIns="339" tIns="339" rIns="339" bIns="339" rtlCol="0" anchor="ctr"/>
            <a:lstStyle/>
            <a:p>
              <a:pPr algn="ctr"/>
              <a:r>
                <a:rPr lang="en-US" sz="2000" b="1" dirty="0">
                  <a:solidFill>
                    <a:srgbClr val="262626"/>
                  </a:solidFill>
                  <a:latin typeface="Cambria" panose="02040503050406030204" pitchFamily="18" charset="0"/>
                  <a:ea typeface="Cambria" panose="02040503050406030204" pitchFamily="18" charset="0"/>
                  <a:cs typeface="Calibri" pitchFamily="34" charset="-120"/>
                </a:rPr>
                <a:t>Router</a:t>
              </a:r>
              <a:endParaRPr lang="en-US" sz="2000" dirty="0">
                <a:latin typeface="Cambria" panose="02040503050406030204" pitchFamily="18" charset="0"/>
                <a:ea typeface="Cambria" panose="02040503050406030204" pitchFamily="18" charset="0"/>
              </a:endParaRPr>
            </a:p>
            <a:p>
              <a:pPr algn="ctr"/>
              <a:r>
                <a:rPr lang="en-US" sz="2000" dirty="0">
                  <a:solidFill>
                    <a:srgbClr val="262626"/>
                  </a:solidFill>
                  <a:latin typeface="Cambria" panose="02040503050406030204" pitchFamily="18" charset="0"/>
                  <a:ea typeface="Cambria" panose="02040503050406030204" pitchFamily="18" charset="0"/>
                  <a:cs typeface="Calibri" pitchFamily="34" charset="-120"/>
                </a:rPr>
                <a:t>small model, 4 routes</a:t>
              </a:r>
              <a:endParaRPr lang="en-US" sz="2000" dirty="0">
                <a:latin typeface="Cambria" panose="02040503050406030204" pitchFamily="18" charset="0"/>
                <a:ea typeface="Cambria" panose="02040503050406030204" pitchFamily="18" charset="0"/>
              </a:endParaRPr>
            </a:p>
          </p:txBody>
        </p:sp>
        <p:sp>
          <p:nvSpPr>
            <p:cNvPr id="11" name="Shape 9"/>
            <p:cNvSpPr/>
            <p:nvPr/>
          </p:nvSpPr>
          <p:spPr>
            <a:xfrm>
              <a:off x="5059680" y="2072640"/>
              <a:ext cx="426720" cy="0"/>
            </a:xfrm>
            <a:prstGeom prst="line">
              <a:avLst/>
            </a:prstGeom>
            <a:noFill/>
            <a:ln w="22225">
              <a:solidFill>
                <a:srgbClr val="6B6B6B"/>
              </a:solidFill>
              <a:prstDash val="solid"/>
              <a:tailEnd type="triangle"/>
            </a:ln>
          </p:spPr>
          <p:txBody>
            <a:bodyPr/>
            <a:lstStyle/>
            <a:p>
              <a:endParaRPr lang="en-IN" sz="2000">
                <a:latin typeface="Cambria" panose="02040503050406030204" pitchFamily="18" charset="0"/>
                <a:ea typeface="Cambria" panose="02040503050406030204" pitchFamily="18" charset="0"/>
              </a:endParaRPr>
            </a:p>
          </p:txBody>
        </p:sp>
        <p:sp>
          <p:nvSpPr>
            <p:cNvPr id="12" name="Shape 10"/>
            <p:cNvSpPr/>
            <p:nvPr/>
          </p:nvSpPr>
          <p:spPr>
            <a:xfrm>
              <a:off x="5547360" y="1158240"/>
              <a:ext cx="3048000" cy="755904"/>
            </a:xfrm>
            <a:prstGeom prst="roundRect">
              <a:avLst>
                <a:gd name="adj" fmla="val 8065"/>
              </a:avLst>
            </a:prstGeom>
            <a:solidFill>
              <a:srgbClr val="1F3864"/>
            </a:solidFill>
            <a:ln/>
          </p:spPr>
          <p:txBody>
            <a:bodyPr/>
            <a:lstStyle/>
            <a:p>
              <a:endParaRPr lang="en-IN" sz="2000">
                <a:latin typeface="Cambria" panose="02040503050406030204" pitchFamily="18" charset="0"/>
                <a:ea typeface="Cambria" panose="02040503050406030204" pitchFamily="18" charset="0"/>
              </a:endParaRPr>
            </a:p>
          </p:txBody>
        </p:sp>
        <p:sp>
          <p:nvSpPr>
            <p:cNvPr id="13" name="Text 11"/>
            <p:cNvSpPr/>
            <p:nvPr/>
          </p:nvSpPr>
          <p:spPr>
            <a:xfrm>
              <a:off x="5547360" y="1158240"/>
              <a:ext cx="3048000" cy="755904"/>
            </a:xfrm>
            <a:prstGeom prst="rect">
              <a:avLst/>
            </a:prstGeom>
            <a:noFill/>
            <a:ln/>
          </p:spPr>
          <p:txBody>
            <a:bodyPr wrap="square" lIns="339" tIns="339" rIns="339" bIns="339" rtlCol="0" anchor="ctr"/>
            <a:lstStyle/>
            <a:p>
              <a:pPr algn="ctr"/>
              <a:r>
                <a:rPr lang="en-US" sz="1600" b="1" dirty="0">
                  <a:solidFill>
                    <a:srgbClr val="FFFFFF"/>
                  </a:solidFill>
                  <a:latin typeface="Cambria" panose="02040503050406030204" pitchFamily="18" charset="0"/>
                  <a:ea typeface="Cambria" panose="02040503050406030204" pitchFamily="18" charset="0"/>
                  <a:cs typeface="Calibri" pitchFamily="34" charset="-120"/>
                </a:rPr>
                <a:t>FAQ chain</a:t>
              </a:r>
              <a:endParaRPr lang="en-US" sz="1600" dirty="0">
                <a:latin typeface="Cambria" panose="02040503050406030204" pitchFamily="18" charset="0"/>
                <a:ea typeface="Cambria" panose="02040503050406030204" pitchFamily="18" charset="0"/>
              </a:endParaRPr>
            </a:p>
            <a:p>
              <a:pPr algn="ctr"/>
              <a:r>
                <a:rPr lang="en-US" sz="1600" dirty="0">
                  <a:solidFill>
                    <a:srgbClr val="FFFFFF"/>
                  </a:solidFill>
                  <a:latin typeface="Cambria" panose="02040503050406030204" pitchFamily="18" charset="0"/>
                  <a:ea typeface="Cambria" panose="02040503050406030204" pitchFamily="18" charset="0"/>
                  <a:cs typeface="Calibri" pitchFamily="34" charset="-120"/>
                </a:rPr>
                <a:t>RAG over KB → grounded answer</a:t>
              </a:r>
              <a:endParaRPr lang="en-US" sz="1600" dirty="0">
                <a:latin typeface="Cambria" panose="02040503050406030204" pitchFamily="18" charset="0"/>
                <a:ea typeface="Cambria" panose="02040503050406030204" pitchFamily="18" charset="0"/>
              </a:endParaRPr>
            </a:p>
          </p:txBody>
        </p:sp>
        <p:sp>
          <p:nvSpPr>
            <p:cNvPr id="14" name="Shape 12"/>
            <p:cNvSpPr/>
            <p:nvPr/>
          </p:nvSpPr>
          <p:spPr>
            <a:xfrm>
              <a:off x="5547360" y="2060448"/>
              <a:ext cx="3048000" cy="755904"/>
            </a:xfrm>
            <a:prstGeom prst="roundRect">
              <a:avLst>
                <a:gd name="adj" fmla="val 8065"/>
              </a:avLst>
            </a:prstGeom>
            <a:solidFill>
              <a:srgbClr val="1F3864"/>
            </a:solidFill>
            <a:ln/>
          </p:spPr>
          <p:txBody>
            <a:bodyPr/>
            <a:lstStyle/>
            <a:p>
              <a:endParaRPr lang="en-IN" sz="2000">
                <a:latin typeface="Cambria" panose="02040503050406030204" pitchFamily="18" charset="0"/>
                <a:ea typeface="Cambria" panose="02040503050406030204" pitchFamily="18" charset="0"/>
              </a:endParaRPr>
            </a:p>
          </p:txBody>
        </p:sp>
        <p:sp>
          <p:nvSpPr>
            <p:cNvPr id="15" name="Text 13"/>
            <p:cNvSpPr/>
            <p:nvPr/>
          </p:nvSpPr>
          <p:spPr>
            <a:xfrm>
              <a:off x="5547360" y="2060448"/>
              <a:ext cx="3048000" cy="755904"/>
            </a:xfrm>
            <a:prstGeom prst="rect">
              <a:avLst/>
            </a:prstGeom>
            <a:noFill/>
            <a:ln/>
          </p:spPr>
          <p:txBody>
            <a:bodyPr wrap="square" lIns="339" tIns="339" rIns="339" bIns="339" rtlCol="0" anchor="ctr"/>
            <a:lstStyle/>
            <a:p>
              <a:pPr algn="ctr"/>
              <a:r>
                <a:rPr lang="en-US" sz="1600" b="1" dirty="0">
                  <a:solidFill>
                    <a:srgbClr val="FFFFFF"/>
                  </a:solidFill>
                  <a:latin typeface="Cambria" panose="02040503050406030204" pitchFamily="18" charset="0"/>
                  <a:ea typeface="Cambria" panose="02040503050406030204" pitchFamily="18" charset="0"/>
                  <a:cs typeface="Calibri" pitchFamily="34" charset="-120"/>
                </a:rPr>
                <a:t>Billing chain</a:t>
              </a:r>
              <a:endParaRPr lang="en-US" sz="1600" dirty="0">
                <a:latin typeface="Cambria" panose="02040503050406030204" pitchFamily="18" charset="0"/>
                <a:ea typeface="Cambria" panose="02040503050406030204" pitchFamily="18" charset="0"/>
              </a:endParaRPr>
            </a:p>
            <a:p>
              <a:pPr algn="ctr"/>
              <a:r>
                <a:rPr lang="en-US" sz="1600" dirty="0">
                  <a:solidFill>
                    <a:srgbClr val="FFFFFF"/>
                  </a:solidFill>
                  <a:latin typeface="Cambria" panose="02040503050406030204" pitchFamily="18" charset="0"/>
                  <a:ea typeface="Cambria" panose="02040503050406030204" pitchFamily="18" charset="0"/>
                  <a:cs typeface="Calibri" pitchFamily="34" charset="-120"/>
                </a:rPr>
                <a:t>tools: get_invoice, refund_status</a:t>
              </a:r>
              <a:endParaRPr lang="en-US" sz="1600" dirty="0">
                <a:latin typeface="Cambria" panose="02040503050406030204" pitchFamily="18" charset="0"/>
                <a:ea typeface="Cambria" panose="02040503050406030204" pitchFamily="18" charset="0"/>
              </a:endParaRPr>
            </a:p>
          </p:txBody>
        </p:sp>
        <p:sp>
          <p:nvSpPr>
            <p:cNvPr id="16" name="Shape 14"/>
            <p:cNvSpPr/>
            <p:nvPr/>
          </p:nvSpPr>
          <p:spPr>
            <a:xfrm>
              <a:off x="5547360" y="2962656"/>
              <a:ext cx="3048000" cy="755904"/>
            </a:xfrm>
            <a:prstGeom prst="roundRect">
              <a:avLst>
                <a:gd name="adj" fmla="val 8065"/>
              </a:avLst>
            </a:prstGeom>
            <a:solidFill>
              <a:srgbClr val="8B0000"/>
            </a:solidFill>
            <a:ln/>
          </p:spPr>
          <p:txBody>
            <a:bodyPr/>
            <a:lstStyle/>
            <a:p>
              <a:endParaRPr lang="en-IN" sz="2000">
                <a:latin typeface="Cambria" panose="02040503050406030204" pitchFamily="18" charset="0"/>
                <a:ea typeface="Cambria" panose="02040503050406030204" pitchFamily="18" charset="0"/>
              </a:endParaRPr>
            </a:p>
          </p:txBody>
        </p:sp>
        <p:sp>
          <p:nvSpPr>
            <p:cNvPr id="17" name="Text 15"/>
            <p:cNvSpPr/>
            <p:nvPr/>
          </p:nvSpPr>
          <p:spPr>
            <a:xfrm>
              <a:off x="5547360" y="2962656"/>
              <a:ext cx="3048000" cy="755904"/>
            </a:xfrm>
            <a:prstGeom prst="rect">
              <a:avLst/>
            </a:prstGeom>
            <a:noFill/>
            <a:ln/>
          </p:spPr>
          <p:txBody>
            <a:bodyPr wrap="square" lIns="339" tIns="339" rIns="339" bIns="339" rtlCol="0" anchor="ctr"/>
            <a:lstStyle/>
            <a:p>
              <a:pPr algn="ctr"/>
              <a:r>
                <a:rPr lang="en-US" sz="1600" b="1" dirty="0">
                  <a:solidFill>
                    <a:srgbClr val="FFFFFF"/>
                  </a:solidFill>
                  <a:latin typeface="Cambria" panose="02040503050406030204" pitchFamily="18" charset="0"/>
                  <a:ea typeface="Cambria" panose="02040503050406030204" pitchFamily="18" charset="0"/>
                  <a:cs typeface="Calibri" pitchFamily="34" charset="-120"/>
                </a:rPr>
                <a:t>Escalation</a:t>
              </a:r>
              <a:endParaRPr lang="en-US" sz="1600" dirty="0">
                <a:latin typeface="Cambria" panose="02040503050406030204" pitchFamily="18" charset="0"/>
                <a:ea typeface="Cambria" panose="02040503050406030204" pitchFamily="18" charset="0"/>
              </a:endParaRPr>
            </a:p>
            <a:p>
              <a:pPr algn="ctr"/>
              <a:r>
                <a:rPr lang="en-US" sz="1600" dirty="0">
                  <a:solidFill>
                    <a:srgbClr val="FFFFFF"/>
                  </a:solidFill>
                  <a:latin typeface="Cambria" panose="02040503050406030204" pitchFamily="18" charset="0"/>
                  <a:ea typeface="Cambria" panose="02040503050406030204" pitchFamily="18" charset="0"/>
                  <a:cs typeface="Calibri" pitchFamily="34" charset="-120"/>
                </a:rPr>
                <a:t>summary → human agent queue</a:t>
              </a:r>
              <a:endParaRPr lang="en-US" sz="1600" dirty="0">
                <a:latin typeface="Cambria" panose="02040503050406030204" pitchFamily="18" charset="0"/>
                <a:ea typeface="Cambria" panose="02040503050406030204" pitchFamily="18" charset="0"/>
              </a:endParaRPr>
            </a:p>
          </p:txBody>
        </p:sp>
        <p:sp>
          <p:nvSpPr>
            <p:cNvPr id="18" name="Shape 16"/>
            <p:cNvSpPr/>
            <p:nvPr/>
          </p:nvSpPr>
          <p:spPr>
            <a:xfrm>
              <a:off x="8595360" y="2072640"/>
              <a:ext cx="426720" cy="0"/>
            </a:xfrm>
            <a:prstGeom prst="line">
              <a:avLst/>
            </a:prstGeom>
            <a:noFill/>
            <a:ln w="22225">
              <a:solidFill>
                <a:srgbClr val="6B6B6B"/>
              </a:solidFill>
              <a:prstDash val="solid"/>
              <a:tailEnd type="triangle"/>
            </a:ln>
          </p:spPr>
          <p:txBody>
            <a:bodyPr/>
            <a:lstStyle/>
            <a:p>
              <a:endParaRPr lang="en-IN" sz="2000">
                <a:latin typeface="Cambria" panose="02040503050406030204" pitchFamily="18" charset="0"/>
                <a:ea typeface="Cambria" panose="02040503050406030204" pitchFamily="18" charset="0"/>
              </a:endParaRPr>
            </a:p>
          </p:txBody>
        </p:sp>
        <p:sp>
          <p:nvSpPr>
            <p:cNvPr id="19" name="Shape 17"/>
            <p:cNvSpPr/>
            <p:nvPr/>
          </p:nvSpPr>
          <p:spPr>
            <a:xfrm>
              <a:off x="9083040" y="1584960"/>
              <a:ext cx="2499360" cy="975360"/>
            </a:xfrm>
            <a:prstGeom prst="roundRect">
              <a:avLst>
                <a:gd name="adj" fmla="val 6250"/>
              </a:avLst>
            </a:prstGeom>
            <a:solidFill>
              <a:srgbClr val="2C6E49"/>
            </a:solidFill>
            <a:ln/>
          </p:spPr>
          <p:txBody>
            <a:bodyPr/>
            <a:lstStyle/>
            <a:p>
              <a:endParaRPr lang="en-IN" sz="2000">
                <a:latin typeface="Cambria" panose="02040503050406030204" pitchFamily="18" charset="0"/>
                <a:ea typeface="Cambria" panose="02040503050406030204" pitchFamily="18" charset="0"/>
              </a:endParaRPr>
            </a:p>
          </p:txBody>
        </p:sp>
        <p:sp>
          <p:nvSpPr>
            <p:cNvPr id="20" name="Text 18"/>
            <p:cNvSpPr/>
            <p:nvPr/>
          </p:nvSpPr>
          <p:spPr>
            <a:xfrm>
              <a:off x="9083040" y="1584960"/>
              <a:ext cx="2499360" cy="975360"/>
            </a:xfrm>
            <a:prstGeom prst="rect">
              <a:avLst/>
            </a:prstGeom>
            <a:noFill/>
            <a:ln/>
          </p:spPr>
          <p:txBody>
            <a:bodyPr wrap="square" lIns="339" tIns="339" rIns="339" bIns="339" rtlCol="0" anchor="ctr"/>
            <a:lstStyle/>
            <a:p>
              <a:pPr algn="ctr"/>
              <a:r>
                <a:rPr lang="en-US" sz="2000" b="1" dirty="0">
                  <a:solidFill>
                    <a:srgbClr val="FFFFFF"/>
                  </a:solidFill>
                  <a:latin typeface="Cambria" panose="02040503050406030204" pitchFamily="18" charset="0"/>
                  <a:ea typeface="Cambria" panose="02040503050406030204" pitchFamily="18" charset="0"/>
                  <a:cs typeface="Calibri" pitchFamily="34" charset="-120"/>
                </a:rPr>
                <a:t>Verifier + formatter</a:t>
              </a:r>
              <a:endParaRPr lang="en-US" sz="2000" dirty="0">
                <a:latin typeface="Cambria" panose="02040503050406030204" pitchFamily="18" charset="0"/>
                <a:ea typeface="Cambria" panose="02040503050406030204" pitchFamily="18" charset="0"/>
              </a:endParaRPr>
            </a:p>
            <a:p>
              <a:pPr algn="ctr"/>
              <a:r>
                <a:rPr lang="en-US" sz="2000" dirty="0">
                  <a:solidFill>
                    <a:srgbClr val="FFFFFF"/>
                  </a:solidFill>
                  <a:latin typeface="Cambria" panose="02040503050406030204" pitchFamily="18" charset="0"/>
                  <a:ea typeface="Cambria" panose="02040503050406030204" pitchFamily="18" charset="0"/>
                  <a:cs typeface="Calibri" pitchFamily="34" charset="-120"/>
                </a:rPr>
                <a:t>schema check, tone, citations</a:t>
              </a:r>
              <a:endParaRPr lang="en-US" sz="2000" dirty="0">
                <a:latin typeface="Cambria" panose="02040503050406030204" pitchFamily="18" charset="0"/>
                <a:ea typeface="Cambria" panose="02040503050406030204" pitchFamily="18" charset="0"/>
              </a:endParaRPr>
            </a:p>
          </p:txBody>
        </p:sp>
      </p:grpSp>
      <p:graphicFrame>
        <p:nvGraphicFramePr>
          <p:cNvPr id="31" name="Table 30">
            <a:extLst>
              <a:ext uri="{FF2B5EF4-FFF2-40B4-BE49-F238E27FC236}">
                <a16:creationId xmlns:a16="http://schemas.microsoft.com/office/drawing/2014/main" id="{145D74CE-7AC2-4A32-5832-5E646A9079EF}"/>
              </a:ext>
            </a:extLst>
          </p:cNvPr>
          <p:cNvGraphicFramePr>
            <a:graphicFrameLocks noGrp="1"/>
          </p:cNvGraphicFramePr>
          <p:nvPr>
            <p:extLst>
              <p:ext uri="{D42A27DB-BD31-4B8C-83A1-F6EECF244321}">
                <p14:modId xmlns:p14="http://schemas.microsoft.com/office/powerpoint/2010/main" val="3683027926"/>
              </p:ext>
            </p:extLst>
          </p:nvPr>
        </p:nvGraphicFramePr>
        <p:xfrm>
          <a:off x="549007" y="4151376"/>
          <a:ext cx="10515600" cy="2194560"/>
        </p:xfrm>
        <a:graphic>
          <a:graphicData uri="http://schemas.openxmlformats.org/drawingml/2006/table">
            <a:tbl>
              <a:tblPr>
                <a:tableStyleId>{3C2FFA5D-87B4-456A-9821-1D502468CF0F}</a:tableStyleId>
              </a:tblPr>
              <a:tblGrid>
                <a:gridCol w="3493265">
                  <a:extLst>
                    <a:ext uri="{9D8B030D-6E8A-4147-A177-3AD203B41FA5}">
                      <a16:colId xmlns:a16="http://schemas.microsoft.com/office/drawing/2014/main" val="3708658250"/>
                    </a:ext>
                  </a:extLst>
                </a:gridCol>
                <a:gridCol w="7022335">
                  <a:extLst>
                    <a:ext uri="{9D8B030D-6E8A-4147-A177-3AD203B41FA5}">
                      <a16:colId xmlns:a16="http://schemas.microsoft.com/office/drawing/2014/main" val="2758844567"/>
                    </a:ext>
                  </a:extLst>
                </a:gridCol>
              </a:tblGrid>
              <a:tr h="0">
                <a:tc>
                  <a:txBody>
                    <a:bodyPr/>
                    <a:lstStyle/>
                    <a:p>
                      <a:pPr>
                        <a:buNone/>
                      </a:pPr>
                      <a:r>
                        <a:rPr lang="en-IN"/>
                        <a:t>Pattern</a:t>
                      </a:r>
                    </a:p>
                  </a:txBody>
                  <a:tcPr anchor="ctr"/>
                </a:tc>
                <a:tc>
                  <a:txBody>
                    <a:bodyPr/>
                    <a:lstStyle/>
                    <a:p>
                      <a:pPr>
                        <a:buNone/>
                      </a:pPr>
                      <a:r>
                        <a:rPr lang="en-US" dirty="0"/>
                        <a:t>B</a:t>
                      </a:r>
                      <a:r>
                        <a:rPr lang="en-IN" dirty="0"/>
                        <a:t>locks</a:t>
                      </a:r>
                    </a:p>
                  </a:txBody>
                  <a:tcPr anchor="ctr"/>
                </a:tc>
                <a:extLst>
                  <a:ext uri="{0D108BD9-81ED-4DB2-BD59-A6C34878D82A}">
                    <a16:rowId xmlns:a16="http://schemas.microsoft.com/office/drawing/2014/main" val="3289668411"/>
                  </a:ext>
                </a:extLst>
              </a:tr>
              <a:tr h="0">
                <a:tc>
                  <a:txBody>
                    <a:bodyPr/>
                    <a:lstStyle/>
                    <a:p>
                      <a:pPr>
                        <a:buNone/>
                      </a:pPr>
                      <a:r>
                        <a:rPr lang="en-IN" b="1" dirty="0"/>
                        <a:t>Routing / Query Classification</a:t>
                      </a:r>
                      <a:endParaRPr lang="en-IN" dirty="0"/>
                    </a:p>
                  </a:txBody>
                  <a:tcPr anchor="ctr"/>
                </a:tc>
                <a:tc>
                  <a:txBody>
                    <a:bodyPr/>
                    <a:lstStyle/>
                    <a:p>
                      <a:pPr>
                        <a:buNone/>
                      </a:pPr>
                      <a:r>
                        <a:rPr lang="en-IN" dirty="0"/>
                        <a:t>Router block (4-way dispatch)</a:t>
                      </a:r>
                    </a:p>
                  </a:txBody>
                  <a:tcPr anchor="ctr"/>
                </a:tc>
                <a:extLst>
                  <a:ext uri="{0D108BD9-81ED-4DB2-BD59-A6C34878D82A}">
                    <a16:rowId xmlns:a16="http://schemas.microsoft.com/office/drawing/2014/main" val="2797953769"/>
                  </a:ext>
                </a:extLst>
              </a:tr>
              <a:tr h="0">
                <a:tc>
                  <a:txBody>
                    <a:bodyPr/>
                    <a:lstStyle/>
                    <a:p>
                      <a:pPr>
                        <a:buNone/>
                      </a:pPr>
                      <a:r>
                        <a:rPr lang="en-IN" b="1" dirty="0"/>
                        <a:t>Function-Calling</a:t>
                      </a:r>
                      <a:endParaRPr lang="en-IN" dirty="0"/>
                    </a:p>
                  </a:txBody>
                  <a:tcPr anchor="ctr"/>
                </a:tc>
                <a:tc>
                  <a:txBody>
                    <a:bodyPr/>
                    <a:lstStyle/>
                    <a:p>
                      <a:pPr>
                        <a:buNone/>
                      </a:pPr>
                      <a:r>
                        <a:rPr lang="en-IN"/>
                        <a:t>Billing chain (get_invoice, refund_status)</a:t>
                      </a:r>
                    </a:p>
                  </a:txBody>
                  <a:tcPr anchor="ctr"/>
                </a:tc>
                <a:extLst>
                  <a:ext uri="{0D108BD9-81ED-4DB2-BD59-A6C34878D82A}">
                    <a16:rowId xmlns:a16="http://schemas.microsoft.com/office/drawing/2014/main" val="4288151468"/>
                  </a:ext>
                </a:extLst>
              </a:tr>
              <a:tr h="0">
                <a:tc>
                  <a:txBody>
                    <a:bodyPr/>
                    <a:lstStyle/>
                    <a:p>
                      <a:pPr>
                        <a:buNone/>
                      </a:pPr>
                      <a:r>
                        <a:rPr lang="en-IN" b="1" dirty="0"/>
                        <a:t>Query Decomposition</a:t>
                      </a:r>
                      <a:endParaRPr lang="en-IN" dirty="0"/>
                    </a:p>
                  </a:txBody>
                  <a:tcPr anchor="ctr"/>
                </a:tc>
                <a:tc>
                  <a:txBody>
                    <a:bodyPr/>
                    <a:lstStyle/>
                    <a:p>
                      <a:pPr>
                        <a:buNone/>
                      </a:pPr>
                      <a:r>
                        <a:rPr lang="en-IN"/>
                        <a:t>Inside the billing chain (bill-higher → fetch → diff → explain)</a:t>
                      </a:r>
                    </a:p>
                  </a:txBody>
                  <a:tcPr anchor="ctr"/>
                </a:tc>
                <a:extLst>
                  <a:ext uri="{0D108BD9-81ED-4DB2-BD59-A6C34878D82A}">
                    <a16:rowId xmlns:a16="http://schemas.microsoft.com/office/drawing/2014/main" val="1538232045"/>
                  </a:ext>
                </a:extLst>
              </a:tr>
              <a:tr h="0">
                <a:tc>
                  <a:txBody>
                    <a:bodyPr/>
                    <a:lstStyle/>
                    <a:p>
                      <a:pPr>
                        <a:buNone/>
                      </a:pPr>
                      <a:r>
                        <a:rPr lang="en-IN" b="1"/>
                        <a:t>Prompt Chaining &amp; Control Flow</a:t>
                      </a:r>
                      <a:endParaRPr lang="en-IN"/>
                    </a:p>
                  </a:txBody>
                  <a:tcPr anchor="ctr"/>
                </a:tc>
                <a:tc>
                  <a:txBody>
                    <a:bodyPr/>
                    <a:lstStyle/>
                    <a:p>
                      <a:pPr>
                        <a:buNone/>
                      </a:pPr>
                      <a:r>
                        <a:rPr lang="en-IN"/>
                        <a:t>FAQ chain, Escalation branch, and the overall query→…→verifier flow</a:t>
                      </a:r>
                    </a:p>
                  </a:txBody>
                  <a:tcPr anchor="ctr"/>
                </a:tc>
                <a:extLst>
                  <a:ext uri="{0D108BD9-81ED-4DB2-BD59-A6C34878D82A}">
                    <a16:rowId xmlns:a16="http://schemas.microsoft.com/office/drawing/2014/main" val="3580925351"/>
                  </a:ext>
                </a:extLst>
              </a:tr>
              <a:tr h="0">
                <a:tc>
                  <a:txBody>
                    <a:bodyPr/>
                    <a:lstStyle/>
                    <a:p>
                      <a:pPr>
                        <a:buNone/>
                      </a:pPr>
                      <a:r>
                        <a:rPr lang="en-IN" b="1" dirty="0"/>
                        <a:t>Structured Output Control</a:t>
                      </a:r>
                    </a:p>
                  </a:txBody>
                  <a:tcPr anchor="ctr"/>
                </a:tc>
                <a:tc>
                  <a:txBody>
                    <a:bodyPr/>
                    <a:lstStyle/>
                    <a:p>
                      <a:pPr>
                        <a:buNone/>
                      </a:pPr>
                      <a:r>
                        <a:rPr lang="en-IN" dirty="0"/>
                        <a:t>Verifier + formatter — cross-link to the other section</a:t>
                      </a:r>
                    </a:p>
                  </a:txBody>
                  <a:tcPr anchor="ctr"/>
                </a:tc>
                <a:extLst>
                  <a:ext uri="{0D108BD9-81ED-4DB2-BD59-A6C34878D82A}">
                    <a16:rowId xmlns:a16="http://schemas.microsoft.com/office/drawing/2014/main" val="1756986285"/>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F216E0-0A19-090F-FD25-3C4C602555AD}"/>
              </a:ext>
            </a:extLst>
          </p:cNvPr>
          <p:cNvSpPr>
            <a:spLocks noGrp="1"/>
          </p:cNvSpPr>
          <p:nvPr>
            <p:ph idx="10"/>
          </p:nvPr>
        </p:nvSpPr>
        <p:spPr>
          <a:xfrm>
            <a:off x="0" y="1402004"/>
            <a:ext cx="11780703" cy="5378877"/>
          </a:xfrm>
        </p:spPr>
        <p:txBody>
          <a:bodyPr>
            <a:noAutofit/>
          </a:bodyPr>
          <a:lstStyle/>
          <a:p>
            <a:pPr marL="342900" indent="-342900">
              <a:buFont typeface="Arial" panose="020B0604020202020204" pitchFamily="34" charset="0"/>
              <a:buChar char="•"/>
            </a:pPr>
            <a:r>
              <a:rPr lang="en-US" sz="2200" dirty="0">
                <a:solidFill>
                  <a:srgbClr val="333333"/>
                </a:solidFill>
                <a:cs typeface="Calibri" pitchFamily="34" charset="-120"/>
              </a:rPr>
              <a:t>Instead of  hand-tuning prompts — </a:t>
            </a:r>
            <a:r>
              <a:rPr lang="en-US" sz="2200" b="1" dirty="0">
                <a:solidFill>
                  <a:srgbClr val="1F3864"/>
                </a:solidFill>
                <a:cs typeface="Calibri" pitchFamily="34" charset="-120"/>
              </a:rPr>
              <a:t>optimize them programmatically</a:t>
            </a:r>
            <a:r>
              <a:rPr lang="en-US" sz="2200" dirty="0">
                <a:solidFill>
                  <a:srgbClr val="333333"/>
                </a:solidFill>
                <a:cs typeface="Calibri" pitchFamily="34" charset="-120"/>
              </a:rPr>
              <a:t> against a metric or labelled eval set. Prompts become parameters, tuned by data rather than intuition</a:t>
            </a:r>
            <a:endParaRPr lang="en-US" sz="2200" dirty="0"/>
          </a:p>
          <a:p>
            <a:pPr marL="342900" indent="-342900">
              <a:buFont typeface="Arial" panose="020B0604020202020204" pitchFamily="34" charset="0"/>
              <a:buChar char="•"/>
            </a:pPr>
            <a:endParaRPr lang="en-US" sz="2200" b="1" dirty="0">
              <a:solidFill>
                <a:srgbClr val="1F3864"/>
              </a:solidFill>
              <a:cs typeface="Calibri" pitchFamily="34" charset="-120"/>
            </a:endParaRPr>
          </a:p>
          <a:p>
            <a:pPr marL="342900" indent="-342900">
              <a:buFont typeface="Arial" panose="020B0604020202020204" pitchFamily="34" charset="0"/>
              <a:buChar char="•"/>
            </a:pPr>
            <a:r>
              <a:rPr lang="en-US" sz="2200" b="1" dirty="0">
                <a:solidFill>
                  <a:srgbClr val="1F3864"/>
                </a:solidFill>
                <a:cs typeface="Calibri" pitchFamily="34" charset="-120"/>
              </a:rPr>
              <a:t>APE — Automatic Prompt Engineer</a:t>
            </a:r>
            <a:endParaRPr lang="en-US" sz="2200" dirty="0"/>
          </a:p>
          <a:p>
            <a:pPr marL="800100" lvl="1" indent="-342900">
              <a:buFont typeface="Arial" panose="020B0604020202020204" pitchFamily="34" charset="0"/>
              <a:buChar char="•"/>
            </a:pPr>
            <a:r>
              <a:rPr lang="en-US" sz="2200" dirty="0">
                <a:solidFill>
                  <a:srgbClr val="5A5A5A"/>
                </a:solidFill>
                <a:cs typeface="Calibri" pitchFamily="34" charset="-120"/>
              </a:rPr>
              <a:t>An LLM generates many candidate instructions, scores each on your eval set, and keeps the best one. </a:t>
            </a:r>
            <a:r>
              <a:rPr lang="en-US" sz="2200" i="1" dirty="0">
                <a:solidFill>
                  <a:srgbClr val="9C7611"/>
                </a:solidFill>
                <a:cs typeface="Calibri" pitchFamily="34" charset="-120"/>
              </a:rPr>
              <a:t>Reference repo exists — in practice used via </a:t>
            </a:r>
            <a:r>
              <a:rPr lang="en-US" sz="2200" i="1" dirty="0" err="1">
                <a:solidFill>
                  <a:srgbClr val="9C7611"/>
                </a:solidFill>
                <a:cs typeface="Calibri" pitchFamily="34" charset="-120"/>
              </a:rPr>
              <a:t>DSPy's</a:t>
            </a:r>
            <a:r>
              <a:rPr lang="en-US" sz="2200" i="1" dirty="0">
                <a:solidFill>
                  <a:srgbClr val="9C7611"/>
                </a:solidFill>
                <a:cs typeface="Calibri" pitchFamily="34" charset="-120"/>
              </a:rPr>
              <a:t> MIPRO optimizer.</a:t>
            </a:r>
          </a:p>
          <a:p>
            <a:pPr marL="342900" indent="-342900">
              <a:buFont typeface="Arial" panose="020B0604020202020204" pitchFamily="34" charset="0"/>
              <a:buChar char="•"/>
            </a:pPr>
            <a:endParaRPr lang="en-US" sz="2200" i="1" dirty="0">
              <a:solidFill>
                <a:srgbClr val="9C7611"/>
              </a:solidFill>
              <a:cs typeface="Calibri" pitchFamily="34" charset="-120"/>
            </a:endParaRPr>
          </a:p>
          <a:p>
            <a:pPr marL="342900" indent="-342900">
              <a:buFont typeface="Arial" panose="020B0604020202020204" pitchFamily="34" charset="0"/>
              <a:buChar char="•"/>
            </a:pPr>
            <a:r>
              <a:rPr lang="en-US" sz="2200" b="1" dirty="0">
                <a:solidFill>
                  <a:srgbClr val="1F3864"/>
                </a:solidFill>
                <a:cs typeface="Calibri" pitchFamily="34" charset="-120"/>
              </a:rPr>
              <a:t>OPRO — Optimization by </a:t>
            </a:r>
            <a:r>
              <a:rPr lang="en-US" sz="2200" b="1" dirty="0" err="1">
                <a:solidFill>
                  <a:srgbClr val="1F3864"/>
                </a:solidFill>
                <a:cs typeface="Calibri" pitchFamily="34" charset="-120"/>
              </a:rPr>
              <a:t>PROmpting</a:t>
            </a:r>
            <a:endParaRPr lang="en-US" sz="2200" dirty="0"/>
          </a:p>
          <a:p>
            <a:pPr marL="800100" lvl="1" indent="-342900">
              <a:buFont typeface="Arial" panose="020B0604020202020204" pitchFamily="34" charset="0"/>
              <a:buChar char="•"/>
            </a:pPr>
            <a:r>
              <a:rPr lang="en-US" sz="2200" dirty="0">
                <a:solidFill>
                  <a:srgbClr val="5A5A5A"/>
                </a:solidFill>
                <a:cs typeface="Calibri" pitchFamily="34" charset="-120"/>
              </a:rPr>
              <a:t>The LLM acts as an optimizer: it proposes better prompts iteratively, using the scores of past attempts as feedback. </a:t>
            </a:r>
            <a:r>
              <a:rPr lang="en-US" sz="2200" i="1" dirty="0">
                <a:solidFill>
                  <a:srgbClr val="9C7611"/>
                </a:solidFill>
                <a:cs typeface="Calibri" pitchFamily="34" charset="-120"/>
              </a:rPr>
              <a:t>Research code only — lives on as </a:t>
            </a:r>
            <a:r>
              <a:rPr lang="en-US" sz="2200" i="1" dirty="0" err="1">
                <a:solidFill>
                  <a:srgbClr val="9C7611"/>
                </a:solidFill>
                <a:cs typeface="Calibri" pitchFamily="34" charset="-120"/>
              </a:rPr>
              <a:t>DSPy's</a:t>
            </a:r>
            <a:r>
              <a:rPr lang="en-US" sz="2200" i="1" dirty="0">
                <a:solidFill>
                  <a:srgbClr val="9C7611"/>
                </a:solidFill>
                <a:cs typeface="Calibri" pitchFamily="34" charset="-120"/>
              </a:rPr>
              <a:t> COPRO optimizer.</a:t>
            </a:r>
          </a:p>
          <a:p>
            <a:pPr marL="342900" indent="-342900">
              <a:buFont typeface="Arial" panose="020B0604020202020204" pitchFamily="34" charset="0"/>
              <a:buChar char="•"/>
            </a:pPr>
            <a:endParaRPr lang="en-US" sz="2200" i="1" dirty="0">
              <a:solidFill>
                <a:srgbClr val="9C7611"/>
              </a:solidFill>
              <a:cs typeface="Calibri" pitchFamily="34" charset="-120"/>
            </a:endParaRPr>
          </a:p>
          <a:p>
            <a:pPr marL="342900" indent="-342900">
              <a:buFont typeface="Arial" panose="020B0604020202020204" pitchFamily="34" charset="0"/>
              <a:buChar char="•"/>
            </a:pPr>
            <a:r>
              <a:rPr lang="en-US" sz="2200" b="1" dirty="0" err="1">
                <a:solidFill>
                  <a:srgbClr val="1F3864"/>
                </a:solidFill>
                <a:cs typeface="Calibri" pitchFamily="34" charset="-120"/>
              </a:rPr>
              <a:t>DSPy</a:t>
            </a:r>
            <a:r>
              <a:rPr lang="en-US" sz="2200" b="1" dirty="0">
                <a:solidFill>
                  <a:srgbClr val="1F3864"/>
                </a:solidFill>
                <a:cs typeface="Calibri" pitchFamily="34" charset="-120"/>
              </a:rPr>
              <a:t> / GEPA — the framework that operationalizes the above</a:t>
            </a:r>
            <a:endParaRPr lang="en-US" sz="2200" dirty="0"/>
          </a:p>
          <a:p>
            <a:pPr marL="800100" lvl="1" indent="-342900">
              <a:buFont typeface="Arial" panose="020B0604020202020204" pitchFamily="34" charset="0"/>
              <a:buChar char="•"/>
            </a:pPr>
            <a:r>
              <a:rPr lang="en-US" sz="2200" dirty="0">
                <a:solidFill>
                  <a:srgbClr val="5A5A5A"/>
                </a:solidFill>
                <a:cs typeface="Calibri" pitchFamily="34" charset="-120"/>
              </a:rPr>
              <a:t>Declare the pipeline; it compiles and optimizes the prompts and few-shot examples automatically against your metric. </a:t>
            </a:r>
            <a:r>
              <a:rPr lang="en-US" sz="2200" i="1" dirty="0">
                <a:solidFill>
                  <a:srgbClr val="9C7611"/>
                </a:solidFill>
                <a:cs typeface="Calibri" pitchFamily="34" charset="-120"/>
              </a:rPr>
              <a:t>MIPROv2 = current default optimizer; GEPA = the newer reflective one.</a:t>
            </a:r>
            <a:endParaRPr lang="en-US" sz="2200" dirty="0"/>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endParaRPr lang="en-IN" sz="2200" dirty="0"/>
          </a:p>
        </p:txBody>
      </p:sp>
      <p:sp>
        <p:nvSpPr>
          <p:cNvPr id="3" name="Title 2">
            <a:extLst>
              <a:ext uri="{FF2B5EF4-FFF2-40B4-BE49-F238E27FC236}">
                <a16:creationId xmlns:a16="http://schemas.microsoft.com/office/drawing/2014/main" id="{031BEEB6-C2F6-B3EA-2590-E9B449CDD307}"/>
              </a:ext>
            </a:extLst>
          </p:cNvPr>
          <p:cNvSpPr>
            <a:spLocks noGrp="1"/>
          </p:cNvSpPr>
          <p:nvPr>
            <p:ph type="title"/>
          </p:nvPr>
        </p:nvSpPr>
        <p:spPr>
          <a:xfrm>
            <a:off x="205649" y="182804"/>
            <a:ext cx="10881209" cy="1219200"/>
          </a:xfrm>
        </p:spPr>
        <p:txBody>
          <a:bodyPr/>
          <a:lstStyle/>
          <a:p>
            <a:r>
              <a:rPr lang="en-US" dirty="0">
                <a:solidFill>
                  <a:schemeClr val="tx1"/>
                </a:solidFill>
                <a:latin typeface="Georgia" pitchFamily="34" charset="0"/>
                <a:ea typeface="Georgia" pitchFamily="34" charset="-122"/>
                <a:cs typeface="Georgia" pitchFamily="34" charset="-120"/>
              </a:rPr>
              <a:t>Automated Prompt Optimization</a:t>
            </a:r>
            <a:br>
              <a:rPr lang="en-US" dirty="0">
                <a:solidFill>
                  <a:schemeClr val="tx1"/>
                </a:solidFill>
              </a:rPr>
            </a:br>
            <a:endParaRPr lang="en-IN" dirty="0">
              <a:solidFill>
                <a:schemeClr val="tx1"/>
              </a:solidFill>
            </a:endParaRPr>
          </a:p>
        </p:txBody>
      </p:sp>
    </p:spTree>
    <p:extLst>
      <p:ext uri="{BB962C8B-B14F-4D97-AF65-F5344CB8AC3E}">
        <p14:creationId xmlns:p14="http://schemas.microsoft.com/office/powerpoint/2010/main" val="19392591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26720" y="268738"/>
            <a:ext cx="11338560" cy="609600"/>
          </a:xfrm>
          <a:prstGeom prst="rect">
            <a:avLst/>
          </a:prstGeom>
        </p:spPr>
        <p:txBody>
          <a:bodyPr vert="horz" lIns="91440" tIns="45720" rIns="91440" bIns="45720" rtlCol="0" anchor="ctr">
            <a:normAutofit lnSpcReduction="10000"/>
          </a:bodyPr>
          <a:lstStyle/>
          <a:p>
            <a:r>
              <a:rPr lang="en-US" sz="3600" dirty="0">
                <a:latin typeface="Cambria" panose="02040503050406030204" pitchFamily="18" charset="0"/>
                <a:ea typeface="Cambria" panose="02040503050406030204" pitchFamily="18" charset="0"/>
                <a:cs typeface="+mj-cs"/>
              </a:rPr>
              <a:t>Test-Time Compute — Thinking Longer</a:t>
            </a:r>
          </a:p>
        </p:txBody>
      </p:sp>
      <p:sp>
        <p:nvSpPr>
          <p:cNvPr id="4" name="Text 2"/>
          <p:cNvSpPr/>
          <p:nvPr/>
        </p:nvSpPr>
        <p:spPr>
          <a:xfrm>
            <a:off x="179208" y="1365504"/>
            <a:ext cx="4681728" cy="3779520"/>
          </a:xfrm>
          <a:prstGeom prst="rect">
            <a:avLst/>
          </a:prstGeom>
          <a:noFill/>
          <a:ln/>
        </p:spPr>
        <p:txBody>
          <a:bodyPr wrap="square" lIns="0" tIns="0" rIns="0" bIns="0" rtlCol="0" anchor="t"/>
          <a:lstStyle/>
          <a:p>
            <a:pPr marL="342900" indent="-342900">
              <a:spcAft>
                <a:spcPts val="800"/>
              </a:spcAft>
              <a:buFont typeface="Arial" panose="020B0604020202020204" pitchFamily="34" charset="0"/>
              <a:buChar char="•"/>
            </a:pPr>
            <a:r>
              <a:rPr lang="en-US" sz="2000" dirty="0">
                <a:solidFill>
                  <a:srgbClr val="333333"/>
                </a:solidFill>
                <a:latin typeface="Calibri" pitchFamily="34" charset="0"/>
                <a:ea typeface="Calibri" pitchFamily="34" charset="-122"/>
                <a:cs typeface="Calibri" pitchFamily="34" charset="-120"/>
              </a:rPr>
              <a:t>Two ways to make a model better: the old way — a bigger model trained on more data — and a new way: let the model spend more compute thinking about each question, at answer time.</a:t>
            </a:r>
            <a:endParaRPr lang="en-US" sz="2000" dirty="0"/>
          </a:p>
          <a:p>
            <a:pPr marL="342900" indent="-342900">
              <a:spcAft>
                <a:spcPts val="800"/>
              </a:spcAft>
              <a:buFont typeface="Arial" panose="020B0604020202020204" pitchFamily="34" charset="0"/>
              <a:buChar char="•"/>
            </a:pPr>
            <a:endParaRPr lang="en-US" sz="2000" dirty="0"/>
          </a:p>
          <a:p>
            <a:pPr marL="342900" indent="-342900">
              <a:spcAft>
                <a:spcPts val="800"/>
              </a:spcAft>
              <a:buFont typeface="Arial" panose="020B0604020202020204" pitchFamily="34" charset="0"/>
              <a:buChar char="•"/>
            </a:pPr>
            <a:r>
              <a:rPr lang="en-US" sz="2000" dirty="0">
                <a:solidFill>
                  <a:srgbClr val="333333"/>
                </a:solidFill>
                <a:latin typeface="Calibri" pitchFamily="34" charset="0"/>
                <a:ea typeface="Calibri" pitchFamily="34" charset="-122"/>
                <a:cs typeface="Calibri" pitchFamily="34" charset="-120"/>
              </a:rPr>
              <a:t>You set a thinking budget: more thinking gives better answers, but costs more time and money. You choose how much, per task.</a:t>
            </a:r>
            <a:endParaRPr lang="en-US" sz="2000" dirty="0"/>
          </a:p>
        </p:txBody>
      </p:sp>
      <p:sp>
        <p:nvSpPr>
          <p:cNvPr id="5" name="Shape 3"/>
          <p:cNvSpPr/>
          <p:nvPr/>
        </p:nvSpPr>
        <p:spPr>
          <a:xfrm>
            <a:off x="6461760" y="1365504"/>
            <a:ext cx="5120640" cy="1633728"/>
          </a:xfrm>
          <a:prstGeom prst="roundRect">
            <a:avLst>
              <a:gd name="adj" fmla="val 4478"/>
            </a:avLst>
          </a:prstGeom>
          <a:solidFill>
            <a:srgbClr val="FBF1D9"/>
          </a:solidFill>
          <a:ln w="12700">
            <a:solidFill>
              <a:srgbClr val="D4A017"/>
            </a:solidFill>
            <a:prstDash val="solid"/>
          </a:ln>
          <a:effectLst>
            <a:outerShdw blurRad="76200" dist="25400" dir="5400000" algn="bl" rotWithShape="0">
              <a:srgbClr val="000000">
                <a:alpha val="14000"/>
              </a:srgbClr>
            </a:outerShdw>
          </a:effectLst>
        </p:spPr>
        <p:txBody>
          <a:bodyPr/>
          <a:lstStyle/>
          <a:p>
            <a:r>
              <a:rPr lang="en-US" sz="2000" b="1" dirty="0">
                <a:solidFill>
                  <a:srgbClr val="9C7611"/>
                </a:solidFill>
                <a:latin typeface="Calibri" pitchFamily="34" charset="0"/>
                <a:ea typeface="Calibri" pitchFamily="34" charset="-122"/>
                <a:cs typeface="Calibri" pitchFamily="34" charset="-120"/>
              </a:rPr>
              <a:t>Parallel — best of many</a:t>
            </a:r>
            <a:endParaRPr lang="en-US" sz="2000" dirty="0"/>
          </a:p>
          <a:p>
            <a:r>
              <a:rPr lang="en-US" sz="2000" dirty="0">
                <a:solidFill>
                  <a:srgbClr val="333333"/>
                </a:solidFill>
                <a:latin typeface="Calibri" pitchFamily="34" charset="0"/>
                <a:ea typeface="Calibri" pitchFamily="34" charset="-122"/>
                <a:cs typeface="Calibri" pitchFamily="34" charset="-120"/>
              </a:rPr>
              <a:t>Ask the model several times, then pick the best answer. Easy to add — but you need a way to check which answer is right.</a:t>
            </a:r>
            <a:endParaRPr lang="en-US" sz="2000" dirty="0"/>
          </a:p>
        </p:txBody>
      </p:sp>
      <p:sp>
        <p:nvSpPr>
          <p:cNvPr id="7" name="Shape 5"/>
          <p:cNvSpPr/>
          <p:nvPr/>
        </p:nvSpPr>
        <p:spPr>
          <a:xfrm>
            <a:off x="5730974" y="3218688"/>
            <a:ext cx="6217186" cy="2170176"/>
          </a:xfrm>
          <a:prstGeom prst="roundRect">
            <a:avLst>
              <a:gd name="adj" fmla="val 3371"/>
            </a:avLst>
          </a:prstGeom>
          <a:solidFill>
            <a:srgbClr val="EAEEF6"/>
          </a:solidFill>
          <a:ln w="12700">
            <a:solidFill>
              <a:srgbClr val="1F3864"/>
            </a:solidFill>
            <a:prstDash val="solid"/>
          </a:ln>
          <a:effectLst>
            <a:outerShdw blurRad="76200" dist="25400" dir="5400000" algn="bl" rotWithShape="0">
              <a:srgbClr val="000000">
                <a:alpha val="14000"/>
              </a:srgbClr>
            </a:outerShdw>
          </a:effectLst>
        </p:spPr>
        <p:txBody>
          <a:bodyPr/>
          <a:lstStyle/>
          <a:p>
            <a:r>
              <a:rPr lang="en-US" sz="2000" b="1">
                <a:solidFill>
                  <a:srgbClr val="1F3864"/>
                </a:solidFill>
                <a:latin typeface="Calibri" pitchFamily="34" charset="0"/>
                <a:ea typeface="Calibri" pitchFamily="34" charset="-122"/>
                <a:cs typeface="Calibri" pitchFamily="34" charset="-120"/>
              </a:rPr>
              <a:t>Sequential — one long think</a:t>
            </a:r>
            <a:endParaRPr lang="en-US" sz="2000"/>
          </a:p>
          <a:p>
            <a:r>
              <a:rPr lang="en-US" sz="2000">
                <a:solidFill>
                  <a:srgbClr val="333333"/>
                </a:solidFill>
                <a:latin typeface="Calibri" pitchFamily="34" charset="0"/>
                <a:ea typeface="Calibri" pitchFamily="34" charset="-122"/>
                <a:cs typeface="Calibri" pitchFamily="34" charset="-120"/>
              </a:rPr>
              <a:t>The model writes one long reasoning trace — it plans, tries, catches its own mistakes, then answers. These are its “thinking tokens.”</a:t>
            </a:r>
            <a:endParaRPr lang="en-US" sz="2000"/>
          </a:p>
          <a:p>
            <a:r>
              <a:rPr lang="en-US" sz="2000" i="1">
                <a:solidFill>
                  <a:srgbClr val="5A5A5A"/>
                </a:solidFill>
                <a:latin typeface="Calibri" pitchFamily="34" charset="0"/>
                <a:ea typeface="Calibri" pitchFamily="34" charset="-122"/>
                <a:cs typeface="Calibri" pitchFamily="34" charset="-120"/>
              </a:rPr>
              <a:t>Reasoning models (OpenAI o-series, Claude extended thinking, Gemini thinking, DeepSeek-R1) do this automatically — trained in, not prompted.</a:t>
            </a:r>
            <a:endParaRPr lang="en-US" sz="2000" dirty="0"/>
          </a:p>
        </p:txBody>
      </p:sp>
      <p:sp>
        <p:nvSpPr>
          <p:cNvPr id="10" name="Text 8"/>
          <p:cNvSpPr/>
          <p:nvPr/>
        </p:nvSpPr>
        <p:spPr>
          <a:xfrm>
            <a:off x="609600" y="5760206"/>
            <a:ext cx="10485120" cy="829056"/>
          </a:xfrm>
          <a:prstGeom prst="rect">
            <a:avLst/>
          </a:prstGeom>
          <a:solidFill>
            <a:schemeClr val="accent3">
              <a:lumMod val="20000"/>
              <a:lumOff val="80000"/>
            </a:schemeClr>
          </a:solidFill>
          <a:ln/>
        </p:spPr>
        <p:txBody>
          <a:bodyPr wrap="square" lIns="0" tIns="0" rIns="0" bIns="0" rtlCol="0" anchor="ctr"/>
          <a:lstStyle/>
          <a:p>
            <a:r>
              <a:rPr lang="en-US" sz="2000" b="1" dirty="0">
                <a:solidFill>
                  <a:srgbClr val="236B6B"/>
                </a:solidFill>
                <a:latin typeface="Calibri" pitchFamily="34" charset="0"/>
                <a:ea typeface="Calibri" pitchFamily="34" charset="-122"/>
                <a:cs typeface="Calibri" pitchFamily="34" charset="-120"/>
              </a:rPr>
              <a:t>Prompting change:  </a:t>
            </a:r>
            <a:r>
              <a:rPr lang="en-US" sz="2000" dirty="0">
                <a:solidFill>
                  <a:srgbClr val="333333"/>
                </a:solidFill>
                <a:latin typeface="Calibri" pitchFamily="34" charset="0"/>
                <a:ea typeface="Calibri" pitchFamily="34" charset="-122"/>
                <a:cs typeface="Calibri" pitchFamily="34" charset="-120"/>
              </a:rPr>
              <a:t>with these models, stop adding “think step by step.” Just state the problem, the constraints, and what a good answer looks like — and let the model reason on its own.</a:t>
            </a:r>
            <a:endParaRPr lang="en-US"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268224"/>
            <a:ext cx="11338560" cy="609600"/>
          </a:xfrm>
          <a:prstGeom prst="rect">
            <a:avLst/>
          </a:prstGeom>
        </p:spPr>
        <p:txBody>
          <a:bodyPr vert="horz" lIns="91440" tIns="45720" rIns="91440" bIns="45720" rtlCol="0" anchor="ctr">
            <a:normAutofit lnSpcReduction="10000"/>
          </a:bodyPr>
          <a:lstStyle/>
          <a:p>
            <a:r>
              <a:rPr lang="en-US" sz="3600" dirty="0">
                <a:latin typeface="Cambria" panose="02040503050406030204" pitchFamily="18" charset="0"/>
                <a:ea typeface="Cambria" panose="02040503050406030204" pitchFamily="18" charset="0"/>
                <a:cs typeface="+mj-cs"/>
              </a:rPr>
              <a:t>From Prompt Engineering to Context Engineering</a:t>
            </a:r>
          </a:p>
        </p:txBody>
      </p:sp>
      <p:sp>
        <p:nvSpPr>
          <p:cNvPr id="4" name="Text 2"/>
          <p:cNvSpPr/>
          <p:nvPr/>
        </p:nvSpPr>
        <p:spPr>
          <a:xfrm>
            <a:off x="390144" y="1438656"/>
            <a:ext cx="10972800" cy="609600"/>
          </a:xfrm>
          <a:prstGeom prst="rect">
            <a:avLst/>
          </a:prstGeom>
          <a:noFill/>
          <a:ln/>
        </p:spPr>
        <p:txBody>
          <a:bodyPr wrap="square" lIns="0" tIns="0" rIns="0" bIns="0" rtlCol="0" anchor="ctr"/>
          <a:lstStyle/>
          <a:p>
            <a:r>
              <a:rPr lang="en-US" sz="2000" dirty="0">
                <a:solidFill>
                  <a:srgbClr val="1F3864"/>
                </a:solidFill>
                <a:latin typeface="Calibri" pitchFamily="34" charset="0"/>
                <a:ea typeface="Calibri" pitchFamily="34" charset="-122"/>
                <a:cs typeface="Calibri" pitchFamily="34" charset="-120"/>
              </a:rPr>
              <a:t>Prompt engineering optimizes </a:t>
            </a:r>
            <a:r>
              <a:rPr lang="en-US" sz="2000" b="1" dirty="0">
                <a:solidFill>
                  <a:srgbClr val="8B0000"/>
                </a:solidFill>
                <a:latin typeface="Calibri" pitchFamily="34" charset="0"/>
                <a:ea typeface="Calibri" pitchFamily="34" charset="-122"/>
                <a:cs typeface="Calibri" pitchFamily="34" charset="-120"/>
              </a:rPr>
              <a:t>what you say</a:t>
            </a:r>
            <a:r>
              <a:rPr lang="en-US" sz="2000" dirty="0">
                <a:solidFill>
                  <a:srgbClr val="1F3864"/>
                </a:solidFill>
                <a:latin typeface="Calibri" pitchFamily="34" charset="0"/>
                <a:ea typeface="Calibri" pitchFamily="34" charset="-122"/>
                <a:cs typeface="Calibri" pitchFamily="34" charset="-120"/>
              </a:rPr>
              <a:t>.   Context engineering optimizes </a:t>
            </a:r>
            <a:r>
              <a:rPr lang="en-US" sz="2000" b="1" dirty="0">
                <a:solidFill>
                  <a:srgbClr val="236B6B"/>
                </a:solidFill>
                <a:latin typeface="Calibri" pitchFamily="34" charset="0"/>
                <a:ea typeface="Calibri" pitchFamily="34" charset="-122"/>
                <a:cs typeface="Calibri" pitchFamily="34" charset="-120"/>
              </a:rPr>
              <a:t>everything the model can see</a:t>
            </a:r>
            <a:r>
              <a:rPr lang="en-US" sz="2000" dirty="0">
                <a:solidFill>
                  <a:srgbClr val="1F3864"/>
                </a:solidFill>
                <a:latin typeface="Calibri" pitchFamily="34" charset="0"/>
                <a:ea typeface="Calibri" pitchFamily="34" charset="-122"/>
                <a:cs typeface="Calibri" pitchFamily="34" charset="-120"/>
              </a:rPr>
              <a:t> when you say it.</a:t>
            </a:r>
            <a:endParaRPr lang="en-US" sz="2000" dirty="0"/>
          </a:p>
        </p:txBody>
      </p:sp>
      <p:grpSp>
        <p:nvGrpSpPr>
          <p:cNvPr id="22" name="Group 21">
            <a:extLst>
              <a:ext uri="{FF2B5EF4-FFF2-40B4-BE49-F238E27FC236}">
                <a16:creationId xmlns:a16="http://schemas.microsoft.com/office/drawing/2014/main" id="{CA3EB374-B386-E89A-7744-A0F93BFA3CA6}"/>
              </a:ext>
            </a:extLst>
          </p:cNvPr>
          <p:cNvGrpSpPr/>
          <p:nvPr/>
        </p:nvGrpSpPr>
        <p:grpSpPr>
          <a:xfrm>
            <a:off x="870535" y="2163220"/>
            <a:ext cx="9753600" cy="2221924"/>
            <a:chOff x="1219200" y="2304288"/>
            <a:chExt cx="9753600" cy="2221924"/>
          </a:xfrm>
        </p:grpSpPr>
        <p:sp>
          <p:nvSpPr>
            <p:cNvPr id="5" name="Shape 3"/>
            <p:cNvSpPr/>
            <p:nvPr/>
          </p:nvSpPr>
          <p:spPr>
            <a:xfrm>
              <a:off x="1219200" y="2356036"/>
              <a:ext cx="9753600" cy="2170176"/>
            </a:xfrm>
            <a:prstGeom prst="roundRect">
              <a:avLst>
                <a:gd name="adj" fmla="val 4494"/>
              </a:avLst>
            </a:prstGeom>
            <a:solidFill>
              <a:srgbClr val="E8EDF6"/>
            </a:solidFill>
            <a:ln w="15875">
              <a:solidFill>
                <a:srgbClr val="1F3864"/>
              </a:solidFill>
              <a:prstDash val="solid"/>
            </a:ln>
          </p:spPr>
          <p:txBody>
            <a:bodyPr/>
            <a:lstStyle/>
            <a:p>
              <a:endParaRPr lang="en-IN" sz="2000"/>
            </a:p>
          </p:txBody>
        </p:sp>
        <p:sp>
          <p:nvSpPr>
            <p:cNvPr id="8" name="Text 5"/>
            <p:cNvSpPr/>
            <p:nvPr/>
          </p:nvSpPr>
          <p:spPr>
            <a:xfrm>
              <a:off x="1455751" y="2304288"/>
              <a:ext cx="3743209" cy="664464"/>
            </a:xfrm>
            <a:prstGeom prst="rect">
              <a:avLst/>
            </a:prstGeom>
            <a:noFill/>
            <a:ln/>
          </p:spPr>
          <p:txBody>
            <a:bodyPr wrap="square" lIns="0" tIns="0" rIns="0" bIns="0" rtlCol="0" anchor="ctr"/>
            <a:lstStyle/>
            <a:p>
              <a:r>
                <a:rPr lang="en-US" sz="2000" b="1" dirty="0">
                  <a:solidFill>
                    <a:srgbClr val="1F3864"/>
                  </a:solidFill>
                  <a:latin typeface="Calibri" pitchFamily="34" charset="0"/>
                  <a:ea typeface="Calibri" pitchFamily="34" charset="-122"/>
                  <a:cs typeface="Calibri" pitchFamily="34" charset="-120"/>
                </a:rPr>
                <a:t>CONTEXT ENGINEERING</a:t>
              </a:r>
              <a:r>
                <a:rPr lang="en-US" sz="2000" i="1" dirty="0">
                  <a:solidFill>
                    <a:srgbClr val="5A5A5A"/>
                  </a:solidFill>
                  <a:latin typeface="Calibri" pitchFamily="34" charset="0"/>
                  <a:ea typeface="Calibri" pitchFamily="34" charset="-122"/>
                  <a:cs typeface="Calibri" pitchFamily="34" charset="-120"/>
                </a:rPr>
                <a:t>  </a:t>
              </a:r>
            </a:p>
            <a:p>
              <a:r>
                <a:rPr lang="en-US" sz="2000" i="1" dirty="0">
                  <a:solidFill>
                    <a:srgbClr val="5A5A5A"/>
                  </a:solidFill>
                  <a:latin typeface="Calibri" pitchFamily="34" charset="0"/>
                  <a:ea typeface="Calibri" pitchFamily="34" charset="-122"/>
                  <a:cs typeface="Calibri" pitchFamily="34" charset="-120"/>
                </a:rPr>
                <a:t>everything in the context window</a:t>
              </a:r>
              <a:endParaRPr lang="en-US" sz="2000" dirty="0"/>
            </a:p>
          </p:txBody>
        </p:sp>
        <p:sp>
          <p:nvSpPr>
            <p:cNvPr id="9" name="Shape 6"/>
            <p:cNvSpPr/>
            <p:nvPr/>
          </p:nvSpPr>
          <p:spPr>
            <a:xfrm>
              <a:off x="1560576" y="3072384"/>
              <a:ext cx="2987040" cy="1048512"/>
            </a:xfrm>
            <a:prstGeom prst="roundRect">
              <a:avLst>
                <a:gd name="adj" fmla="val 6977"/>
              </a:avLst>
            </a:prstGeom>
            <a:solidFill>
              <a:srgbClr val="FFFFFF"/>
            </a:solidFill>
            <a:ln w="12700">
              <a:solidFill>
                <a:srgbClr val="8B0000"/>
              </a:solidFill>
              <a:prstDash val="solid"/>
            </a:ln>
            <a:effectLst>
              <a:outerShdw blurRad="88900" dist="38100" dir="5400000" algn="bl" rotWithShape="0">
                <a:srgbClr val="000000">
                  <a:alpha val="16000"/>
                </a:srgbClr>
              </a:outerShdw>
            </a:effectLst>
          </p:spPr>
          <p:txBody>
            <a:bodyPr/>
            <a:lstStyle/>
            <a:p>
              <a:endParaRPr lang="en-IN" sz="2000"/>
            </a:p>
          </p:txBody>
        </p:sp>
        <p:sp>
          <p:nvSpPr>
            <p:cNvPr id="10" name="Text 7"/>
            <p:cNvSpPr/>
            <p:nvPr/>
          </p:nvSpPr>
          <p:spPr>
            <a:xfrm>
              <a:off x="1560576" y="3072384"/>
              <a:ext cx="2987040" cy="1048512"/>
            </a:xfrm>
            <a:prstGeom prst="rect">
              <a:avLst/>
            </a:prstGeom>
            <a:noFill/>
            <a:ln/>
          </p:spPr>
          <p:txBody>
            <a:bodyPr wrap="square" lIns="67733" tIns="67733" rIns="67733" bIns="67733" rtlCol="0" anchor="ctr"/>
            <a:lstStyle/>
            <a:p>
              <a:pPr algn="ctr"/>
              <a:r>
                <a:rPr lang="en-US" sz="2000" b="1" dirty="0">
                  <a:solidFill>
                    <a:srgbClr val="8B0000"/>
                  </a:solidFill>
                  <a:latin typeface="Calibri" pitchFamily="34" charset="0"/>
                  <a:ea typeface="Calibri" pitchFamily="34" charset="-122"/>
                  <a:cs typeface="Calibri" pitchFamily="34" charset="-120"/>
                </a:rPr>
                <a:t>PROMPT</a:t>
              </a:r>
              <a:endParaRPr lang="en-US" sz="2000" dirty="0"/>
            </a:p>
            <a:p>
              <a:pPr algn="ctr"/>
              <a:r>
                <a:rPr lang="en-US" sz="2000" i="1" dirty="0">
                  <a:solidFill>
                    <a:srgbClr val="5A5A5A"/>
                  </a:solidFill>
                  <a:latin typeface="Calibri" pitchFamily="34" charset="0"/>
                  <a:ea typeface="Calibri" pitchFamily="34" charset="-122"/>
                  <a:cs typeface="Calibri" pitchFamily="34" charset="-120"/>
                </a:rPr>
                <a:t>the instruction you write</a:t>
              </a:r>
              <a:endParaRPr lang="en-US" sz="2000" dirty="0"/>
            </a:p>
          </p:txBody>
        </p:sp>
        <p:sp>
          <p:nvSpPr>
            <p:cNvPr id="11" name="Text 8"/>
            <p:cNvSpPr/>
            <p:nvPr/>
          </p:nvSpPr>
          <p:spPr>
            <a:xfrm>
              <a:off x="5624885" y="2529774"/>
              <a:ext cx="3878646" cy="1753528"/>
            </a:xfrm>
            <a:prstGeom prst="rect">
              <a:avLst/>
            </a:prstGeom>
            <a:noFill/>
            <a:ln/>
          </p:spPr>
          <p:txBody>
            <a:bodyPr wrap="square" lIns="0" tIns="0" rIns="0" bIns="0" rtlCol="0" anchor="ctr"/>
            <a:lstStyle/>
            <a:p>
              <a:pPr>
                <a:spcAft>
                  <a:spcPts val="267"/>
                </a:spcAft>
              </a:pPr>
              <a:r>
                <a:rPr lang="en-US" sz="2000" b="1" dirty="0">
                  <a:solidFill>
                    <a:srgbClr val="D4A017"/>
                  </a:solidFill>
                  <a:latin typeface="Calibri" pitchFamily="34" charset="0"/>
                  <a:ea typeface="Calibri" pitchFamily="34" charset="-122"/>
                  <a:cs typeface="Calibri" pitchFamily="34" charset="-120"/>
                </a:rPr>
                <a:t>+  </a:t>
              </a:r>
              <a:r>
                <a:rPr lang="en-US" sz="2000" dirty="0">
                  <a:solidFill>
                    <a:srgbClr val="1F3864"/>
                  </a:solidFill>
                  <a:latin typeface="Calibri" pitchFamily="34" charset="0"/>
                  <a:ea typeface="Calibri" pitchFamily="34" charset="-122"/>
                  <a:cs typeface="Calibri" pitchFamily="34" charset="-120"/>
                </a:rPr>
                <a:t>Retrieved documents</a:t>
              </a:r>
              <a:endParaRPr lang="en-US" sz="2000" dirty="0"/>
            </a:p>
            <a:p>
              <a:pPr>
                <a:spcAft>
                  <a:spcPts val="267"/>
                </a:spcAft>
              </a:pPr>
              <a:r>
                <a:rPr lang="en-US" sz="2000" b="1" dirty="0">
                  <a:solidFill>
                    <a:srgbClr val="D4A017"/>
                  </a:solidFill>
                  <a:latin typeface="Calibri" pitchFamily="34" charset="0"/>
                  <a:ea typeface="Calibri" pitchFamily="34" charset="-122"/>
                  <a:cs typeface="Calibri" pitchFamily="34" charset="-120"/>
                </a:rPr>
                <a:t>+  </a:t>
              </a:r>
              <a:r>
                <a:rPr lang="en-US" sz="2000" dirty="0">
                  <a:solidFill>
                    <a:srgbClr val="1F3864"/>
                  </a:solidFill>
                  <a:latin typeface="Calibri" pitchFamily="34" charset="0"/>
                  <a:ea typeface="Calibri" pitchFamily="34" charset="-122"/>
                  <a:cs typeface="Calibri" pitchFamily="34" charset="-120"/>
                </a:rPr>
                <a:t>Memory &amp; conversation history</a:t>
              </a:r>
              <a:endParaRPr lang="en-US" sz="2000" dirty="0"/>
            </a:p>
            <a:p>
              <a:pPr>
                <a:spcAft>
                  <a:spcPts val="267"/>
                </a:spcAft>
              </a:pPr>
              <a:r>
                <a:rPr lang="en-US" sz="2000" b="1" dirty="0">
                  <a:solidFill>
                    <a:srgbClr val="D4A017"/>
                  </a:solidFill>
                  <a:latin typeface="Calibri" pitchFamily="34" charset="0"/>
                  <a:ea typeface="Calibri" pitchFamily="34" charset="-122"/>
                  <a:cs typeface="Calibri" pitchFamily="34" charset="-120"/>
                </a:rPr>
                <a:t>+  </a:t>
              </a:r>
              <a:r>
                <a:rPr lang="en-US" sz="2000" dirty="0">
                  <a:solidFill>
                    <a:srgbClr val="1F3864"/>
                  </a:solidFill>
                  <a:latin typeface="Calibri" pitchFamily="34" charset="0"/>
                  <a:ea typeface="Calibri" pitchFamily="34" charset="-122"/>
                  <a:cs typeface="Calibri" pitchFamily="34" charset="-120"/>
                </a:rPr>
                <a:t>Tool / function results</a:t>
              </a:r>
              <a:endParaRPr lang="en-US" sz="2000" dirty="0"/>
            </a:p>
            <a:p>
              <a:pPr>
                <a:spcAft>
                  <a:spcPts val="267"/>
                </a:spcAft>
              </a:pPr>
              <a:r>
                <a:rPr lang="en-US" sz="2000" b="1" dirty="0">
                  <a:solidFill>
                    <a:srgbClr val="D4A017"/>
                  </a:solidFill>
                  <a:latin typeface="Calibri" pitchFamily="34" charset="0"/>
                  <a:ea typeface="Calibri" pitchFamily="34" charset="-122"/>
                  <a:cs typeface="Calibri" pitchFamily="34" charset="-120"/>
                </a:rPr>
                <a:t>+  </a:t>
              </a:r>
              <a:r>
                <a:rPr lang="en-US" sz="2000" dirty="0">
                  <a:solidFill>
                    <a:srgbClr val="1F3864"/>
                  </a:solidFill>
                  <a:latin typeface="Calibri" pitchFamily="34" charset="0"/>
                  <a:ea typeface="Calibri" pitchFamily="34" charset="-122"/>
                  <a:cs typeface="Calibri" pitchFamily="34" charset="-120"/>
                </a:rPr>
                <a:t>Schema &amp; output format</a:t>
              </a:r>
              <a:endParaRPr lang="en-US" sz="2000" dirty="0"/>
            </a:p>
            <a:p>
              <a:pPr>
                <a:spcAft>
                  <a:spcPts val="267"/>
                </a:spcAft>
              </a:pPr>
              <a:r>
                <a:rPr lang="en-US" sz="2000" b="1" dirty="0">
                  <a:solidFill>
                    <a:srgbClr val="D4A017"/>
                  </a:solidFill>
                  <a:latin typeface="Calibri" pitchFamily="34" charset="0"/>
                  <a:ea typeface="Calibri" pitchFamily="34" charset="-122"/>
                  <a:cs typeface="Calibri" pitchFamily="34" charset="-120"/>
                </a:rPr>
                <a:t>+  </a:t>
              </a:r>
              <a:r>
                <a:rPr lang="en-US" sz="2000" dirty="0">
                  <a:solidFill>
                    <a:srgbClr val="1F3864"/>
                  </a:solidFill>
                  <a:latin typeface="Calibri" pitchFamily="34" charset="0"/>
                  <a:ea typeface="Calibri" pitchFamily="34" charset="-122"/>
                  <a:cs typeface="Calibri" pitchFamily="34" charset="-120"/>
                </a:rPr>
                <a:t>Few-shot examples</a:t>
              </a:r>
              <a:endParaRPr lang="en-US" sz="2000" dirty="0"/>
            </a:p>
          </p:txBody>
        </p:sp>
      </p:grpSp>
      <p:grpSp>
        <p:nvGrpSpPr>
          <p:cNvPr id="24" name="Group 23">
            <a:extLst>
              <a:ext uri="{FF2B5EF4-FFF2-40B4-BE49-F238E27FC236}">
                <a16:creationId xmlns:a16="http://schemas.microsoft.com/office/drawing/2014/main" id="{3A2088D0-0C1A-6F68-69C8-2B063D28281C}"/>
              </a:ext>
            </a:extLst>
          </p:cNvPr>
          <p:cNvGrpSpPr/>
          <p:nvPr/>
        </p:nvGrpSpPr>
        <p:grpSpPr>
          <a:xfrm>
            <a:off x="480391" y="4488776"/>
            <a:ext cx="10972800" cy="1879688"/>
            <a:chOff x="609600" y="4559808"/>
            <a:chExt cx="10972800" cy="1879688"/>
          </a:xfrm>
        </p:grpSpPr>
        <p:grpSp>
          <p:nvGrpSpPr>
            <p:cNvPr id="23" name="Group 22">
              <a:extLst>
                <a:ext uri="{FF2B5EF4-FFF2-40B4-BE49-F238E27FC236}">
                  <a16:creationId xmlns:a16="http://schemas.microsoft.com/office/drawing/2014/main" id="{A3AB1686-ACD7-6C5F-EE76-F5E50230F195}"/>
                </a:ext>
              </a:extLst>
            </p:cNvPr>
            <p:cNvGrpSpPr/>
            <p:nvPr/>
          </p:nvGrpSpPr>
          <p:grpSpPr>
            <a:xfrm>
              <a:off x="609600" y="4610696"/>
              <a:ext cx="5266944" cy="1828800"/>
              <a:chOff x="609600" y="4559808"/>
              <a:chExt cx="5266944" cy="1828800"/>
            </a:xfrm>
          </p:grpSpPr>
          <p:sp>
            <p:nvSpPr>
              <p:cNvPr id="12" name="Shape 9"/>
              <p:cNvSpPr/>
              <p:nvPr/>
            </p:nvSpPr>
            <p:spPr>
              <a:xfrm>
                <a:off x="609600" y="4559808"/>
                <a:ext cx="5266944" cy="1828800"/>
              </a:xfrm>
              <a:prstGeom prst="roundRect">
                <a:avLst>
                  <a:gd name="adj" fmla="val 4000"/>
                </a:avLst>
              </a:prstGeom>
              <a:solidFill>
                <a:srgbClr val="E8EDF6"/>
              </a:solidFill>
              <a:ln w="9525">
                <a:solidFill>
                  <a:srgbClr val="1F3864"/>
                </a:solidFill>
                <a:prstDash val="solid"/>
              </a:ln>
              <a:effectLst>
                <a:outerShdw blurRad="88900" dist="38100" dir="5400000" algn="bl" rotWithShape="0">
                  <a:srgbClr val="000000">
                    <a:alpha val="16000"/>
                  </a:srgbClr>
                </a:outerShdw>
              </a:effectLst>
            </p:spPr>
            <p:txBody>
              <a:bodyPr/>
              <a:lstStyle/>
              <a:p>
                <a:endParaRPr lang="en-IN" sz="2000"/>
              </a:p>
            </p:txBody>
          </p:sp>
          <p:sp>
            <p:nvSpPr>
              <p:cNvPr id="15" name="Text 11"/>
              <p:cNvSpPr/>
              <p:nvPr/>
            </p:nvSpPr>
            <p:spPr>
              <a:xfrm>
                <a:off x="1365504" y="4754880"/>
                <a:ext cx="4267200" cy="414528"/>
              </a:xfrm>
              <a:prstGeom prst="rect">
                <a:avLst/>
              </a:prstGeom>
              <a:noFill/>
              <a:ln/>
            </p:spPr>
            <p:txBody>
              <a:bodyPr wrap="square" lIns="0" tIns="0" rIns="0" bIns="0" rtlCol="0" anchor="ctr"/>
              <a:lstStyle/>
              <a:p>
                <a:r>
                  <a:rPr lang="en-US" sz="2000" b="1" dirty="0">
                    <a:solidFill>
                      <a:srgbClr val="1F3864"/>
                    </a:solidFill>
                    <a:latin typeface="Calibri" pitchFamily="34" charset="0"/>
                    <a:ea typeface="Calibri" pitchFamily="34" charset="-122"/>
                    <a:cs typeface="Calibri" pitchFamily="34" charset="-120"/>
                  </a:rPr>
                  <a:t>Where to spend your effort</a:t>
                </a:r>
                <a:endParaRPr lang="en-US" sz="2000" dirty="0"/>
              </a:p>
            </p:txBody>
          </p:sp>
          <p:sp>
            <p:nvSpPr>
              <p:cNvPr id="16" name="Text 12"/>
              <p:cNvSpPr/>
              <p:nvPr/>
            </p:nvSpPr>
            <p:spPr>
              <a:xfrm>
                <a:off x="877824" y="5266944"/>
                <a:ext cx="4779264" cy="1048512"/>
              </a:xfrm>
              <a:prstGeom prst="rect">
                <a:avLst/>
              </a:prstGeom>
              <a:noFill/>
              <a:ln/>
            </p:spPr>
            <p:txBody>
              <a:bodyPr wrap="square" lIns="0" tIns="0" rIns="0" bIns="0" rtlCol="0" anchor="t"/>
              <a:lstStyle/>
              <a:p>
                <a:r>
                  <a:rPr lang="en-US" sz="2000" dirty="0">
                    <a:solidFill>
                      <a:srgbClr val="333333"/>
                    </a:solidFill>
                    <a:latin typeface="Calibri" pitchFamily="34" charset="0"/>
                    <a:ea typeface="Calibri" pitchFamily="34" charset="-122"/>
                    <a:cs typeface="Calibri" pitchFamily="34" charset="-120"/>
                  </a:rPr>
                  <a:t>Bad output? First ask </a:t>
                </a:r>
                <a:r>
                  <a:rPr lang="en-US" sz="2000" b="1" dirty="0">
                    <a:solidFill>
                      <a:srgbClr val="1F3864"/>
                    </a:solidFill>
                    <a:latin typeface="Calibri" pitchFamily="34" charset="0"/>
                    <a:ea typeface="Calibri" pitchFamily="34" charset="-122"/>
                    <a:cs typeface="Calibri" pitchFamily="34" charset="-120"/>
                  </a:rPr>
                  <a:t>“Did the model have the information it needed?”</a:t>
                </a:r>
                <a:r>
                  <a:rPr lang="en-US" sz="2000" dirty="0">
                    <a:solidFill>
                      <a:srgbClr val="333333"/>
                    </a:solidFill>
                    <a:latin typeface="Calibri" pitchFamily="34" charset="0"/>
                    <a:ea typeface="Calibri" pitchFamily="34" charset="-122"/>
                    <a:cs typeface="Calibri" pitchFamily="34" charset="-120"/>
                  </a:rPr>
                  <a:t> (context) — before </a:t>
                </a:r>
                <a:r>
                  <a:rPr lang="en-US" sz="2000" b="1" dirty="0">
                    <a:solidFill>
                      <a:srgbClr val="8B0000"/>
                    </a:solidFill>
                    <a:latin typeface="Calibri" pitchFamily="34" charset="0"/>
                    <a:ea typeface="Calibri" pitchFamily="34" charset="-122"/>
                    <a:cs typeface="Calibri" pitchFamily="34" charset="-120"/>
                  </a:rPr>
                  <a:t>“Did I phrase it well?”</a:t>
                </a:r>
                <a:r>
                  <a:rPr lang="en-US" sz="2000" dirty="0">
                    <a:solidFill>
                      <a:srgbClr val="333333"/>
                    </a:solidFill>
                    <a:latin typeface="Calibri" pitchFamily="34" charset="0"/>
                    <a:ea typeface="Calibri" pitchFamily="34" charset="-122"/>
                    <a:cs typeface="Calibri" pitchFamily="34" charset="-120"/>
                  </a:rPr>
                  <a:t> (prompt)</a:t>
                </a:r>
                <a:endParaRPr lang="en-US" sz="2000" dirty="0"/>
              </a:p>
            </p:txBody>
          </p:sp>
        </p:grpSp>
        <p:sp>
          <p:nvSpPr>
            <p:cNvPr id="17" name="Shape 13"/>
            <p:cNvSpPr/>
            <p:nvPr/>
          </p:nvSpPr>
          <p:spPr>
            <a:xfrm>
              <a:off x="6315456" y="4559808"/>
              <a:ext cx="5266944" cy="1828800"/>
            </a:xfrm>
            <a:prstGeom prst="roundRect">
              <a:avLst>
                <a:gd name="adj" fmla="val 4000"/>
              </a:avLst>
            </a:prstGeom>
            <a:solidFill>
              <a:srgbClr val="E6F1F0"/>
            </a:solidFill>
            <a:ln w="9525">
              <a:solidFill>
                <a:srgbClr val="2E8A8A"/>
              </a:solidFill>
              <a:prstDash val="solid"/>
            </a:ln>
            <a:effectLst>
              <a:outerShdw blurRad="88900" dist="38100" dir="5400000" algn="bl" rotWithShape="0">
                <a:srgbClr val="000000">
                  <a:alpha val="16000"/>
                </a:srgbClr>
              </a:outerShdw>
            </a:effectLst>
          </p:spPr>
          <p:txBody>
            <a:bodyPr/>
            <a:lstStyle/>
            <a:p>
              <a:endParaRPr lang="en-IN" sz="2000"/>
            </a:p>
          </p:txBody>
        </p:sp>
        <p:sp>
          <p:nvSpPr>
            <p:cNvPr id="18" name="Shape 14"/>
            <p:cNvSpPr/>
            <p:nvPr/>
          </p:nvSpPr>
          <p:spPr>
            <a:xfrm>
              <a:off x="6559296" y="4754880"/>
              <a:ext cx="414528" cy="414528"/>
            </a:xfrm>
            <a:prstGeom prst="ellipse">
              <a:avLst/>
            </a:prstGeom>
            <a:solidFill>
              <a:srgbClr val="FFFFFF"/>
            </a:solidFill>
            <a:ln w="12700">
              <a:solidFill>
                <a:srgbClr val="2E8A8A"/>
              </a:solidFill>
              <a:prstDash val="solid"/>
            </a:ln>
          </p:spPr>
          <p:txBody>
            <a:bodyPr/>
            <a:lstStyle/>
            <a:p>
              <a:endParaRPr lang="en-IN" sz="2000"/>
            </a:p>
          </p:txBody>
        </p:sp>
        <p:pic>
          <p:nvPicPr>
            <p:cNvPr id="19" name="Image 2" descr="preencoded.png"/>
            <p:cNvPicPr>
              <a:picLocks noChangeAspect="1"/>
            </p:cNvPicPr>
            <p:nvPr/>
          </p:nvPicPr>
          <p:blipFill>
            <a:blip r:embed="rId3"/>
            <a:stretch>
              <a:fillRect/>
            </a:stretch>
          </p:blipFill>
          <p:spPr>
            <a:xfrm>
              <a:off x="6662928" y="4858512"/>
              <a:ext cx="207264" cy="207264"/>
            </a:xfrm>
            <a:prstGeom prst="rect">
              <a:avLst/>
            </a:prstGeom>
          </p:spPr>
        </p:pic>
        <p:sp>
          <p:nvSpPr>
            <p:cNvPr id="20" name="Text 15"/>
            <p:cNvSpPr/>
            <p:nvPr/>
          </p:nvSpPr>
          <p:spPr>
            <a:xfrm>
              <a:off x="7071360" y="4754880"/>
              <a:ext cx="4267200" cy="414528"/>
            </a:xfrm>
            <a:prstGeom prst="rect">
              <a:avLst/>
            </a:prstGeom>
            <a:noFill/>
            <a:ln/>
          </p:spPr>
          <p:txBody>
            <a:bodyPr wrap="square" lIns="0" tIns="0" rIns="0" bIns="0" rtlCol="0" anchor="ctr"/>
            <a:lstStyle/>
            <a:p>
              <a:r>
                <a:rPr lang="en-US" sz="2000" b="1" dirty="0">
                  <a:solidFill>
                    <a:srgbClr val="236B6B"/>
                  </a:solidFill>
                  <a:latin typeface="Calibri" pitchFamily="34" charset="0"/>
                  <a:ea typeface="Calibri" pitchFamily="34" charset="-122"/>
                  <a:cs typeface="Calibri" pitchFamily="34" charset="-120"/>
                </a:rPr>
                <a:t>Next module: RAG</a:t>
              </a:r>
              <a:endParaRPr lang="en-US" sz="2000" dirty="0"/>
            </a:p>
          </p:txBody>
        </p:sp>
        <p:sp>
          <p:nvSpPr>
            <p:cNvPr id="21" name="Text 16"/>
            <p:cNvSpPr/>
            <p:nvPr/>
          </p:nvSpPr>
          <p:spPr>
            <a:xfrm>
              <a:off x="6632448" y="5130654"/>
              <a:ext cx="4779264" cy="1257953"/>
            </a:xfrm>
            <a:prstGeom prst="rect">
              <a:avLst/>
            </a:prstGeom>
            <a:noFill/>
            <a:ln/>
          </p:spPr>
          <p:txBody>
            <a:bodyPr wrap="square" lIns="0" tIns="0" rIns="0" bIns="0" rtlCol="0" anchor="t"/>
            <a:lstStyle/>
            <a:p>
              <a:r>
                <a:rPr lang="en-US" sz="2000" dirty="0">
                  <a:solidFill>
                    <a:srgbClr val="333333"/>
                  </a:solidFill>
                  <a:latin typeface="Calibri" pitchFamily="34" charset="0"/>
                  <a:ea typeface="Calibri" pitchFamily="34" charset="-122"/>
                  <a:cs typeface="Calibri" pitchFamily="34" charset="-120"/>
                </a:rPr>
                <a:t>Retrieval — choosing the right documents and placing them in the window — is the </a:t>
              </a:r>
              <a:r>
                <a:rPr lang="en-US" sz="2000" b="1" dirty="0">
                  <a:solidFill>
                    <a:srgbClr val="236B6B"/>
                  </a:solidFill>
                  <a:latin typeface="Calibri" pitchFamily="34" charset="0"/>
                  <a:ea typeface="Calibri" pitchFamily="34" charset="-122"/>
                  <a:cs typeface="Calibri" pitchFamily="34" charset="-120"/>
                </a:rPr>
                <a:t>largest piece of context engineering</a:t>
              </a:r>
              <a:r>
                <a:rPr lang="en-US" sz="2000" dirty="0">
                  <a:solidFill>
                    <a:srgbClr val="333333"/>
                  </a:solidFill>
                  <a:latin typeface="Calibri" pitchFamily="34" charset="0"/>
                  <a:ea typeface="Calibri" pitchFamily="34" charset="-122"/>
                  <a:cs typeface="Calibri" pitchFamily="34" charset="-120"/>
                </a:rPr>
                <a:t>. That is what RAG is.</a:t>
              </a:r>
              <a:endParaRPr lang="en-US" sz="2000" dirty="0"/>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5D9192-A7E3-7E41-E667-98272922E556}"/>
              </a:ext>
            </a:extLst>
          </p:cNvPr>
          <p:cNvSpPr>
            <a:spLocks noGrp="1"/>
          </p:cNvSpPr>
          <p:nvPr>
            <p:ph idx="10"/>
          </p:nvPr>
        </p:nvSpPr>
        <p:spPr>
          <a:xfrm>
            <a:off x="135875" y="1501157"/>
            <a:ext cx="12056125" cy="5164048"/>
          </a:xfrm>
        </p:spPr>
        <p:txBody>
          <a:bodyPr>
            <a:normAutofit fontScale="85000" lnSpcReduction="20000"/>
          </a:bodyPr>
          <a:lstStyle/>
          <a:p>
            <a:r>
              <a:rPr lang="en-IN" dirty="0"/>
              <a:t>"</a:t>
            </a:r>
            <a:r>
              <a:rPr lang="en-IN" dirty="0" err="1"/>
              <a:t>HelpHub</a:t>
            </a:r>
            <a:r>
              <a:rPr lang="en-IN" dirty="0"/>
              <a:t>" is the customer assistant for an online electronics retailer. Customer messages fall into four intents:</a:t>
            </a:r>
          </a:p>
          <a:p>
            <a:r>
              <a:rPr lang="en-IN" b="1" dirty="0"/>
              <a:t>Order tracking</a:t>
            </a:r>
            <a:r>
              <a:rPr lang="en-IN" dirty="0"/>
              <a:t> — "where is my order?"</a:t>
            </a:r>
          </a:p>
          <a:p>
            <a:r>
              <a:rPr lang="en-IN" b="1" dirty="0"/>
              <a:t>Returns / refunds</a:t>
            </a:r>
            <a:r>
              <a:rPr lang="en-IN" dirty="0"/>
              <a:t> — "I want to return this item"</a:t>
            </a:r>
          </a:p>
          <a:p>
            <a:r>
              <a:rPr lang="en-IN" b="1" dirty="0"/>
              <a:t>Product questions</a:t>
            </a:r>
            <a:r>
              <a:rPr lang="en-IN" dirty="0"/>
              <a:t> — "what's the price / stock / specs of the X200?"</a:t>
            </a:r>
          </a:p>
          <a:p>
            <a:r>
              <a:rPr lang="en-IN" b="1" dirty="0"/>
              <a:t>Complaints / legal threats</a:t>
            </a:r>
            <a:r>
              <a:rPr lang="en-IN" dirty="0"/>
              <a:t> — account-closure threats, legal language, high churn risk</a:t>
            </a:r>
          </a:p>
          <a:p>
            <a:endParaRPr lang="en-IN" dirty="0"/>
          </a:p>
          <a:p>
            <a:r>
              <a:rPr lang="en-IN" dirty="0"/>
              <a:t>The team has three tools, each a thin, typed boundary that the </a:t>
            </a:r>
            <a:r>
              <a:rPr lang="en-IN" b="1" dirty="0"/>
              <a:t>application</a:t>
            </a:r>
            <a:r>
              <a:rPr lang="en-IN" dirty="0"/>
              <a:t> executes (the model never touches the data store):</a:t>
            </a:r>
          </a:p>
          <a:p>
            <a:endParaRPr lang="en-IN" dirty="0"/>
          </a:p>
          <a:p>
            <a:r>
              <a:rPr lang="en-IN" dirty="0" err="1">
                <a:solidFill>
                  <a:srgbClr val="FF0000"/>
                </a:solidFill>
              </a:rPr>
              <a:t>get_order_status</a:t>
            </a:r>
            <a:r>
              <a:rPr lang="en-IN" dirty="0">
                <a:solidFill>
                  <a:srgbClr val="FF0000"/>
                </a:solidFill>
              </a:rPr>
              <a:t>(</a:t>
            </a:r>
            <a:r>
              <a:rPr lang="en-IN" dirty="0" err="1">
                <a:solidFill>
                  <a:srgbClr val="FF0000"/>
                </a:solidFill>
              </a:rPr>
              <a:t>order_id</a:t>
            </a:r>
            <a:r>
              <a:rPr lang="en-IN" dirty="0">
                <a:solidFill>
                  <a:srgbClr val="FF0000"/>
                </a:solidFill>
              </a:rPr>
              <a:t>) — looks up live order state</a:t>
            </a:r>
          </a:p>
          <a:p>
            <a:r>
              <a:rPr lang="en-IN" dirty="0" err="1">
                <a:solidFill>
                  <a:srgbClr val="FF0000"/>
                </a:solidFill>
              </a:rPr>
              <a:t>start_return</a:t>
            </a:r>
            <a:r>
              <a:rPr lang="en-IN" dirty="0">
                <a:solidFill>
                  <a:srgbClr val="FF0000"/>
                </a:solidFill>
              </a:rPr>
              <a:t>(</a:t>
            </a:r>
            <a:r>
              <a:rPr lang="en-IN" dirty="0" err="1">
                <a:solidFill>
                  <a:srgbClr val="FF0000"/>
                </a:solidFill>
              </a:rPr>
              <a:t>order_id</a:t>
            </a:r>
            <a:r>
              <a:rPr lang="en-IN" dirty="0">
                <a:solidFill>
                  <a:srgbClr val="FF0000"/>
                </a:solidFill>
              </a:rPr>
              <a:t>, reason) — opens a return in the returns system</a:t>
            </a:r>
          </a:p>
          <a:p>
            <a:r>
              <a:rPr lang="en-IN" dirty="0" err="1">
                <a:solidFill>
                  <a:srgbClr val="FF0000"/>
                </a:solidFill>
              </a:rPr>
              <a:t>lookup_product</a:t>
            </a:r>
            <a:r>
              <a:rPr lang="en-IN" dirty="0">
                <a:solidFill>
                  <a:srgbClr val="FF0000"/>
                </a:solidFill>
              </a:rPr>
              <a:t>(</a:t>
            </a:r>
            <a:r>
              <a:rPr lang="en-IN" dirty="0" err="1">
                <a:solidFill>
                  <a:srgbClr val="FF0000"/>
                </a:solidFill>
              </a:rPr>
              <a:t>sku</a:t>
            </a:r>
            <a:r>
              <a:rPr lang="en-IN" dirty="0">
                <a:solidFill>
                  <a:srgbClr val="FF0000"/>
                </a:solidFill>
              </a:rPr>
              <a:t>) — </a:t>
            </a:r>
            <a:r>
              <a:rPr lang="en-IN" b="1" dirty="0">
                <a:solidFill>
                  <a:srgbClr val="FF0000"/>
                </a:solidFill>
              </a:rPr>
              <a:t>queries the product database</a:t>
            </a:r>
            <a:r>
              <a:rPr lang="en-IN" dirty="0">
                <a:solidFill>
                  <a:srgbClr val="FF0000"/>
                </a:solidFill>
              </a:rPr>
              <a:t> and returns structured fields (price, stock, key specs)</a:t>
            </a:r>
          </a:p>
          <a:p>
            <a:endParaRPr lang="en-IN" dirty="0">
              <a:solidFill>
                <a:srgbClr val="FF0000"/>
              </a:solidFill>
            </a:endParaRPr>
          </a:p>
          <a:p>
            <a:r>
              <a:rPr lang="en-IN" dirty="0"/>
              <a:t>Refund and return outcomes must be returned to internal systems as JSON.</a:t>
            </a:r>
          </a:p>
          <a:p>
            <a:endParaRPr lang="en-IN" dirty="0"/>
          </a:p>
          <a:p>
            <a:r>
              <a:rPr lang="en-IN" dirty="0"/>
              <a:t>The current build is </a:t>
            </a:r>
            <a:r>
              <a:rPr lang="en-IN" b="1" dirty="0"/>
              <a:t>one large prompt</a:t>
            </a:r>
            <a:r>
              <a:rPr lang="en-IN" dirty="0"/>
              <a:t> that tries to do everything. It is slow (always calls the largest model), sometimes answers product questions from the model's stale training data instead of the live database, and has no clean way to escalate angry / legal messages to a human agent.</a:t>
            </a:r>
          </a:p>
          <a:p>
            <a:endParaRPr lang="en-IN" dirty="0"/>
          </a:p>
        </p:txBody>
      </p:sp>
      <p:sp>
        <p:nvSpPr>
          <p:cNvPr id="3" name="Title 2">
            <a:extLst>
              <a:ext uri="{FF2B5EF4-FFF2-40B4-BE49-F238E27FC236}">
                <a16:creationId xmlns:a16="http://schemas.microsoft.com/office/drawing/2014/main" id="{BBF1F3DD-A28C-3405-D49A-0630B3EC8465}"/>
              </a:ext>
            </a:extLst>
          </p:cNvPr>
          <p:cNvSpPr>
            <a:spLocks noGrp="1"/>
          </p:cNvSpPr>
          <p:nvPr>
            <p:ph type="title"/>
          </p:nvPr>
        </p:nvSpPr>
        <p:spPr/>
        <p:txBody>
          <a:bodyPr/>
          <a:lstStyle/>
          <a:p>
            <a:r>
              <a:rPr lang="en-US" dirty="0"/>
              <a:t>Sample Question : Case study - </a:t>
            </a:r>
            <a:r>
              <a:rPr lang="en-IN" b="1" dirty="0"/>
              <a:t>Scenario</a:t>
            </a:r>
            <a:endParaRPr lang="en-IN" dirty="0"/>
          </a:p>
        </p:txBody>
      </p:sp>
    </p:spTree>
    <p:extLst>
      <p:ext uri="{BB962C8B-B14F-4D97-AF65-F5344CB8AC3E}">
        <p14:creationId xmlns:p14="http://schemas.microsoft.com/office/powerpoint/2010/main" val="1489262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0E8AB42-E36B-7944-7670-97A63EB51AAC}"/>
              </a:ext>
            </a:extLst>
          </p:cNvPr>
          <p:cNvSpPr>
            <a:spLocks noGrp="1"/>
          </p:cNvSpPr>
          <p:nvPr>
            <p:ph idx="10"/>
          </p:nvPr>
        </p:nvSpPr>
        <p:spPr>
          <a:xfrm>
            <a:off x="304800" y="1545224"/>
            <a:ext cx="11887200" cy="5164048"/>
          </a:xfrm>
        </p:spPr>
        <p:txBody>
          <a:bodyPr>
            <a:normAutofit fontScale="92500" lnSpcReduction="10000"/>
          </a:bodyPr>
          <a:lstStyle/>
          <a:p>
            <a:pPr marL="457200" indent="-457200">
              <a:buAutoNum type="alphaLcParenBoth"/>
            </a:pPr>
            <a:r>
              <a:rPr lang="en-IN" dirty="0"/>
              <a:t>Decompose </a:t>
            </a:r>
            <a:r>
              <a:rPr lang="en-IN" dirty="0" err="1"/>
              <a:t>HelpHub</a:t>
            </a:r>
            <a:r>
              <a:rPr lang="en-IN" dirty="0"/>
              <a:t> into a pipeline. Describe the stages and name the system-design pattern at each stage (routing, prompt chaining, query decomposition, function-calling).</a:t>
            </a:r>
          </a:p>
          <a:p>
            <a:pPr marL="457200" indent="-457200">
              <a:buAutoNum type="alphaLcParenBoth"/>
            </a:pPr>
            <a:endParaRPr lang="en-IN" dirty="0"/>
          </a:p>
          <a:p>
            <a:r>
              <a:rPr lang="en-IN" dirty="0"/>
              <a:t>Ans: Stop using one mega-prompt and instead make </a:t>
            </a:r>
            <a:r>
              <a:rPr lang="en-IN" b="1" dirty="0"/>
              <a:t>each LLM call do exactly one job</a:t>
            </a:r>
            <a:r>
              <a:rPr lang="en-IN" dirty="0"/>
              <a:t>, with control flow (if/else, loops, retries) living in code around the calls. </a:t>
            </a:r>
            <a:br>
              <a:rPr lang="en-IN" dirty="0"/>
            </a:br>
            <a:endParaRPr lang="en-IN" dirty="0"/>
          </a:p>
          <a:p>
            <a:r>
              <a:rPr lang="en-IN" dirty="0"/>
              <a:t>1. A cheap, fast model — the </a:t>
            </a:r>
            <a:r>
              <a:rPr lang="en-IN" b="1" dirty="0"/>
              <a:t>router</a:t>
            </a:r>
            <a:r>
              <a:rPr lang="en-IN" dirty="0"/>
              <a:t> — classifies the incoming message into one of four routes, and each route is a specialised path. </a:t>
            </a:r>
          </a:p>
          <a:p>
            <a:endParaRPr lang="en-IN" dirty="0"/>
          </a:p>
          <a:p>
            <a:r>
              <a:rPr lang="en-IN" b="1" dirty="0"/>
              <a:t>2. Order tracking → function-calling.</a:t>
            </a:r>
            <a:r>
              <a:rPr lang="en-IN" dirty="0"/>
              <a:t> The model is given the </a:t>
            </a:r>
            <a:r>
              <a:rPr lang="en-IN" dirty="0" err="1"/>
              <a:t>get_order_status</a:t>
            </a:r>
            <a:r>
              <a:rPr lang="en-IN" dirty="0"/>
              <a:t>(</a:t>
            </a:r>
            <a:r>
              <a:rPr lang="en-IN" dirty="0" err="1"/>
              <a:t>order_id</a:t>
            </a:r>
            <a:r>
              <a:rPr lang="en-IN" dirty="0"/>
              <a:t>) description, generates the call string with the order ID, the app executes it, and the model phrases the live result.</a:t>
            </a:r>
          </a:p>
          <a:p>
            <a:endParaRPr lang="en-IN" dirty="0"/>
          </a:p>
          <a:p>
            <a:r>
              <a:rPr lang="en-IN" b="1" dirty="0"/>
              <a:t>3. Product questions → function-calling</a:t>
            </a:r>
            <a:r>
              <a:rPr lang="en-IN" dirty="0"/>
              <a:t> (optionally with </a:t>
            </a:r>
            <a:r>
              <a:rPr lang="en-IN" b="1" dirty="0"/>
              <a:t>query decomposition</a:t>
            </a:r>
            <a:r>
              <a:rPr lang="en-IN" dirty="0"/>
              <a:t>). The model generates a </a:t>
            </a:r>
            <a:r>
              <a:rPr lang="en-IN" dirty="0" err="1"/>
              <a:t>lookup_product</a:t>
            </a:r>
            <a:r>
              <a:rPr lang="en-IN" dirty="0"/>
              <a:t>(</a:t>
            </a:r>
            <a:r>
              <a:rPr lang="en-IN" dirty="0" err="1"/>
              <a:t>sku</a:t>
            </a:r>
            <a:r>
              <a:rPr lang="en-IN" dirty="0"/>
              <a:t>) call; for a multi-part question ("compare price and battery of A vs B"), a decomposition step first splits it into focused sub-lookups.</a:t>
            </a:r>
          </a:p>
          <a:p>
            <a:endParaRPr lang="en-IN" dirty="0"/>
          </a:p>
          <a:p>
            <a:endParaRPr lang="en-IN" dirty="0"/>
          </a:p>
          <a:p>
            <a:pPr marL="457200" indent="-457200">
              <a:buAutoNum type="alphaLcParenBoth"/>
            </a:pPr>
            <a:endParaRPr lang="en-IN" dirty="0"/>
          </a:p>
        </p:txBody>
      </p:sp>
      <p:sp>
        <p:nvSpPr>
          <p:cNvPr id="3" name="Title 2">
            <a:extLst>
              <a:ext uri="{FF2B5EF4-FFF2-40B4-BE49-F238E27FC236}">
                <a16:creationId xmlns:a16="http://schemas.microsoft.com/office/drawing/2014/main" id="{644C35EA-97D2-EDF5-671C-B8B2B63D2E4B}"/>
              </a:ext>
            </a:extLst>
          </p:cNvPr>
          <p:cNvSpPr>
            <a:spLocks noGrp="1"/>
          </p:cNvSpPr>
          <p:nvPr>
            <p:ph type="title"/>
          </p:nvPr>
        </p:nvSpPr>
        <p:spPr/>
        <p:txBody>
          <a:bodyPr/>
          <a:lstStyle/>
          <a:p>
            <a:r>
              <a:rPr lang="en-US" dirty="0"/>
              <a:t>Sample Question : Case study - </a:t>
            </a:r>
            <a:r>
              <a:rPr lang="en-IN" b="1" dirty="0"/>
              <a:t>Scenario</a:t>
            </a:r>
            <a:endParaRPr lang="en-IN" dirty="0"/>
          </a:p>
        </p:txBody>
      </p:sp>
    </p:spTree>
    <p:extLst>
      <p:ext uri="{BB962C8B-B14F-4D97-AF65-F5344CB8AC3E}">
        <p14:creationId xmlns:p14="http://schemas.microsoft.com/office/powerpoint/2010/main" val="38128571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B82F7D-B3A5-19CC-7C4F-04FE6A54ECD4}"/>
              </a:ext>
            </a:extLst>
          </p:cNvPr>
          <p:cNvSpPr>
            <a:spLocks noGrp="1"/>
          </p:cNvSpPr>
          <p:nvPr>
            <p:ph idx="10"/>
          </p:nvPr>
        </p:nvSpPr>
        <p:spPr>
          <a:xfrm>
            <a:off x="161581" y="1523191"/>
            <a:ext cx="6768029" cy="4525963"/>
          </a:xfrm>
        </p:spPr>
        <p:txBody>
          <a:bodyPr>
            <a:normAutofit fontScale="92500"/>
          </a:bodyPr>
          <a:lstStyle/>
          <a:p>
            <a:r>
              <a:rPr lang="en-IN" b="1" dirty="0"/>
              <a:t>4. Returns / refunds → prompt chaining with a gate.</a:t>
            </a:r>
            <a:r>
              <a:rPr lang="en-IN" dirty="0"/>
              <a:t> A short sequence of single-job calls: validate the order → call </a:t>
            </a:r>
            <a:r>
              <a:rPr lang="en-IN" dirty="0" err="1"/>
              <a:t>start_return</a:t>
            </a:r>
            <a:r>
              <a:rPr lang="en-IN" dirty="0"/>
              <a:t> → produce the confirmation JSON. A </a:t>
            </a:r>
            <a:r>
              <a:rPr lang="en-IN" b="1" dirty="0"/>
              <a:t>code gate</a:t>
            </a:r>
            <a:r>
              <a:rPr lang="en-IN" dirty="0"/>
              <a:t> between stages checks the process is still on track (valid order? owner known?) before continuing; on failure it re-asks, with a capped number of retries, then falls back. </a:t>
            </a:r>
          </a:p>
          <a:p>
            <a:endParaRPr lang="en-IN" b="1" dirty="0"/>
          </a:p>
          <a:p>
            <a:r>
              <a:rPr lang="en-IN" b="1" dirty="0"/>
              <a:t>5. Complaints / legal → escalation branch.</a:t>
            </a:r>
            <a:r>
              <a:rPr lang="en-IN" dirty="0"/>
              <a:t> No tool, no clever prompt — routed straight to a human queue with a short LLM-generated summary. This branch also catches anything outside the four intents (the router's safe default)</a:t>
            </a:r>
          </a:p>
          <a:p>
            <a:endParaRPr lang="en-IN" dirty="0"/>
          </a:p>
        </p:txBody>
      </p:sp>
      <p:sp>
        <p:nvSpPr>
          <p:cNvPr id="3" name="Title 2">
            <a:extLst>
              <a:ext uri="{FF2B5EF4-FFF2-40B4-BE49-F238E27FC236}">
                <a16:creationId xmlns:a16="http://schemas.microsoft.com/office/drawing/2014/main" id="{2C038D95-4F13-D419-F0B6-BDE66640FB0F}"/>
              </a:ext>
            </a:extLst>
          </p:cNvPr>
          <p:cNvSpPr>
            <a:spLocks noGrp="1"/>
          </p:cNvSpPr>
          <p:nvPr>
            <p:ph type="title"/>
          </p:nvPr>
        </p:nvSpPr>
        <p:spPr/>
        <p:txBody>
          <a:bodyPr/>
          <a:lstStyle/>
          <a:p>
            <a:r>
              <a:rPr lang="en-US" dirty="0"/>
              <a:t>Sample Question : Case study - </a:t>
            </a:r>
            <a:r>
              <a:rPr lang="en-IN" b="1" dirty="0"/>
              <a:t>Scenario</a:t>
            </a:r>
            <a:endParaRPr lang="en-IN" dirty="0"/>
          </a:p>
        </p:txBody>
      </p:sp>
      <p:pic>
        <p:nvPicPr>
          <p:cNvPr id="9" name="Picture 8">
            <a:extLst>
              <a:ext uri="{FF2B5EF4-FFF2-40B4-BE49-F238E27FC236}">
                <a16:creationId xmlns:a16="http://schemas.microsoft.com/office/drawing/2014/main" id="{D0450133-7E7C-CDF8-0060-9D17631AE131}"/>
              </a:ext>
            </a:extLst>
          </p:cNvPr>
          <p:cNvPicPr>
            <a:picLocks noChangeAspect="1"/>
          </p:cNvPicPr>
          <p:nvPr/>
        </p:nvPicPr>
        <p:blipFill>
          <a:blip r:embed="rId2"/>
          <a:stretch>
            <a:fillRect/>
          </a:stretch>
        </p:blipFill>
        <p:spPr>
          <a:xfrm>
            <a:off x="6489407" y="1910591"/>
            <a:ext cx="5397793" cy="4302922"/>
          </a:xfrm>
          <a:prstGeom prst="rect">
            <a:avLst/>
          </a:prstGeom>
        </p:spPr>
      </p:pic>
    </p:spTree>
    <p:extLst>
      <p:ext uri="{BB962C8B-B14F-4D97-AF65-F5344CB8AC3E}">
        <p14:creationId xmlns:p14="http://schemas.microsoft.com/office/powerpoint/2010/main" val="4833819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7BB12CB-1ECA-FACB-D9BF-788825F97A41}"/>
              </a:ext>
            </a:extLst>
          </p:cNvPr>
          <p:cNvSpPr>
            <a:spLocks noGrp="1"/>
          </p:cNvSpPr>
          <p:nvPr>
            <p:ph idx="10"/>
          </p:nvPr>
        </p:nvSpPr>
        <p:spPr>
          <a:xfrm>
            <a:off x="47740" y="1446073"/>
            <a:ext cx="12096520" cy="4525963"/>
          </a:xfrm>
        </p:spPr>
        <p:txBody>
          <a:bodyPr>
            <a:normAutofit/>
          </a:bodyPr>
          <a:lstStyle/>
          <a:p>
            <a:r>
              <a:rPr lang="en-IN" sz="2000" b="1" dirty="0"/>
              <a:t>(b)</a:t>
            </a:r>
            <a:r>
              <a:rPr lang="en-IN" sz="2000" dirty="0"/>
              <a:t> For each of the four intents, state which tool / path it uses, and explain why a router improves </a:t>
            </a:r>
            <a:r>
              <a:rPr lang="en-IN" sz="2000" b="1" dirty="0"/>
              <a:t>cost</a:t>
            </a:r>
            <a:r>
              <a:rPr lang="en-IN" sz="2000" dirty="0"/>
              <a:t> and </a:t>
            </a:r>
            <a:r>
              <a:rPr lang="en-IN" sz="2000" b="1" dirty="0"/>
              <a:t>reliability</a:t>
            </a:r>
            <a:r>
              <a:rPr lang="en-IN" sz="2000" dirty="0"/>
              <a:t> versus the single mega-prompt.</a:t>
            </a:r>
          </a:p>
          <a:p>
            <a:r>
              <a:rPr lang="en-IN" sz="2000" b="1" dirty="0"/>
              <a:t>Ans: </a:t>
            </a:r>
          </a:p>
          <a:p>
            <a:r>
              <a:rPr lang="en-IN" sz="2000" b="1" dirty="0"/>
              <a:t>Cost:</a:t>
            </a:r>
            <a:r>
              <a:rPr lang="en-IN" sz="2000" dirty="0"/>
              <a:t> the router is a small, cheap classifier that sends each query down the lightest path that can handle it — easy intents never invoke the large model, which the mega-prompt always did.</a:t>
            </a:r>
          </a:p>
          <a:p>
            <a:r>
              <a:rPr lang="en-IN" sz="2000" b="1" dirty="0"/>
              <a:t>Reliability:</a:t>
            </a:r>
            <a:r>
              <a:rPr lang="en-IN" sz="2000" dirty="0"/>
              <a:t> separation of concerns. Each route is a short, single-job prompt that is independently testable, </a:t>
            </a:r>
            <a:r>
              <a:rPr lang="en-IN" sz="2000" dirty="0" err="1"/>
              <a:t>loggable</a:t>
            </a:r>
            <a:r>
              <a:rPr lang="en-IN" sz="2000" dirty="0"/>
              <a:t>, and swappable, so a failure points at one specific stage. In the mega-prompt, intent detection, tool use, and formatting were tangled in one call, so failures were opaque — you couldn't tell which part broke.</a:t>
            </a:r>
          </a:p>
          <a:p>
            <a:endParaRPr lang="en-IN" sz="2000" dirty="0"/>
          </a:p>
        </p:txBody>
      </p:sp>
      <p:sp>
        <p:nvSpPr>
          <p:cNvPr id="3" name="Title 2">
            <a:extLst>
              <a:ext uri="{FF2B5EF4-FFF2-40B4-BE49-F238E27FC236}">
                <a16:creationId xmlns:a16="http://schemas.microsoft.com/office/drawing/2014/main" id="{DA410ECD-85B0-F37B-C7CB-D4FEB9C8BF97}"/>
              </a:ext>
            </a:extLst>
          </p:cNvPr>
          <p:cNvSpPr>
            <a:spLocks noGrp="1"/>
          </p:cNvSpPr>
          <p:nvPr>
            <p:ph type="title"/>
          </p:nvPr>
        </p:nvSpPr>
        <p:spPr/>
        <p:txBody>
          <a:bodyPr/>
          <a:lstStyle/>
          <a:p>
            <a:r>
              <a:rPr lang="en-US" dirty="0"/>
              <a:t>Sample Question : Case study - </a:t>
            </a:r>
            <a:r>
              <a:rPr lang="en-IN" b="1" dirty="0"/>
              <a:t>Scenario</a:t>
            </a:r>
            <a:endParaRPr lang="en-IN" dirty="0"/>
          </a:p>
        </p:txBody>
      </p:sp>
      <p:graphicFrame>
        <p:nvGraphicFramePr>
          <p:cNvPr id="4" name="Table 3">
            <a:extLst>
              <a:ext uri="{FF2B5EF4-FFF2-40B4-BE49-F238E27FC236}">
                <a16:creationId xmlns:a16="http://schemas.microsoft.com/office/drawing/2014/main" id="{AC924166-6055-1389-4F9D-4815A95E2002}"/>
              </a:ext>
            </a:extLst>
          </p:cNvPr>
          <p:cNvGraphicFramePr>
            <a:graphicFrameLocks noGrp="1"/>
          </p:cNvGraphicFramePr>
          <p:nvPr>
            <p:extLst>
              <p:ext uri="{D42A27DB-BD31-4B8C-83A1-F6EECF244321}">
                <p14:modId xmlns:p14="http://schemas.microsoft.com/office/powerpoint/2010/main" val="1482311333"/>
              </p:ext>
            </p:extLst>
          </p:nvPr>
        </p:nvGraphicFramePr>
        <p:xfrm>
          <a:off x="1993242" y="4370109"/>
          <a:ext cx="7040589" cy="1828800"/>
        </p:xfrm>
        <a:graphic>
          <a:graphicData uri="http://schemas.openxmlformats.org/drawingml/2006/table">
            <a:tbl>
              <a:tblPr>
                <a:tableStyleId>{3C2FFA5D-87B4-456A-9821-1D502468CF0F}</a:tableStyleId>
              </a:tblPr>
              <a:tblGrid>
                <a:gridCol w="2015160">
                  <a:extLst>
                    <a:ext uri="{9D8B030D-6E8A-4147-A177-3AD203B41FA5}">
                      <a16:colId xmlns:a16="http://schemas.microsoft.com/office/drawing/2014/main" val="1702539446"/>
                    </a:ext>
                  </a:extLst>
                </a:gridCol>
                <a:gridCol w="5025429">
                  <a:extLst>
                    <a:ext uri="{9D8B030D-6E8A-4147-A177-3AD203B41FA5}">
                      <a16:colId xmlns:a16="http://schemas.microsoft.com/office/drawing/2014/main" val="1712995145"/>
                    </a:ext>
                  </a:extLst>
                </a:gridCol>
              </a:tblGrid>
              <a:tr h="0">
                <a:tc>
                  <a:txBody>
                    <a:bodyPr/>
                    <a:lstStyle/>
                    <a:p>
                      <a:pPr>
                        <a:buNone/>
                      </a:pPr>
                      <a:r>
                        <a:rPr lang="en-IN"/>
                        <a:t>Intent</a:t>
                      </a:r>
                    </a:p>
                  </a:txBody>
                  <a:tcPr anchor="ctr"/>
                </a:tc>
                <a:tc>
                  <a:txBody>
                    <a:bodyPr/>
                    <a:lstStyle/>
                    <a:p>
                      <a:pPr>
                        <a:buNone/>
                      </a:pPr>
                      <a:r>
                        <a:rPr lang="en-IN" dirty="0"/>
                        <a:t>Path</a:t>
                      </a:r>
                    </a:p>
                  </a:txBody>
                  <a:tcPr anchor="ctr"/>
                </a:tc>
                <a:extLst>
                  <a:ext uri="{0D108BD9-81ED-4DB2-BD59-A6C34878D82A}">
                    <a16:rowId xmlns:a16="http://schemas.microsoft.com/office/drawing/2014/main" val="3822495252"/>
                  </a:ext>
                </a:extLst>
              </a:tr>
              <a:tr h="0">
                <a:tc>
                  <a:txBody>
                    <a:bodyPr/>
                    <a:lstStyle/>
                    <a:p>
                      <a:pPr>
                        <a:buNone/>
                      </a:pPr>
                      <a:r>
                        <a:rPr lang="en-IN"/>
                        <a:t>Order tracking</a:t>
                      </a:r>
                    </a:p>
                  </a:txBody>
                  <a:tcPr anchor="ctr"/>
                </a:tc>
                <a:tc>
                  <a:txBody>
                    <a:bodyPr/>
                    <a:lstStyle/>
                    <a:p>
                      <a:pPr>
                        <a:buNone/>
                      </a:pPr>
                      <a:r>
                        <a:rPr lang="en-IN"/>
                        <a:t>function-calling — get_order_status</a:t>
                      </a:r>
                    </a:p>
                  </a:txBody>
                  <a:tcPr anchor="ctr"/>
                </a:tc>
                <a:extLst>
                  <a:ext uri="{0D108BD9-81ED-4DB2-BD59-A6C34878D82A}">
                    <a16:rowId xmlns:a16="http://schemas.microsoft.com/office/drawing/2014/main" val="631034212"/>
                  </a:ext>
                </a:extLst>
              </a:tr>
              <a:tr h="0">
                <a:tc>
                  <a:txBody>
                    <a:bodyPr/>
                    <a:lstStyle/>
                    <a:p>
                      <a:pPr>
                        <a:buNone/>
                      </a:pPr>
                      <a:r>
                        <a:rPr lang="en-IN"/>
                        <a:t>Returns / refunds</a:t>
                      </a:r>
                    </a:p>
                  </a:txBody>
                  <a:tcPr anchor="ctr"/>
                </a:tc>
                <a:tc>
                  <a:txBody>
                    <a:bodyPr/>
                    <a:lstStyle/>
                    <a:p>
                      <a:pPr>
                        <a:buNone/>
                      </a:pPr>
                      <a:r>
                        <a:rPr lang="en-IN"/>
                        <a:t>prompt chain → start_return + code gate</a:t>
                      </a:r>
                    </a:p>
                  </a:txBody>
                  <a:tcPr anchor="ctr"/>
                </a:tc>
                <a:extLst>
                  <a:ext uri="{0D108BD9-81ED-4DB2-BD59-A6C34878D82A}">
                    <a16:rowId xmlns:a16="http://schemas.microsoft.com/office/drawing/2014/main" val="928883492"/>
                  </a:ext>
                </a:extLst>
              </a:tr>
              <a:tr h="0">
                <a:tc>
                  <a:txBody>
                    <a:bodyPr/>
                    <a:lstStyle/>
                    <a:p>
                      <a:pPr>
                        <a:buNone/>
                      </a:pPr>
                      <a:r>
                        <a:rPr lang="en-IN"/>
                        <a:t>Product questions</a:t>
                      </a:r>
                    </a:p>
                  </a:txBody>
                  <a:tcPr anchor="ctr"/>
                </a:tc>
                <a:tc>
                  <a:txBody>
                    <a:bodyPr/>
                    <a:lstStyle/>
                    <a:p>
                      <a:pPr>
                        <a:buNone/>
                      </a:pPr>
                      <a:r>
                        <a:rPr lang="en-IN" dirty="0"/>
                        <a:t>function-calling — </a:t>
                      </a:r>
                      <a:r>
                        <a:rPr lang="en-IN" dirty="0" err="1"/>
                        <a:t>lookup_product</a:t>
                      </a:r>
                      <a:r>
                        <a:rPr lang="en-IN" dirty="0"/>
                        <a:t>(</a:t>
                      </a:r>
                      <a:r>
                        <a:rPr lang="en-IN" dirty="0" err="1"/>
                        <a:t>sku</a:t>
                      </a:r>
                      <a:r>
                        <a:rPr lang="en-IN" dirty="0"/>
                        <a:t>)</a:t>
                      </a:r>
                    </a:p>
                  </a:txBody>
                  <a:tcPr anchor="ctr"/>
                </a:tc>
                <a:extLst>
                  <a:ext uri="{0D108BD9-81ED-4DB2-BD59-A6C34878D82A}">
                    <a16:rowId xmlns:a16="http://schemas.microsoft.com/office/drawing/2014/main" val="266569264"/>
                  </a:ext>
                </a:extLst>
              </a:tr>
              <a:tr h="0">
                <a:tc>
                  <a:txBody>
                    <a:bodyPr/>
                    <a:lstStyle/>
                    <a:p>
                      <a:pPr>
                        <a:buNone/>
                      </a:pPr>
                      <a:r>
                        <a:rPr lang="en-IN"/>
                        <a:t>Complaints / legal</a:t>
                      </a:r>
                    </a:p>
                  </a:txBody>
                  <a:tcPr anchor="ctr"/>
                </a:tc>
                <a:tc>
                  <a:txBody>
                    <a:bodyPr/>
                    <a:lstStyle/>
                    <a:p>
                      <a:pPr>
                        <a:buNone/>
                      </a:pPr>
                      <a:r>
                        <a:rPr lang="en-IN" dirty="0"/>
                        <a:t>escalation to human queue</a:t>
                      </a:r>
                    </a:p>
                  </a:txBody>
                  <a:tcPr anchor="ctr"/>
                </a:tc>
                <a:extLst>
                  <a:ext uri="{0D108BD9-81ED-4DB2-BD59-A6C34878D82A}">
                    <a16:rowId xmlns:a16="http://schemas.microsoft.com/office/drawing/2014/main" val="2497978239"/>
                  </a:ext>
                </a:extLst>
              </a:tr>
            </a:tbl>
          </a:graphicData>
        </a:graphic>
      </p:graphicFrame>
    </p:spTree>
    <p:extLst>
      <p:ext uri="{BB962C8B-B14F-4D97-AF65-F5344CB8AC3E}">
        <p14:creationId xmlns:p14="http://schemas.microsoft.com/office/powerpoint/2010/main" val="38540131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DAD1282-294E-8999-E392-F547CEB50DF1}"/>
              </a:ext>
            </a:extLst>
          </p:cNvPr>
          <p:cNvSpPr>
            <a:spLocks noGrp="1"/>
          </p:cNvSpPr>
          <p:nvPr>
            <p:ph idx="10"/>
          </p:nvPr>
        </p:nvSpPr>
        <p:spPr>
          <a:xfrm>
            <a:off x="152400" y="1362419"/>
            <a:ext cx="6204333" cy="5313802"/>
          </a:xfrm>
        </p:spPr>
        <p:txBody>
          <a:bodyPr>
            <a:normAutofit/>
          </a:bodyPr>
          <a:lstStyle/>
          <a:p>
            <a:r>
              <a:rPr lang="en-IN" b="1" dirty="0"/>
              <a:t>(c)</a:t>
            </a:r>
            <a:r>
              <a:rPr lang="en-IN" dirty="0"/>
              <a:t> The product-question path must use the live database, not the model's memory. Using the closed-box vs tool-enabled distinction, explain what the model actually </a:t>
            </a:r>
            <a:r>
              <a:rPr lang="en-IN" b="1" dirty="0"/>
              <a:t>generates</a:t>
            </a:r>
            <a:r>
              <a:rPr lang="en-IN" dirty="0"/>
              <a:t> versus what </a:t>
            </a:r>
            <a:r>
              <a:rPr lang="en-IN" b="1" dirty="0"/>
              <a:t>executes</a:t>
            </a:r>
            <a:r>
              <a:rPr lang="en-IN" dirty="0"/>
              <a:t>, and how function-calling fixes the stale-data problem. </a:t>
            </a:r>
          </a:p>
          <a:p>
            <a:endParaRPr lang="en-IN" dirty="0"/>
          </a:p>
          <a:p>
            <a:r>
              <a:rPr lang="en-IN" dirty="0"/>
              <a:t>Ans: A standard LLM is </a:t>
            </a:r>
            <a:r>
              <a:rPr lang="en-IN" b="1" dirty="0"/>
              <a:t>closed-box</a:t>
            </a:r>
            <a:r>
              <a:rPr lang="en-IN" dirty="0"/>
              <a:t>: it only knows its training data, so it would answer product questions from stale memory. Function-calling makes it </a:t>
            </a:r>
            <a:r>
              <a:rPr lang="en-IN" b="1" dirty="0"/>
              <a:t>tool-enabled</a:t>
            </a:r>
            <a:r>
              <a:rPr lang="en-IN" dirty="0"/>
              <a:t>, and the key is the division of labour.</a:t>
            </a:r>
          </a:p>
          <a:p>
            <a:r>
              <a:rPr lang="en-IN" dirty="0"/>
              <a:t> </a:t>
            </a:r>
          </a:p>
        </p:txBody>
      </p:sp>
      <p:sp>
        <p:nvSpPr>
          <p:cNvPr id="3" name="Title 2">
            <a:extLst>
              <a:ext uri="{FF2B5EF4-FFF2-40B4-BE49-F238E27FC236}">
                <a16:creationId xmlns:a16="http://schemas.microsoft.com/office/drawing/2014/main" id="{B6194880-8469-1271-7F9E-1964BEC34E3A}"/>
              </a:ext>
            </a:extLst>
          </p:cNvPr>
          <p:cNvSpPr>
            <a:spLocks noGrp="1"/>
          </p:cNvSpPr>
          <p:nvPr>
            <p:ph type="title"/>
          </p:nvPr>
        </p:nvSpPr>
        <p:spPr/>
        <p:txBody>
          <a:bodyPr/>
          <a:lstStyle/>
          <a:p>
            <a:r>
              <a:rPr lang="en-US" dirty="0"/>
              <a:t>Sample Question : Case study - </a:t>
            </a:r>
            <a:r>
              <a:rPr lang="en-IN" b="1" dirty="0"/>
              <a:t>Scenario</a:t>
            </a:r>
            <a:endParaRPr lang="en-IN" dirty="0"/>
          </a:p>
        </p:txBody>
      </p:sp>
      <p:pic>
        <p:nvPicPr>
          <p:cNvPr id="6" name="Content Placeholder 4">
            <a:extLst>
              <a:ext uri="{FF2B5EF4-FFF2-40B4-BE49-F238E27FC236}">
                <a16:creationId xmlns:a16="http://schemas.microsoft.com/office/drawing/2014/main" id="{09FE8157-287F-A126-6B10-7C84543A7A11}"/>
              </a:ext>
            </a:extLst>
          </p:cNvPr>
          <p:cNvPicPr>
            <a:picLocks noChangeAspect="1"/>
          </p:cNvPicPr>
          <p:nvPr/>
        </p:nvPicPr>
        <p:blipFill>
          <a:blip r:embed="rId2"/>
          <a:stretch>
            <a:fillRect/>
          </a:stretch>
        </p:blipFill>
        <p:spPr>
          <a:xfrm>
            <a:off x="6356733" y="1806766"/>
            <a:ext cx="5773452" cy="2886726"/>
          </a:xfrm>
          <a:prstGeom prst="rect">
            <a:avLst/>
          </a:prstGeom>
        </p:spPr>
      </p:pic>
    </p:spTree>
    <p:extLst>
      <p:ext uri="{BB962C8B-B14F-4D97-AF65-F5344CB8AC3E}">
        <p14:creationId xmlns:p14="http://schemas.microsoft.com/office/powerpoint/2010/main" val="37368043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AF717CE-BED3-123D-1DF1-715460159D70}"/>
              </a:ext>
            </a:extLst>
          </p:cNvPr>
          <p:cNvSpPr>
            <a:spLocks noGrp="1"/>
          </p:cNvSpPr>
          <p:nvPr>
            <p:ph type="title"/>
          </p:nvPr>
        </p:nvSpPr>
        <p:spPr/>
        <p:txBody>
          <a:bodyPr/>
          <a:lstStyle/>
          <a:p>
            <a:r>
              <a:rPr lang="en-US" dirty="0"/>
              <a:t>Sample Question : Case study - </a:t>
            </a:r>
            <a:r>
              <a:rPr lang="en-IN" b="1" dirty="0"/>
              <a:t>Scenario</a:t>
            </a:r>
            <a:endParaRPr lang="en-IN" dirty="0"/>
          </a:p>
        </p:txBody>
      </p:sp>
      <p:sp>
        <p:nvSpPr>
          <p:cNvPr id="9" name="Content Placeholder 8">
            <a:extLst>
              <a:ext uri="{FF2B5EF4-FFF2-40B4-BE49-F238E27FC236}">
                <a16:creationId xmlns:a16="http://schemas.microsoft.com/office/drawing/2014/main" id="{96CA6B91-3323-F26F-6D36-C06493F84D1E}"/>
              </a:ext>
            </a:extLst>
          </p:cNvPr>
          <p:cNvSpPr>
            <a:spLocks noGrp="1"/>
          </p:cNvSpPr>
          <p:nvPr>
            <p:ph idx="10"/>
          </p:nvPr>
        </p:nvSpPr>
        <p:spPr/>
        <p:txBody>
          <a:bodyPr>
            <a:normAutofit/>
          </a:bodyPr>
          <a:lstStyle/>
          <a:p>
            <a:pPr marL="342900" indent="-342900">
              <a:buFont typeface="Arial" panose="020B0604020202020204" pitchFamily="34" charset="0"/>
              <a:buChar char="•"/>
            </a:pPr>
            <a:r>
              <a:rPr lang="en-IN" dirty="0"/>
              <a:t>The model </a:t>
            </a:r>
            <a:r>
              <a:rPr lang="en-IN" b="1" dirty="0"/>
              <a:t>only generates a function-call string</a:t>
            </a:r>
            <a:r>
              <a:rPr lang="en-IN" dirty="0"/>
              <a:t> — the tool name plus JSON arguments, e.g. </a:t>
            </a:r>
            <a:r>
              <a:rPr lang="en-IN" dirty="0" err="1"/>
              <a:t>lookup_product</a:t>
            </a:r>
            <a:r>
              <a:rPr lang="en-IN" dirty="0"/>
              <a:t>("SKU-X200"). It does </a:t>
            </a:r>
            <a:r>
              <a:rPr lang="en-IN" b="1" dirty="0"/>
              <a:t>not</a:t>
            </a:r>
            <a:r>
              <a:rPr lang="en-IN" dirty="0"/>
              <a:t> execute anything. </a:t>
            </a:r>
          </a:p>
          <a:p>
            <a:pPr marL="342900" indent="-342900">
              <a:buFont typeface="Arial" panose="020B0604020202020204" pitchFamily="34" charset="0"/>
              <a:buChar char="•"/>
            </a:pPr>
            <a:r>
              <a:rPr lang="en-IN" dirty="0"/>
              <a:t>The </a:t>
            </a:r>
            <a:r>
              <a:rPr lang="en-IN" b="1" dirty="0"/>
              <a:t>application</a:t>
            </a:r>
            <a:r>
              <a:rPr lang="en-IN" dirty="0"/>
              <a:t> receives that string and runs the real database query (e.g. SELECT price, stock, specs FROM products WHERE </a:t>
            </a:r>
            <a:r>
              <a:rPr lang="en-IN" dirty="0" err="1"/>
              <a:t>sku</a:t>
            </a:r>
            <a:r>
              <a:rPr lang="en-IN" dirty="0"/>
              <a:t> = ?), then returns the structured row to the model, which composes the answer from that fresh result.</a:t>
            </a:r>
          </a:p>
          <a:p>
            <a:pPr marL="342900" indent="-342900">
              <a:buFont typeface="Arial" panose="020B0604020202020204" pitchFamily="34" charset="0"/>
              <a:buChar char="•"/>
            </a:pPr>
            <a:r>
              <a:rPr lang="en-IN" dirty="0"/>
              <a:t>Tools aren't "installed" into the model — they're </a:t>
            </a:r>
            <a:r>
              <a:rPr lang="en-IN" i="1" dirty="0"/>
              <a:t>described</a:t>
            </a:r>
            <a:r>
              <a:rPr lang="en-IN" dirty="0"/>
              <a:t> to it; the model decides when to call, the app does the calling.</a:t>
            </a:r>
          </a:p>
          <a:p>
            <a:pPr marL="342900" indent="-342900">
              <a:buFont typeface="Arial" panose="020B0604020202020204" pitchFamily="34" charset="0"/>
              <a:buChar char="•"/>
            </a:pPr>
            <a:r>
              <a:rPr lang="en-IN" dirty="0"/>
              <a:t>This fixes the stale-data problem because the answer is grounded in real-time data the app fetched, not whatever was frozen in the model's weights.</a:t>
            </a:r>
          </a:p>
          <a:p>
            <a:pPr marL="342900" indent="-342900">
              <a:buFont typeface="Arial" panose="020B0604020202020204" pitchFamily="34" charset="0"/>
              <a:buChar char="•"/>
            </a:pPr>
            <a:r>
              <a:rPr lang="en-IN" dirty="0"/>
              <a:t>Optional </a:t>
            </a:r>
            <a:r>
              <a:rPr lang="en-IN" i="1" dirty="0"/>
              <a:t>:</a:t>
            </a:r>
            <a:r>
              <a:rPr lang="en-IN" dirty="0"/>
              <a:t> a keyed lookup needs the exact SKU, but the customer typed "the X200," not "SKU-X200." So add  a resolve step first — the model normalises the SKU, or a small </a:t>
            </a:r>
            <a:r>
              <a:rPr lang="en-IN" dirty="0" err="1"/>
              <a:t>find_sku</a:t>
            </a:r>
            <a:r>
              <a:rPr lang="en-IN" dirty="0"/>
              <a:t>(name) call precedes </a:t>
            </a:r>
            <a:r>
              <a:rPr lang="en-IN" dirty="0" err="1"/>
              <a:t>lookup_product</a:t>
            </a:r>
            <a:r>
              <a:rPr lang="en-IN" dirty="0"/>
              <a:t>.</a:t>
            </a:r>
          </a:p>
          <a:p>
            <a:pPr marL="342900" indent="-342900">
              <a:buFont typeface="Arial" panose="020B0604020202020204" pitchFamily="34" charset="0"/>
              <a:buChar char="•"/>
            </a:pPr>
            <a:endParaRPr lang="en-IN" dirty="0"/>
          </a:p>
        </p:txBody>
      </p:sp>
    </p:spTree>
    <p:extLst>
      <p:ext uri="{BB962C8B-B14F-4D97-AF65-F5344CB8AC3E}">
        <p14:creationId xmlns:p14="http://schemas.microsoft.com/office/powerpoint/2010/main" val="31492707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91A1E9-9F1C-6E4A-B2A7-37EE8B760D34}"/>
              </a:ext>
            </a:extLst>
          </p:cNvPr>
          <p:cNvSpPr>
            <a:spLocks noGrp="1"/>
          </p:cNvSpPr>
          <p:nvPr>
            <p:ph idx="10"/>
          </p:nvPr>
        </p:nvSpPr>
        <p:spPr/>
        <p:txBody>
          <a:bodyPr/>
          <a:lstStyle/>
          <a:p>
            <a:r>
              <a:rPr lang="en-IN" b="1" dirty="0"/>
              <a:t>(d)</a:t>
            </a:r>
            <a:r>
              <a:rPr lang="en-IN" dirty="0"/>
              <a:t> Give one concrete failure the router itself can introduce, and one safeguard against it.</a:t>
            </a:r>
          </a:p>
          <a:p>
            <a:r>
              <a:rPr lang="en-IN" dirty="0"/>
              <a:t>Ans:</a:t>
            </a:r>
          </a:p>
          <a:p>
            <a:r>
              <a:rPr lang="en-IN" b="1" dirty="0"/>
              <a:t>Failure: misrouting.</a:t>
            </a:r>
            <a:r>
              <a:rPr lang="en-IN" dirty="0"/>
              <a:t> Because the router is a cheap classifier, it can send a query to the wrong path — most dangerously, classifying a legal threat or churn-risk complaint as a routine question, so it never reaches a human.</a:t>
            </a:r>
          </a:p>
          <a:p>
            <a:r>
              <a:rPr lang="en-IN" b="1" dirty="0"/>
              <a:t>Safeguard:</a:t>
            </a:r>
            <a:r>
              <a:rPr lang="en-IN" dirty="0"/>
              <a:t> have the router return a confidence score and </a:t>
            </a:r>
            <a:r>
              <a:rPr lang="en-IN" b="1" dirty="0"/>
              <a:t>default to the HUMAN route when confidence is low</a:t>
            </a:r>
            <a:r>
              <a:rPr lang="en-IN" dirty="0"/>
              <a:t> ("anything you are unsure about → HUMAN"). A semantic / embedding fallback router, or an audit of low-confidence routes, also helps catch systematic misrouting.</a:t>
            </a:r>
          </a:p>
          <a:p>
            <a:endParaRPr lang="en-IN" dirty="0"/>
          </a:p>
        </p:txBody>
      </p:sp>
      <p:sp>
        <p:nvSpPr>
          <p:cNvPr id="3" name="Title 2">
            <a:extLst>
              <a:ext uri="{FF2B5EF4-FFF2-40B4-BE49-F238E27FC236}">
                <a16:creationId xmlns:a16="http://schemas.microsoft.com/office/drawing/2014/main" id="{02711CC4-472D-4C83-BE95-6FAE207A7D2A}"/>
              </a:ext>
            </a:extLst>
          </p:cNvPr>
          <p:cNvSpPr>
            <a:spLocks noGrp="1"/>
          </p:cNvSpPr>
          <p:nvPr>
            <p:ph type="title"/>
          </p:nvPr>
        </p:nvSpPr>
        <p:spPr/>
        <p:txBody>
          <a:bodyPr/>
          <a:lstStyle/>
          <a:p>
            <a:r>
              <a:rPr lang="en-US" dirty="0"/>
              <a:t>Sample Question : Case study - </a:t>
            </a:r>
            <a:r>
              <a:rPr lang="en-IN" b="1" dirty="0"/>
              <a:t>Scenario</a:t>
            </a:r>
            <a:endParaRPr lang="en-IN" dirty="0"/>
          </a:p>
        </p:txBody>
      </p:sp>
    </p:spTree>
    <p:extLst>
      <p:ext uri="{BB962C8B-B14F-4D97-AF65-F5344CB8AC3E}">
        <p14:creationId xmlns:p14="http://schemas.microsoft.com/office/powerpoint/2010/main" val="20111704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609600" y="512064"/>
            <a:ext cx="11338560" cy="670560"/>
          </a:xfrm>
          <a:prstGeom prst="rect">
            <a:avLst/>
          </a:prstGeom>
          <a:noFill/>
          <a:ln/>
        </p:spPr>
        <p:txBody>
          <a:bodyPr wrap="square" lIns="0" tIns="0" rIns="0" bIns="0" rtlCol="0" anchor="t"/>
          <a:lstStyle/>
          <a:p>
            <a:r>
              <a:rPr lang="en-US" sz="2933" b="1" dirty="0">
                <a:solidFill>
                  <a:srgbClr val="8B0000"/>
                </a:solidFill>
                <a:latin typeface="Georgia" pitchFamily="34" charset="0"/>
                <a:ea typeface="Georgia" pitchFamily="34" charset="-122"/>
                <a:cs typeface="Georgia" pitchFamily="34" charset="-120"/>
              </a:rPr>
              <a:t>Summary</a:t>
            </a:r>
            <a:endParaRPr lang="en-US" sz="2933" dirty="0"/>
          </a:p>
        </p:txBody>
      </p:sp>
      <p:sp>
        <p:nvSpPr>
          <p:cNvPr id="6" name="Shape 4"/>
          <p:cNvSpPr/>
          <p:nvPr/>
        </p:nvSpPr>
        <p:spPr>
          <a:xfrm>
            <a:off x="609600" y="1365504"/>
            <a:ext cx="5425440" cy="1048512"/>
          </a:xfrm>
          <a:prstGeom prst="roundRect">
            <a:avLst>
              <a:gd name="adj" fmla="val 5814"/>
            </a:avLst>
          </a:prstGeom>
          <a:solidFill>
            <a:srgbClr val="FBF7F0"/>
          </a:solidFill>
          <a:ln/>
        </p:spPr>
        <p:txBody>
          <a:bodyPr/>
          <a:lstStyle/>
          <a:p>
            <a:endParaRPr lang="en-IN">
              <a:latin typeface="Cambria" panose="02040503050406030204" pitchFamily="18" charset="0"/>
              <a:ea typeface="Cambria" panose="02040503050406030204" pitchFamily="18" charset="0"/>
            </a:endParaRPr>
          </a:p>
        </p:txBody>
      </p:sp>
      <p:sp>
        <p:nvSpPr>
          <p:cNvPr id="7" name="Text 5"/>
          <p:cNvSpPr/>
          <p:nvPr/>
        </p:nvSpPr>
        <p:spPr>
          <a:xfrm>
            <a:off x="792480" y="1438656"/>
            <a:ext cx="5059680" cy="926592"/>
          </a:xfrm>
          <a:prstGeom prst="rect">
            <a:avLst/>
          </a:prstGeom>
          <a:noFill/>
          <a:ln/>
        </p:spPr>
        <p:txBody>
          <a:bodyPr wrap="square" lIns="0" tIns="0" rIns="0" bIns="0" rtlCol="0" anchor="ctr"/>
          <a:lstStyle/>
          <a:p>
            <a:pPr>
              <a:lnSpc>
                <a:spcPct val="102000"/>
              </a:lnSpc>
            </a:pPr>
            <a:r>
              <a:rPr lang="en-US" b="1" dirty="0">
                <a:solidFill>
                  <a:srgbClr val="8B0000"/>
                </a:solidFill>
                <a:latin typeface="Cambria" panose="02040503050406030204" pitchFamily="18" charset="0"/>
                <a:ea typeface="Cambria" panose="02040503050406030204" pitchFamily="18" charset="0"/>
                <a:cs typeface="Calibri" pitchFamily="34" charset="-120"/>
              </a:rPr>
              <a:t>Design</a:t>
            </a:r>
            <a:endParaRPr lang="en-US" dirty="0">
              <a:latin typeface="Cambria" panose="02040503050406030204" pitchFamily="18" charset="0"/>
              <a:ea typeface="Cambria" panose="02040503050406030204" pitchFamily="18" charset="0"/>
            </a:endParaRPr>
          </a:p>
          <a:p>
            <a:pPr>
              <a:lnSpc>
                <a:spcPct val="102000"/>
              </a:lnSpc>
            </a:pPr>
            <a:r>
              <a:rPr lang="en-US" dirty="0">
                <a:solidFill>
                  <a:srgbClr val="333333"/>
                </a:solidFill>
                <a:latin typeface="Cambria" panose="02040503050406030204" pitchFamily="18" charset="0"/>
                <a:ea typeface="Cambria" panose="02040503050406030204" pitchFamily="18" charset="0"/>
                <a:cs typeface="Calibri" pitchFamily="34" charset="-120"/>
              </a:rPr>
              <a:t>Six components; delimit inputs; schema-first output; serialize tables deliberately</a:t>
            </a:r>
            <a:endParaRPr lang="en-US" dirty="0">
              <a:latin typeface="Cambria" panose="02040503050406030204" pitchFamily="18" charset="0"/>
              <a:ea typeface="Cambria" panose="02040503050406030204" pitchFamily="18" charset="0"/>
            </a:endParaRPr>
          </a:p>
        </p:txBody>
      </p:sp>
      <p:sp>
        <p:nvSpPr>
          <p:cNvPr id="8" name="Shape 6"/>
          <p:cNvSpPr/>
          <p:nvPr/>
        </p:nvSpPr>
        <p:spPr>
          <a:xfrm>
            <a:off x="6278880" y="1365504"/>
            <a:ext cx="5425440" cy="1048512"/>
          </a:xfrm>
          <a:prstGeom prst="roundRect">
            <a:avLst>
              <a:gd name="adj" fmla="val 5814"/>
            </a:avLst>
          </a:prstGeom>
          <a:solidFill>
            <a:srgbClr val="FBF7F0"/>
          </a:solidFill>
          <a:ln/>
        </p:spPr>
        <p:txBody>
          <a:bodyPr/>
          <a:lstStyle/>
          <a:p>
            <a:endParaRPr lang="en-IN">
              <a:latin typeface="Cambria" panose="02040503050406030204" pitchFamily="18" charset="0"/>
              <a:ea typeface="Cambria" panose="02040503050406030204" pitchFamily="18" charset="0"/>
            </a:endParaRPr>
          </a:p>
        </p:txBody>
      </p:sp>
      <p:sp>
        <p:nvSpPr>
          <p:cNvPr id="9" name="Text 7"/>
          <p:cNvSpPr/>
          <p:nvPr/>
        </p:nvSpPr>
        <p:spPr>
          <a:xfrm>
            <a:off x="6278880" y="1438656"/>
            <a:ext cx="5425440" cy="926592"/>
          </a:xfrm>
          <a:prstGeom prst="rect">
            <a:avLst/>
          </a:prstGeom>
          <a:noFill/>
          <a:ln/>
        </p:spPr>
        <p:txBody>
          <a:bodyPr wrap="square" lIns="0" tIns="0" rIns="0" bIns="0" rtlCol="0" anchor="ctr"/>
          <a:lstStyle/>
          <a:p>
            <a:pPr>
              <a:lnSpc>
                <a:spcPct val="102000"/>
              </a:lnSpc>
            </a:pPr>
            <a:r>
              <a:rPr lang="en-US" b="1" dirty="0">
                <a:solidFill>
                  <a:srgbClr val="8B0000"/>
                </a:solidFill>
                <a:latin typeface="Cambria" panose="02040503050406030204" pitchFamily="18" charset="0"/>
                <a:ea typeface="Cambria" panose="02040503050406030204" pitchFamily="18" charset="0"/>
                <a:cs typeface="Calibri" pitchFamily="34" charset="-120"/>
              </a:rPr>
              <a:t>Paradigms</a:t>
            </a:r>
            <a:endParaRPr lang="en-US" dirty="0">
              <a:latin typeface="Cambria" panose="02040503050406030204" pitchFamily="18" charset="0"/>
              <a:ea typeface="Cambria" panose="02040503050406030204" pitchFamily="18" charset="0"/>
            </a:endParaRPr>
          </a:p>
          <a:p>
            <a:pPr>
              <a:lnSpc>
                <a:spcPct val="102000"/>
              </a:lnSpc>
            </a:pPr>
            <a:r>
              <a:rPr lang="en-US" dirty="0">
                <a:solidFill>
                  <a:srgbClr val="333333"/>
                </a:solidFill>
                <a:latin typeface="Cambria" panose="02040503050406030204" pitchFamily="18" charset="0"/>
                <a:ea typeface="Cambria" panose="02040503050406030204" pitchFamily="18" charset="0"/>
                <a:cs typeface="Calibri" pitchFamily="34" charset="-120"/>
              </a:rPr>
              <a:t>Zero/few-shot &amp; ICL: demonstrations teach format &amp; label space; self-consistency = sample &amp; vote</a:t>
            </a:r>
            <a:endParaRPr lang="en-US" dirty="0">
              <a:latin typeface="Cambria" panose="02040503050406030204" pitchFamily="18" charset="0"/>
              <a:ea typeface="Cambria" panose="02040503050406030204" pitchFamily="18" charset="0"/>
            </a:endParaRPr>
          </a:p>
        </p:txBody>
      </p:sp>
      <p:sp>
        <p:nvSpPr>
          <p:cNvPr id="10" name="Shape 8"/>
          <p:cNvSpPr/>
          <p:nvPr/>
        </p:nvSpPr>
        <p:spPr>
          <a:xfrm>
            <a:off x="609600" y="2548128"/>
            <a:ext cx="5425440" cy="1048512"/>
          </a:xfrm>
          <a:prstGeom prst="roundRect">
            <a:avLst>
              <a:gd name="adj" fmla="val 5814"/>
            </a:avLst>
          </a:prstGeom>
          <a:solidFill>
            <a:srgbClr val="F2F5FA"/>
          </a:solidFill>
          <a:ln/>
        </p:spPr>
        <p:txBody>
          <a:bodyPr/>
          <a:lstStyle/>
          <a:p>
            <a:endParaRPr lang="en-IN">
              <a:latin typeface="Cambria" panose="02040503050406030204" pitchFamily="18" charset="0"/>
              <a:ea typeface="Cambria" panose="02040503050406030204" pitchFamily="18" charset="0"/>
            </a:endParaRPr>
          </a:p>
        </p:txBody>
      </p:sp>
      <p:sp>
        <p:nvSpPr>
          <p:cNvPr id="11" name="Text 9"/>
          <p:cNvSpPr/>
          <p:nvPr/>
        </p:nvSpPr>
        <p:spPr>
          <a:xfrm>
            <a:off x="792480" y="2621280"/>
            <a:ext cx="5059680" cy="926592"/>
          </a:xfrm>
          <a:prstGeom prst="rect">
            <a:avLst/>
          </a:prstGeom>
          <a:noFill/>
          <a:ln/>
        </p:spPr>
        <p:txBody>
          <a:bodyPr wrap="square" lIns="0" tIns="0" rIns="0" bIns="0" rtlCol="0" anchor="ctr"/>
          <a:lstStyle/>
          <a:p>
            <a:pPr>
              <a:lnSpc>
                <a:spcPct val="102000"/>
              </a:lnSpc>
            </a:pPr>
            <a:r>
              <a:rPr lang="en-US" b="1" dirty="0">
                <a:solidFill>
                  <a:srgbClr val="8B0000"/>
                </a:solidFill>
                <a:latin typeface="Cambria" panose="02040503050406030204" pitchFamily="18" charset="0"/>
                <a:ea typeface="Cambria" panose="02040503050406030204" pitchFamily="18" charset="0"/>
                <a:cs typeface="Calibri" pitchFamily="34" charset="-120"/>
              </a:rPr>
              <a:t>System design</a:t>
            </a:r>
            <a:endParaRPr lang="en-US" dirty="0">
              <a:latin typeface="Cambria" panose="02040503050406030204" pitchFamily="18" charset="0"/>
              <a:ea typeface="Cambria" panose="02040503050406030204" pitchFamily="18" charset="0"/>
            </a:endParaRPr>
          </a:p>
          <a:p>
            <a:pPr>
              <a:lnSpc>
                <a:spcPct val="102000"/>
              </a:lnSpc>
            </a:pPr>
            <a:r>
              <a:rPr lang="en-US" dirty="0">
                <a:solidFill>
                  <a:srgbClr val="333333"/>
                </a:solidFill>
                <a:latin typeface="Cambria" panose="02040503050406030204" pitchFamily="18" charset="0"/>
                <a:ea typeface="Cambria" panose="02040503050406030204" pitchFamily="18" charset="0"/>
                <a:cs typeface="Calibri" pitchFamily="34" charset="-120"/>
              </a:rPr>
              <a:t>Chain small reliable calls; decompose queries; route by intent/difficulty; tools via function calling</a:t>
            </a:r>
            <a:endParaRPr lang="en-US" dirty="0">
              <a:latin typeface="Cambria" panose="02040503050406030204" pitchFamily="18" charset="0"/>
              <a:ea typeface="Cambria" panose="02040503050406030204" pitchFamily="18" charset="0"/>
            </a:endParaRPr>
          </a:p>
        </p:txBody>
      </p:sp>
      <p:sp>
        <p:nvSpPr>
          <p:cNvPr id="12" name="Shape 10"/>
          <p:cNvSpPr/>
          <p:nvPr/>
        </p:nvSpPr>
        <p:spPr>
          <a:xfrm>
            <a:off x="6278880" y="2548128"/>
            <a:ext cx="5425440" cy="1048512"/>
          </a:xfrm>
          <a:prstGeom prst="roundRect">
            <a:avLst>
              <a:gd name="adj" fmla="val 5814"/>
            </a:avLst>
          </a:prstGeom>
          <a:solidFill>
            <a:srgbClr val="F2F5FA"/>
          </a:solidFill>
          <a:ln/>
        </p:spPr>
        <p:txBody>
          <a:bodyPr/>
          <a:lstStyle/>
          <a:p>
            <a:endParaRPr lang="en-IN">
              <a:latin typeface="Cambria" panose="02040503050406030204" pitchFamily="18" charset="0"/>
              <a:ea typeface="Cambria" panose="02040503050406030204" pitchFamily="18" charset="0"/>
            </a:endParaRPr>
          </a:p>
        </p:txBody>
      </p:sp>
      <p:sp>
        <p:nvSpPr>
          <p:cNvPr id="13" name="Text 11"/>
          <p:cNvSpPr/>
          <p:nvPr/>
        </p:nvSpPr>
        <p:spPr>
          <a:xfrm>
            <a:off x="6461760" y="2621280"/>
            <a:ext cx="5730240" cy="926592"/>
          </a:xfrm>
          <a:prstGeom prst="rect">
            <a:avLst/>
          </a:prstGeom>
          <a:noFill/>
          <a:ln/>
        </p:spPr>
        <p:txBody>
          <a:bodyPr wrap="square" lIns="0" tIns="0" rIns="0" bIns="0" rtlCol="0" anchor="ctr"/>
          <a:lstStyle/>
          <a:p>
            <a:pPr>
              <a:lnSpc>
                <a:spcPct val="102000"/>
              </a:lnSpc>
            </a:pPr>
            <a:r>
              <a:rPr lang="en-US" b="1" dirty="0">
                <a:solidFill>
                  <a:srgbClr val="8B0000"/>
                </a:solidFill>
                <a:latin typeface="Cambria" panose="02040503050406030204" pitchFamily="18" charset="0"/>
                <a:ea typeface="Cambria" panose="02040503050406030204" pitchFamily="18" charset="0"/>
                <a:cs typeface="Calibri" pitchFamily="34" charset="-120"/>
              </a:rPr>
              <a:t>Optimization</a:t>
            </a:r>
            <a:endParaRPr lang="en-US" dirty="0">
              <a:latin typeface="Cambria" panose="02040503050406030204" pitchFamily="18" charset="0"/>
              <a:ea typeface="Cambria" panose="02040503050406030204" pitchFamily="18" charset="0"/>
            </a:endParaRPr>
          </a:p>
          <a:p>
            <a:pPr>
              <a:lnSpc>
                <a:spcPct val="102000"/>
              </a:lnSpc>
            </a:pPr>
            <a:r>
              <a:rPr lang="en-US" dirty="0">
                <a:solidFill>
                  <a:srgbClr val="333333"/>
                </a:solidFill>
                <a:latin typeface="Cambria" panose="02040503050406030204" pitchFamily="18" charset="0"/>
                <a:ea typeface="Cambria" panose="02040503050406030204" pitchFamily="18" charset="0"/>
                <a:cs typeface="Calibri" pitchFamily="34" charset="-120"/>
              </a:rPr>
              <a:t>Prompts are hyperparameters: APE proposes &amp; scores; OPRO optimizes in language; DSPy/GEPA compile pipelines</a:t>
            </a:r>
            <a:endParaRPr lang="en-US" dirty="0">
              <a:latin typeface="Cambria" panose="02040503050406030204" pitchFamily="18" charset="0"/>
              <a:ea typeface="Cambria" panose="02040503050406030204" pitchFamily="18" charset="0"/>
            </a:endParaRPr>
          </a:p>
        </p:txBody>
      </p:sp>
      <p:sp>
        <p:nvSpPr>
          <p:cNvPr id="14" name="Shape 12"/>
          <p:cNvSpPr/>
          <p:nvPr/>
        </p:nvSpPr>
        <p:spPr>
          <a:xfrm>
            <a:off x="609600" y="3730752"/>
            <a:ext cx="5425440" cy="1048512"/>
          </a:xfrm>
          <a:prstGeom prst="roundRect">
            <a:avLst>
              <a:gd name="adj" fmla="val 5814"/>
            </a:avLst>
          </a:prstGeom>
          <a:solidFill>
            <a:srgbClr val="FBF7F0"/>
          </a:solidFill>
          <a:ln/>
        </p:spPr>
        <p:txBody>
          <a:bodyPr/>
          <a:lstStyle/>
          <a:p>
            <a:endParaRPr lang="en-IN">
              <a:latin typeface="Cambria" panose="02040503050406030204" pitchFamily="18" charset="0"/>
              <a:ea typeface="Cambria" panose="02040503050406030204" pitchFamily="18" charset="0"/>
            </a:endParaRPr>
          </a:p>
        </p:txBody>
      </p:sp>
      <p:sp>
        <p:nvSpPr>
          <p:cNvPr id="15" name="Text 13"/>
          <p:cNvSpPr/>
          <p:nvPr/>
        </p:nvSpPr>
        <p:spPr>
          <a:xfrm>
            <a:off x="792480" y="3803904"/>
            <a:ext cx="5059680" cy="926592"/>
          </a:xfrm>
          <a:prstGeom prst="rect">
            <a:avLst/>
          </a:prstGeom>
          <a:noFill/>
          <a:ln/>
        </p:spPr>
        <p:txBody>
          <a:bodyPr wrap="square" lIns="0" tIns="0" rIns="0" bIns="0" rtlCol="0" anchor="ctr"/>
          <a:lstStyle/>
          <a:p>
            <a:pPr>
              <a:lnSpc>
                <a:spcPct val="102000"/>
              </a:lnSpc>
            </a:pPr>
            <a:r>
              <a:rPr lang="en-US" b="1" dirty="0">
                <a:solidFill>
                  <a:srgbClr val="8B0000"/>
                </a:solidFill>
                <a:latin typeface="Cambria" panose="02040503050406030204" pitchFamily="18" charset="0"/>
                <a:ea typeface="Cambria" panose="02040503050406030204" pitchFamily="18" charset="0"/>
                <a:cs typeface="Calibri" pitchFamily="34" charset="-120"/>
              </a:rPr>
              <a:t>Structured output</a:t>
            </a:r>
            <a:endParaRPr lang="en-US" dirty="0">
              <a:latin typeface="Cambria" panose="02040503050406030204" pitchFamily="18" charset="0"/>
              <a:ea typeface="Cambria" panose="02040503050406030204" pitchFamily="18" charset="0"/>
            </a:endParaRPr>
          </a:p>
          <a:p>
            <a:pPr>
              <a:lnSpc>
                <a:spcPct val="102000"/>
              </a:lnSpc>
            </a:pPr>
            <a:r>
              <a:rPr lang="en-US" dirty="0">
                <a:solidFill>
                  <a:srgbClr val="333333"/>
                </a:solidFill>
                <a:latin typeface="Cambria" panose="02040503050406030204" pitchFamily="18" charset="0"/>
                <a:ea typeface="Cambria" panose="02040503050406030204" pitchFamily="18" charset="0"/>
                <a:cs typeface="Calibri" pitchFamily="34" charset="-120"/>
              </a:rPr>
              <a:t>Verify-retry → schema-enforced APIs → constrained decoding (validity by construction)</a:t>
            </a:r>
            <a:endParaRPr lang="en-US" dirty="0">
              <a:latin typeface="Cambria" panose="02040503050406030204" pitchFamily="18" charset="0"/>
              <a:ea typeface="Cambria" panose="02040503050406030204" pitchFamily="18" charset="0"/>
            </a:endParaRPr>
          </a:p>
        </p:txBody>
      </p:sp>
      <p:sp>
        <p:nvSpPr>
          <p:cNvPr id="16" name="Shape 14"/>
          <p:cNvSpPr/>
          <p:nvPr/>
        </p:nvSpPr>
        <p:spPr>
          <a:xfrm>
            <a:off x="6278880" y="3730752"/>
            <a:ext cx="5425440" cy="1048512"/>
          </a:xfrm>
          <a:prstGeom prst="roundRect">
            <a:avLst>
              <a:gd name="adj" fmla="val 5814"/>
            </a:avLst>
          </a:prstGeom>
          <a:solidFill>
            <a:srgbClr val="FBF7F0"/>
          </a:solidFill>
          <a:ln/>
        </p:spPr>
        <p:txBody>
          <a:bodyPr/>
          <a:lstStyle/>
          <a:p>
            <a:endParaRPr lang="en-IN">
              <a:latin typeface="Cambria" panose="02040503050406030204" pitchFamily="18" charset="0"/>
              <a:ea typeface="Cambria" panose="02040503050406030204" pitchFamily="18" charset="0"/>
            </a:endParaRPr>
          </a:p>
        </p:txBody>
      </p:sp>
      <p:sp>
        <p:nvSpPr>
          <p:cNvPr id="17" name="Text 15"/>
          <p:cNvSpPr/>
          <p:nvPr/>
        </p:nvSpPr>
        <p:spPr>
          <a:xfrm>
            <a:off x="6461760" y="3803904"/>
            <a:ext cx="5059680" cy="926592"/>
          </a:xfrm>
          <a:prstGeom prst="rect">
            <a:avLst/>
          </a:prstGeom>
          <a:noFill/>
          <a:ln/>
        </p:spPr>
        <p:txBody>
          <a:bodyPr wrap="square" lIns="0" tIns="0" rIns="0" bIns="0" rtlCol="0" anchor="ctr"/>
          <a:lstStyle/>
          <a:p>
            <a:pPr>
              <a:lnSpc>
                <a:spcPct val="102000"/>
              </a:lnSpc>
            </a:pPr>
            <a:r>
              <a:rPr lang="en-US" b="1" dirty="0">
                <a:solidFill>
                  <a:srgbClr val="8B0000"/>
                </a:solidFill>
                <a:latin typeface="Cambria" panose="02040503050406030204" pitchFamily="18" charset="0"/>
                <a:ea typeface="Cambria" panose="02040503050406030204" pitchFamily="18" charset="0"/>
                <a:cs typeface="Calibri" pitchFamily="34" charset="-120"/>
              </a:rPr>
              <a:t>Reasoning</a:t>
            </a:r>
            <a:endParaRPr lang="en-US" dirty="0">
              <a:latin typeface="Cambria" panose="02040503050406030204" pitchFamily="18" charset="0"/>
              <a:ea typeface="Cambria" panose="02040503050406030204" pitchFamily="18" charset="0"/>
            </a:endParaRPr>
          </a:p>
          <a:p>
            <a:pPr>
              <a:lnSpc>
                <a:spcPct val="102000"/>
              </a:lnSpc>
            </a:pPr>
            <a:r>
              <a:rPr lang="en-US" dirty="0">
                <a:solidFill>
                  <a:srgbClr val="333333"/>
                </a:solidFill>
                <a:latin typeface="Cambria" panose="02040503050406030204" pitchFamily="18" charset="0"/>
                <a:ea typeface="Cambria" panose="02040503050406030204" pitchFamily="18" charset="0"/>
                <a:cs typeface="Calibri" pitchFamily="34" charset="-120"/>
              </a:rPr>
              <a:t>CoT gives scratch space; ToT searches; step-back abstracts; PAL delegates computation to code</a:t>
            </a:r>
            <a:endParaRPr lang="en-US" dirty="0">
              <a:latin typeface="Cambria" panose="02040503050406030204" pitchFamily="18" charset="0"/>
              <a:ea typeface="Cambria" panose="02040503050406030204" pitchFamily="18" charset="0"/>
            </a:endParaRPr>
          </a:p>
        </p:txBody>
      </p:sp>
      <p:sp>
        <p:nvSpPr>
          <p:cNvPr id="18" name="Shape 16"/>
          <p:cNvSpPr/>
          <p:nvPr/>
        </p:nvSpPr>
        <p:spPr>
          <a:xfrm>
            <a:off x="609600" y="4913376"/>
            <a:ext cx="5425440" cy="1048512"/>
          </a:xfrm>
          <a:prstGeom prst="roundRect">
            <a:avLst>
              <a:gd name="adj" fmla="val 5814"/>
            </a:avLst>
          </a:prstGeom>
          <a:solidFill>
            <a:srgbClr val="F2F5FA"/>
          </a:solidFill>
          <a:ln/>
        </p:spPr>
        <p:txBody>
          <a:bodyPr/>
          <a:lstStyle/>
          <a:p>
            <a:endParaRPr lang="en-IN">
              <a:latin typeface="Cambria" panose="02040503050406030204" pitchFamily="18" charset="0"/>
              <a:ea typeface="Cambria" panose="02040503050406030204" pitchFamily="18" charset="0"/>
            </a:endParaRPr>
          </a:p>
        </p:txBody>
      </p:sp>
      <p:sp>
        <p:nvSpPr>
          <p:cNvPr id="19" name="Text 17"/>
          <p:cNvSpPr/>
          <p:nvPr/>
        </p:nvSpPr>
        <p:spPr>
          <a:xfrm>
            <a:off x="792480" y="4986528"/>
            <a:ext cx="5059680" cy="926592"/>
          </a:xfrm>
          <a:prstGeom prst="rect">
            <a:avLst/>
          </a:prstGeom>
          <a:noFill/>
          <a:ln/>
        </p:spPr>
        <p:txBody>
          <a:bodyPr wrap="square" lIns="0" tIns="0" rIns="0" bIns="0" rtlCol="0" anchor="ctr"/>
          <a:lstStyle/>
          <a:p>
            <a:pPr>
              <a:lnSpc>
                <a:spcPct val="102000"/>
              </a:lnSpc>
            </a:pPr>
            <a:r>
              <a:rPr lang="en-US" b="1" dirty="0">
                <a:solidFill>
                  <a:srgbClr val="8B0000"/>
                </a:solidFill>
                <a:latin typeface="Cambria" panose="02040503050406030204" pitchFamily="18" charset="0"/>
                <a:ea typeface="Cambria" panose="02040503050406030204" pitchFamily="18" charset="0"/>
                <a:cs typeface="Calibri" pitchFamily="34" charset="-120"/>
              </a:rPr>
              <a:t>Iteration</a:t>
            </a:r>
            <a:endParaRPr lang="en-US" dirty="0">
              <a:latin typeface="Cambria" panose="02040503050406030204" pitchFamily="18" charset="0"/>
              <a:ea typeface="Cambria" panose="02040503050406030204" pitchFamily="18" charset="0"/>
            </a:endParaRPr>
          </a:p>
          <a:p>
            <a:pPr>
              <a:lnSpc>
                <a:spcPct val="102000"/>
              </a:lnSpc>
            </a:pPr>
            <a:r>
              <a:rPr lang="en-US" dirty="0">
                <a:solidFill>
                  <a:srgbClr val="333333"/>
                </a:solidFill>
                <a:latin typeface="Cambria" panose="02040503050406030204" pitchFamily="18" charset="0"/>
                <a:ea typeface="Cambria" panose="02040503050406030204" pitchFamily="18" charset="0"/>
                <a:cs typeface="Calibri" pitchFamily="34" charset="-120"/>
              </a:rPr>
              <a:t>ReAct grounds reasoning in tool observations; reflection works only with external feedback</a:t>
            </a:r>
            <a:endParaRPr lang="en-US" dirty="0">
              <a:latin typeface="Cambria" panose="02040503050406030204" pitchFamily="18" charset="0"/>
              <a:ea typeface="Cambria" panose="02040503050406030204" pitchFamily="18" charset="0"/>
            </a:endParaRPr>
          </a:p>
        </p:txBody>
      </p:sp>
      <p:sp>
        <p:nvSpPr>
          <p:cNvPr id="20" name="Shape 18"/>
          <p:cNvSpPr/>
          <p:nvPr/>
        </p:nvSpPr>
        <p:spPr>
          <a:xfrm>
            <a:off x="6278880" y="5100810"/>
            <a:ext cx="5425440" cy="1048512"/>
          </a:xfrm>
          <a:prstGeom prst="roundRect">
            <a:avLst>
              <a:gd name="adj" fmla="val 5814"/>
            </a:avLst>
          </a:prstGeom>
          <a:solidFill>
            <a:srgbClr val="F2F5FA"/>
          </a:solidFill>
          <a:ln/>
        </p:spPr>
        <p:txBody>
          <a:bodyPr/>
          <a:lstStyle/>
          <a:p>
            <a:endParaRPr lang="en-IN" dirty="0">
              <a:latin typeface="Cambria" panose="02040503050406030204" pitchFamily="18" charset="0"/>
              <a:ea typeface="Cambria" panose="02040503050406030204" pitchFamily="18" charset="0"/>
            </a:endParaRPr>
          </a:p>
        </p:txBody>
      </p:sp>
      <p:sp>
        <p:nvSpPr>
          <p:cNvPr id="21" name="Text 19"/>
          <p:cNvSpPr/>
          <p:nvPr/>
        </p:nvSpPr>
        <p:spPr>
          <a:xfrm>
            <a:off x="6461760" y="4986528"/>
            <a:ext cx="5059680" cy="926592"/>
          </a:xfrm>
          <a:prstGeom prst="rect">
            <a:avLst/>
          </a:prstGeom>
          <a:noFill/>
          <a:ln/>
        </p:spPr>
        <p:txBody>
          <a:bodyPr wrap="square" lIns="0" tIns="0" rIns="0" bIns="0" rtlCol="0" anchor="ctr"/>
          <a:lstStyle/>
          <a:p>
            <a:pPr>
              <a:lnSpc>
                <a:spcPct val="102000"/>
              </a:lnSpc>
            </a:pPr>
            <a:r>
              <a:rPr lang="en-US" b="1" dirty="0">
                <a:solidFill>
                  <a:srgbClr val="8B0000"/>
                </a:solidFill>
                <a:latin typeface="Cambria" panose="02040503050406030204" pitchFamily="18" charset="0"/>
                <a:ea typeface="Cambria" panose="02040503050406030204" pitchFamily="18" charset="0"/>
                <a:cs typeface="Calibri" pitchFamily="34" charset="-120"/>
              </a:rPr>
              <a:t>Test-time compute</a:t>
            </a:r>
            <a:endParaRPr lang="en-US" dirty="0">
              <a:latin typeface="Cambria" panose="02040503050406030204" pitchFamily="18" charset="0"/>
              <a:ea typeface="Cambria" panose="02040503050406030204" pitchFamily="18" charset="0"/>
            </a:endParaRPr>
          </a:p>
          <a:p>
            <a:pPr>
              <a:lnSpc>
                <a:spcPct val="102000"/>
              </a:lnSpc>
            </a:pPr>
            <a:r>
              <a:rPr lang="en-US" dirty="0">
                <a:solidFill>
                  <a:srgbClr val="333333"/>
                </a:solidFill>
                <a:latin typeface="Cambria" panose="02040503050406030204" pitchFamily="18" charset="0"/>
                <a:ea typeface="Cambria" panose="02040503050406030204" pitchFamily="18" charset="0"/>
                <a:cs typeface="Calibri" pitchFamily="34" charset="-120"/>
              </a:rPr>
              <a:t>Accuracy is now a budget knob: best-of-N, long CoT, thinking budgets, difficulty routing</a:t>
            </a: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0" y="1426279"/>
            <a:ext cx="11887200" cy="5260960"/>
          </a:xfrm>
        </p:spPr>
        <p:txBody>
          <a:bodyPr>
            <a:noAutofit/>
          </a:bodyPr>
          <a:lstStyle/>
          <a:p>
            <a:pPr marL="285750" indent="-285750">
              <a:buFont typeface="Arial" panose="020B0604020202020204" pitchFamily="34" charset="0"/>
              <a:buChar char="•"/>
            </a:pPr>
            <a:r>
              <a:rPr lang="en-IN" sz="1800" dirty="0">
                <a:solidFill>
                  <a:srgbClr val="0000FF"/>
                </a:solidFill>
                <a:hlinkClick r:id="rId3">
                  <a:extLst>
                    <a:ext uri="{A12FA001-AC4F-418D-AE19-62706E023703}">
                      <ahyp:hlinkClr xmlns:ahyp="http://schemas.microsoft.com/office/drawing/2018/hyperlinkcolor" val="tx"/>
                    </a:ext>
                  </a:extLst>
                </a:hlinkClick>
              </a:rPr>
              <a:t>https://</a:t>
            </a:r>
            <a:r>
              <a:rPr lang="en-IN" sz="1800" dirty="0">
                <a:solidFill>
                  <a:schemeClr val="tx1"/>
                </a:solidFill>
                <a:hlinkClick r:id="rId3">
                  <a:extLst>
                    <a:ext uri="{A12FA001-AC4F-418D-AE19-62706E023703}">
                      <ahyp:hlinkClr xmlns:ahyp="http://schemas.microsoft.com/office/drawing/2018/hyperlinkcolor" val="tx"/>
                    </a:ext>
                  </a:extLst>
                </a:hlinkClick>
              </a:rPr>
              <a:t>platform.openai.com/docs/guides/function-calling</a:t>
            </a:r>
            <a:endParaRPr lang="en-IN" sz="1800" dirty="0">
              <a:solidFill>
                <a:schemeClr val="tx1"/>
              </a:solidFill>
            </a:endParaRPr>
          </a:p>
          <a:p>
            <a:pPr marL="285750" indent="-285750">
              <a:buFont typeface="Arial" panose="020B0604020202020204" pitchFamily="34" charset="0"/>
              <a:buChar char="•"/>
            </a:pPr>
            <a:r>
              <a:rPr lang="en-IN" sz="1800" dirty="0">
                <a:solidFill>
                  <a:srgbClr val="0000FF"/>
                </a:solidFill>
                <a:hlinkClick r:id="rId4">
                  <a:extLst>
                    <a:ext uri="{A12FA001-AC4F-418D-AE19-62706E023703}">
                      <ahyp:hlinkClr xmlns:ahyp="http://schemas.microsoft.com/office/drawing/2018/hyperlinkcolor" val="tx"/>
                    </a:ext>
                  </a:extLst>
                </a:hlinkClick>
              </a:rPr>
              <a:t>https://</a:t>
            </a:r>
            <a:r>
              <a:rPr lang="en-IN" sz="1800" dirty="0">
                <a:solidFill>
                  <a:schemeClr val="tx1"/>
                </a:solidFill>
                <a:hlinkClick r:id="rId4">
                  <a:extLst>
                    <a:ext uri="{A12FA001-AC4F-418D-AE19-62706E023703}">
                      <ahyp:hlinkClr xmlns:ahyp="http://schemas.microsoft.com/office/drawing/2018/hyperlinkcolor" val="tx"/>
                    </a:ext>
                  </a:extLst>
                </a:hlinkClick>
              </a:rPr>
              <a:t>www.promptingguide.ai/techniques</a:t>
            </a:r>
            <a:endParaRPr lang="en-IN" sz="1800" dirty="0">
              <a:solidFill>
                <a:schemeClr val="tx1"/>
              </a:solidFill>
            </a:endParaRPr>
          </a:p>
          <a:p>
            <a:pPr marL="285750" indent="-285750">
              <a:buFont typeface="Arial" panose="020B0604020202020204" pitchFamily="34" charset="0"/>
              <a:buChar char="•"/>
            </a:pPr>
            <a:r>
              <a:rPr lang="en-IN" sz="1800" dirty="0">
                <a:solidFill>
                  <a:srgbClr val="0000FF"/>
                </a:solidFill>
                <a:hlinkClick r:id="rId5">
                  <a:extLst>
                    <a:ext uri="{A12FA001-AC4F-418D-AE19-62706E023703}">
                      <ahyp:hlinkClr xmlns:ahyp="http://schemas.microsoft.com/office/drawing/2018/hyperlinkcolor" val="tx"/>
                    </a:ext>
                  </a:extLst>
                </a:hlinkClick>
              </a:rPr>
              <a:t>https://</a:t>
            </a:r>
            <a:r>
              <a:rPr lang="en-IN" sz="1800" dirty="0">
                <a:solidFill>
                  <a:schemeClr val="tx1"/>
                </a:solidFill>
                <a:hlinkClick r:id="rId5">
                  <a:extLst>
                    <a:ext uri="{A12FA001-AC4F-418D-AE19-62706E023703}">
                      <ahyp:hlinkClr xmlns:ahyp="http://schemas.microsoft.com/office/drawing/2018/hyperlinkcolor" val="tx"/>
                    </a:ext>
                  </a:extLst>
                </a:hlinkClick>
              </a:rPr>
              <a:t>8738733.fs1.hubspotusercontent-na1.net/hubfs/8738733/eBooks/Weaviate-Context-Engineering-ebook.pdf</a:t>
            </a:r>
            <a:endParaRPr lang="en-IN" sz="1800" dirty="0">
              <a:solidFill>
                <a:schemeClr val="tx1"/>
              </a:solidFill>
            </a:endParaRPr>
          </a:p>
          <a:p>
            <a:pPr marL="285750" indent="-285750">
              <a:buFont typeface="Arial" panose="020B0604020202020204" pitchFamily="34" charset="0"/>
              <a:buChar char="•"/>
            </a:pPr>
            <a:r>
              <a:rPr lang="en-IN" sz="1800" dirty="0">
                <a:solidFill>
                  <a:srgbClr val="0000FF"/>
                </a:solidFill>
                <a:hlinkClick r:id="rId6">
                  <a:extLst>
                    <a:ext uri="{A12FA001-AC4F-418D-AE19-62706E023703}">
                      <ahyp:hlinkClr xmlns:ahyp="http://schemas.microsoft.com/office/drawing/2018/hyperlinkcolor" val="tx"/>
                    </a:ext>
                  </a:extLst>
                </a:hlinkClick>
              </a:rPr>
              <a:t>https://ai.google.dev/gemini-api/docs/function-calling?example=</a:t>
            </a:r>
            <a:r>
              <a:rPr lang="en-IN" sz="1800" dirty="0">
                <a:solidFill>
                  <a:schemeClr val="tx1"/>
                </a:solidFill>
                <a:hlinkClick r:id="rId6">
                  <a:extLst>
                    <a:ext uri="{A12FA001-AC4F-418D-AE19-62706E023703}">
                      <ahyp:hlinkClr xmlns:ahyp="http://schemas.microsoft.com/office/drawing/2018/hyperlinkcolor" val="tx"/>
                    </a:ext>
                  </a:extLst>
                </a:hlinkClick>
              </a:rPr>
              <a:t>meeting</a:t>
            </a:r>
            <a:endParaRPr lang="en-IN" sz="1800" dirty="0">
              <a:solidFill>
                <a:schemeClr val="tx1"/>
              </a:solidFill>
            </a:endParaRPr>
          </a:p>
          <a:p>
            <a:pPr marL="285750" indent="-285750">
              <a:buFont typeface="Arial" panose="020B0604020202020204" pitchFamily="34" charset="0"/>
              <a:buChar char="•"/>
            </a:pPr>
            <a:r>
              <a:rPr lang="en-US" sz="1800" dirty="0">
                <a:solidFill>
                  <a:schemeClr val="tx1"/>
                </a:solidFill>
                <a:cs typeface="Calibri" pitchFamily="34" charset="-120"/>
              </a:rPr>
              <a:t>Anthropic Prompt Engineering Guide</a:t>
            </a:r>
          </a:p>
          <a:p>
            <a:pPr marL="285750" indent="-285750">
              <a:buFont typeface="Arial" panose="020B0604020202020204" pitchFamily="34" charset="0"/>
              <a:buChar char="•"/>
            </a:pPr>
            <a:r>
              <a:rPr lang="en-US" sz="1800" dirty="0">
                <a:solidFill>
                  <a:schemeClr val="tx1"/>
                </a:solidFill>
                <a:cs typeface="Calibri" pitchFamily="34" charset="-120"/>
              </a:rPr>
              <a:t>OpenAI Prompt Engineering Guide</a:t>
            </a:r>
          </a:p>
          <a:p>
            <a:pPr marL="285750" indent="-285750">
              <a:buFont typeface="Arial" panose="020B0604020202020204" pitchFamily="34" charset="0"/>
              <a:buChar char="•"/>
            </a:pPr>
            <a:r>
              <a:rPr lang="en-US" sz="1800" dirty="0">
                <a:solidFill>
                  <a:schemeClr val="tx1"/>
                </a:solidFill>
                <a:cs typeface="Calibri" pitchFamily="34" charset="-120"/>
              </a:rPr>
              <a:t>Research papers</a:t>
            </a:r>
          </a:p>
          <a:p>
            <a:pPr marL="742950" lvl="1" indent="-285750">
              <a:buFont typeface="Arial" panose="020B0604020202020204" pitchFamily="34" charset="0"/>
              <a:buChar char="•"/>
            </a:pPr>
            <a:r>
              <a:rPr lang="en-IN" sz="1800" dirty="0">
                <a:solidFill>
                  <a:schemeClr val="tx1"/>
                </a:solidFill>
              </a:rPr>
              <a:t>A Survey of Context Engineering for Large Language Models</a:t>
            </a:r>
          </a:p>
          <a:p>
            <a:pPr marL="742950" lvl="1" indent="-285750">
              <a:buFont typeface="Arial" panose="020B0604020202020204" pitchFamily="34" charset="0"/>
              <a:buChar char="•"/>
            </a:pPr>
            <a:r>
              <a:rPr lang="en-US" sz="1800" dirty="0">
                <a:solidFill>
                  <a:schemeClr val="tx1"/>
                </a:solidFill>
              </a:rPr>
              <a:t>Tree of Thoughts: Deliberate Problem Solving with Large Language Models</a:t>
            </a:r>
          </a:p>
          <a:p>
            <a:pPr marL="742950" lvl="1" indent="-285750">
              <a:buFont typeface="Arial" panose="020B0604020202020204" pitchFamily="34" charset="0"/>
              <a:buChar char="•"/>
            </a:pPr>
            <a:r>
              <a:rPr lang="en-US" sz="1800" dirty="0">
                <a:solidFill>
                  <a:schemeClr val="tx1"/>
                </a:solidFill>
              </a:rPr>
              <a:t>LARGE LANGUAGE MODELS ARE HUMAN-LEVEL PROMPT ENGINEERS</a:t>
            </a:r>
          </a:p>
          <a:p>
            <a:pPr marL="742950" lvl="1" indent="-285750">
              <a:buFont typeface="Arial" panose="020B0604020202020204" pitchFamily="34" charset="0"/>
              <a:buChar char="•"/>
            </a:pPr>
            <a:r>
              <a:rPr lang="en-US" sz="1800" dirty="0">
                <a:solidFill>
                  <a:schemeClr val="tx1"/>
                </a:solidFill>
              </a:rPr>
              <a:t>Unsupervised Question Decomposition for Question Answering</a:t>
            </a:r>
          </a:p>
          <a:p>
            <a:pPr marL="742950" lvl="1" indent="-285750">
              <a:buFont typeface="Arial" panose="020B0604020202020204" pitchFamily="34" charset="0"/>
              <a:buChar char="•"/>
            </a:pPr>
            <a:r>
              <a:rPr lang="en-US" sz="1800" dirty="0">
                <a:solidFill>
                  <a:schemeClr val="tx1"/>
                </a:solidFill>
              </a:rPr>
              <a:t>LEAST-TO-MOST PROMPTING ENABLES COMPLEXREASONING IN LARGE LANGUAGE MODELS</a:t>
            </a:r>
          </a:p>
          <a:p>
            <a:pPr marL="742950" lvl="1" indent="-285750">
              <a:buFont typeface="Arial" panose="020B0604020202020204" pitchFamily="34" charset="0"/>
              <a:buChar char="•"/>
            </a:pPr>
            <a:r>
              <a:rPr lang="en-US" sz="1800" dirty="0">
                <a:solidFill>
                  <a:schemeClr val="tx1"/>
                </a:solidFill>
              </a:rPr>
              <a:t>Table Meets LLM: Can Large Language Models Understand Structured Table Data? A Benchmark and Empirical Study</a:t>
            </a:r>
          </a:p>
          <a:p>
            <a:pPr marL="742950" lvl="1" indent="-285750">
              <a:buFont typeface="Arial" panose="020B0604020202020204" pitchFamily="34" charset="0"/>
              <a:buChar char="•"/>
            </a:pPr>
            <a:r>
              <a:rPr lang="en-US" sz="1800" dirty="0">
                <a:solidFill>
                  <a:schemeClr val="tx1"/>
                </a:solidFill>
                <a:cs typeface="Calibri" pitchFamily="34" charset="-120"/>
              </a:rPr>
              <a:t>A Prompt Pattern Catalog</a:t>
            </a:r>
            <a:endParaRPr lang="en-IN" sz="1800" dirty="0">
              <a:solidFill>
                <a:schemeClr val="tx1"/>
              </a:solidFill>
            </a:endParaRPr>
          </a:p>
          <a:p>
            <a:pPr marL="742950" lvl="1" indent="-285750">
              <a:buFont typeface="Arial" panose="020B0604020202020204" pitchFamily="34" charset="0"/>
              <a:buChar char="•"/>
            </a:pPr>
            <a:r>
              <a:rPr lang="en-US" sz="1800" dirty="0">
                <a:solidFill>
                  <a:schemeClr val="tx1"/>
                </a:solidFill>
                <a:cs typeface="Calibri" pitchFamily="34" charset="-120"/>
              </a:rPr>
              <a:t>ICL as Implicit Bayesian Inference</a:t>
            </a:r>
          </a:p>
          <a:p>
            <a:pPr marL="742950" lvl="1" indent="-285750">
              <a:buFont typeface="Arial" panose="020B0604020202020204" pitchFamily="34" charset="0"/>
              <a:buChar char="•"/>
            </a:pPr>
            <a:r>
              <a:rPr lang="en-US" sz="1800" dirty="0">
                <a:solidFill>
                  <a:schemeClr val="tx1"/>
                </a:solidFill>
                <a:cs typeface="Calibri" pitchFamily="34" charset="-120"/>
              </a:rPr>
              <a:t>Calibrate Before Use</a:t>
            </a:r>
          </a:p>
          <a:p>
            <a:pPr marL="742950" lvl="1" indent="-285750">
              <a:buFont typeface="Arial" panose="020B0604020202020204" pitchFamily="34" charset="0"/>
              <a:buChar char="•"/>
            </a:pPr>
            <a:r>
              <a:rPr lang="en-US" sz="1800" dirty="0">
                <a:solidFill>
                  <a:schemeClr val="tx1"/>
                </a:solidFill>
              </a:rPr>
              <a:t>REACT : SYNERGIZING REASONING AND ACTING INLANGUAGE MODELS</a:t>
            </a:r>
          </a:p>
          <a:p>
            <a:pPr marL="742950" lvl="1" indent="-285750">
              <a:buFont typeface="Arial" panose="020B0604020202020204" pitchFamily="34" charset="0"/>
              <a:buChar char="•"/>
            </a:pPr>
            <a:r>
              <a:rPr lang="en-US" sz="1800" dirty="0">
                <a:solidFill>
                  <a:schemeClr val="tx1"/>
                </a:solidFill>
                <a:cs typeface="Calibri" pitchFamily="34" charset="-120"/>
              </a:rPr>
              <a:t>Teaching LLMs to Self-Debug</a:t>
            </a:r>
          </a:p>
          <a:p>
            <a:pPr marL="285750" indent="-285750">
              <a:buFont typeface="Arial" panose="020B0604020202020204" pitchFamily="34" charset="0"/>
              <a:buChar char="•"/>
            </a:pPr>
            <a:endParaRPr lang="en-IN" sz="1800" dirty="0">
              <a:solidFill>
                <a:schemeClr val="tx1"/>
              </a:solidFill>
            </a:endParaRPr>
          </a:p>
        </p:txBody>
      </p:sp>
      <p:sp>
        <p:nvSpPr>
          <p:cNvPr id="3" name="Title 2"/>
          <p:cNvSpPr>
            <a:spLocks noGrp="1"/>
          </p:cNvSpPr>
          <p:nvPr>
            <p:ph type="title"/>
          </p:nvPr>
        </p:nvSpPr>
        <p:spPr/>
        <p:txBody>
          <a:bodyPr/>
          <a:lstStyle/>
          <a:p>
            <a:r>
              <a:rPr lang="en-US" dirty="0"/>
              <a:t>References</a:t>
            </a:r>
            <a:endParaRPr lang="en-IN" dirty="0"/>
          </a:p>
        </p:txBody>
      </p:sp>
    </p:spTree>
    <p:extLst>
      <p:ext uri="{BB962C8B-B14F-4D97-AF65-F5344CB8AC3E}">
        <p14:creationId xmlns:p14="http://schemas.microsoft.com/office/powerpoint/2010/main" val="266576914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243</TotalTime>
  <Words>6297</Words>
  <Application>Microsoft Office PowerPoint</Application>
  <PresentationFormat>Widescreen</PresentationFormat>
  <Paragraphs>672</Paragraphs>
  <Slides>53</Slides>
  <Notes>27</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53</vt:i4>
      </vt:variant>
    </vt:vector>
  </HeadingPairs>
  <TitlesOfParts>
    <vt:vector size="68" baseType="lpstr">
      <vt:lpstr>anthropicSans</vt:lpstr>
      <vt:lpstr>anthropicSerif</vt:lpstr>
      <vt:lpstr>Arial</vt:lpstr>
      <vt:lpstr>Arial MT</vt:lpstr>
      <vt:lpstr>Calibri</vt:lpstr>
      <vt:lpstr>Cambria</vt:lpstr>
      <vt:lpstr>Consolas</vt:lpstr>
      <vt:lpstr>Courier New</vt:lpstr>
      <vt:lpstr>Georgia</vt:lpstr>
      <vt:lpstr>Montserrat</vt:lpstr>
      <vt:lpstr>Tahoma</vt:lpstr>
      <vt:lpstr>Times New Roman</vt:lpstr>
      <vt:lpstr>Wingdings</vt:lpstr>
      <vt:lpstr>1_Office Theme</vt:lpstr>
      <vt:lpstr>2_Office Theme</vt:lpstr>
      <vt:lpstr> Large Language Models for Gen AI</vt:lpstr>
      <vt:lpstr>PowerPoint Presentation</vt:lpstr>
      <vt:lpstr>Agenda</vt:lpstr>
      <vt:lpstr>Instruction prompting </vt:lpstr>
      <vt:lpstr>PowerPoint Presentation</vt:lpstr>
      <vt:lpstr>Zero-Shot vs Few-Shot Prompting</vt:lpstr>
      <vt:lpstr>In-Context Learning — What Is Actually Happening?</vt:lpstr>
      <vt:lpstr>Chat template</vt:lpstr>
      <vt:lpstr>apply_chat_template() - Local Model Inference</vt:lpstr>
      <vt:lpstr>chat_completion - API-Based Inference</vt:lpstr>
      <vt:lpstr>Delimiters</vt:lpstr>
      <vt:lpstr>Chain-of-Thought: Think Before Answering</vt:lpstr>
      <vt:lpstr>Zero-shot chain-of-thought</vt:lpstr>
      <vt:lpstr>Self-Consistency: Improving Outputs via Multiple Samplings</vt:lpstr>
      <vt:lpstr>Tree of Thought Prompting</vt:lpstr>
      <vt:lpstr>PowerPoint Presentation</vt:lpstr>
      <vt:lpstr>Prompt chaining</vt:lpstr>
      <vt:lpstr>Chain with Multiple Prompts</vt:lpstr>
      <vt:lpstr>LangChain chain</vt:lpstr>
      <vt:lpstr>Query Decomposition — Divide, Solve, Recombine</vt:lpstr>
      <vt:lpstr>Routing / Query Classification </vt:lpstr>
      <vt:lpstr> Function-calling</vt:lpstr>
      <vt:lpstr>Tools – Functionality We Give the LLM</vt:lpstr>
      <vt:lpstr>Tools – Functionality We Give the LLM</vt:lpstr>
      <vt:lpstr>Function-calling</vt:lpstr>
      <vt:lpstr>Function Calling Workflow </vt:lpstr>
      <vt:lpstr>Parallel function calling</vt:lpstr>
      <vt:lpstr>PowerPoint Presentation</vt:lpstr>
      <vt:lpstr>PowerPoint Presentation</vt:lpstr>
      <vt:lpstr>Iterative reasoning</vt:lpstr>
      <vt:lpstr>Structured Data Handling </vt:lpstr>
      <vt:lpstr>Handling Tables with LLMs</vt:lpstr>
      <vt:lpstr>PowerPoint Presentation</vt:lpstr>
      <vt:lpstr>PowerPoint Presentation</vt:lpstr>
      <vt:lpstr>PowerPoint Presentation</vt:lpstr>
      <vt:lpstr>PowerPoint Presentation</vt:lpstr>
      <vt:lpstr>PowerPoint Presentation</vt:lpstr>
      <vt:lpstr>Constrained decoding</vt:lpstr>
      <vt:lpstr>Grammar-Constrained Sampling </vt:lpstr>
      <vt:lpstr>Constrained decoding</vt:lpstr>
      <vt:lpstr>PowerPoint Presentation</vt:lpstr>
      <vt:lpstr>Automated Prompt Optimization </vt:lpstr>
      <vt:lpstr>PowerPoint Presentation</vt:lpstr>
      <vt:lpstr>PowerPoint Presentation</vt:lpstr>
      <vt:lpstr>Sample Question : Case study - Scenario</vt:lpstr>
      <vt:lpstr>Sample Question : Case study - Scenario</vt:lpstr>
      <vt:lpstr>Sample Question : Case study - Scenario</vt:lpstr>
      <vt:lpstr>Sample Question : Case study - Scenario</vt:lpstr>
      <vt:lpstr>Sample Question : Case study - Scenario</vt:lpstr>
      <vt:lpstr>Sample Question : Case study - Scenario</vt:lpstr>
      <vt:lpstr>Sample Question : Case study - Scenario</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Monali Mavani .</cp:lastModifiedBy>
  <cp:revision>4</cp:revision>
  <dcterms:created xsi:type="dcterms:W3CDTF">2026-06-29T10:39:53Z</dcterms:created>
  <dcterms:modified xsi:type="dcterms:W3CDTF">2026-07-03T11:14:32Z</dcterms:modified>
</cp:coreProperties>
</file>