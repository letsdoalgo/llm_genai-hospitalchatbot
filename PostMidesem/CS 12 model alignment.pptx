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720" r:id="rId2"/>
  </p:sldMasterIdLst>
  <p:notesMasterIdLst>
    <p:notesMasterId r:id="rId46"/>
  </p:notesMasterIdLst>
  <p:sldIdLst>
    <p:sldId id="408" r:id="rId3"/>
    <p:sldId id="409" r:id="rId4"/>
    <p:sldId id="410" r:id="rId5"/>
    <p:sldId id="625" r:id="rId6"/>
    <p:sldId id="678" r:id="rId7"/>
    <p:sldId id="679" r:id="rId8"/>
    <p:sldId id="680" r:id="rId9"/>
    <p:sldId id="681" r:id="rId10"/>
    <p:sldId id="682" r:id="rId11"/>
    <p:sldId id="256" r:id="rId12"/>
    <p:sldId id="600" r:id="rId13"/>
    <p:sldId id="601" r:id="rId14"/>
    <p:sldId id="267" r:id="rId15"/>
    <p:sldId id="604" r:id="rId16"/>
    <p:sldId id="683" r:id="rId17"/>
    <p:sldId id="684" r:id="rId18"/>
    <p:sldId id="685" r:id="rId19"/>
    <p:sldId id="688" r:id="rId20"/>
    <p:sldId id="689" r:id="rId21"/>
    <p:sldId id="657" r:id="rId22"/>
    <p:sldId id="691" r:id="rId23"/>
    <p:sldId id="692" r:id="rId24"/>
    <p:sldId id="674" r:id="rId25"/>
    <p:sldId id="693" r:id="rId26"/>
    <p:sldId id="696" r:id="rId27"/>
    <p:sldId id="695" r:id="rId28"/>
    <p:sldId id="670" r:id="rId29"/>
    <p:sldId id="642" r:id="rId30"/>
    <p:sldId id="687" r:id="rId31"/>
    <p:sldId id="702" r:id="rId32"/>
    <p:sldId id="705" r:id="rId33"/>
    <p:sldId id="258" r:id="rId34"/>
    <p:sldId id="636" r:id="rId35"/>
    <p:sldId id="699" r:id="rId36"/>
    <p:sldId id="638" r:id="rId37"/>
    <p:sldId id="639" r:id="rId38"/>
    <p:sldId id="701" r:id="rId39"/>
    <p:sldId id="292" r:id="rId40"/>
    <p:sldId id="293" r:id="rId41"/>
    <p:sldId id="294" r:id="rId42"/>
    <p:sldId id="296" r:id="rId43"/>
    <p:sldId id="297" r:id="rId44"/>
    <p:sldId id="570" r:id="rId45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04" autoAdjust="0"/>
  </p:normalViewPr>
  <p:slideViewPr>
    <p:cSldViewPr>
      <p:cViewPr varScale="1">
        <p:scale>
          <a:sx n="70" d="100"/>
          <a:sy n="70" d="100"/>
        </p:scale>
        <p:origin x="118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94E87-174E-4645-A1B4-6FD7F8DDC90E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72551D-67D7-44EA-BF0C-246838C0E9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22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72551D-67D7-44EA-BF0C-246838C0E90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923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72551D-67D7-44EA-BF0C-246838C0E90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245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72551D-67D7-44EA-BF0C-246838C0E90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339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72551D-67D7-44EA-BF0C-246838C0E90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2018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72551D-67D7-44EA-BF0C-246838C0E90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1072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72551D-67D7-44EA-BF0C-246838C0E902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5604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72551D-67D7-44EA-BF0C-246838C0E902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1362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72551D-67D7-44EA-BF0C-246838C0E902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6091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72551D-67D7-44EA-BF0C-246838C0E902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4039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72551D-67D7-44EA-BF0C-246838C0E902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5791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72551D-67D7-44EA-BF0C-246838C0E902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5108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72551D-67D7-44EA-BF0C-246838C0E902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2140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0242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6516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72551D-67D7-44EA-BF0C-246838C0E902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6887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72551D-67D7-44EA-BF0C-246838C0E902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2075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72551D-67D7-44EA-BF0C-246838C0E902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4192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1140" y="400303"/>
            <a:ext cx="270002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Pilani</a:t>
            </a:r>
            <a:r>
              <a:rPr spc="-30" dirty="0"/>
              <a:t> </a:t>
            </a:r>
            <a:r>
              <a:rPr spc="-10" dirty="0"/>
              <a:t>Campus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Pilani</a:t>
            </a:r>
            <a:r>
              <a:rPr spc="-30" dirty="0"/>
              <a:t> </a:t>
            </a:r>
            <a:r>
              <a:rPr spc="-10" dirty="0"/>
              <a:t>Campus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4"/>
            <a:ext cx="86106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160907" cy="1219200"/>
          </a:xfrm>
          <a:prstGeom prst="rect">
            <a:avLst/>
          </a:prstGeom>
        </p:spPr>
        <p:txBody>
          <a:bodyPr anchor="ctr"/>
          <a:lstStyle>
            <a:lvl1pPr algn="l">
              <a:defRPr sz="3600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1140" y="361315"/>
            <a:ext cx="4921250" cy="613028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Pilani</a:t>
            </a:r>
            <a:r>
              <a:rPr spc="-30" dirty="0"/>
              <a:t> </a:t>
            </a:r>
            <a:r>
              <a:rPr spc="-10" dirty="0"/>
              <a:t>Campus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9400" y="0"/>
            <a:ext cx="2193036" cy="69342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495800" y="65532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133600" y="6553200"/>
            <a:ext cx="2362200" cy="45720"/>
          </a:xfrm>
          <a:custGeom>
            <a:avLst/>
            <a:gdLst/>
            <a:ahLst/>
            <a:cxnLst/>
            <a:rect l="l" t="t" r="r" b="b"/>
            <a:pathLst>
              <a:path w="2362200" h="45720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815328" y="65532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362200" y="12954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1295400"/>
            <a:ext cx="2362200" cy="45720"/>
          </a:xfrm>
          <a:custGeom>
            <a:avLst/>
            <a:gdLst/>
            <a:ahLst/>
            <a:cxnLst/>
            <a:rect l="l" t="t" r="r" b="b"/>
            <a:pathLst>
              <a:path w="2362200" h="45719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681728" y="12954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1140" y="361315"/>
            <a:ext cx="4921250" cy="613028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Pilani</a:t>
            </a:r>
            <a:r>
              <a:rPr spc="-30" dirty="0"/>
              <a:t> </a:t>
            </a:r>
            <a:r>
              <a:rPr spc="-10" dirty="0"/>
              <a:t>Campus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895600" y="6096000"/>
            <a:ext cx="2895600" cy="76200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2895600" y="0"/>
                </a:moveTo>
                <a:lnTo>
                  <a:pt x="0" y="0"/>
                </a:lnTo>
                <a:lnTo>
                  <a:pt x="0" y="76200"/>
                </a:lnTo>
                <a:lnTo>
                  <a:pt x="2895600" y="76200"/>
                </a:lnTo>
                <a:lnTo>
                  <a:pt x="2895600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096000"/>
            <a:ext cx="2895600" cy="76200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2895600" y="0"/>
                </a:moveTo>
                <a:lnTo>
                  <a:pt x="0" y="0"/>
                </a:lnTo>
                <a:lnTo>
                  <a:pt x="0" y="76200"/>
                </a:lnTo>
                <a:lnTo>
                  <a:pt x="2895600" y="76200"/>
                </a:lnTo>
                <a:lnTo>
                  <a:pt x="28956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791200" y="6096000"/>
            <a:ext cx="2895600" cy="76200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2895600" y="0"/>
                </a:moveTo>
                <a:lnTo>
                  <a:pt x="0" y="0"/>
                </a:lnTo>
                <a:lnTo>
                  <a:pt x="0" y="76200"/>
                </a:lnTo>
                <a:lnTo>
                  <a:pt x="2895600" y="76200"/>
                </a:lnTo>
                <a:lnTo>
                  <a:pt x="2895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3352800"/>
            <a:ext cx="2057400" cy="197967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Pilani</a:t>
            </a:r>
            <a:r>
              <a:rPr spc="-3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3978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0044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9822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166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52604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4028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297515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9066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018986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1373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910096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382894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13883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452445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3594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70860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>
              <a:defRPr/>
            </a:pPr>
            <a:endParaRPr lang="en-US" sz="1013" kern="1200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41"/>
            <a:ext cx="82296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3"/>
            <a:ext cx="58674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 rtl="0">
              <a:defRPr/>
            </a:pPr>
            <a:r>
              <a:rPr lang="en-US" sz="619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619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5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2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6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95800" y="6363741"/>
            <a:ext cx="9144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10400" y="6101555"/>
            <a:ext cx="2133600" cy="36512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 kern="1200">
                <a:solidFill>
                  <a:prstClr val="black">
                    <a:tint val="75000"/>
                  </a:prstClr>
                </a:solidFill>
                <a:latin typeface="Tahoma" charset="0"/>
                <a:ea typeface="+mn-ea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kern="1200" dirty="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92276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>
              <a:defRPr/>
            </a:pPr>
            <a:endParaRPr lang="en-US" sz="1013" kern="1200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41"/>
            <a:ext cx="82296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3"/>
            <a:ext cx="58674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 rtl="0">
              <a:defRPr/>
            </a:pPr>
            <a:r>
              <a:rPr lang="en-US" sz="619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619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5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2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6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95800" y="6363741"/>
            <a:ext cx="9144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10400" y="6101555"/>
            <a:ext cx="2133600" cy="36512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 kern="1200">
                <a:solidFill>
                  <a:prstClr val="black">
                    <a:tint val="75000"/>
                  </a:prstClr>
                </a:solidFill>
                <a:latin typeface="Tahoma" charset="0"/>
                <a:ea typeface="+mn-ea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kern="1200" dirty="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05312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>
              <a:defRPr/>
            </a:pPr>
            <a:endParaRPr lang="en-US" sz="1013" kern="1200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41"/>
            <a:ext cx="82296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3"/>
            <a:ext cx="58674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 rtl="0">
              <a:defRPr/>
            </a:pPr>
            <a:r>
              <a:rPr lang="en-US" sz="619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619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5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2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6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95800" y="6363741"/>
            <a:ext cx="9144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10400" y="6101555"/>
            <a:ext cx="2133600" cy="36512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 kern="1200">
                <a:solidFill>
                  <a:prstClr val="black">
                    <a:tint val="75000"/>
                  </a:prstClr>
                </a:solidFill>
                <a:latin typeface="Tahoma" charset="0"/>
                <a:ea typeface="+mn-ea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kern="1200" dirty="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02382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>
              <a:defRPr/>
            </a:pPr>
            <a:endParaRPr lang="en-US" sz="1013" kern="1200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41"/>
            <a:ext cx="82296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3"/>
            <a:ext cx="58674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 rtl="0">
              <a:defRPr/>
            </a:pPr>
            <a:r>
              <a:rPr lang="en-US" sz="619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619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5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2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6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95800" y="6363741"/>
            <a:ext cx="9144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10400" y="6101555"/>
            <a:ext cx="2133600" cy="36512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 kern="1200">
                <a:solidFill>
                  <a:prstClr val="black">
                    <a:tint val="75000"/>
                  </a:prstClr>
                </a:solidFill>
                <a:latin typeface="Tahoma" charset="0"/>
                <a:ea typeface="+mn-ea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kern="1200" dirty="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39289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>
              <a:defRPr/>
            </a:pPr>
            <a:endParaRPr lang="en-US" sz="1013" kern="1200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41"/>
            <a:ext cx="82296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3"/>
            <a:ext cx="58674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 rtl="0">
              <a:defRPr/>
            </a:pPr>
            <a:r>
              <a:rPr lang="en-US" sz="619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619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5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2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6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95800" y="6363741"/>
            <a:ext cx="9144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10400" y="6101555"/>
            <a:ext cx="2133600" cy="36512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 kern="1200">
                <a:solidFill>
                  <a:prstClr val="black">
                    <a:tint val="75000"/>
                  </a:prstClr>
                </a:solidFill>
                <a:latin typeface="Tahoma" charset="0"/>
                <a:ea typeface="+mn-ea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kern="1200" dirty="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30090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>
              <a:defRPr/>
            </a:pPr>
            <a:endParaRPr lang="en-US" sz="1013" kern="1200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41"/>
            <a:ext cx="82296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3"/>
            <a:ext cx="58674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 rtl="0">
              <a:defRPr/>
            </a:pPr>
            <a:r>
              <a:rPr lang="en-US" sz="619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619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5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2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6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95800" y="6363741"/>
            <a:ext cx="9144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10400" y="6101555"/>
            <a:ext cx="2133600" cy="36512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 kern="1200">
                <a:solidFill>
                  <a:prstClr val="black">
                    <a:tint val="75000"/>
                  </a:prstClr>
                </a:solidFill>
                <a:latin typeface="Tahoma" charset="0"/>
                <a:ea typeface="+mn-ea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kern="1200" dirty="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19256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1" kern="1200" dirty="0">
                <a:solidFill>
                  <a:srgbClr val="101141"/>
                </a:solidFill>
                <a:ea typeface="+mn-ea"/>
                <a:cs typeface="Arial" panose="020B0604020202020204" pitchFamily="34" charset="0"/>
              </a:rPr>
              <a:t>BITS </a:t>
            </a:r>
            <a:r>
              <a:rPr lang="en-US" sz="1100" kern="1200" dirty="0" err="1">
                <a:solidFill>
                  <a:srgbClr val="101141"/>
                </a:solidFill>
                <a:ea typeface="+mn-ea"/>
                <a:cs typeface="Arial" panose="020B0604020202020204" pitchFamily="34" charset="0"/>
              </a:rPr>
              <a:t>Pilani</a:t>
            </a:r>
            <a:endParaRPr lang="en-US" sz="1100" kern="1200" dirty="0">
              <a:solidFill>
                <a:srgbClr val="101141"/>
              </a:solidFill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 kern="1200" dirty="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3"/>
          </p:nvPr>
        </p:nvSpPr>
        <p:spPr>
          <a:xfrm>
            <a:off x="3086100" y="642461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DB1C2494-8932-4549-9EEA-B787E7A0F253}" type="slidenum">
              <a:rPr lang="en-US" sz="1600" kern="1200" smtClean="0">
                <a:latin typeface="Tahoma" charset="0"/>
                <a:ea typeface="+mn-ea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600" kern="1200" dirty="0"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34731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87330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848228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0198124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69258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12904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377602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9209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11579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836541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1920526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0" spc="-150" baseline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43212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 rtl="0"/>
            <a:fld id="{00000000-1234-1234-1234-123412341234}" type="slidenum">
              <a:rPr lang="en" smtClean="0"/>
              <a:pPr algn="r" rtl="0"/>
              <a:t>‹#›</a:t>
            </a:fld>
            <a:endParaRPr lang="en"/>
          </a:p>
        </p:txBody>
      </p:sp>
      <p:pic>
        <p:nvPicPr>
          <p:cNvPr id="22" name="Google Shape;22;p4"/>
          <p:cNvPicPr preferRelativeResize="0"/>
          <p:nvPr/>
        </p:nvPicPr>
        <p:blipFill rotWithShape="1">
          <a:blip r:embed="rId2">
            <a:alphaModFix amt="24000"/>
          </a:blip>
          <a:srcRect b="93593"/>
          <a:stretch/>
        </p:blipFill>
        <p:spPr>
          <a:xfrm>
            <a:off x="1" y="6594464"/>
            <a:ext cx="9144003" cy="2635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483857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54A0AA2-B636-401F-B58B-6DF5349EBC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20" y="142826"/>
            <a:ext cx="8085415" cy="1143389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</a:t>
            </a:r>
            <a:r>
              <a:rPr lang="en-US" noProof="0"/>
              <a:t>add title</a:t>
            </a:r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414BC9-864B-4D63-BFF5-8A26BC6E5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1287499"/>
            <a:ext cx="778180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Bullets">
            <a:extLst>
              <a:ext uri="{FF2B5EF4-FFF2-40B4-BE49-F238E27FC236}">
                <a16:creationId xmlns:a16="http://schemas.microsoft.com/office/drawing/2014/main" id="{489A78E5-4DD4-4398-92E6-73293FB04D0D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33920" y="1854201"/>
            <a:ext cx="8085415" cy="4103431"/>
          </a:xfrm>
          <a:prstGeom prst="rect">
            <a:avLst/>
          </a:prstGeom>
        </p:spPr>
        <p:txBody>
          <a:bodyPr>
            <a:noAutofit/>
          </a:bodyPr>
          <a:lstStyle>
            <a:lvl1pPr marL="230188" indent="-230188">
              <a:spcBef>
                <a:spcPts val="750"/>
              </a:spcBef>
              <a:buClr>
                <a:srgbClr val="092C74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71500" indent="-228600">
              <a:buClr>
                <a:srgbClr val="092C74"/>
              </a:buClr>
              <a:buFont typeface="Courier New" panose="02070309020205020404" pitchFamily="49" charset="0"/>
              <a:buChar char="o"/>
              <a:defRPr sz="1600"/>
            </a:lvl2pPr>
            <a:lvl3pPr marL="914400" indent="-228600">
              <a:buClr>
                <a:srgbClr val="092C74"/>
              </a:buClr>
              <a:defRPr sz="1600"/>
            </a:lvl3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pic>
        <p:nvPicPr>
          <p:cNvPr id="8" name="WSE logo">
            <a:extLst>
              <a:ext uri="{FF2B5EF4-FFF2-40B4-BE49-F238E27FC236}">
                <a16:creationId xmlns:a16="http://schemas.microsoft.com/office/drawing/2014/main" id="{5F712F24-2ADD-4B4F-B20F-5AF8A0644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3" y="6407120"/>
            <a:ext cx="1033031" cy="381160"/>
          </a:xfrm>
          <a:prstGeom prst="rect">
            <a:avLst/>
          </a:prstGeom>
        </p:spPr>
      </p:pic>
      <p:sp>
        <p:nvSpPr>
          <p:cNvPr id="7" name="Page Number">
            <a:extLst>
              <a:ext uri="{FF2B5EF4-FFF2-40B4-BE49-F238E27FC236}">
                <a16:creationId xmlns:a16="http://schemas.microsoft.com/office/drawing/2014/main" id="{A10FF969-5C1A-4F23-A07F-2B9FBF69C84B}"/>
              </a:ext>
            </a:extLst>
          </p:cNvPr>
          <p:cNvSpPr txBox="1"/>
          <p:nvPr userDrawn="1"/>
        </p:nvSpPr>
        <p:spPr>
          <a:xfrm>
            <a:off x="7891462" y="6480226"/>
            <a:ext cx="795338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83">
              <a:defRPr/>
            </a:pPr>
            <a:r>
              <a:rPr lang="en-US" sz="1000" b="0" i="0" baseline="0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                </a:t>
            </a:r>
            <a:fld id="{F2C1E792-EDA4-4DC5-8412-A2C2E5D30ADF}" type="slidenum">
              <a:rPr lang="en-US" sz="1000" b="0" i="0" baseline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pPr algn="r" defTabSz="685783">
                <a:defRPr/>
              </a:pPr>
              <a:t>‹#›</a:t>
            </a:fld>
            <a:endParaRPr lang="en-US" sz="1000" b="0" i="0" baseline="0" dirty="0">
              <a:solidFill>
                <a:schemeClr val="tx1"/>
              </a:solidFill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9815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466702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6673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53439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86323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3150"/>
              </a:lnSpc>
              <a:spcBef>
                <a:spcPts val="0"/>
              </a:spcBef>
              <a:buNone/>
              <a:defRPr sz="30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3408372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0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100"/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2"/>
            <a:ext cx="4038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100"/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293024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201"/>
            <a:ext cx="4040188" cy="376396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2"/>
            <a:ext cx="4041775" cy="82708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362201"/>
            <a:ext cx="4041775" cy="376396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7239681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879406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2"/>
            <a:ext cx="5111750" cy="452596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600202"/>
            <a:ext cx="3008313" cy="45259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210085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35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6314100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469036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5006182" y="2567783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7937" y="381002"/>
            <a:ext cx="692151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94793" y="3826196"/>
            <a:ext cx="5867400" cy="19620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7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67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2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066062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10130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60CB459-1A4D-47F4-A8EE-5438035C956C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7/24/2026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0DB935C-A2BB-404C-A6C5-67E9068028EC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376328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Pilani</a:t>
            </a:r>
            <a:r>
              <a:rPr spc="-30" dirty="0"/>
              <a:t> </a:t>
            </a:r>
            <a:r>
              <a:rPr spc="-10" dirty="0"/>
              <a:t>Campus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4"/>
            <a:ext cx="86106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160907" cy="1219200"/>
          </a:xfrm>
          <a:prstGeom prst="rect">
            <a:avLst/>
          </a:prstGeom>
        </p:spPr>
        <p:txBody>
          <a:bodyPr anchor="ctr"/>
          <a:lstStyle>
            <a:lvl1pPr algn="l">
              <a:defRPr sz="3600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822982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04718" y="435270"/>
            <a:ext cx="4334562" cy="543226"/>
          </a:xfrm>
        </p:spPr>
        <p:txBody>
          <a:bodyPr lIns="0" tIns="0" rIns="0" bIns="0"/>
          <a:lstStyle>
            <a:lvl1pPr>
              <a:defRPr sz="3530" b="1" i="0">
                <a:solidFill>
                  <a:srgbClr val="0000C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069" y="1559555"/>
            <a:ext cx="3872923" cy="896271"/>
          </a:xfrm>
        </p:spPr>
        <p:txBody>
          <a:bodyPr lIns="0" tIns="0" rIns="0" bIns="0"/>
          <a:lstStyle>
            <a:lvl1pPr>
              <a:defRPr sz="5824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9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206">
              <a:lnSpc>
                <a:spcPts val="1094"/>
              </a:lnSpc>
            </a:pPr>
            <a:r>
              <a:rPr lang="en-IN"/>
              <a:t>1</a:t>
            </a:r>
            <a:fld id="{81D60167-4931-47E6-BA6A-407CBD079E47}" type="slidenum">
              <a:rPr smtClean="0"/>
              <a:pPr marL="11206">
                <a:lnSpc>
                  <a:spcPts val="1094"/>
                </a:lnSpc>
              </a:pPr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7461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jp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631436" y="6550152"/>
            <a:ext cx="2329180" cy="48895"/>
          </a:xfrm>
          <a:custGeom>
            <a:avLst/>
            <a:gdLst/>
            <a:ahLst/>
            <a:cxnLst/>
            <a:rect l="l" t="t" r="r" b="b"/>
            <a:pathLst>
              <a:path w="2329179" h="48895">
                <a:moveTo>
                  <a:pt x="2328671" y="0"/>
                </a:moveTo>
                <a:lnTo>
                  <a:pt x="0" y="0"/>
                </a:lnTo>
                <a:lnTo>
                  <a:pt x="0" y="48768"/>
                </a:lnTo>
                <a:lnTo>
                  <a:pt x="2328671" y="48768"/>
                </a:lnTo>
                <a:lnTo>
                  <a:pt x="2328671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908291" y="6550152"/>
            <a:ext cx="2235835" cy="45720"/>
          </a:xfrm>
          <a:custGeom>
            <a:avLst/>
            <a:gdLst/>
            <a:ahLst/>
            <a:cxnLst/>
            <a:rect l="l" t="t" r="r" b="b"/>
            <a:pathLst>
              <a:path w="2235834" h="45720">
                <a:moveTo>
                  <a:pt x="2235707" y="0"/>
                </a:moveTo>
                <a:lnTo>
                  <a:pt x="0" y="0"/>
                </a:lnTo>
                <a:lnTo>
                  <a:pt x="0" y="45720"/>
                </a:lnTo>
                <a:lnTo>
                  <a:pt x="2235707" y="45720"/>
                </a:lnTo>
                <a:lnTo>
                  <a:pt x="2235707" y="0"/>
                </a:lnTo>
                <a:close/>
              </a:path>
            </a:pathLst>
          </a:custGeom>
          <a:solidFill>
            <a:srgbClr val="E2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084832" y="6550152"/>
            <a:ext cx="2580640" cy="48895"/>
          </a:xfrm>
          <a:custGeom>
            <a:avLst/>
            <a:gdLst/>
            <a:ahLst/>
            <a:cxnLst/>
            <a:rect l="l" t="t" r="r" b="b"/>
            <a:pathLst>
              <a:path w="2580640" h="48895">
                <a:moveTo>
                  <a:pt x="2580132" y="0"/>
                </a:moveTo>
                <a:lnTo>
                  <a:pt x="0" y="0"/>
                </a:lnTo>
                <a:lnTo>
                  <a:pt x="0" y="48768"/>
                </a:lnTo>
                <a:lnTo>
                  <a:pt x="2580132" y="48768"/>
                </a:lnTo>
                <a:lnTo>
                  <a:pt x="2580132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495800" y="65532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133600" y="6553200"/>
            <a:ext cx="2362200" cy="45720"/>
          </a:xfrm>
          <a:custGeom>
            <a:avLst/>
            <a:gdLst/>
            <a:ahLst/>
            <a:cxnLst/>
            <a:rect l="l" t="t" r="r" b="b"/>
            <a:pathLst>
              <a:path w="2362200" h="45720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6815328" y="65532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6629400" y="0"/>
            <a:ext cx="2194559" cy="691896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2362200" y="12954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0" y="1295400"/>
            <a:ext cx="2362200" cy="45720"/>
          </a:xfrm>
          <a:custGeom>
            <a:avLst/>
            <a:gdLst/>
            <a:ahLst/>
            <a:cxnLst/>
            <a:rect l="l" t="t" r="r" b="b"/>
            <a:pathLst>
              <a:path w="2362200" h="45719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681728" y="12954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173990" y="32162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304800" y="1676400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84" r:id="rId7"/>
    <p:sldLayoutId id="2147483685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5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2" r:id="rId23"/>
    <p:sldLayoutId id="2147483703" r:id="rId24"/>
    <p:sldLayoutId id="2147483704" r:id="rId25"/>
    <p:sldLayoutId id="2147483705" r:id="rId26"/>
    <p:sldLayoutId id="2147483706" r:id="rId27"/>
    <p:sldLayoutId id="2147483707" r:id="rId28"/>
    <p:sldLayoutId id="2147483708" r:id="rId29"/>
    <p:sldLayoutId id="2147483709" r:id="rId30"/>
    <p:sldLayoutId id="2147483711" r:id="rId31"/>
    <p:sldLayoutId id="2147483712" r:id="rId32"/>
    <p:sldLayoutId id="2147483713" r:id="rId33"/>
    <p:sldLayoutId id="2147483714" r:id="rId34"/>
    <p:sldLayoutId id="2147483715" r:id="rId35"/>
    <p:sldLayoutId id="2147483717" r:id="rId36"/>
    <p:sldLayoutId id="2147483718" r:id="rId37"/>
    <p:sldLayoutId id="2147483719" r:id="rId38"/>
    <p:sldLayoutId id="2147483737" r:id="rId39"/>
    <p:sldLayoutId id="2147483738" r:id="rId40"/>
    <p:sldLayoutId id="2147483739" r:id="rId41"/>
  </p:sldLayoutIdLst>
  <p:txStyles>
    <p:titleStyle>
      <a:lvl1pPr>
        <a:defRPr sz="3600">
          <a:latin typeface="Cambria" panose="02040503050406030204" pitchFamily="18" charset="0"/>
          <a:ea typeface="Cambria" panose="02040503050406030204" pitchFamily="18" charset="0"/>
          <a:cs typeface="+mj-cs"/>
        </a:defRPr>
      </a:lvl1pPr>
    </p:titleStyle>
    <p:bodyStyle>
      <a:lvl1pPr marL="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1pPr>
      <a:lvl2pPr marL="45720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2pPr>
      <a:lvl3pPr marL="91440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3pPr>
      <a:lvl4pPr marL="137160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4pPr>
      <a:lvl5pPr marL="182880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fld id="{DAE0A98B-91D6-4D0A-A390-AF26B360F87A}" type="datetime1">
              <a:rPr lang="en-US" kern="1200">
                <a:solidFill>
                  <a:prstClr val="black">
                    <a:tint val="75000"/>
                  </a:prstClr>
                </a:solidFill>
                <a:ea typeface="+mn-ea"/>
              </a:rPr>
              <a:pPr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t>7/24/2026</a:t>
            </a:fld>
            <a:endParaRPr lang="en-US" kern="1200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kern="1200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fld id="{60DB935C-A2BB-404C-A6C5-67E9068028EC}" type="slidenum">
              <a:rPr lang="en-US" kern="1200">
                <a:solidFill>
                  <a:prstClr val="black">
                    <a:tint val="75000"/>
                  </a:prstClr>
                </a:solidFill>
                <a:ea typeface="+mn-ea"/>
              </a:rPr>
              <a:pPr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50106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5" r:id="rId14"/>
    <p:sldLayoutId id="2147483736" r:id="rId15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000" b="1" kern="1200" spc="-113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abs/2203.02155" TargetMode="Externa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g"/><Relationship Id="rId5" Type="http://schemas.openxmlformats.org/officeDocument/2006/relationships/hyperlink" Target="https://arxiv.org/abs/2203.02155" TargetMode="Externa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1707.06347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1707.06347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jpg"/><Relationship Id="rId4" Type="http://schemas.openxmlformats.org/officeDocument/2006/relationships/hyperlink" Target="https://arxiv.org/abs/1707.06347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2.03300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blog/deep-rl-ppo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914650" y="3714750"/>
            <a:ext cx="462915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for Gen AI</a:t>
            </a:r>
          </a:p>
        </p:txBody>
      </p:sp>
      <p:sp>
        <p:nvSpPr>
          <p:cNvPr id="14339" name="Content Placehold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z="1500" i="1" dirty="0"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sz="1500" i="1" dirty="0" err="1">
                <a:latin typeface="Times New Roman" pitchFamily="18" charset="0"/>
                <a:cs typeface="Times New Roman" pitchFamily="18" charset="0"/>
              </a:rPr>
              <a:t>Monali</a:t>
            </a:r>
            <a:r>
              <a:rPr lang="en-US" sz="15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i="1" dirty="0" err="1">
                <a:latin typeface="Times New Roman" pitchFamily="18" charset="0"/>
                <a:cs typeface="Times New Roman" pitchFamily="18" charset="0"/>
              </a:rPr>
              <a:t>Mavani</a:t>
            </a:r>
            <a:endParaRPr lang="en-US" sz="1500" i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9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34786" y="4133140"/>
            <a:ext cx="6777644" cy="848137"/>
          </a:xfrm>
          <a:prstGeom prst="rect">
            <a:avLst/>
          </a:prstGeom>
        </p:spPr>
        <p:txBody>
          <a:bodyPr vert="horz" wrap="square" lIns="0" tIns="24595" rIns="0" bIns="0" rtlCol="0">
            <a:spAutoFit/>
          </a:bodyPr>
          <a:lstStyle/>
          <a:p>
            <a:pPr marL="99961" marR="29325" indent="-93969" algn="l" rtl="0" fontAlgn="base">
              <a:lnSpc>
                <a:spcPts val="1153"/>
              </a:lnSpc>
              <a:spcBef>
                <a:spcPts val="194"/>
              </a:spcBef>
              <a:spcAft>
                <a:spcPct val="0"/>
              </a:spcAft>
              <a:buFont typeface="Arial MT"/>
              <a:buChar char="•"/>
              <a:tabLst>
                <a:tab pos="100276" algn="l"/>
              </a:tabLst>
            </a:pP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 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content </a:t>
            </a:r>
            <a:r>
              <a:rPr sz="1200" kern="1200" spc="-1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for 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these slides has been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obtained 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from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books 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various other </a:t>
            </a:r>
            <a:r>
              <a:rPr sz="1200" kern="1200" spc="-236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source</a:t>
            </a:r>
            <a:r>
              <a:rPr sz="1200" kern="1200" spc="-1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on the 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Internet</a:t>
            </a:r>
            <a:endParaRPr sz="1200" kern="12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99961" indent="-93969" algn="l" rtl="0" fontAlgn="base">
              <a:spcBef>
                <a:spcPts val="258"/>
              </a:spcBef>
              <a:spcAft>
                <a:spcPct val="0"/>
              </a:spcAft>
              <a:buFont typeface="Arial MT"/>
              <a:buChar char="•"/>
              <a:tabLst>
                <a:tab pos="100276" algn="l"/>
              </a:tabLst>
            </a:pP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</a:t>
            </a:r>
            <a:r>
              <a:rPr sz="1200" kern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here</a:t>
            </a:r>
            <a:r>
              <a:rPr sz="1200" kern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by</a:t>
            </a:r>
            <a:r>
              <a:rPr sz="1200" kern="1200" spc="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acknowledge</a:t>
            </a:r>
            <a:r>
              <a:rPr sz="1200" kern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all</a:t>
            </a:r>
            <a:r>
              <a:rPr sz="1200" kern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</a:t>
            </a:r>
            <a:r>
              <a:rPr sz="1200" kern="1200" spc="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contributors</a:t>
            </a:r>
            <a:r>
              <a:rPr sz="1200" kern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1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for</a:t>
            </a:r>
            <a:r>
              <a:rPr sz="1200" kern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their</a:t>
            </a:r>
            <a:r>
              <a:rPr sz="1200" kern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material</a:t>
            </a:r>
            <a:r>
              <a:rPr sz="1200" kern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</a:t>
            </a:r>
            <a:r>
              <a:rPr sz="1200" kern="1200" spc="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inputs.</a:t>
            </a:r>
            <a:endParaRPr sz="1200" kern="12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99961" indent="-93969" algn="l" rtl="0" fontAlgn="base">
              <a:spcBef>
                <a:spcPts val="281"/>
              </a:spcBef>
              <a:spcAft>
                <a:spcPct val="0"/>
              </a:spcAft>
              <a:buFont typeface="Arial MT"/>
              <a:buChar char="•"/>
              <a:tabLst>
                <a:tab pos="100276" algn="l"/>
              </a:tabLst>
            </a:pP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 </a:t>
            </a:r>
            <a:r>
              <a:rPr sz="1200" kern="1200" spc="-1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have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provided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source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information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wherever 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necessary</a:t>
            </a:r>
            <a:endParaRPr sz="1200" kern="12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99961" indent="-93969" algn="l" rtl="0" fontAlgn="base">
              <a:spcBef>
                <a:spcPts val="281"/>
              </a:spcBef>
              <a:spcAft>
                <a:spcPct val="0"/>
              </a:spcAft>
              <a:buFont typeface="Arial MT"/>
              <a:buChar char="•"/>
              <a:tabLst>
                <a:tab pos="100276" algn="l"/>
              </a:tabLst>
            </a:pP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 </a:t>
            </a:r>
            <a:r>
              <a:rPr sz="1200" kern="1200" spc="-1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have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added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modified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content to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suit the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requirements</a:t>
            </a:r>
            <a:r>
              <a:rPr sz="1200" kern="1200" spc="-1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of the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course</a:t>
            </a:r>
            <a:endParaRPr sz="1200" kern="12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43389" y="2171701"/>
            <a:ext cx="4274196" cy="233216"/>
          </a:xfrm>
          <a:prstGeom prst="rect">
            <a:avLst/>
          </a:prstGeom>
        </p:spPr>
        <p:txBody>
          <a:bodyPr vert="horz" wrap="square" lIns="0" tIns="7568" rIns="0" bIns="0" rtlCol="0">
            <a:spAutoFit/>
          </a:bodyPr>
          <a:lstStyle/>
          <a:p>
            <a:pPr marL="6306" algn="l" rtl="0" fontAlgn="base">
              <a:spcBef>
                <a:spcPts val="59"/>
              </a:spcBef>
              <a:spcAft>
                <a:spcPct val="0"/>
              </a:spcAft>
            </a:pPr>
            <a:r>
              <a:rPr sz="1466" kern="1200" spc="-8" dirty="0">
                <a:solidFill>
                  <a:srgbClr val="1C15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Disclaimer</a:t>
            </a:r>
            <a:r>
              <a:rPr sz="1466" kern="1200" spc="-35" dirty="0">
                <a:solidFill>
                  <a:srgbClr val="1C15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 </a:t>
            </a:r>
            <a:r>
              <a:rPr sz="1466" kern="1200" spc="-5" dirty="0">
                <a:solidFill>
                  <a:srgbClr val="1C15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and</a:t>
            </a:r>
            <a:r>
              <a:rPr sz="1466" kern="1200" spc="-35" dirty="0">
                <a:solidFill>
                  <a:srgbClr val="1C15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 </a:t>
            </a:r>
            <a:r>
              <a:rPr sz="1466" kern="1200" spc="-12" dirty="0">
                <a:solidFill>
                  <a:srgbClr val="1C15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Acknowledgement</a:t>
            </a:r>
            <a:endParaRPr sz="1466" kern="12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 Ligh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6597" y="2823275"/>
            <a:ext cx="815403" cy="89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285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7463" y="1524000"/>
            <a:ext cx="8229600" cy="452596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IN" sz="2800" spc="-1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spc="-1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ctr">
            <a:normAutofit fontScale="97500"/>
          </a:bodyPr>
          <a:lstStyle/>
          <a:p>
            <a:r>
              <a:rPr lang="en-US" sz="3600" b="0" dirty="0"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Session Agenda</a:t>
            </a:r>
            <a:endParaRPr lang="en-IN" sz="3600" b="0" dirty="0"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DAE25A65-091A-BB4D-BD2F-B0842C5A69A8}"/>
              </a:ext>
            </a:extLst>
          </p:cNvPr>
          <p:cNvSpPr txBox="1">
            <a:spLocks/>
          </p:cNvSpPr>
          <p:nvPr/>
        </p:nvSpPr>
        <p:spPr bwMode="auto">
          <a:xfrm>
            <a:off x="36963" y="1523999"/>
            <a:ext cx="8610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0" indent="-257175" algn="l" rtl="0" fontAlgn="base">
              <a:lnSpc>
                <a:spcPts val="2700"/>
              </a:lnSpc>
              <a:spcBef>
                <a:spcPts val="0"/>
              </a:spcBef>
              <a:spcAft>
                <a:spcPct val="0"/>
              </a:spcAft>
              <a:buFont typeface="Arial" charset="0"/>
              <a:buNone/>
              <a:defRPr sz="2700" b="1" kern="1200" spc="-113" baseline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57213" indent="-214313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1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857250" indent="-1714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200150" indent="-1714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5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543050" indent="-1714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5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>
              <a:spcBef>
                <a:spcPct val="20000"/>
              </a:spcBef>
              <a:buFont typeface="Arial" charset="0"/>
              <a:buChar char="•"/>
            </a:pPr>
            <a:r>
              <a:rPr lang="en-IN" sz="2400" b="0" dirty="0">
                <a:latin typeface="Cambria" panose="02040503050406030204" pitchFamily="18" charset="0"/>
                <a:ea typeface="Cambria" panose="02040503050406030204" pitchFamily="18" charset="0"/>
              </a:rPr>
              <a:t>Preference-Tuning</a:t>
            </a:r>
          </a:p>
          <a:p>
            <a:pPr marL="257175">
              <a:spcBef>
                <a:spcPct val="20000"/>
              </a:spcBef>
              <a:buFont typeface="Arial" charset="0"/>
              <a:buChar char="•"/>
            </a:pPr>
            <a:r>
              <a:rPr lang="en-US" sz="2400" b="0" dirty="0">
                <a:latin typeface="Cambria" panose="02040503050406030204" pitchFamily="18" charset="0"/>
                <a:ea typeface="Cambria" panose="02040503050406030204" pitchFamily="18" charset="0"/>
              </a:rPr>
              <a:t>LLM Preference Data</a:t>
            </a:r>
          </a:p>
          <a:p>
            <a:pPr marL="257175">
              <a:spcBef>
                <a:spcPct val="20000"/>
              </a:spcBef>
              <a:buFont typeface="Arial" charset="0"/>
              <a:buChar char="•"/>
            </a:pPr>
            <a:r>
              <a:rPr lang="en-US" sz="2400" b="0" dirty="0">
                <a:latin typeface="Cambria" panose="02040503050406030204" pitchFamily="18" charset="0"/>
                <a:ea typeface="Cambria" panose="02040503050406030204" pitchFamily="18" charset="0"/>
              </a:rPr>
              <a:t>Reward Models</a:t>
            </a:r>
          </a:p>
          <a:p>
            <a:pPr marL="257175">
              <a:spcBef>
                <a:spcPct val="20000"/>
              </a:spcBef>
              <a:buFont typeface="Arial" charset="0"/>
              <a:buChar char="•"/>
            </a:pPr>
            <a:r>
              <a:rPr lang="en-IN" sz="2400" b="0" dirty="0" err="1">
                <a:latin typeface="Cambria" panose="02040503050406030204" pitchFamily="18" charset="0"/>
                <a:ea typeface="Cambria" panose="02040503050406030204" pitchFamily="18" charset="0"/>
              </a:rPr>
              <a:t>Modeling</a:t>
            </a:r>
            <a:r>
              <a:rPr lang="en-IN" sz="2400" b="0" dirty="0">
                <a:latin typeface="Cambria" panose="02040503050406030204" pitchFamily="18" charset="0"/>
                <a:ea typeface="Cambria" panose="02040503050406030204" pitchFamily="18" charset="0"/>
              </a:rPr>
              <a:t> Preferences - </a:t>
            </a:r>
            <a:r>
              <a:rPr lang="en-US" sz="2400" b="0" dirty="0">
                <a:latin typeface="Cambria" panose="02040503050406030204" pitchFamily="18" charset="0"/>
                <a:ea typeface="Cambria" panose="02040503050406030204" pitchFamily="18" charset="0"/>
              </a:rPr>
              <a:t>Bradley-Terry (BT) model </a:t>
            </a:r>
          </a:p>
          <a:p>
            <a:pPr marL="257175">
              <a:spcBef>
                <a:spcPct val="20000"/>
              </a:spcBef>
              <a:buFont typeface="Arial" charset="0"/>
              <a:buChar char="•"/>
            </a:pPr>
            <a:r>
              <a:rPr lang="en-US" sz="2400" b="0" dirty="0">
                <a:latin typeface="Cambria" panose="02040503050406030204" pitchFamily="18" charset="0"/>
                <a:ea typeface="Cambria" panose="02040503050406030204" pitchFamily="18" charset="0"/>
              </a:rPr>
              <a:t>RLHF for preference tuning</a:t>
            </a:r>
          </a:p>
          <a:p>
            <a:pPr marL="257175">
              <a:spcBef>
                <a:spcPct val="20000"/>
              </a:spcBef>
              <a:buFont typeface="Arial" charset="0"/>
              <a:buChar char="•"/>
            </a:pPr>
            <a:r>
              <a:rPr lang="en-US" sz="2400" b="0" dirty="0">
                <a:latin typeface="Cambria" panose="02040503050406030204" pitchFamily="18" charset="0"/>
                <a:ea typeface="Cambria" panose="02040503050406030204" pitchFamily="18" charset="0"/>
              </a:rPr>
              <a:t>PPO-Proximal Policy Optimization</a:t>
            </a:r>
          </a:p>
          <a:p>
            <a:pPr marL="257175">
              <a:spcBef>
                <a:spcPct val="20000"/>
              </a:spcBef>
              <a:buFont typeface="Arial" charset="0"/>
              <a:buChar char="•"/>
            </a:pPr>
            <a:r>
              <a:rPr lang="en-US" sz="2400" b="0" dirty="0">
                <a:latin typeface="Cambria" panose="02040503050406030204" pitchFamily="18" charset="0"/>
                <a:ea typeface="Cambria" panose="02040503050406030204" pitchFamily="18" charset="0"/>
              </a:rPr>
              <a:t>GRPO – Group Relative </a:t>
            </a:r>
            <a:r>
              <a:rPr lang="en-US" sz="2400" b="0" spc="-25" dirty="0">
                <a:solidFill>
                  <a:srgbClr val="202729"/>
                </a:solidFill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Policy</a:t>
            </a:r>
            <a:r>
              <a:rPr lang="en-US" sz="2400" b="0" spc="-120" dirty="0">
                <a:solidFill>
                  <a:srgbClr val="202729"/>
                </a:solidFill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lang="en-US" sz="2400" b="0" spc="-60" dirty="0">
                <a:solidFill>
                  <a:srgbClr val="202729"/>
                </a:solidFill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Optimization</a:t>
            </a:r>
          </a:p>
          <a:p>
            <a:pPr marL="257175">
              <a:spcBef>
                <a:spcPct val="20000"/>
              </a:spcBef>
              <a:buFont typeface="Arial" charset="0"/>
              <a:buChar char="•"/>
            </a:pPr>
            <a:r>
              <a:rPr lang="en-US" sz="2400" b="0" dirty="0">
                <a:latin typeface="Cambria" panose="02040503050406030204" pitchFamily="18" charset="0"/>
                <a:ea typeface="Cambria" panose="02040503050406030204" pitchFamily="18" charset="0"/>
              </a:rPr>
              <a:t>DPO - Direct Policy Optimization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spc="-60" dirty="0">
                <a:solidFill>
                  <a:srgbClr val="20272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Constitutional AI and RLAIF</a:t>
            </a:r>
            <a:endParaRPr lang="en-US" sz="2400" b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00025" indent="-457200">
              <a:buFont typeface="Arial" panose="020B0604020202020204" pitchFamily="34" charset="0"/>
              <a:buChar char="•"/>
            </a:pPr>
            <a:endParaRPr lang="en-US" sz="2400" b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00025" indent="-457200">
              <a:buFont typeface="Arial" panose="020B0604020202020204" pitchFamily="34" charset="0"/>
              <a:buChar char="•"/>
            </a:pPr>
            <a:endParaRPr lang="en-IN" sz="2400" b="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745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858" rIns="0" bIns="0" rtlCol="0">
            <a:spAutoFit/>
          </a:bodyPr>
          <a:lstStyle/>
          <a:p>
            <a:pPr marL="9525">
              <a:spcBef>
                <a:spcPts val="23"/>
              </a:spcBef>
            </a:pPr>
            <a:r>
              <a:rPr spc="-45" dirty="0"/>
              <a:t>Gaurav</a:t>
            </a:r>
            <a:r>
              <a:rPr spc="-75" dirty="0"/>
              <a:t> </a:t>
            </a:r>
            <a:r>
              <a:rPr spc="-30" dirty="0"/>
              <a:t>Pandey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328032"/>
            <a:ext cx="8160907" cy="5631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dirty="0"/>
              <a:t>Why is Instruction Tuning not enough?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3400" y="1540183"/>
            <a:ext cx="7620000" cy="3173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180022" algn="l"/>
              </a:tabLst>
            </a:pPr>
            <a:r>
              <a:rPr sz="2000" b="1" spc="-90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Question</a:t>
            </a:r>
            <a:r>
              <a:rPr sz="2000" spc="-90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:</a:t>
            </a:r>
            <a:r>
              <a:rPr sz="2000" spc="-191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2000" spc="-101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What’s</a:t>
            </a:r>
            <a:r>
              <a:rPr sz="2000" spc="-169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2000" spc="-124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the</a:t>
            </a:r>
            <a:r>
              <a:rPr sz="2000" spc="-180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2000" spc="-68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best</a:t>
            </a:r>
            <a:r>
              <a:rPr sz="2000" spc="-176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2000" spc="-90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way</a:t>
            </a:r>
            <a:r>
              <a:rPr sz="2000" spc="-184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2000" spc="-120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to</a:t>
            </a:r>
            <a:r>
              <a:rPr sz="2000" spc="-180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2000" spc="-41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lose</a:t>
            </a:r>
            <a:r>
              <a:rPr sz="2000" spc="-176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2000" spc="-120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weight</a:t>
            </a:r>
            <a:r>
              <a:rPr sz="2000" spc="-180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2000" spc="-23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quickly?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Trebuchet M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34078" y="2242726"/>
          <a:ext cx="6096000" cy="1565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65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b="1" spc="-70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What</a:t>
                      </a:r>
                      <a:r>
                        <a:rPr sz="2000" b="1" spc="-165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 </a:t>
                      </a:r>
                      <a:r>
                        <a:rPr sz="2000" b="1" spc="-100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to</a:t>
                      </a:r>
                      <a:r>
                        <a:rPr sz="2000" b="1" spc="-170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 </a:t>
                      </a:r>
                      <a:r>
                        <a:rPr sz="2000" b="1" spc="-20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say?</a:t>
                      </a:r>
                      <a:endParaRPr sz="2000" dirty="0">
                        <a:latin typeface="Cambria" panose="02040503050406030204" pitchFamily="18" charset="0"/>
                        <a:ea typeface="Cambria" panose="02040503050406030204" pitchFamily="18" charset="0"/>
                        <a:cs typeface="Trebuchet MS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2171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b="1" spc="-70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What</a:t>
                      </a:r>
                      <a:r>
                        <a:rPr sz="2000" b="1" spc="-175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 </a:t>
                      </a:r>
                      <a:r>
                        <a:rPr sz="2000" b="1" spc="-95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not</a:t>
                      </a:r>
                      <a:r>
                        <a:rPr sz="2000" b="1" spc="-170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 </a:t>
                      </a:r>
                      <a:r>
                        <a:rPr sz="2000" b="1" spc="-100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to</a:t>
                      </a:r>
                      <a:r>
                        <a:rPr sz="2000" b="1" spc="-185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 </a:t>
                      </a:r>
                      <a:r>
                        <a:rPr sz="2000" b="1" spc="-20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say?</a:t>
                      </a:r>
                      <a:endParaRPr sz="2000">
                        <a:latin typeface="Cambria" panose="02040503050406030204" pitchFamily="18" charset="0"/>
                        <a:ea typeface="Cambria" panose="02040503050406030204" pitchFamily="18" charset="0"/>
                        <a:cs typeface="Trebuchet MS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2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91440" marR="6743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-7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Reduce</a:t>
                      </a:r>
                      <a:r>
                        <a:rPr sz="2000" spc="-16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 </a:t>
                      </a:r>
                      <a:r>
                        <a:rPr sz="2000" spc="-8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carb</a:t>
                      </a:r>
                      <a:r>
                        <a:rPr sz="2000" spc="-15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 </a:t>
                      </a:r>
                      <a:r>
                        <a:rPr sz="2000" spc="-15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intake, </a:t>
                      </a:r>
                      <a:r>
                        <a:rPr sz="2000" spc="-8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increase</a:t>
                      </a:r>
                      <a:r>
                        <a:rPr sz="2000" spc="-15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 </a:t>
                      </a:r>
                      <a:r>
                        <a:rPr sz="2000" spc="-13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fiber</a:t>
                      </a:r>
                      <a:r>
                        <a:rPr sz="2000" spc="-15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 </a:t>
                      </a:r>
                      <a:r>
                        <a:rPr sz="2000" spc="33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s </a:t>
                      </a:r>
                      <a:r>
                        <a:rPr sz="2000" spc="-12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protein</a:t>
                      </a:r>
                      <a:r>
                        <a:rPr sz="2000" spc="-14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 </a:t>
                      </a:r>
                      <a:r>
                        <a:rPr sz="2000" spc="-12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content,</a:t>
                      </a:r>
                      <a:r>
                        <a:rPr sz="2000" spc="-15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 </a:t>
                      </a:r>
                      <a:r>
                        <a:rPr sz="2000" spc="-8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increase</a:t>
                      </a:r>
                      <a:r>
                        <a:rPr sz="2000" spc="-14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vigorous exercise</a:t>
                      </a:r>
                      <a:endParaRPr sz="2000" dirty="0">
                        <a:latin typeface="Cambria" panose="02040503050406030204" pitchFamily="18" charset="0"/>
                        <a:ea typeface="Cambria" panose="02040503050406030204" pitchFamily="18" charset="0"/>
                        <a:cs typeface="Trebuchet MS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CCC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378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-114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You</a:t>
                      </a:r>
                      <a:r>
                        <a:rPr sz="2000" spc="-16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 </a:t>
                      </a:r>
                      <a:r>
                        <a:rPr sz="2000" spc="-5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should</a:t>
                      </a:r>
                      <a:r>
                        <a:rPr sz="2000" spc="-14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 </a:t>
                      </a:r>
                      <a:r>
                        <a:rPr sz="2000" spc="-6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stop</a:t>
                      </a:r>
                      <a:r>
                        <a:rPr sz="2000" spc="-15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 </a:t>
                      </a:r>
                      <a:r>
                        <a:rPr sz="2000" spc="-12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eating</a:t>
                      </a:r>
                      <a:r>
                        <a:rPr sz="2000" spc="-17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 </a:t>
                      </a:r>
                      <a:r>
                        <a:rPr sz="2000" spc="-13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entirely</a:t>
                      </a:r>
                      <a:r>
                        <a:rPr sz="2000" spc="-18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 </a:t>
                      </a:r>
                      <a:r>
                        <a:rPr sz="2000" spc="-13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for</a:t>
                      </a:r>
                      <a:r>
                        <a:rPr sz="2000" spc="-14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 </a:t>
                      </a:r>
                      <a:r>
                        <a:rPr sz="2000" spc="-8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a</a:t>
                      </a:r>
                      <a:r>
                        <a:rPr sz="2000" spc="-16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 </a:t>
                      </a:r>
                      <a:r>
                        <a:rPr sz="2000" spc="-5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few </a:t>
                      </a:r>
                      <a:r>
                        <a:rPr sz="2000" spc="-2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rebuchet MS"/>
                        </a:rPr>
                        <a:t>days</a:t>
                      </a:r>
                      <a:endParaRPr sz="2000" dirty="0">
                        <a:latin typeface="Cambria" panose="02040503050406030204" pitchFamily="18" charset="0"/>
                        <a:ea typeface="Cambria" panose="02040503050406030204" pitchFamily="18" charset="0"/>
                        <a:cs typeface="Trebuchet MS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751436" y="3883437"/>
            <a:ext cx="2854166" cy="372428"/>
          </a:xfrm>
          <a:custGeom>
            <a:avLst/>
            <a:gdLst/>
            <a:ahLst/>
            <a:cxnLst/>
            <a:rect l="l" t="t" r="r" b="b"/>
            <a:pathLst>
              <a:path w="3805554" h="496570">
                <a:moveTo>
                  <a:pt x="3805288" y="0"/>
                </a:moveTo>
                <a:lnTo>
                  <a:pt x="3803177" y="78491"/>
                </a:lnTo>
                <a:lnTo>
                  <a:pt x="3797298" y="146649"/>
                </a:lnTo>
                <a:lnTo>
                  <a:pt x="3788335" y="200390"/>
                </a:lnTo>
                <a:lnTo>
                  <a:pt x="3763886" y="248284"/>
                </a:lnTo>
                <a:lnTo>
                  <a:pt x="1961248" y="248284"/>
                </a:lnTo>
                <a:lnTo>
                  <a:pt x="1948164" y="260939"/>
                </a:lnTo>
                <a:lnTo>
                  <a:pt x="1936799" y="296179"/>
                </a:lnTo>
                <a:lnTo>
                  <a:pt x="1927836" y="349920"/>
                </a:lnTo>
                <a:lnTo>
                  <a:pt x="1921957" y="418078"/>
                </a:lnTo>
                <a:lnTo>
                  <a:pt x="1919846" y="496569"/>
                </a:lnTo>
                <a:lnTo>
                  <a:pt x="1917735" y="418078"/>
                </a:lnTo>
                <a:lnTo>
                  <a:pt x="1911856" y="349920"/>
                </a:lnTo>
                <a:lnTo>
                  <a:pt x="1902893" y="296179"/>
                </a:lnTo>
                <a:lnTo>
                  <a:pt x="1891528" y="260939"/>
                </a:lnTo>
                <a:lnTo>
                  <a:pt x="1878444" y="248284"/>
                </a:lnTo>
                <a:lnTo>
                  <a:pt x="41363" y="248284"/>
                </a:lnTo>
                <a:lnTo>
                  <a:pt x="28288" y="235630"/>
                </a:lnTo>
                <a:lnTo>
                  <a:pt x="16933" y="200390"/>
                </a:lnTo>
                <a:lnTo>
                  <a:pt x="7980" y="146649"/>
                </a:lnTo>
                <a:lnTo>
                  <a:pt x="2108" y="78491"/>
                </a:lnTo>
                <a:lnTo>
                  <a:pt x="0" y="0"/>
                </a:lnTo>
              </a:path>
            </a:pathLst>
          </a:custGeom>
          <a:ln w="22225">
            <a:solidFill>
              <a:srgbClr val="C21717"/>
            </a:solidFill>
          </a:ln>
        </p:spPr>
        <p:txBody>
          <a:bodyPr wrap="square" lIns="0" tIns="0" rIns="0" bIns="0" rtlCol="0"/>
          <a:lstStyle/>
          <a:p>
            <a:endParaRPr sz="2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8497" y="4284240"/>
            <a:ext cx="2908459" cy="636713"/>
          </a:xfrm>
          <a:prstGeom prst="rect">
            <a:avLst/>
          </a:prstGeom>
          <a:ln w="12700">
            <a:solidFill>
              <a:srgbClr val="C21717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68580">
              <a:spcBef>
                <a:spcPts val="165"/>
              </a:spcBef>
            </a:pPr>
            <a:r>
              <a:rPr sz="2000" spc="-68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Instruction</a:t>
            </a:r>
            <a:r>
              <a:rPr sz="2000" spc="-116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2000" spc="-90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tuning</a:t>
            </a:r>
            <a:r>
              <a:rPr sz="2000" spc="-131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2000" spc="-49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can</a:t>
            </a:r>
            <a:r>
              <a:rPr sz="2000" spc="-113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2000" spc="-86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make</a:t>
            </a:r>
            <a:r>
              <a:rPr sz="2000" spc="-116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2000" spc="-56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this</a:t>
            </a:r>
            <a:r>
              <a:rPr sz="2000" spc="-124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2000" spc="-8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happen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99427" y="3855053"/>
            <a:ext cx="2854166" cy="372428"/>
          </a:xfrm>
          <a:custGeom>
            <a:avLst/>
            <a:gdLst/>
            <a:ahLst/>
            <a:cxnLst/>
            <a:rect l="l" t="t" r="r" b="b"/>
            <a:pathLst>
              <a:path w="3805554" h="496570">
                <a:moveTo>
                  <a:pt x="3805301" y="0"/>
                </a:moveTo>
                <a:lnTo>
                  <a:pt x="3803189" y="78491"/>
                </a:lnTo>
                <a:lnTo>
                  <a:pt x="3797311" y="146649"/>
                </a:lnTo>
                <a:lnTo>
                  <a:pt x="3788348" y="200390"/>
                </a:lnTo>
                <a:lnTo>
                  <a:pt x="3763899" y="248284"/>
                </a:lnTo>
                <a:lnTo>
                  <a:pt x="1961261" y="248284"/>
                </a:lnTo>
                <a:lnTo>
                  <a:pt x="1948176" y="260939"/>
                </a:lnTo>
                <a:lnTo>
                  <a:pt x="1936811" y="296179"/>
                </a:lnTo>
                <a:lnTo>
                  <a:pt x="1927848" y="349920"/>
                </a:lnTo>
                <a:lnTo>
                  <a:pt x="1921970" y="418078"/>
                </a:lnTo>
                <a:lnTo>
                  <a:pt x="1919858" y="496569"/>
                </a:lnTo>
                <a:lnTo>
                  <a:pt x="1917747" y="418078"/>
                </a:lnTo>
                <a:lnTo>
                  <a:pt x="1911869" y="349920"/>
                </a:lnTo>
                <a:lnTo>
                  <a:pt x="1902906" y="296179"/>
                </a:lnTo>
                <a:lnTo>
                  <a:pt x="1891541" y="260939"/>
                </a:lnTo>
                <a:lnTo>
                  <a:pt x="1878456" y="248284"/>
                </a:lnTo>
                <a:lnTo>
                  <a:pt x="41401" y="248284"/>
                </a:lnTo>
                <a:lnTo>
                  <a:pt x="28317" y="235630"/>
                </a:lnTo>
                <a:lnTo>
                  <a:pt x="16952" y="200390"/>
                </a:lnTo>
                <a:lnTo>
                  <a:pt x="7989" y="146649"/>
                </a:lnTo>
                <a:lnTo>
                  <a:pt x="2111" y="78491"/>
                </a:lnTo>
                <a:lnTo>
                  <a:pt x="0" y="0"/>
                </a:lnTo>
              </a:path>
            </a:pathLst>
          </a:custGeom>
          <a:ln w="22225">
            <a:solidFill>
              <a:srgbClr val="C21717"/>
            </a:solidFill>
          </a:ln>
        </p:spPr>
        <p:txBody>
          <a:bodyPr wrap="square" lIns="0" tIns="0" rIns="0" bIns="0" rtlCol="0"/>
          <a:lstStyle/>
          <a:p>
            <a:endParaRPr sz="2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26478" y="4255855"/>
            <a:ext cx="2730341" cy="636713"/>
          </a:xfrm>
          <a:prstGeom prst="rect">
            <a:avLst/>
          </a:prstGeom>
          <a:ln w="12700">
            <a:solidFill>
              <a:srgbClr val="C21717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69056">
              <a:spcBef>
                <a:spcPts val="165"/>
              </a:spcBef>
            </a:pPr>
            <a:r>
              <a:rPr sz="2000" spc="-64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But</a:t>
            </a:r>
            <a:r>
              <a:rPr sz="2000" spc="-113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2000" spc="-101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can’t</a:t>
            </a:r>
            <a:r>
              <a:rPr sz="2000" spc="-127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2000" spc="-94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prevent</a:t>
            </a:r>
            <a:r>
              <a:rPr sz="2000" spc="-131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2000" spc="-60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this</a:t>
            </a:r>
            <a:r>
              <a:rPr sz="2000" spc="-131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2000" spc="-90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from</a:t>
            </a:r>
            <a:r>
              <a:rPr sz="2000" spc="-116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2000" spc="-8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happening</a:t>
            </a:r>
            <a:endParaRPr sz="2000">
              <a:latin typeface="Cambria" panose="02040503050406030204" pitchFamily="18" charset="0"/>
              <a:ea typeface="Cambria" panose="02040503050406030204" pitchFamily="18" charset="0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3406" y="6438166"/>
            <a:ext cx="4139994" cy="156293"/>
          </a:xfrm>
          <a:prstGeom prst="rect">
            <a:avLst/>
          </a:prstGeom>
        </p:spPr>
        <p:txBody>
          <a:bodyPr vert="horz" wrap="square" lIns="0" tIns="2381" rIns="0" bIns="0" rtlCol="0">
            <a:spAutoFit/>
          </a:bodyPr>
          <a:lstStyle/>
          <a:p>
            <a:pPr marL="9525">
              <a:spcBef>
                <a:spcPts val="19"/>
              </a:spcBef>
            </a:pPr>
            <a:r>
              <a:rPr lang="en-US" sz="1000" spc="-23" dirty="0">
                <a:solidFill>
                  <a:schemeClr val="tx1"/>
                </a:solidFill>
                <a:latin typeface="Trebuchet MS"/>
                <a:cs typeface="Trebuchet MS"/>
              </a:rPr>
              <a:t>Slide credit : </a:t>
            </a:r>
            <a:r>
              <a:rPr lang="en-IN" sz="1000" dirty="0">
                <a:solidFill>
                  <a:schemeClr val="tx1"/>
                </a:solidFill>
              </a:rPr>
              <a:t>IIT Delhi </a:t>
            </a:r>
            <a:r>
              <a:rPr sz="1000" spc="-23" dirty="0">
                <a:solidFill>
                  <a:schemeClr val="tx1"/>
                </a:solidFill>
                <a:latin typeface="Trebuchet MS"/>
                <a:cs typeface="Trebuchet MS"/>
              </a:rPr>
              <a:t>LLMs:</a:t>
            </a:r>
            <a:r>
              <a:rPr sz="1000" spc="-41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000" spc="-56" dirty="0">
                <a:solidFill>
                  <a:schemeClr val="tx1"/>
                </a:solidFill>
                <a:latin typeface="Trebuchet MS"/>
                <a:cs typeface="Trebuchet MS"/>
              </a:rPr>
              <a:t>Introduction</a:t>
            </a:r>
            <a:r>
              <a:rPr sz="1000" spc="-38" dirty="0">
                <a:solidFill>
                  <a:schemeClr val="tx1"/>
                </a:solidFill>
                <a:latin typeface="Trebuchet MS"/>
                <a:cs typeface="Trebuchet MS"/>
              </a:rPr>
              <a:t> and</a:t>
            </a:r>
            <a:r>
              <a:rPr sz="1000" spc="-53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000" spc="-45" dirty="0">
                <a:solidFill>
                  <a:schemeClr val="tx1"/>
                </a:solidFill>
                <a:latin typeface="Trebuchet MS"/>
                <a:cs typeface="Trebuchet MS"/>
              </a:rPr>
              <a:t>Recent</a:t>
            </a:r>
            <a:r>
              <a:rPr sz="1000" spc="-56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000" spc="-8" dirty="0">
                <a:solidFill>
                  <a:schemeClr val="tx1"/>
                </a:solidFill>
                <a:latin typeface="Trebuchet MS"/>
                <a:cs typeface="Trebuchet MS"/>
              </a:rPr>
              <a:t>Advances</a:t>
            </a:r>
            <a:endParaRPr sz="1000" dirty="0">
              <a:solidFill>
                <a:schemeClr val="tx1"/>
              </a:solidFill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74146" y="5178689"/>
            <a:ext cx="5015865" cy="944970"/>
          </a:xfrm>
          <a:prstGeom prst="rect">
            <a:avLst/>
          </a:prstGeom>
          <a:ln w="19050">
            <a:solidFill>
              <a:srgbClr val="C21717"/>
            </a:solidFill>
          </a:ln>
        </p:spPr>
        <p:txBody>
          <a:bodyPr vert="horz" wrap="square" lIns="0" tIns="21431" rIns="0" bIns="0" rtlCol="0">
            <a:spAutoFit/>
          </a:bodyPr>
          <a:lstStyle/>
          <a:p>
            <a:pPr marL="68580" marR="236696">
              <a:spcBef>
                <a:spcPts val="169"/>
              </a:spcBef>
            </a:pPr>
            <a:r>
              <a:rPr sz="2000" spc="-79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Alignment</a:t>
            </a:r>
            <a:r>
              <a:rPr sz="2000" spc="-124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2000" spc="-49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can</a:t>
            </a:r>
            <a:r>
              <a:rPr sz="2000" spc="-116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2000" spc="-94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prevent</a:t>
            </a:r>
            <a:r>
              <a:rPr sz="2000" spc="-127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2000" spc="-86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certain</a:t>
            </a:r>
            <a:r>
              <a:rPr sz="2000" spc="-127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2000" spc="-60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outputs</a:t>
            </a:r>
            <a:r>
              <a:rPr sz="2000" spc="-109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2000" spc="-10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that</a:t>
            </a:r>
            <a:r>
              <a:rPr sz="2000" spc="-124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2000" spc="-94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the</a:t>
            </a:r>
            <a:r>
              <a:rPr sz="2000" spc="-124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2000" spc="-64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model</a:t>
            </a:r>
            <a:r>
              <a:rPr sz="2000" spc="-116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2000" spc="-8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assumes</a:t>
            </a:r>
            <a:r>
              <a:rPr sz="2000" spc="-10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2000" spc="-90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to</a:t>
            </a:r>
            <a:r>
              <a:rPr sz="2000" spc="-120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2000" spc="-19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be </a:t>
            </a:r>
            <a:r>
              <a:rPr sz="2000" spc="-86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correct,</a:t>
            </a:r>
            <a:r>
              <a:rPr sz="2000" spc="-124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2000" spc="-86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but</a:t>
            </a:r>
            <a:r>
              <a:rPr sz="2000" spc="-113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2000" spc="-45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humans</a:t>
            </a:r>
            <a:r>
              <a:rPr sz="2000" spc="-109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2000" spc="-53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consider</a:t>
            </a:r>
            <a:r>
              <a:rPr sz="2000" spc="-113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sz="2000" spc="-8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wrong.</a:t>
            </a:r>
            <a:endParaRPr sz="2000">
              <a:latin typeface="Cambria" panose="02040503050406030204" pitchFamily="18" charset="0"/>
              <a:ea typeface="Cambria" panose="02040503050406030204" pitchFamily="18" charset="0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849827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1E6001-6B2E-CF94-D471-071A3263DDAE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228601" y="1447800"/>
            <a:ext cx="5051171" cy="273679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C47792C-59E8-9381-3146-C847ED51A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Preference-Tuning / Alignment / RLHF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206E2E-0CD2-115D-1933-A92BA4106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599" y="4565595"/>
            <a:ext cx="4800601" cy="17359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D3DCC8-C6DD-F6A3-8422-260175F84111}"/>
              </a:ext>
            </a:extLst>
          </p:cNvPr>
          <p:cNvSpPr txBox="1"/>
          <p:nvPr/>
        </p:nvSpPr>
        <p:spPr>
          <a:xfrm>
            <a:off x="5279772" y="1600200"/>
            <a:ext cx="386422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If score is high, model is updated to encourage it to generate more like </a:t>
            </a:r>
            <a:r>
              <a:rPr lang="en-IN" sz="2000" b="0" i="0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this type of generation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we need many training examples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Preference Evaluation can be automated by training a different model called a </a:t>
            </a:r>
            <a:r>
              <a:rPr lang="en-US" sz="2000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reward model.</a:t>
            </a:r>
            <a:endParaRPr lang="en-IN" sz="2000" dirty="0">
              <a:highlight>
                <a:srgbClr val="FFFF00"/>
              </a:highligh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761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C0596D-A88E-CD46-5408-12A555E2D0C2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914400" y="1962685"/>
            <a:ext cx="6096000" cy="154227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5EE9B55-4C2A-7F6B-6E6F-AD1071F94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0"/>
            <a:ext cx="8610600" cy="1219200"/>
          </a:xfrm>
        </p:spPr>
        <p:txBody>
          <a:bodyPr>
            <a:normAutofit/>
          </a:bodyPr>
          <a:lstStyle/>
          <a:p>
            <a:r>
              <a:rPr lang="en-US" sz="2800" dirty="0"/>
              <a:t>Automating Preference Evaluation Using Reward Models</a:t>
            </a:r>
            <a:endParaRPr lang="en-IN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A6A0DF-5531-CD07-1124-EBFAD6FE82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8633" y="4256902"/>
            <a:ext cx="6807478" cy="2209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1D0EAC-C32D-FF59-CA7E-066A97051BD0}"/>
              </a:ext>
            </a:extLst>
          </p:cNvPr>
          <p:cNvSpPr txBox="1"/>
          <p:nvPr/>
        </p:nvSpPr>
        <p:spPr>
          <a:xfrm>
            <a:off x="78658" y="3564683"/>
            <a:ext cx="89129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  <a:lvl1pPr marL="342900" indent="-342900" algn="l">
              <a:buFont typeface="Arial" panose="020B0604020202020204" pitchFamily="34" charset="0"/>
              <a:buChar char="•"/>
              <a:defRPr sz="2000" b="0" i="0" u="none" strike="noStrike" baseline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To create a reward model, we take a copy of the instruction tuned model and slightly change it so that instead of generating text, it now outputs a </a:t>
            </a:r>
            <a:r>
              <a:rPr lang="en-IN" dirty="0"/>
              <a:t>single score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58F02C-38E4-A705-3F09-1979154043C0}"/>
              </a:ext>
            </a:extLst>
          </p:cNvPr>
          <p:cNvSpPr txBox="1"/>
          <p:nvPr/>
        </p:nvSpPr>
        <p:spPr>
          <a:xfrm>
            <a:off x="78658" y="1478272"/>
            <a:ext cx="88367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  <a:lvl1pPr marL="342900" indent="-342900" algn="l">
              <a:buFont typeface="Arial" panose="020B0604020202020204" pitchFamily="34" charset="0"/>
              <a:buChar char="•"/>
              <a:defRPr sz="2000" b="0" i="0" u="none" strike="noStrike" baseline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Need a step before preference-tuning step, namely to train a reward 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9014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474F9F-AD03-ECF8-D070-7D47B9603052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568641" y="2164518"/>
            <a:ext cx="2975086" cy="310667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5B95F8C-1785-B644-8664-D24231286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Reward Model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25AB1B-66ED-3E66-5CF9-C35ED234A9A3}"/>
              </a:ext>
            </a:extLst>
          </p:cNvPr>
          <p:cNvSpPr txBox="1"/>
          <p:nvPr/>
        </p:nvSpPr>
        <p:spPr>
          <a:xfrm>
            <a:off x="149179" y="5454613"/>
            <a:ext cx="41598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  <a:lvl1pPr marL="342900" indent="-342900" algn="l">
              <a:buFont typeface="Arial" panose="020B0604020202020204" pitchFamily="34" charset="0"/>
              <a:buChar char="•"/>
              <a:defRPr sz="2000" b="0" i="0" u="none" strike="noStrike" baseline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marL="0" indent="0">
              <a:buNone/>
            </a:pPr>
            <a:r>
              <a:rPr lang="en-US" dirty="0"/>
              <a:t>Use a reward model trained on human preference to generate the completion </a:t>
            </a:r>
            <a:r>
              <a:rPr lang="en-IN" dirty="0"/>
              <a:t>quality score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56BA519-BFEC-CAD8-379D-667BF482C7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813" y="2501322"/>
            <a:ext cx="3816546" cy="39689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8ED545C-0682-B7D7-73BD-546A34F7F575}"/>
              </a:ext>
            </a:extLst>
          </p:cNvPr>
          <p:cNvSpPr txBox="1"/>
          <p:nvPr/>
        </p:nvSpPr>
        <p:spPr>
          <a:xfrm>
            <a:off x="5613230" y="951825"/>
            <a:ext cx="33021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  <a:lvl1pPr marL="0" indent="0" algn="l">
              <a:buFont typeface="Arial" panose="020B0604020202020204" pitchFamily="34" charset="0"/>
              <a:buNone/>
              <a:defRPr sz="2000" b="0" i="0" u="none" strike="noStrike" baseline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IN" dirty="0">
                <a:highlight>
                  <a:srgbClr val="FFFF00"/>
                </a:highlight>
              </a:rPr>
              <a:t>Training a Reward Model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1AC676-ADD0-E71A-DF29-00E408B1AA20}"/>
              </a:ext>
            </a:extLst>
          </p:cNvPr>
          <p:cNvSpPr txBox="1"/>
          <p:nvPr/>
        </p:nvSpPr>
        <p:spPr>
          <a:xfrm>
            <a:off x="4724400" y="1485659"/>
            <a:ext cx="4419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  <a:lvl1pPr marL="0" indent="0" algn="l">
              <a:buFont typeface="Arial" panose="020B0604020202020204" pitchFamily="34" charset="0"/>
              <a:buNone/>
              <a:defRPr sz="2000" b="0" i="0" u="none" strike="noStrike" baseline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Training objective: to ensure accepted generation has a higher score than rejected generation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0292AB-6B2E-2CA8-A04D-212DCD78FB3F}"/>
              </a:ext>
            </a:extLst>
          </p:cNvPr>
          <p:cNvSpPr txBox="1"/>
          <p:nvPr/>
        </p:nvSpPr>
        <p:spPr>
          <a:xfrm>
            <a:off x="0" y="1485659"/>
            <a:ext cx="45818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  <a:lvl1pPr marL="0" indent="0" algn="l">
              <a:buFont typeface="Arial" panose="020B0604020202020204" pitchFamily="34" charset="0"/>
              <a:buNone/>
              <a:defRPr sz="2000" b="0" i="0" u="none" strike="noStrike" baseline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Inputs and Outputs of a Reward 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4776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5611B0-269E-D13C-3C7A-1E9D56EDE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Preference tuning pipeline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B54508-5AF6-B5A0-4838-613E353D30FA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/>
          <a:stretch>
            <a:fillRect/>
          </a:stretch>
        </p:blipFill>
        <p:spPr>
          <a:xfrm>
            <a:off x="0" y="1327207"/>
            <a:ext cx="5562600" cy="25689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3C143C-8A03-7D2A-D84E-FFEFAEFC4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3964871"/>
            <a:ext cx="5150193" cy="26461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DE9CFA-730A-A01F-E0FB-DAC7CCCAE627}"/>
              </a:ext>
            </a:extLst>
          </p:cNvPr>
          <p:cNvSpPr txBox="1"/>
          <p:nvPr/>
        </p:nvSpPr>
        <p:spPr>
          <a:xfrm>
            <a:off x="304800" y="4934003"/>
            <a:ext cx="3505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  <a:lvl1pPr marL="342900" indent="-342900" algn="l">
              <a:buFont typeface="Arial" panose="020B0604020202020204" pitchFamily="34" charset="0"/>
              <a:buChar char="•"/>
              <a:defRPr sz="2000" b="0" i="0" u="none" strike="noStrike" baseline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marL="0" indent="0">
              <a:buNone/>
            </a:pPr>
            <a:r>
              <a:rPr lang="en-US" dirty="0"/>
              <a:t>Llama 2 trains two reward models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048341-E1C6-17D9-98E7-2C5CD4C78A7B}"/>
              </a:ext>
            </a:extLst>
          </p:cNvPr>
          <p:cNvSpPr txBox="1"/>
          <p:nvPr/>
        </p:nvSpPr>
        <p:spPr>
          <a:xfrm>
            <a:off x="5562600" y="1524000"/>
            <a:ext cx="3505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  <a:lvl1pPr marL="0" indent="0" algn="l">
              <a:buFont typeface="Arial" panose="020B0604020202020204" pitchFamily="34" charset="0"/>
              <a:buNone/>
              <a:defRPr sz="2000" b="0" i="0" u="none" strike="noStrike" baseline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IN" dirty="0"/>
              <a:t>1. Collect preference data</a:t>
            </a:r>
          </a:p>
          <a:p>
            <a:r>
              <a:rPr lang="en-US" dirty="0"/>
              <a:t>2. Train a reward model</a:t>
            </a:r>
          </a:p>
          <a:p>
            <a:r>
              <a:rPr lang="en-US" dirty="0"/>
              <a:t>3. Use the reward model to fine-tune the LLM (operating as the preference</a:t>
            </a:r>
          </a:p>
          <a:p>
            <a:r>
              <a:rPr lang="en-IN" dirty="0"/>
              <a:t>evaluator)</a:t>
            </a:r>
          </a:p>
        </p:txBody>
      </p:sp>
    </p:spTree>
    <p:extLst>
      <p:ext uri="{BB962C8B-B14F-4D97-AF65-F5344CB8AC3E}">
        <p14:creationId xmlns:p14="http://schemas.microsoft.com/office/powerpoint/2010/main" val="901135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81356" y="308610"/>
            <a:ext cx="8572500" cy="480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algn="l"/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LLM Preference Data</a:t>
            </a:r>
          </a:p>
        </p:txBody>
      </p:sp>
      <p:sp>
        <p:nvSpPr>
          <p:cNvPr id="5" name="Text 3"/>
          <p:cNvSpPr/>
          <p:nvPr/>
        </p:nvSpPr>
        <p:spPr>
          <a:xfrm>
            <a:off x="181356" y="1295400"/>
            <a:ext cx="8962644" cy="5181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Prompt x paired with alternative outputs sampled from an LLM</a:t>
            </a:r>
          </a:p>
          <a:p>
            <a:pPr lvl="1" algn="l"/>
            <a:r>
              <a:rPr lang="en-US" sz="2000" b="1" dirty="0">
                <a:latin typeface="+mn-lt"/>
              </a:rPr>
              <a:t>O</a:t>
            </a:r>
            <a:r>
              <a:rPr lang="en-US" sz="2000" b="1" baseline="-25000" dirty="0">
                <a:latin typeface="+mn-lt"/>
              </a:rPr>
              <a:t>w</a:t>
            </a:r>
            <a:r>
              <a:rPr lang="en-US" sz="2000" b="1" dirty="0">
                <a:latin typeface="+mn-lt"/>
              </a:rPr>
              <a:t> </a:t>
            </a:r>
            <a:r>
              <a:rPr lang="en-US" sz="2000" b="1" dirty="0">
                <a:latin typeface="+mn-lt"/>
                <a:sym typeface="Wingdings" panose="05000000000000000000" pitchFamily="2" charset="2"/>
              </a:rPr>
              <a:t></a:t>
            </a:r>
            <a:r>
              <a:rPr lang="en-US" sz="2000" b="1" dirty="0">
                <a:latin typeface="+mn-lt"/>
              </a:rPr>
              <a:t> preferred  output , O</a:t>
            </a:r>
            <a:r>
              <a:rPr lang="en-US" sz="2000" b="1" baseline="-25000" dirty="0">
                <a:latin typeface="+mn-lt"/>
              </a:rPr>
              <a:t>l </a:t>
            </a:r>
            <a:r>
              <a:rPr lang="en-US" sz="2000" b="1" dirty="0">
                <a:latin typeface="+mn-lt"/>
              </a:rPr>
              <a:t> </a:t>
            </a:r>
            <a:r>
              <a:rPr lang="en-US" sz="2000" b="1" dirty="0">
                <a:latin typeface="+mn-lt"/>
                <a:sym typeface="Wingdings" panose="05000000000000000000" pitchFamily="2" charset="2"/>
              </a:rPr>
              <a:t> not </a:t>
            </a:r>
            <a:r>
              <a:rPr lang="en-US" sz="2000" b="1" dirty="0">
                <a:latin typeface="+mn-lt"/>
              </a:rPr>
              <a:t>preferred  output , we denote this as (o</a:t>
            </a:r>
            <a:r>
              <a:rPr lang="en-US" sz="2000" b="1" baseline="-25000" dirty="0">
                <a:latin typeface="+mn-lt"/>
              </a:rPr>
              <a:t>w</a:t>
            </a:r>
            <a:r>
              <a:rPr lang="en-US" sz="2000" b="1" dirty="0">
                <a:latin typeface="+mn-lt"/>
              </a:rPr>
              <a:t> &gt; </a:t>
            </a:r>
            <a:r>
              <a:rPr lang="en-US" sz="2000" b="1" dirty="0" err="1">
                <a:latin typeface="+mn-lt"/>
              </a:rPr>
              <a:t>o</a:t>
            </a:r>
            <a:r>
              <a:rPr lang="en-US" sz="2000" b="1" baseline="-25000" dirty="0" err="1">
                <a:latin typeface="+mn-lt"/>
              </a:rPr>
              <a:t>l</a:t>
            </a:r>
            <a:r>
              <a:rPr lang="en-US" sz="2000" b="1" dirty="0">
                <a:latin typeface="+mn-lt"/>
              </a:rPr>
              <a:t> | x)</a:t>
            </a:r>
            <a:endParaRPr lang="en-IN" sz="2000" b="1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Three ways to collect preference pairs</a:t>
            </a:r>
          </a:p>
          <a:p>
            <a:pPr marL="342900" lvl="5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Direct annotation   — annotator sees a pair and picks the winner.  Yields 1 pair per task.  Most precise; slow at scale. </a:t>
            </a:r>
          </a:p>
          <a:p>
            <a:pPr lvl="5" algn="ctr"/>
            <a:r>
              <a:rPr lang="en-US" sz="2000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Model </a:t>
            </a:r>
            <a:r>
              <a:rPr lang="en-US" sz="2000" dirty="0">
                <a:highlight>
                  <a:srgbClr val="FFFF00"/>
                </a:highlight>
              </a:rPr>
              <a:t>A &gt; Model B </a:t>
            </a:r>
            <a:endParaRPr lang="en-US" sz="2000" dirty="0">
              <a:highlight>
                <a:srgbClr val="FFFF00"/>
              </a:highlight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pPr marL="342900" lvl="5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Full ranking of N outputs   — annotator orders all N responses from best to worst.  Yields C(N, 2) pairs — for N = 4, that is 6 pairs.  Maximum signal per unit of human effort.</a:t>
            </a:r>
          </a:p>
          <a:p>
            <a:pPr lvl="3" algn="ctr"/>
            <a:r>
              <a:rPr lang="en-US" sz="2000" b="1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Annotator Ranking: </a:t>
            </a:r>
            <a:r>
              <a:rPr lang="en-US" sz="2000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D (Best), B (2nd), A (3rd), C (Worst)</a:t>
            </a:r>
          </a:p>
          <a:p>
            <a:pPr lvl="3" algn="ctr"/>
            <a:r>
              <a:rPr lang="en-US" sz="2000" b="1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Data Generated (6 Pairs): </a:t>
            </a:r>
            <a:r>
              <a:rPr lang="en-US" sz="2000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D &gt; B, D &gt; A, D &gt; C ,B &gt; A, , B &gt; C, A &gt; C </a:t>
            </a:r>
          </a:p>
          <a:p>
            <a:pPr marL="342900" lvl="5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Selection of single preferred option   — annotator picks only the best from N; the rest are unranked.  Yields N − 1 pairs — for N = 4, that is 3 pairs.  Faster than full ranking; less signal per task.</a:t>
            </a:r>
          </a:p>
          <a:p>
            <a:pPr lvl="3" algn="ctr"/>
            <a:r>
              <a:rPr lang="en-US" sz="2000" b="1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Annotator Decision: "Response B is the best out of 4 answers." </a:t>
            </a:r>
          </a:p>
          <a:p>
            <a:pPr lvl="3" algn="ctr"/>
            <a:r>
              <a:rPr lang="en-US" sz="2000" b="1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Data Generated (3 Pairs): B &gt; A, B &gt; C, B &gt; D </a:t>
            </a:r>
          </a:p>
          <a:p>
            <a:pPr marL="342900" lvl="5" indent="-342900"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52400" y="205740"/>
            <a:ext cx="8572500" cy="480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algn="l"/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Sources of Preference Data</a:t>
            </a:r>
          </a:p>
        </p:txBody>
      </p:sp>
      <p:sp>
        <p:nvSpPr>
          <p:cNvPr id="4" name="Text 2"/>
          <p:cNvSpPr/>
          <p:nvPr/>
        </p:nvSpPr>
        <p:spPr>
          <a:xfrm>
            <a:off x="274320" y="1474470"/>
            <a:ext cx="85725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ways to collect the (x, ow, </a:t>
            </a:r>
            <a:r>
              <a:rPr lang="en-US" sz="2000" i="1" dirty="0" err="1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</a:t>
            </a:r>
            <a:r>
              <a:rPr lang="en-US" sz="20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triples that drive alignment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2400" y="1905000"/>
            <a:ext cx="84353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annotator judgments   </a:t>
            </a: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trained annotators pick winners from response pairs (InstructGPT), or rank sets of 4 outputs to yield 6 pairs each.  Gold standard — precise, but slow and expensive.</a:t>
            </a:r>
            <a:endParaRPr lang="en-US" sz="2000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Implicit web preferences   </a:t>
            </a: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Reddit and StackExchange posts as prompts, replies as candidates, upvote counts as the ranking mechanism.  Cheap and large-scale, but noisy.</a:t>
            </a:r>
            <a:endParaRPr lang="en-US" sz="2000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AI-judged preferences   </a:t>
            </a: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sample answers from several LLMs; ask a stronger model (e.g., GPT-4) to rank them.  Basis for datasets like UltraFeedback.  Massive scale at low cost.</a:t>
            </a:r>
            <a:endParaRPr lang="en-US" sz="2000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Scalar (Likert) judgments   </a:t>
            </a: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annotators (human or LLM) rate outputs 0–4 on helpfulness, honesty, correctness, verbosity; average, then convert to pairs.  Easy to collect, but subjective.</a:t>
            </a:r>
            <a:endParaRPr lang="en-US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0F7634-26A1-01CE-DE63-33799D47BEF2}"/>
              </a:ext>
            </a:extLst>
          </p:cNvPr>
          <p:cNvSpPr/>
          <p:nvPr/>
        </p:nvSpPr>
        <p:spPr>
          <a:xfrm>
            <a:off x="228600" y="6533991"/>
            <a:ext cx="60198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/>
              <a:t>ULTRAFEEDBACK: Boosting Language Models with Scaled AI Feedback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57369" y="1371600"/>
            <a:ext cx="8953062" cy="525780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Bradley-Terry (BT) model</a:t>
            </a:r>
            <a:r>
              <a:rPr lang="en-US" sz="2200" dirty="0"/>
              <a:t> is the mathematical engine behind how modern LLMs learn from human feedback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It solves a fundamental problem in AI alignment: </a:t>
            </a:r>
            <a:r>
              <a:rPr lang="en-US" sz="2200" b="1" dirty="0"/>
              <a:t>How do you turn subjective human </a:t>
            </a:r>
            <a:r>
              <a:rPr lang="en-US" sz="2200" b="1" dirty="0" err="1"/>
              <a:t>prefrence</a:t>
            </a:r>
            <a:r>
              <a:rPr lang="en-US" sz="2200" b="1" dirty="0"/>
              <a:t> (ranking Response A &gt; Response B) into a concrete number (reward score) that a computer can optimize?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BT model is a probabilistic model for pairwise comparisons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Learning can happen via Cross entropy loss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0"/>
            <a:ext cx="8763000" cy="1219200"/>
          </a:xfrm>
        </p:spPr>
        <p:txBody>
          <a:bodyPr>
            <a:normAutofit/>
          </a:bodyPr>
          <a:lstStyle/>
          <a:p>
            <a:r>
              <a:rPr lang="en-IN" sz="2800" dirty="0" err="1"/>
              <a:t>Modeling</a:t>
            </a:r>
            <a:r>
              <a:rPr lang="en-IN" sz="2800" dirty="0"/>
              <a:t> Preferences - </a:t>
            </a:r>
            <a:r>
              <a:rPr lang="en-US" sz="2800" dirty="0"/>
              <a:t>Bradley-Terry (BT) model </a:t>
            </a:r>
            <a:endParaRPr lang="en-IN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886200"/>
            <a:ext cx="3774620" cy="1447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632A1A-0BD0-EF8D-5D8A-081B1EB55514}"/>
              </a:ext>
            </a:extLst>
          </p:cNvPr>
          <p:cNvSpPr txBox="1"/>
          <p:nvPr/>
        </p:nvSpPr>
        <p:spPr>
          <a:xfrm>
            <a:off x="4346558" y="4114800"/>
            <a:ext cx="46065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highlight>
                  <a:srgbClr val="FFFF00"/>
                </a:highlight>
              </a:rPr>
              <a:t>a prompt </a:t>
            </a:r>
            <a:r>
              <a:rPr lang="en-IN" sz="2000" i="1" dirty="0">
                <a:highlight>
                  <a:srgbClr val="FFFF00"/>
                </a:highlight>
              </a:rPr>
              <a:t>x</a:t>
            </a:r>
            <a:r>
              <a:rPr lang="en-IN" sz="2000" dirty="0">
                <a:highlight>
                  <a:srgbClr val="FFFF00"/>
                </a:highlight>
              </a:rPr>
              <a:t> and two candidate outputs </a:t>
            </a:r>
            <a:r>
              <a:rPr lang="en-IN" sz="2000" i="1" dirty="0" err="1">
                <a:highlight>
                  <a:srgbClr val="FFFF00"/>
                </a:highlight>
              </a:rPr>
              <a:t>o</a:t>
            </a:r>
            <a:r>
              <a:rPr lang="en-IN" sz="2000" i="1" baseline="-25000" dirty="0" err="1">
                <a:highlight>
                  <a:srgbClr val="FFFF00"/>
                </a:highlight>
              </a:rPr>
              <a:t>i</a:t>
            </a:r>
            <a:r>
              <a:rPr lang="en-IN" sz="2000" dirty="0" err="1">
                <a:highlight>
                  <a:srgbClr val="FFFF00"/>
                </a:highlight>
              </a:rPr>
              <a:t>,</a:t>
            </a:r>
            <a:r>
              <a:rPr lang="en-IN" sz="2000" i="1" dirty="0" err="1">
                <a:highlight>
                  <a:srgbClr val="FFFF00"/>
                </a:highlight>
              </a:rPr>
              <a:t>o</a:t>
            </a:r>
            <a:r>
              <a:rPr lang="en-IN" sz="2000" i="1" baseline="-25000" dirty="0" err="1">
                <a:highlight>
                  <a:srgbClr val="FFFF00"/>
                </a:highlight>
              </a:rPr>
              <a:t>j</a:t>
            </a:r>
            <a:endParaRPr lang="en-IN" sz="20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76880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15240" y="1330533"/>
            <a:ext cx="9128760" cy="5257800"/>
          </a:xfrm>
        </p:spPr>
        <p:txBody>
          <a:bodyPr>
            <a:normAutofit lnSpcReduction="10000"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We don’t have scores, z</a:t>
            </a:r>
            <a:r>
              <a:rPr lang="en-US" baseline="-25000" dirty="0"/>
              <a:t>i</a:t>
            </a:r>
            <a:r>
              <a:rPr lang="en-US" dirty="0"/>
              <a:t> but we have collections of preference judgments over pairs of prompt/sample outputs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i="1" dirty="0"/>
              <a:t>z</a:t>
            </a:r>
            <a:r>
              <a:rPr lang="en-IN" i="1" baseline="-25000" dirty="0"/>
              <a:t>i</a:t>
            </a:r>
            <a:r>
              <a:rPr lang="en-IN" dirty="0"/>
              <a:t>=</a:t>
            </a:r>
            <a:r>
              <a:rPr lang="en-IN" i="1" dirty="0"/>
              <a:t>r</a:t>
            </a:r>
            <a:r>
              <a:rPr lang="en-IN" dirty="0"/>
              <a:t>(</a:t>
            </a:r>
            <a:r>
              <a:rPr lang="en-IN" i="1" dirty="0" err="1"/>
              <a:t>x</a:t>
            </a:r>
            <a:r>
              <a:rPr lang="en-IN" dirty="0" err="1"/>
              <a:t>,</a:t>
            </a:r>
            <a:r>
              <a:rPr lang="en-IN" i="1" dirty="0" err="1"/>
              <a:t>o</a:t>
            </a:r>
            <a:r>
              <a:rPr lang="en-IN" i="1" baseline="-25000" dirty="0" err="1"/>
              <a:t>i</a:t>
            </a:r>
            <a:r>
              <a:rPr lang="en-IN" dirty="0"/>
              <a:t>) and </a:t>
            </a:r>
            <a:r>
              <a:rPr lang="en-IN" i="1" dirty="0" err="1"/>
              <a:t>z</a:t>
            </a:r>
            <a:r>
              <a:rPr lang="en-IN" i="1" baseline="-25000" dirty="0" err="1"/>
              <a:t>j</a:t>
            </a:r>
            <a:r>
              <a:rPr lang="en-IN" dirty="0"/>
              <a:t>=</a:t>
            </a:r>
            <a:r>
              <a:rPr lang="en-IN" i="1" dirty="0"/>
              <a:t>r</a:t>
            </a:r>
            <a:r>
              <a:rPr lang="en-IN" dirty="0"/>
              <a:t>(</a:t>
            </a:r>
            <a:r>
              <a:rPr lang="en-IN" i="1" dirty="0" err="1"/>
              <a:t>x</a:t>
            </a:r>
            <a:r>
              <a:rPr lang="en-IN" dirty="0" err="1"/>
              <a:t>,</a:t>
            </a:r>
            <a:r>
              <a:rPr lang="en-IN" i="1" dirty="0" err="1"/>
              <a:t>o</a:t>
            </a:r>
            <a:r>
              <a:rPr lang="en-IN" i="1" baseline="-25000" dirty="0" err="1"/>
              <a:t>j</a:t>
            </a:r>
            <a:r>
              <a:rPr lang="en-IN" dirty="0"/>
              <a:t>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We’ll use this preference data and BT reward formulation to learn a  reward function, r(</a:t>
            </a:r>
            <a:r>
              <a:rPr lang="en-US" dirty="0" err="1"/>
              <a:t>x,o</a:t>
            </a:r>
            <a:r>
              <a:rPr lang="en-US" dirty="0"/>
              <a:t>) that assigns a scalar reward to prompt/output </a:t>
            </a:r>
            <a:r>
              <a:rPr lang="en-IN" dirty="0"/>
              <a:t>pairs.</a:t>
            </a:r>
            <a:endParaRPr lang="en-US" dirty="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/>
              <a:t>This has the right </a:t>
            </a:r>
            <a:r>
              <a:rPr lang="en-IN" dirty="0" err="1"/>
              <a:t>behavior</a:t>
            </a:r>
            <a:r>
              <a:rPr lang="en-IN" dirty="0"/>
              <a:t>: if </a:t>
            </a:r>
            <a:r>
              <a:rPr lang="en-IN" i="1" dirty="0"/>
              <a:t>r</a:t>
            </a:r>
            <a:r>
              <a:rPr lang="en-IN" dirty="0"/>
              <a:t>(</a:t>
            </a:r>
            <a:r>
              <a:rPr lang="en-IN" i="1" dirty="0" err="1"/>
              <a:t>x</a:t>
            </a:r>
            <a:r>
              <a:rPr lang="en-IN" dirty="0" err="1"/>
              <a:t>,</a:t>
            </a:r>
            <a:r>
              <a:rPr lang="en-IN" i="1" dirty="0" err="1"/>
              <a:t>o</a:t>
            </a:r>
            <a:r>
              <a:rPr lang="en-IN" i="1" baseline="-25000" dirty="0" err="1"/>
              <a:t>i</a:t>
            </a:r>
            <a:r>
              <a:rPr lang="en-IN" dirty="0"/>
              <a:t>)≫</a:t>
            </a:r>
            <a:r>
              <a:rPr lang="en-IN" i="1" dirty="0"/>
              <a:t>r</a:t>
            </a:r>
            <a:r>
              <a:rPr lang="en-IN" dirty="0"/>
              <a:t>(</a:t>
            </a:r>
            <a:r>
              <a:rPr lang="en-IN" i="1" dirty="0" err="1"/>
              <a:t>x</a:t>
            </a:r>
            <a:r>
              <a:rPr lang="en-IN" dirty="0" err="1"/>
              <a:t>,</a:t>
            </a:r>
            <a:r>
              <a:rPr lang="en-IN" i="1" dirty="0" err="1"/>
              <a:t>o</a:t>
            </a:r>
            <a:r>
              <a:rPr lang="en-IN" i="1" baseline="-25000" dirty="0" err="1"/>
              <a:t>j</a:t>
            </a:r>
            <a:r>
              <a:rPr lang="en-IN" dirty="0"/>
              <a:t>), the probability is near 1; if the scores are equal, the probability is 0.5.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 to Score Preferences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4191000"/>
            <a:ext cx="4408792" cy="1068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245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9322DA05-FB2E-7898-DE5F-BE4C9CF91133}"/>
              </a:ext>
            </a:extLst>
          </p:cNvPr>
          <p:cNvSpPr txBox="1">
            <a:spLocks/>
          </p:cNvSpPr>
          <p:nvPr/>
        </p:nvSpPr>
        <p:spPr>
          <a:xfrm>
            <a:off x="228600" y="0"/>
            <a:ext cx="8160907" cy="121920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Cambria" panose="02040503050406030204" pitchFamily="18" charset="0"/>
                <a:ea typeface="Cambria" panose="02040503050406030204" pitchFamily="18" charset="0"/>
                <a:cs typeface="+mj-cs"/>
              </a:defRPr>
            </a:lvl1pPr>
          </a:lstStyle>
          <a:p>
            <a:r>
              <a:rPr lang="en-IN" dirty="0"/>
              <a:t>Learning to Score Preferences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CCBB2C-0A72-C544-5977-D0F860A5EC40}"/>
              </a:ext>
            </a:extLst>
          </p:cNvPr>
          <p:cNvSpPr txBox="1"/>
          <p:nvPr/>
        </p:nvSpPr>
        <p:spPr>
          <a:xfrm>
            <a:off x="41853" y="1371600"/>
            <a:ext cx="9102147" cy="2861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Human preference pair (x, o</a:t>
            </a:r>
            <a:r>
              <a:rPr lang="en-US" sz="2000" baseline="-25000" dirty="0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w</a:t>
            </a:r>
            <a:r>
              <a:rPr lang="en-US" sz="2000" dirty="0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, </a:t>
            </a:r>
            <a:r>
              <a:rPr lang="en-US" sz="2000" dirty="0" err="1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o</a:t>
            </a:r>
            <a:r>
              <a:rPr lang="en-US" sz="2000" baseline="-25000" dirty="0" err="1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l</a:t>
            </a:r>
            <a:r>
              <a:rPr lang="en-US" sz="2000" dirty="0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)  —  o</a:t>
            </a:r>
            <a:r>
              <a:rPr lang="en-US" sz="2000" baseline="-25000" dirty="0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w</a:t>
            </a:r>
            <a:r>
              <a:rPr lang="en-US" sz="2000" dirty="0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is the winner, </a:t>
            </a:r>
            <a:r>
              <a:rPr lang="en-US" sz="2000" dirty="0" err="1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o</a:t>
            </a:r>
            <a:r>
              <a:rPr lang="en-US" sz="2000" baseline="-25000" dirty="0" err="1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l</a:t>
            </a:r>
            <a:r>
              <a:rPr lang="en-US" sz="2000" dirty="0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is the loser.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Model's predicted probability of the correct label: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>
              <a:spcBef>
                <a:spcPts val="750"/>
              </a:spcBef>
              <a:spcAft>
                <a:spcPts val="750"/>
              </a:spcAft>
            </a:pPr>
            <a:r>
              <a:rPr lang="en-US" sz="2000" b="1" dirty="0">
                <a:solidFill>
                  <a:srgbClr val="21295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 pitchFamily="34" charset="-120"/>
              </a:rPr>
              <a:t>P(o</a:t>
            </a:r>
            <a:r>
              <a:rPr lang="en-US" sz="2000" b="1" baseline="-25000" dirty="0">
                <a:solidFill>
                  <a:srgbClr val="21295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 pitchFamily="34" charset="-120"/>
              </a:rPr>
              <a:t>w</a:t>
            </a:r>
            <a:r>
              <a:rPr lang="en-US" sz="2000" b="1" dirty="0">
                <a:solidFill>
                  <a:srgbClr val="21295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 pitchFamily="34" charset="-120"/>
              </a:rPr>
              <a:t> ≻ </a:t>
            </a:r>
            <a:r>
              <a:rPr lang="en-US" sz="2000" b="1" dirty="0" err="1">
                <a:solidFill>
                  <a:srgbClr val="21295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 pitchFamily="34" charset="-120"/>
              </a:rPr>
              <a:t>o</a:t>
            </a:r>
            <a:r>
              <a:rPr lang="en-US" sz="2000" b="1" baseline="-25000" dirty="0" err="1">
                <a:solidFill>
                  <a:srgbClr val="21295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 pitchFamily="34" charset="-120"/>
              </a:rPr>
              <a:t>l</a:t>
            </a:r>
            <a:r>
              <a:rPr lang="en-US" sz="2000" b="1" dirty="0">
                <a:solidFill>
                  <a:srgbClr val="21295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 pitchFamily="34" charset="-120"/>
              </a:rPr>
              <a:t> | x)  =  σ( r(x, o</a:t>
            </a:r>
            <a:r>
              <a:rPr lang="en-US" sz="2000" b="1" baseline="-25000" dirty="0">
                <a:solidFill>
                  <a:srgbClr val="21295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 pitchFamily="34" charset="-120"/>
              </a:rPr>
              <a:t>w</a:t>
            </a:r>
            <a:r>
              <a:rPr lang="en-US" sz="2000" b="1" dirty="0">
                <a:solidFill>
                  <a:srgbClr val="21295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 pitchFamily="34" charset="-120"/>
              </a:rPr>
              <a:t>) − r(x, </a:t>
            </a:r>
            <a:r>
              <a:rPr lang="en-US" sz="2000" b="1" dirty="0" err="1">
                <a:solidFill>
                  <a:srgbClr val="21295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 pitchFamily="34" charset="-120"/>
              </a:rPr>
              <a:t>o</a:t>
            </a:r>
            <a:r>
              <a:rPr lang="en-US" sz="2000" b="1" baseline="-25000" dirty="0" err="1">
                <a:solidFill>
                  <a:srgbClr val="21295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 pitchFamily="34" charset="-120"/>
              </a:rPr>
              <a:t>l</a:t>
            </a:r>
            <a:r>
              <a:rPr lang="en-US" sz="2000" b="1" dirty="0">
                <a:solidFill>
                  <a:srgbClr val="21295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 pitchFamily="34" charset="-120"/>
              </a:rPr>
              <a:t>) )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Negative log-likelihood (binary cross-entropy) for a single pair: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>
              <a:spcBef>
                <a:spcPts val="750"/>
              </a:spcBef>
              <a:spcAft>
                <a:spcPts val="750"/>
              </a:spcAft>
            </a:pPr>
            <a:r>
              <a:rPr lang="en-US" sz="2000" b="1" dirty="0">
                <a:solidFill>
                  <a:srgbClr val="21295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 pitchFamily="34" charset="-120"/>
              </a:rPr>
              <a:t>ℓ  =  − log σ( r(x, o</a:t>
            </a:r>
            <a:r>
              <a:rPr lang="en-US" sz="2000" b="1" baseline="-25000" dirty="0">
                <a:solidFill>
                  <a:srgbClr val="21295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 pitchFamily="34" charset="-120"/>
              </a:rPr>
              <a:t>w</a:t>
            </a:r>
            <a:r>
              <a:rPr lang="en-US" sz="2000" b="1" dirty="0">
                <a:solidFill>
                  <a:srgbClr val="21295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 pitchFamily="34" charset="-120"/>
              </a:rPr>
              <a:t>) − r(x, </a:t>
            </a:r>
            <a:r>
              <a:rPr lang="en-US" sz="2000" b="1" dirty="0" err="1">
                <a:solidFill>
                  <a:srgbClr val="21295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 pitchFamily="34" charset="-120"/>
              </a:rPr>
              <a:t>o</a:t>
            </a:r>
            <a:r>
              <a:rPr lang="en-US" sz="2000" b="1" baseline="-25000" dirty="0" err="1">
                <a:solidFill>
                  <a:srgbClr val="21295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 pitchFamily="34" charset="-120"/>
              </a:rPr>
              <a:t>l</a:t>
            </a:r>
            <a:r>
              <a:rPr lang="en-US" sz="2000" b="1" dirty="0">
                <a:solidFill>
                  <a:srgbClr val="21295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 pitchFamily="34" charset="-120"/>
              </a:rPr>
              <a:t>) 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Use gradient descent to minimize a binary cross-entropy loss to train the model and learn r(</a:t>
            </a:r>
            <a:r>
              <a:rPr lang="en-US" sz="2000" dirty="0" err="1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x,o</a:t>
            </a:r>
            <a:r>
              <a:rPr lang="en-US" sz="2000" dirty="0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from the preference data</a:t>
            </a:r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91D7BA-ED40-E964-8575-E32FC0CB7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4249160"/>
            <a:ext cx="4352925" cy="18882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228600" y="1405620"/>
            <a:ext cx="8610600" cy="5236576"/>
          </a:xfrm>
        </p:spPr>
        <p:txBody>
          <a:bodyPr>
            <a:normAutofit/>
          </a:bodyPr>
          <a:lstStyle/>
          <a:p>
            <a:r>
              <a:rPr lang="en-IN" sz="2000" dirty="0">
                <a:sym typeface="Wingdings" panose="05000000000000000000" pitchFamily="2" charset="2"/>
              </a:rPr>
              <a:t> </a:t>
            </a:r>
            <a:r>
              <a:rPr lang="en-IN" sz="2000" dirty="0"/>
              <a:t>Given a training example (</a:t>
            </a:r>
            <a:r>
              <a:rPr lang="en-IN" sz="2000" i="1" dirty="0" err="1"/>
              <a:t>x</a:t>
            </a:r>
            <a:r>
              <a:rPr lang="en-IN" sz="2000" dirty="0" err="1"/>
              <a:t>,</a:t>
            </a:r>
            <a:r>
              <a:rPr lang="en-IN" sz="2000" i="1" dirty="0" err="1"/>
              <a:t>o</a:t>
            </a:r>
            <a:r>
              <a:rPr lang="en-IN" sz="2000" i="1" baseline="-25000" dirty="0" err="1"/>
              <a:t>i</a:t>
            </a:r>
            <a:r>
              <a:rPr lang="en-IN" sz="2000" dirty="0" err="1"/>
              <a:t>,</a:t>
            </a:r>
            <a:r>
              <a:rPr lang="en-IN" sz="2000" i="1" dirty="0" err="1"/>
              <a:t>o</a:t>
            </a:r>
            <a:r>
              <a:rPr lang="en-IN" sz="2000" i="1" baseline="-25000" dirty="0" err="1"/>
              <a:t>j</a:t>
            </a:r>
            <a:r>
              <a:rPr lang="en-IN" sz="2000" dirty="0"/>
              <a:t>) where humans prefer </a:t>
            </a:r>
            <a:r>
              <a:rPr lang="en-IN" sz="2000" i="1" dirty="0"/>
              <a:t>o</a:t>
            </a:r>
            <a:r>
              <a:rPr lang="en-IN" sz="2000" i="1" baseline="-25000" dirty="0"/>
              <a:t>i</a:t>
            </a:r>
            <a:r>
              <a:rPr lang="en-IN" sz="2000" i="1" dirty="0"/>
              <a:t> </a:t>
            </a:r>
            <a:r>
              <a:rPr lang="en-IN" sz="2000" dirty="0"/>
              <a:t>≻ </a:t>
            </a:r>
            <a:r>
              <a:rPr lang="en-IN" sz="2000" i="1" dirty="0" err="1"/>
              <a:t>o</a:t>
            </a:r>
            <a:r>
              <a:rPr lang="en-IN" sz="2000" i="1" baseline="-25000" dirty="0" err="1"/>
              <a:t>j</a:t>
            </a:r>
            <a:endParaRPr lang="en-IN" sz="2000" baseline="-25000" dirty="0"/>
          </a:p>
          <a:p>
            <a:r>
              <a:rPr lang="en-IN" sz="2000" dirty="0"/>
              <a:t>Run the model twice to obtain scores </a:t>
            </a:r>
            <a:r>
              <a:rPr lang="en-IN" sz="2000" i="1" dirty="0"/>
              <a:t>r</a:t>
            </a:r>
            <a:r>
              <a:rPr lang="en-IN" sz="2000" dirty="0"/>
              <a:t>(</a:t>
            </a:r>
            <a:r>
              <a:rPr lang="en-IN" sz="2000" i="1" dirty="0" err="1"/>
              <a:t>x</a:t>
            </a:r>
            <a:r>
              <a:rPr lang="en-IN" sz="2000" dirty="0" err="1"/>
              <a:t>,</a:t>
            </a:r>
            <a:r>
              <a:rPr lang="en-IN" sz="2000" i="1" dirty="0" err="1"/>
              <a:t>o</a:t>
            </a:r>
            <a:r>
              <a:rPr lang="en-IN" sz="2000" i="1" baseline="-25000" dirty="0" err="1"/>
              <a:t>i</a:t>
            </a:r>
            <a:r>
              <a:rPr lang="en-IN" sz="2000" dirty="0"/>
              <a:t>) and </a:t>
            </a:r>
            <a:r>
              <a:rPr lang="en-IN" sz="2000" i="1" dirty="0"/>
              <a:t>r</a:t>
            </a:r>
            <a:r>
              <a:rPr lang="en-IN" sz="2000" dirty="0"/>
              <a:t>(</a:t>
            </a:r>
            <a:r>
              <a:rPr lang="en-IN" sz="2000" i="1" dirty="0" err="1"/>
              <a:t>x</a:t>
            </a:r>
            <a:r>
              <a:rPr lang="en-IN" sz="2000" dirty="0" err="1"/>
              <a:t>,</a:t>
            </a:r>
            <a:r>
              <a:rPr lang="en-IN" sz="2000" i="1" dirty="0" err="1"/>
              <a:t>o</a:t>
            </a:r>
            <a:r>
              <a:rPr lang="en-IN" sz="2000" i="1" baseline="-25000" dirty="0" err="1"/>
              <a:t>j</a:t>
            </a:r>
            <a:r>
              <a:rPr lang="en-IN" sz="2000" dirty="0"/>
              <a:t>)</a:t>
            </a:r>
          </a:p>
          <a:p>
            <a:endParaRPr lang="en-IN" sz="2000" dirty="0"/>
          </a:p>
          <a:p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/>
              <a:t>Suppose the current reward model outputs </a:t>
            </a:r>
            <a:r>
              <a:rPr lang="en-US" sz="2000" i="1" dirty="0"/>
              <a:t>r</a:t>
            </a:r>
            <a:r>
              <a:rPr lang="en-US" sz="2000" dirty="0"/>
              <a:t>(</a:t>
            </a:r>
            <a:r>
              <a:rPr lang="en-US" sz="2000" i="1" dirty="0" err="1"/>
              <a:t>x</a:t>
            </a:r>
            <a:r>
              <a:rPr lang="en-US" sz="2000" dirty="0" err="1"/>
              <a:t>,</a:t>
            </a:r>
            <a:r>
              <a:rPr lang="en-US" sz="2000" i="1" dirty="0" err="1"/>
              <a:t>o</a:t>
            </a:r>
            <a:r>
              <a:rPr lang="en-US" sz="2000" i="1" baseline="-25000" dirty="0" err="1"/>
              <a:t>i</a:t>
            </a:r>
            <a:r>
              <a:rPr lang="en-US" sz="2000" dirty="0"/>
              <a:t>)=1.2,  </a:t>
            </a:r>
            <a:r>
              <a:rPr lang="en-US" sz="2000" i="1" dirty="0"/>
              <a:t>r</a:t>
            </a:r>
            <a:r>
              <a:rPr lang="en-US" sz="2000" dirty="0"/>
              <a:t>(</a:t>
            </a:r>
            <a:r>
              <a:rPr lang="en-US" sz="2000" i="1" dirty="0" err="1"/>
              <a:t>x</a:t>
            </a:r>
            <a:r>
              <a:rPr lang="en-US" sz="2000" dirty="0" err="1"/>
              <a:t>,</a:t>
            </a:r>
            <a:r>
              <a:rPr lang="en-US" sz="2000" i="1" dirty="0" err="1"/>
              <a:t>o</a:t>
            </a:r>
            <a:r>
              <a:rPr lang="en-US" sz="2000" i="1" baseline="-25000" dirty="0" err="1"/>
              <a:t>j</a:t>
            </a:r>
            <a:r>
              <a:rPr lang="en-US" sz="2000" dirty="0"/>
              <a:t>)=0.3</a:t>
            </a:r>
          </a:p>
          <a:p>
            <a:pPr algn="l"/>
            <a:r>
              <a:rPr lang="en-US" sz="2000" dirty="0"/>
              <a:t>      score difference is 1.2−0.3=0.9</a:t>
            </a:r>
          </a:p>
          <a:p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</a:t>
            </a:r>
            <a:r>
              <a:rPr lang="en-US" sz="2000" dirty="0"/>
              <a:t> Bradley–Terry probability that </a:t>
            </a:r>
            <a:r>
              <a:rPr lang="en-US" sz="2000" i="1" dirty="0"/>
              <a:t>o</a:t>
            </a:r>
            <a:r>
              <a:rPr lang="en-US" sz="2000" i="1" baseline="-25000" dirty="0"/>
              <a:t>i</a:t>
            </a:r>
            <a:r>
              <a:rPr lang="en-US" sz="2000" dirty="0"/>
              <a:t> is preferred 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dirty="0">
                <a:sym typeface="Wingdings" panose="05000000000000000000" pitchFamily="2" charset="2"/>
              </a:rPr>
              <a:t></a:t>
            </a:r>
            <a:r>
              <a:rPr lang="en-US" sz="2000" dirty="0"/>
              <a:t>Pairwise loss </a:t>
            </a:r>
            <a:r>
              <a:rPr lang="en-IN" sz="2000" dirty="0"/>
              <a:t>(binary cross-entropy)</a:t>
            </a:r>
            <a:r>
              <a:rPr lang="en-US" sz="2000" dirty="0"/>
              <a:t> for this example is</a:t>
            </a:r>
          </a:p>
          <a:p>
            <a:r>
              <a:rPr lang="en-US" sz="2000" i="1" dirty="0"/>
              <a:t>                      L</a:t>
            </a:r>
            <a:r>
              <a:rPr lang="en-US" sz="2000" dirty="0"/>
              <a:t>=−log </a:t>
            </a:r>
            <a:r>
              <a:rPr lang="en-US" sz="2000" i="1" dirty="0"/>
              <a:t>P</a:t>
            </a:r>
            <a:r>
              <a:rPr lang="en-US" sz="2000" dirty="0"/>
              <a:t>(</a:t>
            </a:r>
            <a:r>
              <a:rPr lang="en-US" sz="2000" i="1" dirty="0"/>
              <a:t>o</a:t>
            </a:r>
            <a:r>
              <a:rPr lang="en-US" sz="2000" i="1" baseline="-25000" dirty="0"/>
              <a:t>i</a:t>
            </a:r>
            <a:r>
              <a:rPr lang="en-US" sz="2000" i="1" dirty="0"/>
              <a:t> </a:t>
            </a:r>
            <a:r>
              <a:rPr lang="en-US" sz="2000" dirty="0"/>
              <a:t>≻ </a:t>
            </a:r>
            <a:r>
              <a:rPr lang="en-US" sz="2000" i="1" dirty="0" err="1"/>
              <a:t>o</a:t>
            </a:r>
            <a:r>
              <a:rPr lang="en-US" sz="2000" i="1" baseline="-25000" dirty="0" err="1"/>
              <a:t>j</a:t>
            </a:r>
            <a:r>
              <a:rPr lang="en-US" sz="2000" i="1" baseline="-25000" dirty="0"/>
              <a:t> </a:t>
            </a:r>
            <a:r>
              <a:rPr lang="en-US" sz="2000" dirty="0"/>
              <a:t>∣ </a:t>
            </a:r>
            <a:r>
              <a:rPr lang="en-US" sz="2000" i="1" dirty="0"/>
              <a:t>x</a:t>
            </a:r>
            <a:r>
              <a:rPr lang="en-US" sz="2000" dirty="0"/>
              <a:t>) = −log (0.71) ≈ 0.34</a:t>
            </a:r>
          </a:p>
          <a:p>
            <a:endParaRPr lang="en-IN" sz="2000" dirty="0"/>
          </a:p>
          <a:p>
            <a:r>
              <a:rPr lang="en-IN" sz="2000" dirty="0">
                <a:sym typeface="Wingdings" panose="05000000000000000000" pitchFamily="2" charset="2"/>
              </a:rPr>
              <a:t></a:t>
            </a:r>
            <a:r>
              <a:rPr lang="en-IN" sz="2000" dirty="0"/>
              <a:t>During training, the RM adjusts its parameters to reduce this loss — which means increasing r(x, oi) relative to r(x, </a:t>
            </a:r>
            <a:r>
              <a:rPr lang="en-IN" sz="2000" dirty="0" err="1"/>
              <a:t>oj</a:t>
            </a:r>
            <a:r>
              <a:rPr lang="en-IN" sz="2000" dirty="0"/>
              <a:t>) so that σ(score difference) gets closer to 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Reward models (RMs) - example </a:t>
            </a:r>
            <a:endParaRPr lang="en-IN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639" y="3429000"/>
            <a:ext cx="4052522" cy="6045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753" y="758458"/>
            <a:ext cx="3956727" cy="48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081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129363" y="1651325"/>
            <a:ext cx="4921936" cy="2913177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reward models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250F5A-16BD-C2B6-9EE9-5CA19C009823}"/>
              </a:ext>
            </a:extLst>
          </p:cNvPr>
          <p:cNvSpPr txBox="1"/>
          <p:nvPr/>
        </p:nvSpPr>
        <p:spPr>
          <a:xfrm>
            <a:off x="5105400" y="637953"/>
            <a:ext cx="3886200" cy="34778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kern="0"/>
            </a:defPPr>
            <a:lvl1pPr marL="342900" indent="-342900">
              <a:buFont typeface="Arial" panose="020B0604020202020204" pitchFamily="34" charset="0"/>
              <a:buChar char="•"/>
              <a:defRPr sz="20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3pPr marL="342900" lvl="2" indent="-342900">
              <a:buFont typeface="Arial" panose="020B0604020202020204" pitchFamily="34" charset="0"/>
              <a:buChar char="•"/>
              <a:defRPr sz="2000">
                <a:latin typeface="Cambria" panose="02040503050406030204" pitchFamily="18" charset="0"/>
                <a:ea typeface="Cambria" panose="02040503050406030204" pitchFamily="18" charset="0"/>
              </a:defRPr>
            </a:lvl3pPr>
          </a:lstStyle>
          <a:p>
            <a:pPr marL="0" indent="0">
              <a:buNone/>
            </a:pPr>
            <a:r>
              <a:rPr lang="en-IN" dirty="0"/>
              <a:t>Uses of reward models</a:t>
            </a:r>
          </a:p>
          <a:p>
            <a:r>
              <a:rPr lang="en-IN" dirty="0"/>
              <a:t>Best-of-N sampling — generate N responses, keep the highest-scoring one</a:t>
            </a:r>
          </a:p>
          <a:p>
            <a:r>
              <a:rPr lang="en-IN" dirty="0"/>
              <a:t>Model alignment — the reward signal inside PPO and GRPO</a:t>
            </a:r>
          </a:p>
          <a:p>
            <a:r>
              <a:rPr lang="en-IN" dirty="0"/>
              <a:t>Automated evaluation — a proxy for pairwise human preference during development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D344E7-D152-6595-8704-38CD3341A3F8}"/>
              </a:ext>
            </a:extLst>
          </p:cNvPr>
          <p:cNvSpPr txBox="1"/>
          <p:nvPr/>
        </p:nvSpPr>
        <p:spPr>
          <a:xfrm>
            <a:off x="124283" y="5006787"/>
            <a:ext cx="8835447" cy="13234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kern="0"/>
            </a:defPPr>
            <a:lvl1pPr marL="342900" indent="-342900">
              <a:buFont typeface="Arial" panose="020B0604020202020204" pitchFamily="34" charset="0"/>
              <a:buChar char="•"/>
              <a:defRPr sz="20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3pPr marL="342900" lvl="2" indent="-342900">
              <a:buFont typeface="Arial" panose="020B0604020202020204" pitchFamily="34" charset="0"/>
              <a:buChar char="•"/>
              <a:defRPr sz="2000">
                <a:latin typeface="Cambria" panose="02040503050406030204" pitchFamily="18" charset="0"/>
                <a:ea typeface="Cambria" panose="02040503050406030204" pitchFamily="18" charset="0"/>
              </a:defRPr>
            </a:lvl3pPr>
          </a:lstStyle>
          <a:p>
            <a:r>
              <a:rPr lang="en-IN" dirty="0"/>
              <a:t>Llama-2 trains two reward models: one that scores helpfulness and another that scores safety</a:t>
            </a:r>
          </a:p>
          <a:p>
            <a:r>
              <a:rPr lang="en-IN" dirty="0"/>
              <a:t>Ensembles of RMs reduce reward hacking, but cost proportionally more to train and serve</a:t>
            </a:r>
          </a:p>
        </p:txBody>
      </p:sp>
    </p:spTree>
    <p:extLst>
      <p:ext uri="{BB962C8B-B14F-4D97-AF65-F5344CB8AC3E}">
        <p14:creationId xmlns:p14="http://schemas.microsoft.com/office/powerpoint/2010/main" val="798777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 (RL)</a:t>
            </a:r>
            <a:endParaRPr lang="en-IN" dirty="0"/>
          </a:p>
        </p:txBody>
      </p:sp>
      <p:pic>
        <p:nvPicPr>
          <p:cNvPr id="14340" name="Picture 4" descr="https://substackcdn.com/image/fetch/$s_!KWz-!,w_1456,c_limit,f_auto,q_auto:good,fl_progressive:steep/https%3A%2F%2Fsubstack-post-media.s3.amazonaws.com%2Fpublic%2Fimages%2F52f4f8de-4456-4cbd-935c-a945968b704d_1466x91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70" y="1676400"/>
            <a:ext cx="4696460" cy="2935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228600" y="6247895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200" dirty="0"/>
              <a:t>https://cameronrwolfe.substack.com/p/ppo-llm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0560A1-6506-6466-1FAF-959B0826A06C}"/>
              </a:ext>
            </a:extLst>
          </p:cNvPr>
          <p:cNvSpPr txBox="1"/>
          <p:nvPr/>
        </p:nvSpPr>
        <p:spPr>
          <a:xfrm>
            <a:off x="4983480" y="1524000"/>
            <a:ext cx="4160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dirty="0">
                <a:solidFill>
                  <a:srgbClr val="0F1A2B"/>
                </a:solidFill>
                <a:latin typeface="Cambria"/>
              </a:rPr>
              <a:t>RL is a computational approach to learning through interaction.</a:t>
            </a:r>
          </a:p>
          <a:p>
            <a:pPr>
              <a:spcAft>
                <a:spcPts val="600"/>
              </a:spcAft>
            </a:pPr>
            <a:endParaRPr sz="1600" b="0" dirty="0">
              <a:solidFill>
                <a:srgbClr val="0F1A2B"/>
              </a:solidFill>
              <a:latin typeface="Cambria"/>
            </a:endParaRPr>
          </a:p>
          <a:p>
            <a:pPr>
              <a:spcAft>
                <a:spcPts val="600"/>
              </a:spcAft>
            </a:pPr>
            <a:r>
              <a:rPr sz="1600" b="0" dirty="0">
                <a:solidFill>
                  <a:srgbClr val="0F1A2B"/>
                </a:solidFill>
                <a:latin typeface="Cambria"/>
              </a:rPr>
              <a:t>The framework is a continuous cycle between two entities: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065A82"/>
                </a:solidFill>
                <a:latin typeface="Cambria"/>
              </a:rPr>
              <a:t>     Agent  and  Environment</a:t>
            </a:r>
          </a:p>
          <a:p>
            <a:pPr>
              <a:spcAft>
                <a:spcPts val="600"/>
              </a:spcAft>
            </a:pPr>
            <a:endParaRPr sz="1600" b="1" dirty="0">
              <a:solidFill>
                <a:srgbClr val="065A82"/>
              </a:solidFill>
              <a:latin typeface="Cambria"/>
            </a:endParaRPr>
          </a:p>
          <a:p>
            <a:pPr>
              <a:spcAft>
                <a:spcPts val="600"/>
              </a:spcAft>
            </a:pPr>
            <a:r>
              <a:rPr sz="1600" b="0" dirty="0">
                <a:solidFill>
                  <a:srgbClr val="0F1A2B"/>
                </a:solidFill>
                <a:latin typeface="Cambria"/>
              </a:rPr>
              <a:t>The policy is the function we want to learn.</a:t>
            </a:r>
          </a:p>
          <a:p>
            <a:pPr>
              <a:spcAft>
                <a:spcPts val="600"/>
              </a:spcAft>
            </a:pPr>
            <a:endParaRPr sz="1600" b="0" dirty="0">
              <a:solidFill>
                <a:srgbClr val="0F1A2B"/>
              </a:solidFill>
              <a:latin typeface="Cambria"/>
            </a:endParaRPr>
          </a:p>
          <a:p>
            <a:pPr>
              <a:spcAft>
                <a:spcPts val="600"/>
              </a:spcAft>
            </a:pPr>
            <a:r>
              <a:rPr sz="1600" b="0" dirty="0">
                <a:solidFill>
                  <a:srgbClr val="0F1A2B"/>
                </a:solidFill>
                <a:latin typeface="Cambria"/>
              </a:rPr>
              <a:t>Goal: find the optimal policy π*, the policy that maximizes expected return when the agent acts according to it.</a:t>
            </a:r>
          </a:p>
          <a:p>
            <a:pPr>
              <a:spcAft>
                <a:spcPts val="600"/>
              </a:spcAft>
            </a:pPr>
            <a:endParaRPr sz="1600" b="0" dirty="0">
              <a:solidFill>
                <a:srgbClr val="0F1A2B"/>
              </a:solidFill>
              <a:latin typeface="Cambria"/>
            </a:endParaRPr>
          </a:p>
          <a:p>
            <a:pPr>
              <a:spcAft>
                <a:spcPts val="600"/>
              </a:spcAft>
            </a:pPr>
            <a:r>
              <a:rPr sz="1600" b="0" dirty="0">
                <a:solidFill>
                  <a:srgbClr val="0F1A2B"/>
                </a:solidFill>
                <a:latin typeface="Cambria"/>
              </a:rPr>
              <a:t>We find π* through training.</a:t>
            </a:r>
          </a:p>
        </p:txBody>
      </p:sp>
    </p:spTree>
    <p:extLst>
      <p:ext uri="{BB962C8B-B14F-4D97-AF65-F5344CB8AC3E}">
        <p14:creationId xmlns:p14="http://schemas.microsoft.com/office/powerpoint/2010/main" val="788582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RLHF for preference tuning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8212" y="4519380"/>
            <a:ext cx="5006340" cy="19065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EFF3C0C-FAA3-B4A6-DFCE-B434D77D2211}"/>
              </a:ext>
            </a:extLst>
          </p:cNvPr>
          <p:cNvSpPr txBox="1"/>
          <p:nvPr/>
        </p:nvSpPr>
        <p:spPr>
          <a:xfrm>
            <a:off x="-20128" y="1385358"/>
            <a:ext cx="8904680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50"/>
              </a:spcAft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State: LLM (Agent) looks at the Input so far (s</a:t>
            </a:r>
            <a:r>
              <a:rPr lang="en-US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), which includes the original user prompt and any words it has already written</a:t>
            </a:r>
          </a:p>
          <a:p>
            <a:pPr marL="342900" indent="-342900">
              <a:spcAft>
                <a:spcPts val="150"/>
              </a:spcAft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Action: Based on its Policy (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π</a:t>
            </a:r>
            <a:r>
              <a:rPr lang="en-US" i="1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), the model calculates the Probability of the next token and selects a specific Next token (a</a:t>
            </a:r>
            <a:r>
              <a:rPr lang="en-US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 to generate</a:t>
            </a:r>
          </a:p>
          <a:p>
            <a:pPr marL="342900" indent="-342900">
              <a:spcAft>
                <a:spcPts val="150"/>
              </a:spcAft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Transition: This new token is added to the sequence, creating a new "Environment" state for the next step</a:t>
            </a:r>
          </a:p>
          <a:p>
            <a:pPr marL="342900" indent="-342900">
              <a:spcAft>
                <a:spcPts val="150"/>
              </a:spcAft>
              <a:buAutoNum type="arabicPeriod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Feedback: Once the response is complete, the reward model scores it as a whole. That single number rates the entire generated response.</a:t>
            </a:r>
          </a:p>
          <a:p>
            <a:pPr marL="342900" indent="-342900">
              <a:spcAft>
                <a:spcPts val="150"/>
              </a:spcAft>
              <a:buAutoNum type="arabicPeriod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Optimization: LLM uses this response-level reward to adjust its parameters θ so that higher-scoring responses become more likely.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FF8FB7-63F0-7F04-00E3-288CC3F5EC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373561"/>
            <a:ext cx="2763004" cy="210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3802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797677-CFD3-DFCE-1138-BB6026629EB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fontScale="85000" lnSpcReduction="10000"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dirty="0"/>
              <a:t>RLHF is an LLM alignment pipeline that uses human preference signals to train a reward model and then optimizes the language model with reinforcement learning (commonly PPO) to produce outputs humans prefer.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dirty="0"/>
              <a:t>Before RLHF begins, three things already exist: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b="1" dirty="0"/>
              <a:t>A pretrained LLM</a:t>
            </a:r>
            <a:r>
              <a:rPr lang="en-IN" dirty="0"/>
              <a:t> — knows language from web-scale text. Has no particular preferences or instruction-following </a:t>
            </a:r>
            <a:r>
              <a:rPr lang="en-IN" dirty="0" err="1"/>
              <a:t>behavior</a:t>
            </a:r>
            <a:r>
              <a:rPr lang="en-IN" dirty="0"/>
              <a:t>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b="1" dirty="0"/>
              <a:t>An SFT model</a:t>
            </a:r>
            <a:r>
              <a:rPr lang="en-IN" dirty="0"/>
              <a:t> — the same LLM after instruction fine-tuning. Now follows instructions in the right format, but its judgment on </a:t>
            </a:r>
            <a:r>
              <a:rPr lang="en-IN" i="1" dirty="0"/>
              <a:t>which</a:t>
            </a:r>
            <a:r>
              <a:rPr lang="en-IN" dirty="0"/>
              <a:t> response is better is unreliable.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b="1" dirty="0"/>
              <a:t>A preference dataset</a:t>
            </a:r>
            <a:r>
              <a:rPr lang="en-IN" dirty="0"/>
              <a:t> — triples (x, o</a:t>
            </a:r>
            <a:r>
              <a:rPr lang="en-IN" baseline="-25000" dirty="0"/>
              <a:t>w</a:t>
            </a:r>
            <a:r>
              <a:rPr lang="en-IN" dirty="0"/>
              <a:t>, </a:t>
            </a:r>
            <a:r>
              <a:rPr lang="en-IN" dirty="0" err="1"/>
              <a:t>o</a:t>
            </a:r>
            <a:r>
              <a:rPr lang="en-IN" baseline="-25000" dirty="0" err="1"/>
              <a:t>l</a:t>
            </a:r>
            <a:r>
              <a:rPr lang="en-IN" dirty="0"/>
              <a:t>) collected by human annotators. For each prompt x, humans indicated that o</a:t>
            </a:r>
            <a:r>
              <a:rPr lang="en-IN" baseline="-25000" dirty="0"/>
              <a:t>w</a:t>
            </a:r>
            <a:r>
              <a:rPr lang="en-IN" dirty="0"/>
              <a:t> was preferred over </a:t>
            </a:r>
            <a:r>
              <a:rPr lang="en-IN" dirty="0" err="1"/>
              <a:t>o</a:t>
            </a:r>
            <a:r>
              <a:rPr lang="en-IN" baseline="-25000" dirty="0" err="1"/>
              <a:t>l</a:t>
            </a:r>
            <a:r>
              <a:rPr lang="en-IN" dirty="0"/>
              <a:t>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dirty="0"/>
              <a:t>RLHF's job: use the preference dataset to turn the SFT model into an aligned model — one whose outputs humans genuinely prefer.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dirty="0"/>
              <a:t>The pipeline has two steps. 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b="1" dirty="0"/>
              <a:t>SFT model is the parent.</a:t>
            </a:r>
            <a:r>
              <a:rPr lang="en-IN" dirty="0"/>
              <a:t> Both steps of RLHF begin by making a copy of 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624E73-5CF2-0A3F-5773-9B3A6019A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RLHF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0737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9D6B2B5-AB97-6E2E-69EF-46899AC5781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28600" y="1371600"/>
            <a:ext cx="8763000" cy="5257800"/>
          </a:xfrm>
        </p:spPr>
        <p:txBody>
          <a:bodyPr>
            <a:normAutofit/>
          </a:bodyPr>
          <a:lstStyle/>
          <a:p>
            <a:pPr rtl="0"/>
            <a:r>
              <a:rPr lang="en-IN" sz="2000" b="1" dirty="0"/>
              <a:t>Goal:</a:t>
            </a:r>
            <a:r>
              <a:rPr lang="en-IN" sz="2000" dirty="0"/>
              <a:t> turn the preference dataset into a scoring function r(x, o) that assigns a scalar quality score to any (prompt, response) pair</a:t>
            </a:r>
          </a:p>
          <a:p>
            <a:pPr rtl="0"/>
            <a:endParaRPr lang="en-IN" sz="2000" dirty="0"/>
          </a:p>
          <a:p>
            <a:pPr rtl="0"/>
            <a:r>
              <a:rPr lang="en-IN" sz="2000" b="1" dirty="0"/>
              <a:t>How:</a:t>
            </a:r>
            <a:endParaRPr lang="en-IN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/>
              <a:t>Start with the SFT model. Replace its next-token-prediction head with a new scalar output head. This is the reward model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/>
              <a:t>For each preference triple (x, o</a:t>
            </a:r>
            <a:r>
              <a:rPr lang="en-IN" sz="2000" baseline="-25000" dirty="0"/>
              <a:t>w</a:t>
            </a:r>
            <a:r>
              <a:rPr lang="en-IN" sz="2000" dirty="0"/>
              <a:t>, </a:t>
            </a:r>
            <a:r>
              <a:rPr lang="en-IN" sz="2000" dirty="0" err="1"/>
              <a:t>o</a:t>
            </a:r>
            <a:r>
              <a:rPr lang="en-IN" sz="2000" baseline="-25000" dirty="0" err="1"/>
              <a:t>l</a:t>
            </a:r>
            <a:r>
              <a:rPr lang="en-IN" sz="2000" dirty="0"/>
              <a:t>), run the RM twice — once on (x, o</a:t>
            </a:r>
            <a:r>
              <a:rPr lang="en-IN" sz="2000" baseline="-25000" dirty="0"/>
              <a:t>w</a:t>
            </a:r>
            <a:r>
              <a:rPr lang="en-IN" sz="2000" dirty="0"/>
              <a:t>), once on (x, </a:t>
            </a:r>
            <a:r>
              <a:rPr lang="en-IN" sz="2000" dirty="0" err="1"/>
              <a:t>o</a:t>
            </a:r>
            <a:r>
              <a:rPr lang="en-IN" sz="2000" baseline="-25000" dirty="0" err="1"/>
              <a:t>l</a:t>
            </a:r>
            <a:r>
              <a:rPr lang="en-IN" sz="2000" dirty="0"/>
              <a:t>)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/>
              <a:t>Apply Bradley-Terry: P(o</a:t>
            </a:r>
            <a:r>
              <a:rPr lang="en-IN" sz="2000" baseline="-25000" dirty="0"/>
              <a:t>w</a:t>
            </a:r>
            <a:r>
              <a:rPr lang="en-IN" sz="2000" dirty="0"/>
              <a:t> ≻ </a:t>
            </a:r>
            <a:r>
              <a:rPr lang="en-IN" sz="2000" dirty="0" err="1"/>
              <a:t>o</a:t>
            </a:r>
            <a:r>
              <a:rPr lang="en-IN" sz="2000" baseline="-25000" dirty="0" err="1"/>
              <a:t>l</a:t>
            </a:r>
            <a:r>
              <a:rPr lang="en-IN" sz="2000" dirty="0"/>
              <a:t> | x) = σ(r(x, o</a:t>
            </a:r>
            <a:r>
              <a:rPr lang="en-IN" sz="2000" baseline="-25000" dirty="0"/>
              <a:t>w</a:t>
            </a:r>
            <a:r>
              <a:rPr lang="en-IN" sz="2000" dirty="0"/>
              <a:t>) − r(x, </a:t>
            </a:r>
            <a:r>
              <a:rPr lang="en-IN" sz="2000" dirty="0" err="1"/>
              <a:t>o</a:t>
            </a:r>
            <a:r>
              <a:rPr lang="en-IN" sz="2000" baseline="-25000" dirty="0" err="1"/>
              <a:t>l</a:t>
            </a:r>
            <a:r>
              <a:rPr lang="en-IN" sz="2000" dirty="0"/>
              <a:t>))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IN" sz="2000" dirty="0"/>
              <a:t>Train the RM's parameters to minimize  </a:t>
            </a:r>
            <a:r>
              <a:rPr lang="en-US" sz="2000" b="1" dirty="0">
                <a:solidFill>
                  <a:srgbClr val="21295C"/>
                </a:solidFill>
                <a:cs typeface="Cambria Math" pitchFamily="34" charset="-120"/>
              </a:rPr>
              <a:t>ℓ  =  − log σ( r(x, o</a:t>
            </a:r>
            <a:r>
              <a:rPr lang="en-US" sz="2000" b="1" baseline="-25000" dirty="0">
                <a:solidFill>
                  <a:srgbClr val="21295C"/>
                </a:solidFill>
                <a:cs typeface="Cambria Math" pitchFamily="34" charset="-120"/>
              </a:rPr>
              <a:t>w</a:t>
            </a:r>
            <a:r>
              <a:rPr lang="en-US" sz="2000" b="1" dirty="0">
                <a:solidFill>
                  <a:srgbClr val="21295C"/>
                </a:solidFill>
                <a:cs typeface="Cambria Math" pitchFamily="34" charset="-120"/>
              </a:rPr>
              <a:t>) − r(x, </a:t>
            </a:r>
            <a:r>
              <a:rPr lang="en-US" sz="2000" b="1" dirty="0" err="1">
                <a:solidFill>
                  <a:srgbClr val="21295C"/>
                </a:solidFill>
                <a:cs typeface="Cambria Math" pitchFamily="34" charset="-120"/>
              </a:rPr>
              <a:t>o</a:t>
            </a:r>
            <a:r>
              <a:rPr lang="en-US" sz="2000" b="1" baseline="-25000" dirty="0" err="1">
                <a:solidFill>
                  <a:srgbClr val="21295C"/>
                </a:solidFill>
                <a:cs typeface="Cambria Math" pitchFamily="34" charset="-120"/>
              </a:rPr>
              <a:t>l</a:t>
            </a:r>
            <a:r>
              <a:rPr lang="en-US" sz="2000" b="1" dirty="0">
                <a:solidFill>
                  <a:srgbClr val="21295C"/>
                </a:solidFill>
                <a:cs typeface="Cambria Math" pitchFamily="34" charset="-120"/>
              </a:rPr>
              <a:t>) )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IN" sz="2000" b="1" dirty="0"/>
              <a:t>Once training ends, the reward model is frozen.</a:t>
            </a:r>
            <a:r>
              <a:rPr lang="en-IN" sz="2000" dirty="0"/>
              <a:t> It never changes again for the rest of RLHF.</a:t>
            </a:r>
            <a:endParaRPr lang="en-US" sz="2000" b="1" dirty="0">
              <a:solidFill>
                <a:srgbClr val="21295C"/>
              </a:solidFill>
              <a:cs typeface="Cambria Math" pitchFamily="34" charset="-120"/>
            </a:endParaRPr>
          </a:p>
          <a:p>
            <a:endParaRPr lang="en-IN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530705-FA6A-A8A8-8D3E-F0BAF6901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en-IN" dirty="0"/>
              <a:t>RLHF Step 1 — Reward </a:t>
            </a:r>
            <a:r>
              <a:rPr lang="en-IN" dirty="0" err="1"/>
              <a:t>Modeling</a:t>
            </a:r>
            <a:br>
              <a:rPr lang="en-IN" dirty="0"/>
            </a:br>
            <a:endParaRPr lang="en-IN" dirty="0"/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AF5220CC-6E4B-93BD-4FD3-1160FCDBD9C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44695" y="5257800"/>
            <a:ext cx="3544812" cy="103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315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213" y="531976"/>
            <a:ext cx="8226425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IN" dirty="0"/>
              <a:t>RLHF Step 2 — Reinforcement Learning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99101" y="1799794"/>
            <a:ext cx="8226425" cy="594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14"/>
              </a:lnSpc>
            </a:pPr>
            <a:r>
              <a:rPr b="1" spc="-65" dirty="0">
                <a:solidFill>
                  <a:srgbClr val="202729"/>
                </a:solidFill>
                <a:latin typeface="Trebuchet MS"/>
                <a:cs typeface="Trebuchet MS"/>
              </a:rPr>
              <a:t>Idea</a:t>
            </a:r>
            <a:r>
              <a:rPr spc="-65" dirty="0">
                <a:solidFill>
                  <a:srgbClr val="202729"/>
                </a:solidFill>
                <a:latin typeface="Trebuchet MS"/>
                <a:cs typeface="Trebuchet MS"/>
              </a:rPr>
              <a:t>.</a:t>
            </a:r>
            <a:r>
              <a:rPr spc="-3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02729"/>
                </a:solidFill>
                <a:latin typeface="Trebuchet MS"/>
                <a:cs typeface="Trebuchet MS"/>
              </a:rPr>
              <a:t>Change</a:t>
            </a:r>
            <a:r>
              <a:rPr spc="-3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10" dirty="0">
                <a:solidFill>
                  <a:srgbClr val="202729"/>
                </a:solidFill>
                <a:latin typeface="Trebuchet MS"/>
                <a:cs typeface="Trebuchet MS"/>
              </a:rPr>
              <a:t>weights</a:t>
            </a:r>
            <a:r>
              <a:rPr spc="-3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50" dirty="0">
                <a:solidFill>
                  <a:srgbClr val="202729"/>
                </a:solidFill>
                <a:latin typeface="Trebuchet MS"/>
                <a:cs typeface="Trebuchet MS"/>
              </a:rPr>
              <a:t>of</a:t>
            </a:r>
            <a:r>
              <a:rPr spc="-3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60" dirty="0">
                <a:solidFill>
                  <a:srgbClr val="202729"/>
                </a:solidFill>
                <a:latin typeface="Trebuchet MS"/>
                <a:cs typeface="Trebuchet MS"/>
              </a:rPr>
              <a:t>LLM</a:t>
            </a:r>
            <a:r>
              <a:rPr spc="-3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65" dirty="0">
                <a:solidFill>
                  <a:srgbClr val="202729"/>
                </a:solidFill>
                <a:latin typeface="Trebuchet MS"/>
                <a:cs typeface="Trebuchet MS"/>
              </a:rPr>
              <a:t>to</a:t>
            </a:r>
            <a:r>
              <a:rPr spc="-3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25" dirty="0">
                <a:solidFill>
                  <a:srgbClr val="202729"/>
                </a:solidFill>
                <a:latin typeface="Trebuchet MS"/>
                <a:cs typeface="Trebuchet MS"/>
              </a:rPr>
              <a:t>penalize</a:t>
            </a:r>
            <a:r>
              <a:rPr spc="-3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02729"/>
                </a:solidFill>
                <a:latin typeface="Trebuchet MS"/>
                <a:cs typeface="Trebuchet MS"/>
              </a:rPr>
              <a:t>bad</a:t>
            </a:r>
            <a:r>
              <a:rPr spc="-3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02729"/>
                </a:solidFill>
                <a:latin typeface="Trebuchet MS"/>
                <a:cs typeface="Trebuchet MS"/>
              </a:rPr>
              <a:t>answers</a:t>
            </a:r>
            <a:r>
              <a:rPr spc="-3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02729"/>
                </a:solidFill>
                <a:latin typeface="Trebuchet MS"/>
                <a:cs typeface="Trebuchet MS"/>
              </a:rPr>
              <a:t>and</a:t>
            </a:r>
            <a:r>
              <a:rPr spc="-3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30" dirty="0">
                <a:solidFill>
                  <a:srgbClr val="202729"/>
                </a:solidFill>
                <a:latin typeface="Trebuchet MS"/>
                <a:cs typeface="Trebuchet MS"/>
              </a:rPr>
              <a:t>promote </a:t>
            </a:r>
            <a:r>
              <a:rPr spc="65" dirty="0">
                <a:solidFill>
                  <a:srgbClr val="202729"/>
                </a:solidFill>
                <a:latin typeface="Trebuchet MS"/>
                <a:cs typeface="Trebuchet MS"/>
              </a:rPr>
              <a:t>good</a:t>
            </a:r>
            <a:r>
              <a:rPr spc="-3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10" dirty="0">
                <a:solidFill>
                  <a:srgbClr val="202729"/>
                </a:solidFill>
                <a:latin typeface="Trebuchet MS"/>
                <a:cs typeface="Trebuchet MS"/>
              </a:rPr>
              <a:t>answers</a:t>
            </a:r>
            <a:endParaRPr>
              <a:latin typeface="Trebuchet MS"/>
              <a:cs typeface="Trebuchet MS"/>
            </a:endParaRPr>
          </a:p>
          <a:p>
            <a:pPr>
              <a:spcBef>
                <a:spcPts val="320"/>
              </a:spcBef>
            </a:pPr>
            <a:r>
              <a:rPr spc="-40" dirty="0">
                <a:solidFill>
                  <a:srgbClr val="202729"/>
                </a:solidFill>
                <a:latin typeface="Trebuchet MS"/>
                <a:cs typeface="Trebuchet MS"/>
              </a:rPr>
              <a:t>via</a:t>
            </a:r>
            <a:r>
              <a:rPr spc="-5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b="1" spc="-55" dirty="0">
                <a:solidFill>
                  <a:srgbClr val="202729"/>
                </a:solidFill>
                <a:latin typeface="Trebuchet MS"/>
                <a:cs typeface="Trebuchet MS"/>
              </a:rPr>
              <a:t>Reinforcement</a:t>
            </a:r>
            <a:r>
              <a:rPr b="1" spc="-6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b="1" spc="-25" dirty="0">
                <a:solidFill>
                  <a:srgbClr val="202729"/>
                </a:solidFill>
                <a:latin typeface="Trebuchet MS"/>
                <a:cs typeface="Trebuchet MS"/>
              </a:rPr>
              <a:t>Learning</a:t>
            </a:r>
            <a:r>
              <a:rPr b="1" spc="-5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02729"/>
                </a:solidFill>
                <a:latin typeface="Trebuchet MS"/>
                <a:cs typeface="Trebuchet MS"/>
              </a:rPr>
              <a:t>using</a:t>
            </a:r>
            <a:r>
              <a:rPr spc="-55" dirty="0">
                <a:solidFill>
                  <a:srgbClr val="202729"/>
                </a:solidFill>
                <a:latin typeface="Trebuchet MS"/>
                <a:cs typeface="Trebuchet MS"/>
              </a:rPr>
              <a:t> the </a:t>
            </a:r>
            <a:r>
              <a:rPr b="1" spc="-35" dirty="0">
                <a:solidFill>
                  <a:srgbClr val="202729"/>
                </a:solidFill>
                <a:latin typeface="Trebuchet MS"/>
                <a:cs typeface="Trebuchet MS"/>
              </a:rPr>
              <a:t>Reward</a:t>
            </a:r>
            <a:r>
              <a:rPr b="1" spc="-6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b="1" spc="-10" dirty="0">
                <a:solidFill>
                  <a:srgbClr val="202729"/>
                </a:solidFill>
                <a:latin typeface="Trebuchet MS"/>
                <a:cs typeface="Trebuchet MS"/>
              </a:rPr>
              <a:t>Model</a:t>
            </a:r>
            <a:r>
              <a:rPr spc="-10" dirty="0">
                <a:solidFill>
                  <a:srgbClr val="202729"/>
                </a:solidFill>
                <a:latin typeface="Trebuchet MS"/>
                <a:cs typeface="Trebuchet MS"/>
              </a:rPr>
              <a:t>.</a:t>
            </a:r>
            <a:endParaRPr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19426" y="2699925"/>
            <a:ext cx="1503045" cy="118300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85725" marR="173355">
              <a:spcBef>
                <a:spcPts val="620"/>
              </a:spcBef>
            </a:pPr>
            <a:r>
              <a:rPr sz="1400" dirty="0">
                <a:latin typeface="Trebuchet MS"/>
                <a:cs typeface="Trebuchet MS"/>
              </a:rPr>
              <a:t>I'd</a:t>
            </a:r>
            <a:r>
              <a:rPr sz="1400" spc="8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suggest</a:t>
            </a:r>
            <a:r>
              <a:rPr sz="1400" spc="8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you </a:t>
            </a:r>
            <a:r>
              <a:rPr sz="1400" dirty="0">
                <a:latin typeface="Trebuchet MS"/>
                <a:cs typeface="Trebuchet MS"/>
              </a:rPr>
              <a:t>do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-30" dirty="0">
                <a:latin typeface="Trebuchet MS"/>
                <a:cs typeface="Trebuchet MS"/>
              </a:rPr>
              <a:t>not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spend </a:t>
            </a:r>
            <a:r>
              <a:rPr sz="1400" dirty="0">
                <a:latin typeface="Trebuchet MS"/>
                <a:cs typeface="Trebuchet MS"/>
              </a:rPr>
              <a:t>much</a:t>
            </a:r>
            <a:r>
              <a:rPr sz="1400" spc="-70" dirty="0">
                <a:latin typeface="Trebuchet MS"/>
                <a:cs typeface="Trebuchet MS"/>
              </a:rPr>
              <a:t> </a:t>
            </a:r>
            <a:r>
              <a:rPr sz="1400" spc="-65" dirty="0">
                <a:latin typeface="Trebuchet MS"/>
                <a:cs typeface="Trebuchet MS"/>
              </a:rPr>
              <a:t>time </a:t>
            </a:r>
            <a:r>
              <a:rPr sz="1400" spc="-20" dirty="0">
                <a:latin typeface="Trebuchet MS"/>
                <a:cs typeface="Trebuchet MS"/>
              </a:rPr>
              <a:t>with </a:t>
            </a:r>
            <a:r>
              <a:rPr sz="1400" spc="-10" dirty="0">
                <a:latin typeface="Trebuchet MS"/>
                <a:cs typeface="Trebuchet MS"/>
              </a:rPr>
              <a:t>your</a:t>
            </a:r>
            <a:r>
              <a:rPr sz="1400" spc="-8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teddy</a:t>
            </a:r>
            <a:r>
              <a:rPr sz="1400" spc="-8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bear </a:t>
            </a:r>
            <a:r>
              <a:rPr sz="1400" spc="-80" dirty="0">
                <a:latin typeface="Trebuchet MS"/>
                <a:cs typeface="Trebuchet MS"/>
              </a:rPr>
              <a:t>at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all.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95362" y="3152325"/>
            <a:ext cx="636270" cy="382156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65100" rIns="0" bIns="0" rtlCol="0">
            <a:spAutoFit/>
          </a:bodyPr>
          <a:lstStyle/>
          <a:p>
            <a:pPr marL="191770">
              <a:spcBef>
                <a:spcPts val="1300"/>
              </a:spcBef>
            </a:pPr>
            <a:r>
              <a:rPr sz="1400" spc="65" dirty="0">
                <a:latin typeface="Trebuchet MS"/>
                <a:cs typeface="Trebuchet MS"/>
              </a:rPr>
              <a:t>RM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979475" y="3408730"/>
            <a:ext cx="441325" cy="41275"/>
            <a:chOff x="5979474" y="2551479"/>
            <a:chExt cx="441325" cy="41275"/>
          </a:xfrm>
        </p:grpSpPr>
        <p:sp>
          <p:nvSpPr>
            <p:cNvPr id="7" name="object 7"/>
            <p:cNvSpPr/>
            <p:nvPr/>
          </p:nvSpPr>
          <p:spPr>
            <a:xfrm>
              <a:off x="5979474" y="2571974"/>
              <a:ext cx="393065" cy="0"/>
            </a:xfrm>
            <a:custGeom>
              <a:avLst/>
              <a:gdLst/>
              <a:ahLst/>
              <a:cxnLst/>
              <a:rect l="l" t="t" r="r" b="b"/>
              <a:pathLst>
                <a:path w="393064">
                  <a:moveTo>
                    <a:pt x="0" y="0"/>
                  </a:moveTo>
                  <a:lnTo>
                    <a:pt x="392849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72324" y="25562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72324" y="25562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7323474" y="3408730"/>
            <a:ext cx="405130" cy="41275"/>
            <a:chOff x="7323474" y="2551479"/>
            <a:chExt cx="405130" cy="41275"/>
          </a:xfrm>
        </p:grpSpPr>
        <p:sp>
          <p:nvSpPr>
            <p:cNvPr id="11" name="object 11"/>
            <p:cNvSpPr/>
            <p:nvPr/>
          </p:nvSpPr>
          <p:spPr>
            <a:xfrm>
              <a:off x="7323474" y="2571974"/>
              <a:ext cx="356870" cy="0"/>
            </a:xfrm>
            <a:custGeom>
              <a:avLst/>
              <a:gdLst/>
              <a:ahLst/>
              <a:cxnLst/>
              <a:rect l="l" t="t" r="r" b="b"/>
              <a:pathLst>
                <a:path w="356870">
                  <a:moveTo>
                    <a:pt x="0" y="0"/>
                  </a:moveTo>
                  <a:lnTo>
                    <a:pt x="356549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680024" y="25562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680024" y="25562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3075" y="3229325"/>
            <a:ext cx="427938" cy="5538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876275" y="3152325"/>
            <a:ext cx="831850" cy="382156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65100" rIns="0" bIns="0" rtlCol="0">
            <a:spAutoFit/>
          </a:bodyPr>
          <a:lstStyle/>
          <a:p>
            <a:pPr marL="252729">
              <a:spcBef>
                <a:spcPts val="1300"/>
              </a:spcBef>
            </a:pPr>
            <a:r>
              <a:rPr sz="1400" spc="-25" dirty="0">
                <a:latin typeface="Trebuchet MS"/>
                <a:cs typeface="Trebuchet MS"/>
              </a:rPr>
              <a:t>LLM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801501" y="3408730"/>
            <a:ext cx="415925" cy="41275"/>
            <a:chOff x="3801500" y="2551479"/>
            <a:chExt cx="415925" cy="41275"/>
          </a:xfrm>
        </p:grpSpPr>
        <p:sp>
          <p:nvSpPr>
            <p:cNvPr id="17" name="object 17"/>
            <p:cNvSpPr/>
            <p:nvPr/>
          </p:nvSpPr>
          <p:spPr>
            <a:xfrm>
              <a:off x="3801500" y="2571974"/>
              <a:ext cx="367665" cy="0"/>
            </a:xfrm>
            <a:custGeom>
              <a:avLst/>
              <a:gdLst/>
              <a:ahLst/>
              <a:cxnLst/>
              <a:rect l="l" t="t" r="r" b="b"/>
              <a:pathLst>
                <a:path w="367664">
                  <a:moveTo>
                    <a:pt x="0" y="0"/>
                  </a:moveTo>
                  <a:lnTo>
                    <a:pt x="367349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68850" y="25562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168850" y="25562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20376" y="2928524"/>
            <a:ext cx="1503045" cy="818814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marL="85725" marR="238125">
              <a:spcBef>
                <a:spcPts val="625"/>
              </a:spcBef>
            </a:pPr>
            <a:r>
              <a:rPr sz="1200" dirty="0">
                <a:latin typeface="Consolas"/>
                <a:cs typeface="Consolas"/>
              </a:rPr>
              <a:t>Suggest</a:t>
            </a:r>
            <a:r>
              <a:rPr sz="1200" spc="-5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a</a:t>
            </a:r>
            <a:r>
              <a:rPr sz="1200" spc="-45" dirty="0">
                <a:latin typeface="Consolas"/>
                <a:cs typeface="Consolas"/>
              </a:rPr>
              <a:t> </a:t>
            </a:r>
            <a:r>
              <a:rPr sz="1200" spc="-25" dirty="0">
                <a:latin typeface="Consolas"/>
                <a:cs typeface="Consolas"/>
              </a:rPr>
              <a:t>new </a:t>
            </a:r>
            <a:r>
              <a:rPr sz="1200" dirty="0">
                <a:latin typeface="Consolas"/>
                <a:cs typeface="Consolas"/>
              </a:rPr>
              <a:t>activity</a:t>
            </a:r>
            <a:r>
              <a:rPr sz="1200" spc="-95" dirty="0">
                <a:latin typeface="Consolas"/>
                <a:cs typeface="Consolas"/>
              </a:rPr>
              <a:t> </a:t>
            </a:r>
            <a:r>
              <a:rPr sz="1200" spc="-50" dirty="0">
                <a:latin typeface="Consolas"/>
                <a:cs typeface="Consolas"/>
              </a:rPr>
              <a:t>I </a:t>
            </a:r>
            <a:r>
              <a:rPr sz="1200" dirty="0">
                <a:latin typeface="Consolas"/>
                <a:cs typeface="Consolas"/>
              </a:rPr>
              <a:t>could</a:t>
            </a:r>
            <a:r>
              <a:rPr sz="1200" spc="-4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do</a:t>
            </a:r>
            <a:r>
              <a:rPr sz="1200" spc="-40" dirty="0">
                <a:latin typeface="Consolas"/>
                <a:cs typeface="Consolas"/>
              </a:rPr>
              <a:t> </a:t>
            </a:r>
            <a:r>
              <a:rPr sz="1200" spc="-20" dirty="0">
                <a:latin typeface="Consolas"/>
                <a:cs typeface="Consolas"/>
              </a:rPr>
              <a:t>with </a:t>
            </a:r>
            <a:r>
              <a:rPr sz="1200" dirty="0">
                <a:latin typeface="Consolas"/>
                <a:cs typeface="Consolas"/>
              </a:rPr>
              <a:t>my</a:t>
            </a:r>
            <a:r>
              <a:rPr sz="1200" spc="-4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teddy</a:t>
            </a:r>
            <a:r>
              <a:rPr sz="1200" spc="-40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bear.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353700" y="3408730"/>
            <a:ext cx="415925" cy="41275"/>
            <a:chOff x="2353699" y="2551479"/>
            <a:chExt cx="415925" cy="41275"/>
          </a:xfrm>
        </p:grpSpPr>
        <p:sp>
          <p:nvSpPr>
            <p:cNvPr id="22" name="object 22"/>
            <p:cNvSpPr/>
            <p:nvPr/>
          </p:nvSpPr>
          <p:spPr>
            <a:xfrm>
              <a:off x="2353699" y="2571974"/>
              <a:ext cx="367665" cy="0"/>
            </a:xfrm>
            <a:custGeom>
              <a:avLst/>
              <a:gdLst/>
              <a:ahLst/>
              <a:cxnLst/>
              <a:rect l="l" t="t" r="r" b="b"/>
              <a:pathLst>
                <a:path w="367664">
                  <a:moveTo>
                    <a:pt x="0" y="0"/>
                  </a:moveTo>
                  <a:lnTo>
                    <a:pt x="367349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21049" y="25562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21049" y="25562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3285209" y="3882825"/>
            <a:ext cx="4927600" cy="825500"/>
            <a:chOff x="3285209" y="3025575"/>
            <a:chExt cx="4927600" cy="825500"/>
          </a:xfrm>
        </p:grpSpPr>
        <p:sp>
          <p:nvSpPr>
            <p:cNvPr id="26" name="object 26"/>
            <p:cNvSpPr/>
            <p:nvPr/>
          </p:nvSpPr>
          <p:spPr>
            <a:xfrm>
              <a:off x="3304825" y="3025575"/>
              <a:ext cx="4903470" cy="825500"/>
            </a:xfrm>
            <a:custGeom>
              <a:avLst/>
              <a:gdLst/>
              <a:ahLst/>
              <a:cxnLst/>
              <a:rect l="l" t="t" r="r" b="b"/>
              <a:pathLst>
                <a:path w="4903470" h="825500">
                  <a:moveTo>
                    <a:pt x="0" y="818149"/>
                  </a:moveTo>
                  <a:lnTo>
                    <a:pt x="4903199" y="818149"/>
                  </a:lnTo>
                </a:path>
                <a:path w="4903470" h="825500">
                  <a:moveTo>
                    <a:pt x="4903149" y="0"/>
                  </a:moveTo>
                  <a:lnTo>
                    <a:pt x="4903149" y="824999"/>
                  </a:lnTo>
                </a:path>
                <a:path w="4903470" h="825500">
                  <a:moveTo>
                    <a:pt x="879" y="57149"/>
                  </a:moveTo>
                  <a:lnTo>
                    <a:pt x="879" y="8249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89971" y="30394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89971" y="30394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542125" y="4157147"/>
            <a:ext cx="5575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spc="-35" dirty="0">
                <a:solidFill>
                  <a:srgbClr val="202729"/>
                </a:solidFill>
                <a:latin typeface="Trebuchet MS"/>
                <a:cs typeface="Trebuchet MS"/>
              </a:rPr>
              <a:t>via</a:t>
            </a:r>
            <a:r>
              <a:rPr sz="1600" spc="-7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202729"/>
                </a:solidFill>
                <a:latin typeface="Trebuchet MS"/>
                <a:cs typeface="Trebuchet MS"/>
              </a:rPr>
              <a:t>RL</a:t>
            </a:r>
            <a:endParaRPr sz="1600">
              <a:latin typeface="Trebuchet MS"/>
              <a:cs typeface="Trebuchet MS"/>
            </a:endParaRPr>
          </a:p>
        </p:txBody>
      </p:sp>
      <p:pic>
        <p:nvPicPr>
          <p:cNvPr id="31" name="object 3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52233" y="2926754"/>
            <a:ext cx="173819" cy="163594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6749370" y="2903868"/>
            <a:ext cx="461009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100" b="1" spc="-20" dirty="0">
                <a:latin typeface="Trebuchet MS"/>
                <a:cs typeface="Trebuchet MS"/>
              </a:rPr>
              <a:t>Frozen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33" name="object 3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30001" y="2926754"/>
            <a:ext cx="173819" cy="163594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3127138" y="2903868"/>
            <a:ext cx="499109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100" b="1" spc="-35" dirty="0">
                <a:latin typeface="Trebuchet MS"/>
                <a:cs typeface="Trebuchet MS"/>
              </a:rPr>
              <a:t>Trained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876275" y="6369748"/>
            <a:ext cx="4143375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spcBef>
                <a:spcPts val="35"/>
              </a:spcBef>
            </a:pPr>
            <a:r>
              <a:rPr sz="800" i="1" spc="-25" dirty="0">
                <a:latin typeface="Trebuchet MS"/>
                <a:cs typeface="Trebuchet MS"/>
              </a:rPr>
              <a:t>"</a:t>
            </a:r>
            <a:r>
              <a:rPr sz="800" i="1" spc="-25" dirty="0">
                <a:solidFill>
                  <a:srgbClr val="FF5252"/>
                </a:solidFill>
                <a:latin typeface="Trebuchet MS"/>
                <a:cs typeface="Trebuchet MS"/>
                <a:hlinkClick r:id="rId5"/>
              </a:rPr>
              <a:t>Training</a:t>
            </a:r>
            <a:r>
              <a:rPr sz="800" i="1" dirty="0">
                <a:solidFill>
                  <a:srgbClr val="FF5252"/>
                </a:solidFill>
                <a:latin typeface="Trebuchet MS"/>
                <a:cs typeface="Trebuchet MS"/>
                <a:hlinkClick r:id="rId5"/>
              </a:rPr>
              <a:t> language models </a:t>
            </a:r>
            <a:r>
              <a:rPr sz="800" i="1" spc="-45" dirty="0">
                <a:solidFill>
                  <a:srgbClr val="FF5252"/>
                </a:solidFill>
                <a:latin typeface="Trebuchet MS"/>
                <a:cs typeface="Trebuchet MS"/>
                <a:hlinkClick r:id="rId5"/>
              </a:rPr>
              <a:t>to</a:t>
            </a:r>
            <a:r>
              <a:rPr sz="800" i="1" dirty="0">
                <a:solidFill>
                  <a:srgbClr val="FF5252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sz="800" i="1" spc="-40" dirty="0">
                <a:solidFill>
                  <a:srgbClr val="FF5252"/>
                </a:solidFill>
                <a:latin typeface="Trebuchet MS"/>
                <a:cs typeface="Trebuchet MS"/>
                <a:hlinkClick r:id="rId5"/>
              </a:rPr>
              <a:t>follow</a:t>
            </a:r>
            <a:r>
              <a:rPr sz="800" i="1" dirty="0">
                <a:solidFill>
                  <a:srgbClr val="FF5252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sz="800" i="1" spc="-30" dirty="0">
                <a:solidFill>
                  <a:srgbClr val="FF5252"/>
                </a:solidFill>
                <a:latin typeface="Trebuchet MS"/>
                <a:cs typeface="Trebuchet MS"/>
                <a:hlinkClick r:id="rId5"/>
              </a:rPr>
              <a:t>instructions</a:t>
            </a:r>
            <a:r>
              <a:rPr sz="800" i="1" spc="5" dirty="0">
                <a:solidFill>
                  <a:srgbClr val="FF5252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sz="800" i="1" spc="-50" dirty="0">
                <a:solidFill>
                  <a:srgbClr val="FF5252"/>
                </a:solidFill>
                <a:latin typeface="Trebuchet MS"/>
                <a:cs typeface="Trebuchet MS"/>
                <a:hlinkClick r:id="rId5"/>
              </a:rPr>
              <a:t>with</a:t>
            </a:r>
            <a:r>
              <a:rPr sz="800" i="1" dirty="0">
                <a:solidFill>
                  <a:srgbClr val="FF5252"/>
                </a:solidFill>
                <a:latin typeface="Trebuchet MS"/>
                <a:cs typeface="Trebuchet MS"/>
                <a:hlinkClick r:id="rId5"/>
              </a:rPr>
              <a:t> human </a:t>
            </a:r>
            <a:r>
              <a:rPr sz="800" i="1" spc="-20" dirty="0">
                <a:solidFill>
                  <a:srgbClr val="FF5252"/>
                </a:solidFill>
                <a:latin typeface="Trebuchet MS"/>
                <a:cs typeface="Trebuchet MS"/>
                <a:hlinkClick r:id="rId5"/>
              </a:rPr>
              <a:t>feedback</a:t>
            </a:r>
            <a:r>
              <a:rPr sz="800" i="1" spc="-20" dirty="0">
                <a:latin typeface="Trebuchet MS"/>
                <a:cs typeface="Trebuchet MS"/>
              </a:rPr>
              <a:t>",</a:t>
            </a:r>
            <a:r>
              <a:rPr sz="800" i="1" dirty="0">
                <a:latin typeface="Trebuchet MS"/>
                <a:cs typeface="Trebuchet MS"/>
              </a:rPr>
              <a:t> Ouyang </a:t>
            </a:r>
            <a:r>
              <a:rPr sz="800" i="1" spc="-50" dirty="0">
                <a:latin typeface="Trebuchet MS"/>
                <a:cs typeface="Trebuchet MS"/>
              </a:rPr>
              <a:t>et</a:t>
            </a:r>
            <a:r>
              <a:rPr sz="800" i="1" dirty="0">
                <a:latin typeface="Trebuchet MS"/>
                <a:cs typeface="Trebuchet MS"/>
              </a:rPr>
              <a:t> </a:t>
            </a:r>
            <a:r>
              <a:rPr sz="800" i="1" spc="-80" dirty="0">
                <a:latin typeface="Trebuchet MS"/>
                <a:cs typeface="Trebuchet MS"/>
              </a:rPr>
              <a:t>al.,</a:t>
            </a:r>
            <a:r>
              <a:rPr sz="800" i="1" spc="5" dirty="0">
                <a:latin typeface="Trebuchet MS"/>
                <a:cs typeface="Trebuchet MS"/>
              </a:rPr>
              <a:t> </a:t>
            </a:r>
            <a:r>
              <a:rPr sz="800" i="1" spc="-10" dirty="0">
                <a:latin typeface="Trebuchet MS"/>
                <a:cs typeface="Trebuchet MS"/>
              </a:rPr>
              <a:t>2022.</a:t>
            </a:r>
            <a:endParaRPr sz="800" dirty="0">
              <a:latin typeface="Trebuchet MS"/>
              <a:cs typeface="Trebuchet M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42834" y="5168406"/>
            <a:ext cx="86553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pc="-35" dirty="0">
                <a:solidFill>
                  <a:srgbClr val="202729"/>
                </a:solidFill>
                <a:latin typeface="Trebuchet MS"/>
                <a:cs typeface="Trebuchet MS"/>
              </a:rPr>
              <a:t>Objective</a:t>
            </a:r>
            <a:r>
              <a:rPr lang="en-US" spc="-45" dirty="0">
                <a:solidFill>
                  <a:srgbClr val="202729"/>
                </a:solidFill>
                <a:latin typeface="Trebuchet MS"/>
                <a:cs typeface="Trebuchet MS"/>
              </a:rPr>
              <a:t> function</a:t>
            </a:r>
            <a:r>
              <a:rPr lang="en-US" spc="-4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lang="en-US" spc="-35" dirty="0">
                <a:solidFill>
                  <a:srgbClr val="202729"/>
                </a:solidFill>
                <a:latin typeface="Trebuchet MS"/>
                <a:cs typeface="Trebuchet MS"/>
              </a:rPr>
              <a:t>optimizes</a:t>
            </a:r>
            <a:r>
              <a:rPr lang="en-US" spc="-4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lang="en-US" spc="-70" dirty="0">
                <a:solidFill>
                  <a:srgbClr val="202729"/>
                </a:solidFill>
                <a:latin typeface="Trebuchet MS"/>
                <a:cs typeface="Trebuchet MS"/>
              </a:rPr>
              <a:t>for</a:t>
            </a:r>
            <a:r>
              <a:rPr lang="en-US" spc="-4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lang="en-US" b="1" spc="-25" dirty="0">
                <a:solidFill>
                  <a:srgbClr val="202729"/>
                </a:solidFill>
                <a:latin typeface="Trebuchet MS"/>
                <a:cs typeface="Trebuchet MS"/>
              </a:rPr>
              <a:t>higher</a:t>
            </a:r>
            <a:r>
              <a:rPr lang="en-US" b="1" spc="-5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lang="en-US" b="1" spc="-25" dirty="0">
                <a:solidFill>
                  <a:srgbClr val="202729"/>
                </a:solidFill>
                <a:latin typeface="Trebuchet MS"/>
                <a:cs typeface="Trebuchet MS"/>
              </a:rPr>
              <a:t>rewards</a:t>
            </a:r>
            <a:r>
              <a:rPr lang="en-US" b="1" spc="-4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lang="en-US" b="1" spc="-50" dirty="0">
                <a:solidFill>
                  <a:srgbClr val="202729"/>
                </a:solidFill>
                <a:latin typeface="Trebuchet MS"/>
                <a:cs typeface="Trebuchet MS"/>
              </a:rPr>
              <a:t>without</a:t>
            </a:r>
            <a:r>
              <a:rPr lang="en-US" b="1" spc="-4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lang="en-US" b="1" dirty="0">
                <a:solidFill>
                  <a:srgbClr val="202729"/>
                </a:solidFill>
                <a:latin typeface="Trebuchet MS"/>
                <a:cs typeface="Trebuchet MS"/>
              </a:rPr>
              <a:t>going</a:t>
            </a:r>
            <a:r>
              <a:rPr lang="en-US" b="1" spc="-4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lang="en-US" b="1" spc="-20" dirty="0">
                <a:solidFill>
                  <a:srgbClr val="202729"/>
                </a:solidFill>
                <a:latin typeface="Trebuchet MS"/>
                <a:cs typeface="Trebuchet MS"/>
              </a:rPr>
              <a:t>too</a:t>
            </a:r>
            <a:r>
              <a:rPr lang="en-US" b="1" spc="-5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lang="en-US" b="1" spc="-60" dirty="0">
                <a:solidFill>
                  <a:srgbClr val="202729"/>
                </a:solidFill>
                <a:latin typeface="Trebuchet MS"/>
                <a:cs typeface="Trebuchet MS"/>
              </a:rPr>
              <a:t>far</a:t>
            </a:r>
            <a:r>
              <a:rPr lang="en-US" b="1" spc="-4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lang="en-US" spc="-65" dirty="0">
                <a:solidFill>
                  <a:srgbClr val="202729"/>
                </a:solidFill>
                <a:latin typeface="Trebuchet MS"/>
                <a:cs typeface="Trebuchet MS"/>
              </a:rPr>
              <a:t>from</a:t>
            </a:r>
            <a:r>
              <a:rPr lang="en-US" spc="-4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lang="en-US" spc="-25" dirty="0">
                <a:solidFill>
                  <a:srgbClr val="202729"/>
                </a:solidFill>
                <a:latin typeface="Trebuchet MS"/>
                <a:cs typeface="Trebuchet MS"/>
              </a:rPr>
              <a:t>the</a:t>
            </a:r>
            <a:endParaRPr lang="en-US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lang="en-US" b="1" dirty="0">
                <a:solidFill>
                  <a:srgbClr val="202729"/>
                </a:solidFill>
                <a:latin typeface="Trebuchet MS"/>
                <a:cs typeface="Trebuchet MS"/>
              </a:rPr>
              <a:t>base</a:t>
            </a:r>
            <a:r>
              <a:rPr lang="en-US" b="1" spc="-4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lang="en-US" b="1" spc="-10" dirty="0">
                <a:solidFill>
                  <a:srgbClr val="202729"/>
                </a:solidFill>
                <a:latin typeface="Trebuchet MS"/>
                <a:cs typeface="Trebuchet MS"/>
              </a:rPr>
              <a:t>model</a:t>
            </a:r>
            <a:endParaRPr lang="en-US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7726237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FFE624-CB4F-49B1-A12F-B064021CF01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6200" y="1447800"/>
            <a:ext cx="8915400" cy="5257800"/>
          </a:xfrm>
        </p:spPr>
        <p:txBody>
          <a:bodyPr>
            <a:normAutofit fontScale="92500" lnSpcReduction="10000"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b="1" dirty="0"/>
              <a:t>Goal:</a:t>
            </a:r>
            <a:r>
              <a:rPr lang="en-IN" dirty="0"/>
              <a:t> update a language model so it produces responses the reward model scores higher.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b="1" dirty="0"/>
              <a:t>Setup:</a:t>
            </a:r>
            <a:r>
              <a:rPr lang="en-IN" dirty="0"/>
              <a:t> make a </a:t>
            </a:r>
            <a:r>
              <a:rPr lang="en-IN" i="1" dirty="0"/>
              <a:t>second</a:t>
            </a:r>
            <a:r>
              <a:rPr lang="en-IN" dirty="0"/>
              <a:t> copy of the SFT model. Keep its next-token-prediction head — no scalar head this time. Call it the policy π</a:t>
            </a:r>
            <a:r>
              <a:rPr lang="en-IN" baseline="-25000" dirty="0"/>
              <a:t>θ</a:t>
            </a:r>
            <a:r>
              <a:rPr lang="en-IN" dirty="0"/>
              <a:t>. This is what RL will modify.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b="1" dirty="0"/>
              <a:t>One training iteration:</a:t>
            </a:r>
            <a:endParaRPr lang="en-IN" dirty="0"/>
          </a:p>
          <a:p>
            <a:pPr marL="800100" lvl="1" indent="-342900" rtl="0">
              <a:buFont typeface="Arial" panose="020B0604020202020204" pitchFamily="34" charset="0"/>
              <a:buChar char="•"/>
            </a:pPr>
            <a:r>
              <a:rPr lang="en-IN" b="1" dirty="0"/>
              <a:t>Sample a prompt</a:t>
            </a:r>
            <a:r>
              <a:rPr lang="en-IN" dirty="0"/>
              <a:t> x from a large prompt pool.</a:t>
            </a:r>
          </a:p>
          <a:p>
            <a:pPr marL="800100" lvl="1" indent="-342900" rtl="0">
              <a:buFont typeface="Arial" panose="020B0604020202020204" pitchFamily="34" charset="0"/>
              <a:buChar char="•"/>
            </a:pPr>
            <a:r>
              <a:rPr lang="en-IN" b="1" dirty="0"/>
              <a:t>Generate a response</a:t>
            </a:r>
            <a:r>
              <a:rPr lang="en-IN" dirty="0"/>
              <a:t> — the current policy π</a:t>
            </a:r>
            <a:r>
              <a:rPr lang="en-IN" baseline="-25000" dirty="0"/>
              <a:t>θ</a:t>
            </a:r>
            <a:r>
              <a:rPr lang="en-IN" dirty="0"/>
              <a:t> generates a full response one token at a time.</a:t>
            </a:r>
          </a:p>
          <a:p>
            <a:pPr marL="800100" lvl="1" indent="-342900" rtl="0">
              <a:buFont typeface="Arial" panose="020B0604020202020204" pitchFamily="34" charset="0"/>
              <a:buChar char="•"/>
            </a:pPr>
            <a:r>
              <a:rPr lang="en-IN" b="1" dirty="0"/>
              <a:t>Score the response</a:t>
            </a:r>
            <a:r>
              <a:rPr lang="en-IN" dirty="0"/>
              <a:t> — pass (x, complete response) to the frozen reward model. Get back one scalar r(x, response).</a:t>
            </a:r>
          </a:p>
          <a:p>
            <a:pPr marL="800100" lvl="1" indent="-342900" rtl="0">
              <a:buFont typeface="Arial" panose="020B0604020202020204" pitchFamily="34" charset="0"/>
              <a:buChar char="•"/>
            </a:pPr>
            <a:r>
              <a:rPr lang="en-IN" b="1" dirty="0"/>
              <a:t>Update the policy</a:t>
            </a:r>
            <a:r>
              <a:rPr lang="en-IN" dirty="0"/>
              <a:t> — nudge π</a:t>
            </a:r>
            <a:r>
              <a:rPr lang="en-IN" baseline="-25000" dirty="0" err="1"/>
              <a:t>θ's</a:t>
            </a:r>
            <a:r>
              <a:rPr lang="en-IN" baseline="-25000" dirty="0"/>
              <a:t> </a:t>
            </a:r>
            <a:r>
              <a:rPr lang="en-IN" dirty="0"/>
              <a:t>parameters so higher-scoring responses become more likely, lower-scoring ones less likely.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b="1" dirty="0"/>
              <a:t>Repeat</a:t>
            </a:r>
            <a:r>
              <a:rPr lang="en-IN" dirty="0"/>
              <a:t> for ~10⁵ prompts.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dirty="0"/>
              <a:t>The policy learns from responses it just generated. That is what makes this </a:t>
            </a:r>
            <a:r>
              <a:rPr lang="en-IN" i="1" dirty="0"/>
              <a:t>reinforcement</a:t>
            </a:r>
            <a:r>
              <a:rPr lang="en-IN" dirty="0"/>
              <a:t> learning rather than supervised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C84BC5-72D4-BF53-FABF-0D958C711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en-IN" dirty="0"/>
              <a:t>RLHF Step 2 — Reinforcement Learning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5689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05740" y="388986"/>
            <a:ext cx="8736330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algn="l">
              <a:spcBef>
                <a:spcPts val="100"/>
              </a:spcBef>
            </a:pP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Step 2 — Objective and PPO Algorithm</a:t>
            </a:r>
          </a:p>
        </p:txBody>
      </p:sp>
      <p:sp>
        <p:nvSpPr>
          <p:cNvPr id="5" name="Text 3"/>
          <p:cNvSpPr/>
          <p:nvPr/>
        </p:nvSpPr>
        <p:spPr>
          <a:xfrm>
            <a:off x="102870" y="1427389"/>
            <a:ext cx="8736330" cy="4953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Data.  </a:t>
            </a: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O(100,000) prompts.  Labels = scores from the frozen reward model.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Model.  </a:t>
            </a: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π</a:t>
            </a:r>
            <a:r>
              <a:rPr lang="en-US" sz="2000" baseline="-25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initialized at the SFT model.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Training.  </a:t>
            </a: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the weights of π</a:t>
            </a:r>
            <a:r>
              <a:rPr lang="en-US" sz="2000" baseline="-25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via the objective function:</a:t>
            </a:r>
            <a:endParaRPr lang="en-US" sz="2000" dirty="0"/>
          </a:p>
          <a:p>
            <a:pPr algn="ctr">
              <a:spcBef>
                <a:spcPts val="600"/>
              </a:spcBef>
              <a:spcAft>
                <a:spcPts val="1050"/>
              </a:spcAft>
            </a:pPr>
            <a:r>
              <a:rPr lang="en-US" sz="2000" b="1" dirty="0">
                <a:solidFill>
                  <a:srgbClr val="21295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ℒ(θ)  =  [ Maximize rewards ]   +   [ Don't deviate too much from the base model ]</a:t>
            </a:r>
            <a:endParaRPr lang="en-US" sz="200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065A82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>
              <a:spcAft>
                <a:spcPts val="600"/>
              </a:spcAft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PPO (</a:t>
            </a:r>
            <a:r>
              <a:rPr lang="en-US" sz="2000" b="1" spc="-75" dirty="0">
                <a:solidFill>
                  <a:srgbClr val="202729"/>
                </a:solidFill>
                <a:cs typeface="Trebuchet MS"/>
              </a:rPr>
              <a:t>P</a:t>
            </a:r>
            <a:r>
              <a:rPr lang="en-US" sz="2000" spc="-75" dirty="0">
                <a:solidFill>
                  <a:srgbClr val="202729"/>
                </a:solidFill>
                <a:cs typeface="Trebuchet MS"/>
              </a:rPr>
              <a:t>roximal</a:t>
            </a:r>
            <a:r>
              <a:rPr lang="en-US" sz="2000" spc="-125" dirty="0">
                <a:solidFill>
                  <a:srgbClr val="202729"/>
                </a:solidFill>
                <a:cs typeface="Trebuchet MS"/>
              </a:rPr>
              <a:t> </a:t>
            </a:r>
            <a:r>
              <a:rPr lang="en-US" sz="2000" b="1" spc="-25" dirty="0">
                <a:solidFill>
                  <a:srgbClr val="202729"/>
                </a:solidFill>
                <a:cs typeface="Trebuchet MS"/>
              </a:rPr>
              <a:t>P</a:t>
            </a:r>
            <a:r>
              <a:rPr lang="en-US" sz="2000" spc="-25" dirty="0">
                <a:solidFill>
                  <a:srgbClr val="202729"/>
                </a:solidFill>
                <a:cs typeface="Trebuchet MS"/>
              </a:rPr>
              <a:t>olicy</a:t>
            </a:r>
            <a:r>
              <a:rPr lang="en-US" sz="2000" spc="-120" dirty="0">
                <a:solidFill>
                  <a:srgbClr val="202729"/>
                </a:solidFill>
                <a:cs typeface="Trebuchet MS"/>
              </a:rPr>
              <a:t> </a:t>
            </a:r>
            <a:r>
              <a:rPr lang="en-US" sz="2000" b="1" spc="-60" dirty="0">
                <a:solidFill>
                  <a:srgbClr val="202729"/>
                </a:solidFill>
                <a:cs typeface="Trebuchet MS"/>
              </a:rPr>
              <a:t>O</a:t>
            </a:r>
            <a:r>
              <a:rPr lang="en-US" sz="2000" spc="-60" dirty="0">
                <a:solidFill>
                  <a:srgbClr val="202729"/>
                </a:solidFill>
                <a:cs typeface="Trebuchet MS"/>
              </a:rPr>
              <a:t>ptimization)</a:t>
            </a: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the algorithm that optimizes this objective : </a:t>
            </a:r>
            <a:endParaRPr lang="en-US" sz="2000" dirty="0"/>
          </a:p>
          <a:p>
            <a:pPr marL="342900" lvl="2" indent="-342900">
              <a:spcAft>
                <a:spcPts val="45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training stability by limiting how much π</a:t>
            </a:r>
            <a:r>
              <a:rPr lang="en-US" sz="2000" baseline="-25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can change per epoch.</a:t>
            </a:r>
            <a:endParaRPr lang="en-US" sz="2000" dirty="0"/>
          </a:p>
          <a:p>
            <a:pPr marL="342900" lvl="2" indent="-342900">
              <a:spcAft>
                <a:spcPts val="45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the change via a ratio between the current and previous policies:  r</a:t>
            </a:r>
            <a:r>
              <a:rPr lang="en-US" sz="2000" baseline="-25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t(θ)</a:t>
            </a: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π</a:t>
            </a:r>
            <a:r>
              <a:rPr lang="en-US" sz="2000" baseline="-25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π</a:t>
            </a:r>
            <a:r>
              <a:rPr lang="en-US" sz="2000" baseline="-25000" dirty="0" err="1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θ_old</a:t>
            </a:r>
            <a:endParaRPr lang="en-US" sz="2000" baseline="-25000" dirty="0"/>
          </a:p>
          <a:p>
            <a:pPr marL="342900" lvl="2" indent="-342900"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Clip the ratio to [ 1 − ε,  1 + ε ]   </a:t>
            </a: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remove the incentive to move too far from the previous policy (hence "proximal").</a:t>
            </a:r>
            <a:endParaRPr lang="en-US" sz="2000" dirty="0"/>
          </a:p>
          <a:p>
            <a:pPr marL="342900" lvl="2" indent="-342900"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Alternatively   </a:t>
            </a: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subtract an explicit KL penalty on the drift instead of clipping.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05740" y="6553989"/>
            <a:ext cx="84353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6C7A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"Training language models to follow instructions with human feedback", Ouyang et al., 2022.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050" y="524646"/>
            <a:ext cx="8160907" cy="44371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IN" sz="2800" dirty="0"/>
              <a:t>Maximize Reward Minus KL</a:t>
            </a:r>
            <a:endParaRPr sz="2800" spc="105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BBE2F8A-FDB9-64C7-85A0-F357244E88C0}"/>
              </a:ext>
            </a:extLst>
          </p:cNvPr>
          <p:cNvGrpSpPr/>
          <p:nvPr/>
        </p:nvGrpSpPr>
        <p:grpSpPr>
          <a:xfrm>
            <a:off x="144007" y="1366739"/>
            <a:ext cx="8346991" cy="1789062"/>
            <a:chOff x="568708" y="1905000"/>
            <a:chExt cx="8346991" cy="1789062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81200" y="1905000"/>
              <a:ext cx="5128300" cy="508744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3A0E9D7-4D34-0FC6-AD25-DBCAFF077DFF}"/>
                </a:ext>
              </a:extLst>
            </p:cNvPr>
            <p:cNvGrpSpPr/>
            <p:nvPr/>
          </p:nvGrpSpPr>
          <p:grpSpPr>
            <a:xfrm>
              <a:off x="568708" y="2093551"/>
              <a:ext cx="8346991" cy="1600511"/>
              <a:chOff x="568708" y="2093551"/>
              <a:chExt cx="8346991" cy="1600511"/>
            </a:xfrm>
          </p:grpSpPr>
          <p:sp>
            <p:nvSpPr>
              <p:cNvPr id="5" name="object 5"/>
              <p:cNvSpPr txBox="1"/>
              <p:nvPr/>
            </p:nvSpPr>
            <p:spPr>
              <a:xfrm>
                <a:off x="568708" y="3063120"/>
                <a:ext cx="3748795" cy="630942"/>
              </a:xfrm>
              <a:prstGeom prst="rect">
                <a:avLst/>
              </a:prstGeom>
              <a:ln w="9524">
                <a:solidFill>
                  <a:srgbClr val="000000"/>
                </a:solidFill>
              </a:ln>
            </p:spPr>
            <p:txBody>
              <a:bodyPr vert="horz" wrap="square" lIns="0" tIns="76200" rIns="0" bIns="0" rtlCol="0">
                <a:spAutoFit/>
              </a:bodyPr>
              <a:lstStyle/>
              <a:p>
                <a:pPr marL="85090">
                  <a:spcBef>
                    <a:spcPts val="600"/>
                  </a:spcBef>
                </a:pPr>
                <a:r>
                  <a:rPr spc="-20" dirty="0">
                    <a:solidFill>
                      <a:srgbClr val="202729"/>
                    </a:solidFill>
                    <a:latin typeface="Trebuchet MS"/>
                    <a:cs typeface="Trebuchet MS"/>
                  </a:rPr>
                  <a:t>Maximize</a:t>
                </a:r>
                <a:r>
                  <a:rPr spc="-70" dirty="0">
                    <a:solidFill>
                      <a:srgbClr val="202729"/>
                    </a:solidFill>
                    <a:latin typeface="Trebuchet MS"/>
                    <a:cs typeface="Trebuchet MS"/>
                  </a:rPr>
                  <a:t> </a:t>
                </a:r>
                <a:r>
                  <a:rPr spc="-10" dirty="0">
                    <a:solidFill>
                      <a:srgbClr val="202729"/>
                    </a:solidFill>
                    <a:latin typeface="Trebuchet MS"/>
                    <a:cs typeface="Trebuchet MS"/>
                  </a:rPr>
                  <a:t>rewards</a:t>
                </a:r>
                <a:r>
                  <a:rPr lang="en-US" spc="-10" dirty="0">
                    <a:solidFill>
                      <a:srgbClr val="202729"/>
                    </a:solidFill>
                    <a:latin typeface="Trebuchet MS"/>
                    <a:cs typeface="Trebuchet MS"/>
                  </a:rPr>
                  <a:t> </a:t>
                </a:r>
                <a:r>
                  <a:rPr lang="en-IN" dirty="0"/>
                  <a:t>reward from the preference-trained reward model</a:t>
                </a:r>
                <a:endParaRPr dirty="0">
                  <a:latin typeface="Trebuchet MS"/>
                  <a:cs typeface="Trebuchet MS"/>
                </a:endParaRPr>
              </a:p>
            </p:txBody>
          </p:sp>
          <p:grpSp>
            <p:nvGrpSpPr>
              <p:cNvPr id="6" name="object 6"/>
              <p:cNvGrpSpPr/>
              <p:nvPr/>
            </p:nvGrpSpPr>
            <p:grpSpPr>
              <a:xfrm>
                <a:off x="3440249" y="2420387"/>
                <a:ext cx="153073" cy="555705"/>
                <a:chOff x="3542962" y="2369110"/>
                <a:chExt cx="41910" cy="1075055"/>
              </a:xfrm>
            </p:grpSpPr>
            <p:sp>
              <p:nvSpPr>
                <p:cNvPr id="7" name="object 7"/>
                <p:cNvSpPr/>
                <p:nvPr/>
              </p:nvSpPr>
              <p:spPr>
                <a:xfrm>
                  <a:off x="3547724" y="2417092"/>
                  <a:ext cx="16510" cy="1022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" h="1022350">
                      <a:moveTo>
                        <a:pt x="0" y="1021957"/>
                      </a:moveTo>
                      <a:lnTo>
                        <a:pt x="16478" y="0"/>
                      </a:lnTo>
                    </a:path>
                  </a:pathLst>
                </a:custGeom>
                <a:ln w="9524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8" name="object 8"/>
                <p:cNvSpPr/>
                <p:nvPr/>
              </p:nvSpPr>
              <p:spPr>
                <a:xfrm>
                  <a:off x="3548472" y="2373872"/>
                  <a:ext cx="31750" cy="438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43814">
                      <a:moveTo>
                        <a:pt x="31461" y="43473"/>
                      </a:moveTo>
                      <a:lnTo>
                        <a:pt x="0" y="42966"/>
                      </a:lnTo>
                      <a:lnTo>
                        <a:pt x="16427" y="0"/>
                      </a:lnTo>
                      <a:lnTo>
                        <a:pt x="31461" y="4347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9" name="object 9"/>
                <p:cNvSpPr/>
                <p:nvPr/>
              </p:nvSpPr>
              <p:spPr>
                <a:xfrm>
                  <a:off x="3548472" y="2373872"/>
                  <a:ext cx="31750" cy="438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43814">
                      <a:moveTo>
                        <a:pt x="31461" y="43473"/>
                      </a:moveTo>
                      <a:lnTo>
                        <a:pt x="16427" y="0"/>
                      </a:lnTo>
                      <a:lnTo>
                        <a:pt x="0" y="42966"/>
                      </a:lnTo>
                      <a:lnTo>
                        <a:pt x="31461" y="43473"/>
                      </a:lnTo>
                      <a:close/>
                    </a:path>
                  </a:pathLst>
                </a:custGeom>
                <a:ln w="9524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10" name="object 10"/>
              <p:cNvSpPr txBox="1"/>
              <p:nvPr/>
            </p:nvSpPr>
            <p:spPr>
              <a:xfrm>
                <a:off x="4572000" y="3016073"/>
                <a:ext cx="4343699" cy="630942"/>
              </a:xfrm>
              <a:prstGeom prst="rect">
                <a:avLst/>
              </a:prstGeom>
              <a:ln w="9524">
                <a:solidFill>
                  <a:srgbClr val="000000"/>
                </a:solidFill>
              </a:ln>
            </p:spPr>
            <p:txBody>
              <a:bodyPr vert="horz" wrap="square" lIns="0" tIns="76200" rIns="0" bIns="0" rtlCol="0">
                <a:spAutoFit/>
              </a:bodyPr>
              <a:lstStyle/>
              <a:p>
                <a:pPr rtl="0"/>
                <a:r>
                  <a:rPr lang="en-IN" dirty="0"/>
                  <a:t>subtract a KL penalty so π</a:t>
                </a:r>
                <a:r>
                  <a:rPr lang="en-IN" baseline="-25000" dirty="0"/>
                  <a:t>θ</a:t>
                </a:r>
                <a:r>
                  <a:rPr lang="en-IN" dirty="0"/>
                  <a:t> does not drift too far from π</a:t>
                </a:r>
                <a:r>
                  <a:rPr lang="en-IN" baseline="-25000" dirty="0"/>
                  <a:t>ref</a:t>
                </a:r>
                <a:r>
                  <a:rPr lang="en-IN" dirty="0"/>
                  <a:t> (the SFT/base LLM)</a:t>
                </a:r>
              </a:p>
            </p:txBody>
          </p:sp>
          <p:grpSp>
            <p:nvGrpSpPr>
              <p:cNvPr id="11" name="object 11"/>
              <p:cNvGrpSpPr/>
              <p:nvPr/>
            </p:nvGrpSpPr>
            <p:grpSpPr>
              <a:xfrm>
                <a:off x="3316424" y="2093551"/>
                <a:ext cx="3691254" cy="859505"/>
                <a:chOff x="3307974" y="2042274"/>
                <a:chExt cx="3691254" cy="859505"/>
              </a:xfrm>
            </p:grpSpPr>
            <p:sp>
              <p:nvSpPr>
                <p:cNvPr id="12" name="object 12"/>
                <p:cNvSpPr/>
                <p:nvPr/>
              </p:nvSpPr>
              <p:spPr>
                <a:xfrm>
                  <a:off x="5560515" y="2421804"/>
                  <a:ext cx="374635" cy="47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3279" h="905510">
                      <a:moveTo>
                        <a:pt x="842758" y="905270"/>
                      </a:moveTo>
                      <a:lnTo>
                        <a:pt x="0" y="0"/>
                      </a:lnTo>
                    </a:path>
                  </a:pathLst>
                </a:custGeom>
                <a:ln w="9524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3" name="object 13"/>
                <p:cNvSpPr/>
                <p:nvPr/>
              </p:nvSpPr>
              <p:spPr>
                <a:xfrm>
                  <a:off x="5531062" y="2390166"/>
                  <a:ext cx="41275" cy="42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2544">
                      <a:moveTo>
                        <a:pt x="17937" y="42357"/>
                      </a:moveTo>
                      <a:lnTo>
                        <a:pt x="0" y="0"/>
                      </a:lnTo>
                      <a:lnTo>
                        <a:pt x="40968" y="20917"/>
                      </a:lnTo>
                      <a:lnTo>
                        <a:pt x="17937" y="423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4" name="object 14"/>
                <p:cNvSpPr/>
                <p:nvPr/>
              </p:nvSpPr>
              <p:spPr>
                <a:xfrm>
                  <a:off x="5531062" y="2390166"/>
                  <a:ext cx="41275" cy="42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2544">
                      <a:moveTo>
                        <a:pt x="40968" y="20917"/>
                      </a:moveTo>
                      <a:lnTo>
                        <a:pt x="0" y="0"/>
                      </a:lnTo>
                      <a:lnTo>
                        <a:pt x="17937" y="42357"/>
                      </a:lnTo>
                      <a:lnTo>
                        <a:pt x="40968" y="20917"/>
                      </a:lnTo>
                      <a:close/>
                    </a:path>
                  </a:pathLst>
                </a:custGeom>
                <a:ln w="9524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5" name="object 15"/>
                <p:cNvSpPr/>
                <p:nvPr/>
              </p:nvSpPr>
              <p:spPr>
                <a:xfrm>
                  <a:off x="3307974" y="2299449"/>
                  <a:ext cx="3691254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1254">
                      <a:moveTo>
                        <a:pt x="0" y="0"/>
                      </a:moveTo>
                      <a:lnTo>
                        <a:pt x="675599" y="0"/>
                      </a:lnTo>
                    </a:path>
                    <a:path w="3691254">
                      <a:moveTo>
                        <a:pt x="1071799" y="0"/>
                      </a:moveTo>
                      <a:lnTo>
                        <a:pt x="3691099" y="0"/>
                      </a:lnTo>
                    </a:path>
                  </a:pathLst>
                </a:custGeom>
                <a:ln w="9524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16" name="object 16"/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6076399" y="2042274"/>
                  <a:ext cx="262199" cy="215999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17" name="object 17"/>
          <p:cNvSpPr txBox="1"/>
          <p:nvPr/>
        </p:nvSpPr>
        <p:spPr>
          <a:xfrm>
            <a:off x="237050" y="6629400"/>
            <a:ext cx="4143375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spcBef>
                <a:spcPts val="35"/>
              </a:spcBef>
            </a:pPr>
            <a:r>
              <a:rPr sz="800" i="1" spc="-25" dirty="0">
                <a:latin typeface="Trebuchet MS"/>
                <a:cs typeface="Trebuchet MS"/>
              </a:rPr>
              <a:t>"</a:t>
            </a:r>
            <a:r>
              <a:rPr sz="800" i="1" spc="-25" dirty="0">
                <a:solidFill>
                  <a:srgbClr val="FF5252"/>
                </a:solidFill>
                <a:latin typeface="Trebuchet MS"/>
                <a:cs typeface="Trebuchet MS"/>
                <a:hlinkClick r:id="rId5"/>
              </a:rPr>
              <a:t>Training</a:t>
            </a:r>
            <a:r>
              <a:rPr sz="800" i="1" dirty="0">
                <a:solidFill>
                  <a:srgbClr val="FF5252"/>
                </a:solidFill>
                <a:latin typeface="Trebuchet MS"/>
                <a:cs typeface="Trebuchet MS"/>
                <a:hlinkClick r:id="rId5"/>
              </a:rPr>
              <a:t> language models </a:t>
            </a:r>
            <a:r>
              <a:rPr sz="800" i="1" spc="-45" dirty="0">
                <a:solidFill>
                  <a:srgbClr val="FF5252"/>
                </a:solidFill>
                <a:latin typeface="Trebuchet MS"/>
                <a:cs typeface="Trebuchet MS"/>
                <a:hlinkClick r:id="rId5"/>
              </a:rPr>
              <a:t>to</a:t>
            </a:r>
            <a:r>
              <a:rPr sz="800" i="1" dirty="0">
                <a:solidFill>
                  <a:srgbClr val="FF5252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sz="800" i="1" spc="-40" dirty="0">
                <a:solidFill>
                  <a:srgbClr val="FF5252"/>
                </a:solidFill>
                <a:latin typeface="Trebuchet MS"/>
                <a:cs typeface="Trebuchet MS"/>
                <a:hlinkClick r:id="rId5"/>
              </a:rPr>
              <a:t>follow</a:t>
            </a:r>
            <a:r>
              <a:rPr sz="800" i="1" dirty="0">
                <a:solidFill>
                  <a:srgbClr val="FF5252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sz="800" i="1" spc="-30" dirty="0">
                <a:solidFill>
                  <a:srgbClr val="FF5252"/>
                </a:solidFill>
                <a:latin typeface="Trebuchet MS"/>
                <a:cs typeface="Trebuchet MS"/>
                <a:hlinkClick r:id="rId5"/>
              </a:rPr>
              <a:t>instructions</a:t>
            </a:r>
            <a:r>
              <a:rPr sz="800" i="1" spc="5" dirty="0">
                <a:solidFill>
                  <a:srgbClr val="FF5252"/>
                </a:solidFill>
                <a:latin typeface="Trebuchet MS"/>
                <a:cs typeface="Trebuchet MS"/>
                <a:hlinkClick r:id="rId5"/>
              </a:rPr>
              <a:t> </a:t>
            </a:r>
            <a:r>
              <a:rPr sz="800" i="1" spc="-50" dirty="0">
                <a:solidFill>
                  <a:srgbClr val="FF5252"/>
                </a:solidFill>
                <a:latin typeface="Trebuchet MS"/>
                <a:cs typeface="Trebuchet MS"/>
                <a:hlinkClick r:id="rId5"/>
              </a:rPr>
              <a:t>with</a:t>
            </a:r>
            <a:r>
              <a:rPr sz="800" i="1" dirty="0">
                <a:solidFill>
                  <a:srgbClr val="FF5252"/>
                </a:solidFill>
                <a:latin typeface="Trebuchet MS"/>
                <a:cs typeface="Trebuchet MS"/>
                <a:hlinkClick r:id="rId5"/>
              </a:rPr>
              <a:t> human </a:t>
            </a:r>
            <a:r>
              <a:rPr sz="800" i="1" spc="-20" dirty="0">
                <a:solidFill>
                  <a:srgbClr val="FF5252"/>
                </a:solidFill>
                <a:latin typeface="Trebuchet MS"/>
                <a:cs typeface="Trebuchet MS"/>
                <a:hlinkClick r:id="rId5"/>
              </a:rPr>
              <a:t>feedback</a:t>
            </a:r>
            <a:r>
              <a:rPr sz="800" i="1" spc="-20" dirty="0">
                <a:latin typeface="Trebuchet MS"/>
                <a:cs typeface="Trebuchet MS"/>
              </a:rPr>
              <a:t>",</a:t>
            </a:r>
            <a:r>
              <a:rPr sz="800" i="1" dirty="0">
                <a:latin typeface="Trebuchet MS"/>
                <a:cs typeface="Trebuchet MS"/>
              </a:rPr>
              <a:t> Ouyang </a:t>
            </a:r>
            <a:r>
              <a:rPr sz="800" i="1" spc="-50" dirty="0">
                <a:latin typeface="Trebuchet MS"/>
                <a:cs typeface="Trebuchet MS"/>
              </a:rPr>
              <a:t>et</a:t>
            </a:r>
            <a:r>
              <a:rPr sz="800" i="1" dirty="0">
                <a:latin typeface="Trebuchet MS"/>
                <a:cs typeface="Trebuchet MS"/>
              </a:rPr>
              <a:t> </a:t>
            </a:r>
            <a:r>
              <a:rPr sz="800" i="1" spc="-80" dirty="0">
                <a:latin typeface="Trebuchet MS"/>
                <a:cs typeface="Trebuchet MS"/>
              </a:rPr>
              <a:t>al.,</a:t>
            </a:r>
            <a:r>
              <a:rPr sz="800" i="1" spc="5" dirty="0">
                <a:latin typeface="Trebuchet MS"/>
                <a:cs typeface="Trebuchet MS"/>
              </a:rPr>
              <a:t> </a:t>
            </a:r>
            <a:r>
              <a:rPr sz="800" i="1" spc="-10" dirty="0">
                <a:latin typeface="Trebuchet MS"/>
                <a:cs typeface="Trebuchet MS"/>
              </a:rPr>
              <a:t>2022.</a:t>
            </a:r>
            <a:endParaRPr sz="800" dirty="0">
              <a:latin typeface="Trebuchet MS"/>
              <a:cs typeface="Trebuchet M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00315" y="3534827"/>
            <a:ext cx="894368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π</a:t>
            </a:r>
            <a:r>
              <a:rPr lang="en-IN" sz="2000" b="1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ref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— frozen SFT model, "gold standard" for fluency and general knowledge.</a:t>
            </a:r>
          </a:p>
          <a:p>
            <a:pPr rtl="0"/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KL divergence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— distance between two probability distributions: 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"how different is the new model's writing style π</a:t>
            </a:r>
            <a:r>
              <a:rPr lang="en-IN" sz="2000" i="1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θ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 from the original π</a:t>
            </a:r>
            <a:r>
              <a:rPr lang="en-IN" sz="2000" i="1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ref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?"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rtl="0"/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λ (or β)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— the penalty weight. High: stay close to the original. Low: allow drift to chase higher reward.</a:t>
            </a:r>
          </a:p>
          <a:p>
            <a:pPr rtl="0"/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PPO is the algorithm that optimizes this objective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— with one important nuance: PPO does not use the reward directly. It uses 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advantages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endParaRPr lang="en-US" sz="2000" b="1" i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4" name="object 6">
            <a:extLst>
              <a:ext uri="{FF2B5EF4-FFF2-40B4-BE49-F238E27FC236}">
                <a16:creationId xmlns:a16="http://schemas.microsoft.com/office/drawing/2014/main" id="{36347C01-C997-76F2-13EA-9DA1878FD140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86491" y="556671"/>
            <a:ext cx="2571817" cy="5970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122324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B1C22F-AA6B-D127-5D3A-987FD6A395B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28600" y="1438602"/>
            <a:ext cx="8686800" cy="5084176"/>
          </a:xfrm>
        </p:spPr>
        <p:txBody>
          <a:bodyPr>
            <a:noAutofit/>
          </a:bodyPr>
          <a:lstStyle/>
          <a:p>
            <a:pPr rtl="0"/>
            <a:r>
              <a:rPr lang="en-IN" sz="2000" b="1" dirty="0"/>
              <a:t>Advantage, not raw reward : A</a:t>
            </a:r>
            <a:r>
              <a:rPr lang="en-IN" sz="2000" b="1" baseline="-25000" dirty="0"/>
              <a:t>t</a:t>
            </a:r>
            <a:r>
              <a:rPr lang="en-IN" sz="2000" b="1" dirty="0"/>
              <a:t> ≈ r</a:t>
            </a:r>
            <a:r>
              <a:rPr lang="en-IN" sz="2000" b="1" baseline="-25000" dirty="0"/>
              <a:t>t</a:t>
            </a:r>
            <a:r>
              <a:rPr lang="en-IN" sz="2000" b="1" dirty="0"/>
              <a:t> − V(s</a:t>
            </a:r>
            <a:r>
              <a:rPr lang="en-IN" sz="2000" b="1" baseline="-25000" dirty="0"/>
              <a:t>t</a:t>
            </a:r>
            <a:r>
              <a:rPr lang="en-IN" sz="2000" b="1" dirty="0"/>
              <a:t>)</a:t>
            </a:r>
            <a:endParaRPr lang="en-IN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/>
              <a:t>It measures whether a token was better than average, not just what score it got.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/>
              <a:t>At each token position t, V(s</a:t>
            </a:r>
            <a:r>
              <a:rPr lang="en-IN" sz="2000" baseline="-25000" dirty="0"/>
              <a:t>t</a:t>
            </a:r>
            <a:r>
              <a:rPr lang="en-IN" sz="2000" dirty="0"/>
              <a:t>) answers one question: </a:t>
            </a:r>
            <a:r>
              <a:rPr lang="en-IN" sz="2000" i="1" dirty="0"/>
              <a:t>"Given everything written so far, how good will the final response be?"</a:t>
            </a:r>
            <a:endParaRPr lang="en-IN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/>
              <a:t>It is a learned neural network — trained jointly with the policy — that predicts the reward that the reward model will assign when the response is eventually complete.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/>
              <a:t>PPO uses it as a baseline: if the actual reward turns out higher than V predicted, the tokens that led there get a positive advantage. If lower, they get a negative advantage.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/>
              <a:t>It roughly doubles GPU memory </a:t>
            </a:r>
            <a:r>
              <a:rPr lang="en-IN" sz="2000" i="1" dirty="0"/>
              <a:t>(GRPO will delete this network)</a:t>
            </a:r>
            <a:endParaRPr lang="en-IN" sz="20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highlight>
                  <a:srgbClr val="FFFF00"/>
                </a:highlight>
              </a:rPr>
              <a:t>Note that r</a:t>
            </a:r>
            <a:r>
              <a:rPr lang="en-IN" sz="2000" baseline="-25000" dirty="0">
                <a:highlight>
                  <a:srgbClr val="FFFF00"/>
                </a:highlight>
              </a:rPr>
              <a:t>t</a:t>
            </a:r>
            <a:r>
              <a:rPr lang="en-IN" sz="2000" dirty="0">
                <a:highlight>
                  <a:srgbClr val="FFFF00"/>
                </a:highlight>
              </a:rPr>
              <a:t> here means the reward from the reward model — a scalar like 1.2 or 0.3. This is different from the r</a:t>
            </a:r>
            <a:r>
              <a:rPr lang="en-IN" sz="2000" baseline="-25000" dirty="0">
                <a:highlight>
                  <a:srgbClr val="FFFF00"/>
                </a:highlight>
              </a:rPr>
              <a:t>t</a:t>
            </a:r>
            <a:r>
              <a:rPr lang="en-IN" sz="2000" dirty="0">
                <a:highlight>
                  <a:srgbClr val="FFFF00"/>
                </a:highlight>
              </a:rPr>
              <a:t>(θ), which was the ratio between the new and old policy probabilities. Same letter, different meaning — this is a notation collision in the literature</a:t>
            </a:r>
            <a:endParaRPr lang="en-IN" sz="2000" b="1" dirty="0">
              <a:highlight>
                <a:srgbClr val="FFFF00"/>
              </a:highlight>
            </a:endParaRP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0E4345-FD9D-5E3E-3966-283C0EC75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0"/>
            <a:r>
              <a:rPr lang="en-IN" dirty="0"/>
              <a:t>PPO — Advantages and the Clipped Objective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07892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156" y="359501"/>
            <a:ext cx="8160907" cy="874598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spc="-90" dirty="0"/>
              <a:t>Variation</a:t>
            </a:r>
            <a:r>
              <a:rPr sz="2800" spc="-65" dirty="0"/>
              <a:t> </a:t>
            </a:r>
            <a:r>
              <a:rPr sz="2800" spc="-450" dirty="0"/>
              <a:t>1:</a:t>
            </a:r>
            <a:r>
              <a:rPr sz="2800" spc="-60" dirty="0"/>
              <a:t> </a:t>
            </a:r>
            <a:r>
              <a:rPr sz="2800" dirty="0"/>
              <a:t>PPO-</a:t>
            </a:r>
            <a:r>
              <a:rPr sz="2800" spc="-20" dirty="0"/>
              <a:t>Clip</a:t>
            </a:r>
            <a:r>
              <a:rPr lang="en-US" sz="2800" spc="-20" dirty="0"/>
              <a:t> -</a:t>
            </a:r>
            <a:r>
              <a:rPr lang="en-US" sz="2800" b="1" i="1" dirty="0"/>
              <a:t>Clipped surrogate objective function</a:t>
            </a:r>
            <a:r>
              <a:rPr lang="en-US" sz="2800" b="1" dirty="0"/>
              <a:t> </a:t>
            </a:r>
            <a:endParaRPr sz="2800"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01035" y="1678940"/>
            <a:ext cx="687450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65" dirty="0">
                <a:solidFill>
                  <a:srgbClr val="202729"/>
                </a:solidFill>
                <a:latin typeface="Trebuchet MS"/>
                <a:cs typeface="Trebuchet MS"/>
              </a:rPr>
              <a:t>Idea</a:t>
            </a:r>
            <a:r>
              <a:rPr spc="-65" dirty="0">
                <a:solidFill>
                  <a:srgbClr val="202729"/>
                </a:solidFill>
                <a:latin typeface="Trebuchet MS"/>
                <a:cs typeface="Trebuchet MS"/>
              </a:rPr>
              <a:t>.</a:t>
            </a:r>
            <a:r>
              <a:rPr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10" dirty="0">
                <a:solidFill>
                  <a:srgbClr val="202729"/>
                </a:solidFill>
                <a:latin typeface="Trebuchet MS"/>
                <a:cs typeface="Trebuchet MS"/>
              </a:rPr>
              <a:t>Clip</a:t>
            </a:r>
            <a:r>
              <a:rPr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75" dirty="0">
                <a:solidFill>
                  <a:srgbClr val="202729"/>
                </a:solidFill>
                <a:latin typeface="Trebuchet MS"/>
                <a:cs typeface="Trebuchet MS"/>
              </a:rPr>
              <a:t>ratio</a:t>
            </a:r>
            <a:r>
              <a:rPr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20" dirty="0">
                <a:solidFill>
                  <a:srgbClr val="202729"/>
                </a:solidFill>
                <a:latin typeface="Trebuchet MS"/>
                <a:cs typeface="Trebuchet MS"/>
              </a:rPr>
              <a:t>between</a:t>
            </a:r>
            <a:r>
              <a:rPr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02729"/>
                </a:solidFill>
                <a:latin typeface="Trebuchet MS"/>
                <a:cs typeface="Trebuchet MS"/>
              </a:rPr>
              <a:t>new</a:t>
            </a:r>
            <a:r>
              <a:rPr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02729"/>
                </a:solidFill>
                <a:latin typeface="Trebuchet MS"/>
                <a:cs typeface="Trebuchet MS"/>
              </a:rPr>
              <a:t>and</a:t>
            </a:r>
            <a:r>
              <a:rPr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02729"/>
                </a:solidFill>
                <a:latin typeface="Trebuchet MS"/>
                <a:cs typeface="Trebuchet MS"/>
              </a:rPr>
              <a:t>old</a:t>
            </a:r>
            <a:r>
              <a:rPr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20" dirty="0">
                <a:solidFill>
                  <a:srgbClr val="202729"/>
                </a:solidFill>
                <a:latin typeface="Trebuchet MS"/>
                <a:cs typeface="Trebuchet MS"/>
              </a:rPr>
              <a:t>policy</a:t>
            </a:r>
            <a:r>
              <a:rPr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65" dirty="0">
                <a:solidFill>
                  <a:srgbClr val="202729"/>
                </a:solidFill>
                <a:latin typeface="Trebuchet MS"/>
                <a:cs typeface="Trebuchet MS"/>
              </a:rPr>
              <a:t>to</a:t>
            </a:r>
            <a:r>
              <a:rPr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35" dirty="0">
                <a:solidFill>
                  <a:srgbClr val="202729"/>
                </a:solidFill>
                <a:latin typeface="Trebuchet MS"/>
                <a:cs typeface="Trebuchet MS"/>
              </a:rPr>
              <a:t>prevent</a:t>
            </a:r>
            <a:r>
              <a:rPr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10" dirty="0">
                <a:solidFill>
                  <a:srgbClr val="202729"/>
                </a:solidFill>
                <a:latin typeface="Trebuchet MS"/>
                <a:cs typeface="Trebuchet MS"/>
              </a:rPr>
              <a:t>large</a:t>
            </a:r>
            <a:r>
              <a:rPr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10" dirty="0">
                <a:solidFill>
                  <a:srgbClr val="202729"/>
                </a:solidFill>
                <a:latin typeface="Trebuchet MS"/>
                <a:cs typeface="Trebuchet MS"/>
              </a:rPr>
              <a:t>updates</a:t>
            </a:r>
            <a:endParaRPr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911" y="2158218"/>
            <a:ext cx="5180086" cy="39526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321511" y="2290079"/>
            <a:ext cx="3246755" cy="957580"/>
            <a:chOff x="5022612" y="2114849"/>
            <a:chExt cx="3246755" cy="95758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66991" y="2213835"/>
              <a:ext cx="1593342" cy="34275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491624" y="2124374"/>
              <a:ext cx="1767839" cy="551180"/>
            </a:xfrm>
            <a:custGeom>
              <a:avLst/>
              <a:gdLst/>
              <a:ahLst/>
              <a:cxnLst/>
              <a:rect l="l" t="t" r="r" b="b"/>
              <a:pathLst>
                <a:path w="1767840" h="551180">
                  <a:moveTo>
                    <a:pt x="0" y="0"/>
                  </a:moveTo>
                  <a:lnTo>
                    <a:pt x="1767599" y="0"/>
                  </a:lnTo>
                  <a:lnTo>
                    <a:pt x="1767599" y="550799"/>
                  </a:lnTo>
                  <a:lnTo>
                    <a:pt x="0" y="550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27374" y="2541345"/>
              <a:ext cx="1398905" cy="526415"/>
            </a:xfrm>
            <a:custGeom>
              <a:avLst/>
              <a:gdLst/>
              <a:ahLst/>
              <a:cxnLst/>
              <a:rect l="l" t="t" r="r" b="b"/>
              <a:pathLst>
                <a:path w="1398904" h="526414">
                  <a:moveTo>
                    <a:pt x="0" y="526178"/>
                  </a:moveTo>
                  <a:lnTo>
                    <a:pt x="1398809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6420644" y="2526127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11078" y="29944"/>
                  </a:moveTo>
                  <a:lnTo>
                    <a:pt x="0" y="493"/>
                  </a:lnTo>
                  <a:lnTo>
                    <a:pt x="45996" y="0"/>
                  </a:lnTo>
                  <a:lnTo>
                    <a:pt x="11078" y="299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20644" y="2526127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11078" y="29944"/>
                  </a:moveTo>
                  <a:lnTo>
                    <a:pt x="45996" y="0"/>
                  </a:lnTo>
                  <a:lnTo>
                    <a:pt x="0" y="493"/>
                  </a:lnTo>
                  <a:lnTo>
                    <a:pt x="11078" y="2994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944889" y="6400800"/>
            <a:ext cx="2861310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spcBef>
                <a:spcPts val="35"/>
              </a:spcBef>
            </a:pPr>
            <a:r>
              <a:rPr sz="800" i="1" spc="-25" dirty="0">
                <a:latin typeface="Trebuchet MS"/>
                <a:cs typeface="Trebuchet MS"/>
              </a:rPr>
              <a:t>"</a:t>
            </a:r>
            <a:r>
              <a:rPr sz="800" i="1" spc="-25" dirty="0">
                <a:solidFill>
                  <a:srgbClr val="FF5252"/>
                </a:solidFill>
                <a:latin typeface="Trebuchet MS"/>
                <a:cs typeface="Trebuchet MS"/>
                <a:hlinkClick r:id="rId4"/>
              </a:rPr>
              <a:t>Proximal</a:t>
            </a:r>
            <a:r>
              <a:rPr sz="800" i="1" dirty="0">
                <a:solidFill>
                  <a:srgbClr val="FF5252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sz="800" i="1" spc="-20" dirty="0">
                <a:solidFill>
                  <a:srgbClr val="FF5252"/>
                </a:solidFill>
                <a:latin typeface="Trebuchet MS"/>
                <a:cs typeface="Trebuchet MS"/>
                <a:hlinkClick r:id="rId4"/>
              </a:rPr>
              <a:t>Policy</a:t>
            </a:r>
            <a:r>
              <a:rPr sz="800" i="1" dirty="0">
                <a:solidFill>
                  <a:srgbClr val="FF5252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sz="800" i="1" spc="-30" dirty="0">
                <a:solidFill>
                  <a:srgbClr val="FF5252"/>
                </a:solidFill>
                <a:latin typeface="Trebuchet MS"/>
                <a:cs typeface="Trebuchet MS"/>
                <a:hlinkClick r:id="rId4"/>
              </a:rPr>
              <a:t>Optimization</a:t>
            </a:r>
            <a:r>
              <a:rPr sz="800" i="1" spc="5" dirty="0">
                <a:solidFill>
                  <a:srgbClr val="FF5252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sz="800" i="1" spc="-35" dirty="0">
                <a:solidFill>
                  <a:srgbClr val="FF5252"/>
                </a:solidFill>
                <a:latin typeface="Trebuchet MS"/>
                <a:cs typeface="Trebuchet MS"/>
                <a:hlinkClick r:id="rId4"/>
              </a:rPr>
              <a:t>Algorithms</a:t>
            </a:r>
            <a:r>
              <a:rPr sz="800" i="1" spc="-35" dirty="0">
                <a:latin typeface="Trebuchet MS"/>
                <a:cs typeface="Trebuchet MS"/>
              </a:rPr>
              <a:t>",</a:t>
            </a:r>
            <a:r>
              <a:rPr sz="800" i="1" dirty="0">
                <a:latin typeface="Trebuchet MS"/>
                <a:cs typeface="Trebuchet MS"/>
              </a:rPr>
              <a:t> Schulman</a:t>
            </a:r>
            <a:r>
              <a:rPr sz="800" i="1" spc="5" dirty="0">
                <a:latin typeface="Trebuchet MS"/>
                <a:cs typeface="Trebuchet MS"/>
              </a:rPr>
              <a:t> </a:t>
            </a:r>
            <a:r>
              <a:rPr sz="800" i="1" spc="-50" dirty="0">
                <a:latin typeface="Trebuchet MS"/>
                <a:cs typeface="Trebuchet MS"/>
              </a:rPr>
              <a:t>et</a:t>
            </a:r>
            <a:r>
              <a:rPr sz="800" i="1" dirty="0">
                <a:latin typeface="Trebuchet MS"/>
                <a:cs typeface="Trebuchet MS"/>
              </a:rPr>
              <a:t> </a:t>
            </a:r>
            <a:r>
              <a:rPr sz="800" i="1" spc="-80" dirty="0">
                <a:latin typeface="Trebuchet MS"/>
                <a:cs typeface="Trebuchet MS"/>
              </a:rPr>
              <a:t>al.,</a:t>
            </a:r>
            <a:r>
              <a:rPr sz="800" i="1" spc="5" dirty="0">
                <a:latin typeface="Trebuchet MS"/>
                <a:cs typeface="Trebuchet MS"/>
              </a:rPr>
              <a:t> </a:t>
            </a:r>
            <a:r>
              <a:rPr sz="800" i="1" spc="-25" dirty="0">
                <a:latin typeface="Trebuchet MS"/>
                <a:cs typeface="Trebuchet MS"/>
              </a:rPr>
              <a:t>2017.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43000" y="3160660"/>
            <a:ext cx="5156200" cy="67300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85725" marR="239395">
              <a:lnSpc>
                <a:spcPct val="114999"/>
              </a:lnSpc>
              <a:spcBef>
                <a:spcPts val="280"/>
              </a:spcBef>
            </a:pPr>
            <a:r>
              <a:rPr b="1" spc="-60" dirty="0">
                <a:solidFill>
                  <a:srgbClr val="202729"/>
                </a:solidFill>
                <a:latin typeface="Trebuchet MS"/>
                <a:cs typeface="Trebuchet MS"/>
              </a:rPr>
              <a:t>Terminology</a:t>
            </a:r>
            <a:r>
              <a:rPr spc="-60" dirty="0">
                <a:solidFill>
                  <a:srgbClr val="202729"/>
                </a:solidFill>
                <a:latin typeface="Trebuchet MS"/>
                <a:cs typeface="Trebuchet MS"/>
              </a:rPr>
              <a:t>.</a:t>
            </a:r>
            <a:r>
              <a:rPr spc="-5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02729"/>
                </a:solidFill>
                <a:latin typeface="Trebuchet MS"/>
                <a:cs typeface="Trebuchet MS"/>
              </a:rPr>
              <a:t>Confusing</a:t>
            </a:r>
            <a:r>
              <a:rPr spc="-5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02729"/>
                </a:solidFill>
                <a:latin typeface="Trebuchet MS"/>
                <a:cs typeface="Trebuchet MS"/>
              </a:rPr>
              <a:t>since</a:t>
            </a:r>
            <a:r>
              <a:rPr spc="-5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10" dirty="0">
                <a:solidFill>
                  <a:srgbClr val="202729"/>
                </a:solidFill>
                <a:latin typeface="Trebuchet MS"/>
                <a:cs typeface="Trebuchet MS"/>
              </a:rPr>
              <a:t>rewards</a:t>
            </a:r>
            <a:r>
              <a:rPr spc="-5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10" dirty="0">
                <a:solidFill>
                  <a:srgbClr val="202729"/>
                </a:solidFill>
                <a:latin typeface="Trebuchet MS"/>
                <a:cs typeface="Trebuchet MS"/>
              </a:rPr>
              <a:t>noted</a:t>
            </a:r>
            <a:r>
              <a:rPr spc="-5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75" dirty="0">
                <a:solidFill>
                  <a:srgbClr val="202729"/>
                </a:solidFill>
                <a:latin typeface="Trebuchet MS"/>
                <a:cs typeface="Trebuchet MS"/>
              </a:rPr>
              <a:t>"r". </a:t>
            </a:r>
            <a:r>
              <a:rPr dirty="0">
                <a:solidFill>
                  <a:srgbClr val="202729"/>
                </a:solidFill>
                <a:latin typeface="Trebuchet MS"/>
                <a:cs typeface="Trebuchet MS"/>
              </a:rPr>
              <a:t>Here</a:t>
            </a:r>
            <a:r>
              <a:rPr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02729"/>
                </a:solidFill>
                <a:latin typeface="Trebuchet MS"/>
                <a:cs typeface="Trebuchet MS"/>
              </a:rPr>
              <a:t>we</a:t>
            </a:r>
            <a:r>
              <a:rPr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35" dirty="0">
                <a:solidFill>
                  <a:srgbClr val="202729"/>
                </a:solidFill>
                <a:latin typeface="Trebuchet MS"/>
                <a:cs typeface="Trebuchet MS"/>
              </a:rPr>
              <a:t>are</a:t>
            </a:r>
            <a:r>
              <a:rPr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40" dirty="0">
                <a:solidFill>
                  <a:srgbClr val="202729"/>
                </a:solidFill>
                <a:latin typeface="Trebuchet MS"/>
                <a:cs typeface="Trebuchet MS"/>
              </a:rPr>
              <a:t>talking</a:t>
            </a:r>
            <a:r>
              <a:rPr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10" dirty="0">
                <a:solidFill>
                  <a:srgbClr val="202729"/>
                </a:solidFill>
                <a:latin typeface="Trebuchet MS"/>
                <a:cs typeface="Trebuchet MS"/>
              </a:rPr>
              <a:t>about</a:t>
            </a:r>
            <a:r>
              <a:rPr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55" dirty="0">
                <a:solidFill>
                  <a:srgbClr val="202729"/>
                </a:solidFill>
                <a:latin typeface="Trebuchet MS"/>
                <a:cs typeface="Trebuchet MS"/>
              </a:rPr>
              <a:t>the</a:t>
            </a:r>
            <a:r>
              <a:rPr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10" dirty="0">
                <a:solidFill>
                  <a:srgbClr val="FF0000"/>
                </a:solidFill>
                <a:latin typeface="Trebuchet MS"/>
                <a:cs typeface="Trebuchet MS"/>
              </a:rPr>
              <a:t>ratio</a:t>
            </a:r>
            <a:r>
              <a:rPr spc="-10" dirty="0">
                <a:solidFill>
                  <a:srgbClr val="202729"/>
                </a:solidFill>
                <a:latin typeface="Trebuchet MS"/>
                <a:cs typeface="Trebuchet MS"/>
              </a:rPr>
              <a:t>.</a:t>
            </a:r>
            <a:endParaRPr dirty="0">
              <a:latin typeface="Trebuchet MS"/>
              <a:cs typeface="Trebuchet M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1372" y="4035408"/>
            <a:ext cx="766424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/>
              <a:t>Ratio function </a:t>
            </a:r>
            <a:r>
              <a:rPr lang="en-US" sz="1800" dirty="0"/>
              <a:t>measures how much the model's behavior has changed during the current training update</a:t>
            </a:r>
          </a:p>
          <a:p>
            <a:r>
              <a:rPr lang="en-US" sz="1800" dirty="0"/>
              <a:t>If r = 1 </a:t>
            </a:r>
            <a:r>
              <a:rPr lang="en-US" sz="1800" dirty="0">
                <a:sym typeface="Wingdings" panose="05000000000000000000" pitchFamily="2" charset="2"/>
              </a:rPr>
              <a:t></a:t>
            </a:r>
            <a:r>
              <a:rPr lang="en-US" sz="1800" dirty="0"/>
              <a:t> New model is acting exactly like the old model</a:t>
            </a:r>
          </a:p>
          <a:p>
            <a:pPr marL="0" lvl="1"/>
            <a:r>
              <a:rPr lang="en-US" sz="1800" dirty="0"/>
              <a:t>If r &gt; 1 </a:t>
            </a:r>
            <a:r>
              <a:rPr lang="en-US" sz="1800" dirty="0">
                <a:sym typeface="Wingdings" panose="05000000000000000000" pitchFamily="2" charset="2"/>
              </a:rPr>
              <a:t> </a:t>
            </a:r>
            <a:r>
              <a:rPr lang="en-US" sz="1800" dirty="0"/>
              <a:t>new model is more likely to take this action </a:t>
            </a:r>
          </a:p>
          <a:p>
            <a:pPr marL="0" lvl="1"/>
            <a:r>
              <a:rPr lang="en-US" sz="1800" dirty="0"/>
              <a:t>If r &lt; 1</a:t>
            </a:r>
            <a:r>
              <a:rPr lang="en-US" sz="1800" dirty="0">
                <a:sym typeface="Wingdings" panose="05000000000000000000" pitchFamily="2" charset="2"/>
              </a:rPr>
              <a:t></a:t>
            </a:r>
            <a:r>
              <a:rPr lang="en-US" sz="1800" dirty="0"/>
              <a:t> New model is less likely to take this action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13C67D-253E-A5DC-4852-F03EE6E08176}"/>
              </a:ext>
            </a:extLst>
          </p:cNvPr>
          <p:cNvSpPr txBox="1"/>
          <p:nvPr/>
        </p:nvSpPr>
        <p:spPr>
          <a:xfrm>
            <a:off x="110305" y="5652314"/>
            <a:ext cx="8458200" cy="101566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rtl="0"/>
            <a:r>
              <a:rPr lang="en-IN" sz="2000" b="1" dirty="0"/>
              <a:t>Clip</a:t>
            </a:r>
            <a:r>
              <a:rPr lang="en-IN" sz="2000" dirty="0"/>
              <a:t> on r</a:t>
            </a:r>
            <a:r>
              <a:rPr lang="en-IN" sz="2000" baseline="-25000" dirty="0"/>
              <a:t>t</a:t>
            </a:r>
            <a:r>
              <a:rPr lang="en-IN" sz="2000" dirty="0"/>
              <a:t> bounds distance from </a:t>
            </a:r>
            <a:r>
              <a:rPr lang="en-IN" sz="2000" b="1" dirty="0"/>
              <a:t>π</a:t>
            </a:r>
            <a:r>
              <a:rPr lang="en-IN" sz="2000" b="1" baseline="-25000" dirty="0" err="1"/>
              <a:t>θ_old</a:t>
            </a:r>
            <a:r>
              <a:rPr lang="en-IN" sz="2000" dirty="0"/>
              <a:t> — policy from the previous training step. This is about </a:t>
            </a:r>
            <a:r>
              <a:rPr lang="en-IN" sz="2000" b="1" dirty="0"/>
              <a:t>training stability</a:t>
            </a:r>
            <a:r>
              <a:rPr lang="en-IN" sz="2000" dirty="0"/>
              <a:t> — no single update can move the policy too far.</a:t>
            </a:r>
          </a:p>
        </p:txBody>
      </p:sp>
    </p:spTree>
    <p:extLst>
      <p:ext uri="{BB962C8B-B14F-4D97-AF65-F5344CB8AC3E}">
        <p14:creationId xmlns:p14="http://schemas.microsoft.com/office/powerpoint/2010/main" val="34817233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2522" y="382465"/>
            <a:ext cx="8160907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90" dirty="0"/>
              <a:t>Variation</a:t>
            </a:r>
            <a:r>
              <a:rPr spc="-65" dirty="0"/>
              <a:t> </a:t>
            </a:r>
            <a:r>
              <a:rPr spc="-450" dirty="0"/>
              <a:t>1:</a:t>
            </a:r>
            <a:r>
              <a:rPr spc="-60" dirty="0"/>
              <a:t> </a:t>
            </a:r>
            <a:r>
              <a:rPr dirty="0"/>
              <a:t>PPO-</a:t>
            </a:r>
            <a:r>
              <a:rPr spc="-20" dirty="0"/>
              <a:t>Clip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6401" y="1781455"/>
            <a:ext cx="687450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65" dirty="0">
                <a:solidFill>
                  <a:srgbClr val="202729"/>
                </a:solidFill>
                <a:latin typeface="Trebuchet MS"/>
                <a:cs typeface="Trebuchet MS"/>
              </a:rPr>
              <a:t>Idea</a:t>
            </a:r>
            <a:r>
              <a:rPr spc="-65" dirty="0">
                <a:solidFill>
                  <a:srgbClr val="202729"/>
                </a:solidFill>
                <a:latin typeface="Trebuchet MS"/>
                <a:cs typeface="Trebuchet MS"/>
              </a:rPr>
              <a:t>.</a:t>
            </a:r>
            <a:r>
              <a:rPr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10" dirty="0">
                <a:solidFill>
                  <a:srgbClr val="202729"/>
                </a:solidFill>
                <a:latin typeface="Trebuchet MS"/>
                <a:cs typeface="Trebuchet MS"/>
              </a:rPr>
              <a:t>Clip</a:t>
            </a:r>
            <a:r>
              <a:rPr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75" dirty="0">
                <a:solidFill>
                  <a:srgbClr val="202729"/>
                </a:solidFill>
                <a:latin typeface="Trebuchet MS"/>
                <a:cs typeface="Trebuchet MS"/>
              </a:rPr>
              <a:t>ratio</a:t>
            </a:r>
            <a:r>
              <a:rPr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20" dirty="0">
                <a:solidFill>
                  <a:srgbClr val="202729"/>
                </a:solidFill>
                <a:latin typeface="Trebuchet MS"/>
                <a:cs typeface="Trebuchet MS"/>
              </a:rPr>
              <a:t>between</a:t>
            </a:r>
            <a:r>
              <a:rPr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02729"/>
                </a:solidFill>
                <a:latin typeface="Trebuchet MS"/>
                <a:cs typeface="Trebuchet MS"/>
              </a:rPr>
              <a:t>new</a:t>
            </a:r>
            <a:r>
              <a:rPr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02729"/>
                </a:solidFill>
                <a:latin typeface="Trebuchet MS"/>
                <a:cs typeface="Trebuchet MS"/>
              </a:rPr>
              <a:t>and</a:t>
            </a:r>
            <a:r>
              <a:rPr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02729"/>
                </a:solidFill>
                <a:latin typeface="Trebuchet MS"/>
                <a:cs typeface="Trebuchet MS"/>
              </a:rPr>
              <a:t>old</a:t>
            </a:r>
            <a:r>
              <a:rPr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20" dirty="0">
                <a:solidFill>
                  <a:srgbClr val="202729"/>
                </a:solidFill>
                <a:latin typeface="Trebuchet MS"/>
                <a:cs typeface="Trebuchet MS"/>
              </a:rPr>
              <a:t>policy</a:t>
            </a:r>
            <a:r>
              <a:rPr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65" dirty="0">
                <a:solidFill>
                  <a:srgbClr val="202729"/>
                </a:solidFill>
                <a:latin typeface="Trebuchet MS"/>
                <a:cs typeface="Trebuchet MS"/>
              </a:rPr>
              <a:t>to</a:t>
            </a:r>
            <a:r>
              <a:rPr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35" dirty="0">
                <a:solidFill>
                  <a:srgbClr val="202729"/>
                </a:solidFill>
                <a:latin typeface="Trebuchet MS"/>
                <a:cs typeface="Trebuchet MS"/>
              </a:rPr>
              <a:t>prevent</a:t>
            </a:r>
            <a:r>
              <a:rPr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10" dirty="0">
                <a:solidFill>
                  <a:srgbClr val="202729"/>
                </a:solidFill>
                <a:latin typeface="Trebuchet MS"/>
                <a:cs typeface="Trebuchet MS"/>
              </a:rPr>
              <a:t>large</a:t>
            </a:r>
            <a:r>
              <a:rPr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10" dirty="0">
                <a:solidFill>
                  <a:srgbClr val="202729"/>
                </a:solidFill>
                <a:latin typeface="Trebuchet MS"/>
                <a:cs typeface="Trebuchet MS"/>
              </a:rPr>
              <a:t>updates</a:t>
            </a:r>
            <a:endParaRPr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26539" y="2360250"/>
            <a:ext cx="5196480" cy="1386693"/>
            <a:chOff x="1826538" y="1503000"/>
            <a:chExt cx="5196480" cy="1386693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42932" y="1551919"/>
              <a:ext cx="5180086" cy="39526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26538" y="1503000"/>
              <a:ext cx="206375" cy="428625"/>
            </a:xfrm>
            <a:custGeom>
              <a:avLst/>
              <a:gdLst/>
              <a:ahLst/>
              <a:cxnLst/>
              <a:rect l="l" t="t" r="r" b="b"/>
              <a:pathLst>
                <a:path w="206375" h="428625">
                  <a:moveTo>
                    <a:pt x="0" y="0"/>
                  </a:moveTo>
                  <a:lnTo>
                    <a:pt x="205799" y="0"/>
                  </a:lnTo>
                  <a:lnTo>
                    <a:pt x="205799" y="428399"/>
                  </a:lnTo>
                  <a:lnTo>
                    <a:pt x="0" y="4283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58094" y="1971294"/>
              <a:ext cx="913705" cy="918399"/>
            </a:xfrm>
            <a:custGeom>
              <a:avLst/>
              <a:gdLst/>
              <a:ahLst/>
              <a:cxnLst/>
              <a:rect l="l" t="t" r="r" b="b"/>
              <a:pathLst>
                <a:path w="1194435" h="1160780">
                  <a:moveTo>
                    <a:pt x="1194405" y="116018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27088" y="1941177"/>
              <a:ext cx="42545" cy="41910"/>
            </a:xfrm>
            <a:custGeom>
              <a:avLst/>
              <a:gdLst/>
              <a:ahLst/>
              <a:cxnLst/>
              <a:rect l="l" t="t" r="r" b="b"/>
              <a:pathLst>
                <a:path w="42544" h="41910">
                  <a:moveTo>
                    <a:pt x="20044" y="41402"/>
                  </a:moveTo>
                  <a:lnTo>
                    <a:pt x="0" y="0"/>
                  </a:lnTo>
                  <a:lnTo>
                    <a:pt x="41967" y="18832"/>
                  </a:lnTo>
                  <a:lnTo>
                    <a:pt x="20044" y="414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027088" y="1941177"/>
              <a:ext cx="42545" cy="41910"/>
            </a:xfrm>
            <a:custGeom>
              <a:avLst/>
              <a:gdLst/>
              <a:ahLst/>
              <a:cxnLst/>
              <a:rect l="l" t="t" r="r" b="b"/>
              <a:pathLst>
                <a:path w="42544" h="41910">
                  <a:moveTo>
                    <a:pt x="41967" y="18832"/>
                  </a:moveTo>
                  <a:lnTo>
                    <a:pt x="0" y="0"/>
                  </a:lnTo>
                  <a:lnTo>
                    <a:pt x="20044" y="41402"/>
                  </a:lnTo>
                  <a:lnTo>
                    <a:pt x="41967" y="18832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66991" y="3071086"/>
            <a:ext cx="1593342" cy="34275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916200" y="3045506"/>
            <a:ext cx="438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70" dirty="0">
                <a:solidFill>
                  <a:srgbClr val="202729"/>
                </a:solidFill>
                <a:latin typeface="Trebuchet MS"/>
                <a:cs typeface="Trebuchet MS"/>
              </a:rPr>
              <a:t>with</a:t>
            </a:r>
            <a:endParaRPr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30255" y="6248400"/>
            <a:ext cx="2861310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spcBef>
                <a:spcPts val="35"/>
              </a:spcBef>
            </a:pPr>
            <a:r>
              <a:rPr sz="800" i="1" spc="-25" dirty="0">
                <a:latin typeface="Trebuchet MS"/>
                <a:cs typeface="Trebuchet MS"/>
              </a:rPr>
              <a:t>"</a:t>
            </a:r>
            <a:r>
              <a:rPr sz="800" i="1" spc="-25" dirty="0">
                <a:solidFill>
                  <a:srgbClr val="FF5252"/>
                </a:solidFill>
                <a:latin typeface="Trebuchet MS"/>
                <a:cs typeface="Trebuchet MS"/>
                <a:hlinkClick r:id="rId4"/>
              </a:rPr>
              <a:t>Proximal</a:t>
            </a:r>
            <a:r>
              <a:rPr sz="800" i="1" dirty="0">
                <a:solidFill>
                  <a:srgbClr val="FF5252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sz="800" i="1" spc="-20" dirty="0">
                <a:solidFill>
                  <a:srgbClr val="FF5252"/>
                </a:solidFill>
                <a:latin typeface="Trebuchet MS"/>
                <a:cs typeface="Trebuchet MS"/>
                <a:hlinkClick r:id="rId4"/>
              </a:rPr>
              <a:t>Policy</a:t>
            </a:r>
            <a:r>
              <a:rPr sz="800" i="1" dirty="0">
                <a:solidFill>
                  <a:srgbClr val="FF5252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sz="800" i="1" spc="-30" dirty="0">
                <a:solidFill>
                  <a:srgbClr val="FF5252"/>
                </a:solidFill>
                <a:latin typeface="Trebuchet MS"/>
                <a:cs typeface="Trebuchet MS"/>
                <a:hlinkClick r:id="rId4"/>
              </a:rPr>
              <a:t>Optimization</a:t>
            </a:r>
            <a:r>
              <a:rPr sz="800" i="1" spc="5" dirty="0">
                <a:solidFill>
                  <a:srgbClr val="FF5252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sz="800" i="1" spc="-35" dirty="0">
                <a:solidFill>
                  <a:srgbClr val="FF5252"/>
                </a:solidFill>
                <a:latin typeface="Trebuchet MS"/>
                <a:cs typeface="Trebuchet MS"/>
                <a:hlinkClick r:id="rId4"/>
              </a:rPr>
              <a:t>Algorithms</a:t>
            </a:r>
            <a:r>
              <a:rPr sz="800" i="1" spc="-35" dirty="0">
                <a:latin typeface="Trebuchet MS"/>
                <a:cs typeface="Trebuchet MS"/>
              </a:rPr>
              <a:t>",</a:t>
            </a:r>
            <a:r>
              <a:rPr sz="800" i="1" dirty="0">
                <a:latin typeface="Trebuchet MS"/>
                <a:cs typeface="Trebuchet MS"/>
              </a:rPr>
              <a:t> Schulman</a:t>
            </a:r>
            <a:r>
              <a:rPr sz="800" i="1" spc="5" dirty="0">
                <a:latin typeface="Trebuchet MS"/>
                <a:cs typeface="Trebuchet MS"/>
              </a:rPr>
              <a:t> </a:t>
            </a:r>
            <a:r>
              <a:rPr sz="800" i="1" spc="-50" dirty="0">
                <a:latin typeface="Trebuchet MS"/>
                <a:cs typeface="Trebuchet MS"/>
              </a:rPr>
              <a:t>et</a:t>
            </a:r>
            <a:r>
              <a:rPr sz="800" i="1" dirty="0">
                <a:latin typeface="Trebuchet MS"/>
                <a:cs typeface="Trebuchet MS"/>
              </a:rPr>
              <a:t> </a:t>
            </a:r>
            <a:r>
              <a:rPr sz="800" i="1" spc="-80" dirty="0">
                <a:latin typeface="Trebuchet MS"/>
                <a:cs typeface="Trebuchet MS"/>
              </a:rPr>
              <a:t>al.,</a:t>
            </a:r>
            <a:r>
              <a:rPr sz="800" i="1" spc="5" dirty="0">
                <a:latin typeface="Trebuchet MS"/>
                <a:cs typeface="Trebuchet MS"/>
              </a:rPr>
              <a:t> </a:t>
            </a:r>
            <a:r>
              <a:rPr sz="800" i="1" spc="-25" dirty="0">
                <a:latin typeface="Trebuchet MS"/>
                <a:cs typeface="Trebuchet MS"/>
              </a:rPr>
              <a:t>2017.</a:t>
            </a:r>
            <a:endParaRPr sz="800" dirty="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21776" y="3731386"/>
            <a:ext cx="5156200" cy="672364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85090" marR="400050">
              <a:lnSpc>
                <a:spcPct val="114999"/>
              </a:lnSpc>
              <a:spcBef>
                <a:spcPts val="275"/>
              </a:spcBef>
            </a:pPr>
            <a:r>
              <a:rPr b="1" spc="-60" dirty="0">
                <a:solidFill>
                  <a:srgbClr val="202729"/>
                </a:solidFill>
                <a:latin typeface="Trebuchet MS"/>
                <a:cs typeface="Trebuchet MS"/>
              </a:rPr>
              <a:t>Terminology</a:t>
            </a:r>
            <a:r>
              <a:rPr spc="-60" dirty="0">
                <a:solidFill>
                  <a:srgbClr val="202729"/>
                </a:solidFill>
                <a:latin typeface="Trebuchet MS"/>
                <a:cs typeface="Trebuchet MS"/>
              </a:rPr>
              <a:t>.</a:t>
            </a:r>
            <a:r>
              <a:rPr spc="-5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02729"/>
                </a:solidFill>
                <a:latin typeface="Trebuchet MS"/>
                <a:cs typeface="Trebuchet MS"/>
              </a:rPr>
              <a:t>Confusing</a:t>
            </a:r>
            <a:r>
              <a:rPr spc="-5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02729"/>
                </a:solidFill>
                <a:latin typeface="Trebuchet MS"/>
                <a:cs typeface="Trebuchet MS"/>
              </a:rPr>
              <a:t>since</a:t>
            </a:r>
            <a:r>
              <a:rPr spc="-5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155" dirty="0">
                <a:solidFill>
                  <a:srgbClr val="202729"/>
                </a:solidFill>
                <a:latin typeface="Trebuchet MS"/>
                <a:cs typeface="Trebuchet MS"/>
              </a:rPr>
              <a:t>it</a:t>
            </a:r>
            <a:r>
              <a:rPr spc="-5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02729"/>
                </a:solidFill>
                <a:latin typeface="Trebuchet MS"/>
                <a:cs typeface="Trebuchet MS"/>
              </a:rPr>
              <a:t>is</a:t>
            </a:r>
            <a:r>
              <a:rPr spc="-4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02729"/>
                </a:solidFill>
                <a:latin typeface="Trebuchet MS"/>
                <a:cs typeface="Trebuchet MS"/>
              </a:rPr>
              <a:t>an</a:t>
            </a:r>
            <a:r>
              <a:rPr spc="-5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35" dirty="0">
                <a:solidFill>
                  <a:srgbClr val="202729"/>
                </a:solidFill>
                <a:latin typeface="Trebuchet MS"/>
                <a:cs typeface="Trebuchet MS"/>
              </a:rPr>
              <a:t>objective </a:t>
            </a:r>
            <a:r>
              <a:rPr spc="-50" dirty="0">
                <a:solidFill>
                  <a:srgbClr val="202729"/>
                </a:solidFill>
                <a:latin typeface="Trebuchet MS"/>
                <a:cs typeface="Trebuchet MS"/>
              </a:rPr>
              <a:t>function</a:t>
            </a:r>
            <a:r>
              <a:rPr spc="-6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70" dirty="0">
                <a:solidFill>
                  <a:srgbClr val="202729"/>
                </a:solidFill>
                <a:latin typeface="Trebuchet MS"/>
                <a:cs typeface="Trebuchet MS"/>
              </a:rPr>
              <a:t>("</a:t>
            </a:r>
            <a:r>
              <a:rPr b="1" spc="-70" dirty="0">
                <a:solidFill>
                  <a:srgbClr val="FF0000"/>
                </a:solidFill>
                <a:latin typeface="Trebuchet MS"/>
                <a:cs typeface="Trebuchet MS"/>
              </a:rPr>
              <a:t>maximize</a:t>
            </a:r>
            <a:r>
              <a:rPr spc="-70" dirty="0">
                <a:solidFill>
                  <a:srgbClr val="202729"/>
                </a:solidFill>
                <a:latin typeface="Trebuchet MS"/>
                <a:cs typeface="Trebuchet MS"/>
              </a:rPr>
              <a:t>")</a:t>
            </a:r>
            <a:r>
              <a:rPr spc="-6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02729"/>
                </a:solidFill>
                <a:latin typeface="Trebuchet MS"/>
                <a:cs typeface="Trebuchet MS"/>
              </a:rPr>
              <a:t>and</a:t>
            </a:r>
            <a:r>
              <a:rPr spc="-6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65" dirty="0">
                <a:solidFill>
                  <a:srgbClr val="202729"/>
                </a:solidFill>
                <a:latin typeface="Trebuchet MS"/>
                <a:cs typeface="Trebuchet MS"/>
              </a:rPr>
              <a:t>NOT</a:t>
            </a:r>
            <a:r>
              <a:rPr spc="-6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02729"/>
                </a:solidFill>
                <a:latin typeface="Trebuchet MS"/>
                <a:cs typeface="Trebuchet MS"/>
              </a:rPr>
              <a:t>a</a:t>
            </a:r>
            <a:r>
              <a:rPr spc="-6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10" dirty="0">
                <a:solidFill>
                  <a:srgbClr val="202729"/>
                </a:solidFill>
                <a:latin typeface="Trebuchet MS"/>
                <a:cs typeface="Trebuchet MS"/>
              </a:rPr>
              <a:t>loss.</a:t>
            </a:r>
            <a:endParaRPr dirty="0">
              <a:latin typeface="Trebuchet MS"/>
              <a:cs typeface="Trebuchet M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3063" y="4926231"/>
            <a:ext cx="8462337" cy="10156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b="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Intuition: “Move π</a:t>
            </a:r>
            <a:r>
              <a:rPr lang="en-US" sz="2000" b="0" i="1" baseline="-250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θ</a:t>
            </a:r>
            <a:r>
              <a:rPr lang="en-US" sz="2000" b="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toward actions with positive advantage, but if the probability ratio changes by more than ±ϵ, stop increasing the objective for that sample.”</a:t>
            </a:r>
            <a:endParaRPr lang="en-IN" sz="2000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1825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946" y="507694"/>
            <a:ext cx="8160907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90" dirty="0"/>
              <a:t>Variation</a:t>
            </a:r>
            <a:r>
              <a:rPr spc="-10" dirty="0"/>
              <a:t> </a:t>
            </a:r>
            <a:r>
              <a:rPr spc="-105" dirty="0"/>
              <a:t>2:</a:t>
            </a:r>
            <a:r>
              <a:rPr spc="-10" dirty="0"/>
              <a:t> </a:t>
            </a:r>
            <a:r>
              <a:rPr dirty="0"/>
              <a:t>PPO-KL</a:t>
            </a:r>
            <a:r>
              <a:rPr spc="-10" dirty="0"/>
              <a:t> </a:t>
            </a:r>
            <a:r>
              <a:rPr spc="-30" dirty="0"/>
              <a:t>Penalty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0" y="1435741"/>
            <a:ext cx="4668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65" dirty="0">
                <a:solidFill>
                  <a:srgbClr val="202729"/>
                </a:solidFill>
                <a:latin typeface="Trebuchet MS"/>
                <a:cs typeface="Trebuchet MS"/>
              </a:rPr>
              <a:t>Idea</a:t>
            </a:r>
            <a:r>
              <a:rPr spc="-65" dirty="0">
                <a:solidFill>
                  <a:srgbClr val="202729"/>
                </a:solidFill>
                <a:latin typeface="Trebuchet MS"/>
                <a:cs typeface="Trebuchet MS"/>
              </a:rPr>
              <a:t>.</a:t>
            </a:r>
            <a:r>
              <a:rPr spc="-7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20" dirty="0">
                <a:solidFill>
                  <a:srgbClr val="202729"/>
                </a:solidFill>
                <a:latin typeface="Trebuchet MS"/>
                <a:cs typeface="Trebuchet MS"/>
              </a:rPr>
              <a:t>Penalize</a:t>
            </a:r>
            <a:r>
              <a:rPr spc="-7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45" dirty="0">
                <a:solidFill>
                  <a:srgbClr val="202729"/>
                </a:solidFill>
                <a:latin typeface="Trebuchet MS"/>
                <a:cs typeface="Trebuchet MS"/>
              </a:rPr>
              <a:t>difference</a:t>
            </a:r>
            <a:r>
              <a:rPr spc="-6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55" dirty="0">
                <a:solidFill>
                  <a:srgbClr val="202729"/>
                </a:solidFill>
                <a:latin typeface="Trebuchet MS"/>
                <a:cs typeface="Trebuchet MS"/>
              </a:rPr>
              <a:t>in</a:t>
            </a:r>
            <a:r>
              <a:rPr spc="-7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20" dirty="0">
                <a:solidFill>
                  <a:srgbClr val="202729"/>
                </a:solidFill>
                <a:latin typeface="Trebuchet MS"/>
                <a:cs typeface="Trebuchet MS"/>
              </a:rPr>
              <a:t>policy</a:t>
            </a:r>
            <a:r>
              <a:rPr spc="-6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30" dirty="0">
                <a:solidFill>
                  <a:srgbClr val="202729"/>
                </a:solidFill>
                <a:latin typeface="Trebuchet MS"/>
                <a:cs typeface="Trebuchet MS"/>
              </a:rPr>
              <a:t>distributions</a:t>
            </a:r>
            <a:endParaRPr dirty="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2343" y="2084502"/>
            <a:ext cx="5416449" cy="1610157"/>
            <a:chOff x="1507362" y="1618130"/>
            <a:chExt cx="5416449" cy="1610157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7362" y="1618130"/>
              <a:ext cx="5416449" cy="5023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419860" y="2051014"/>
              <a:ext cx="883965" cy="1177273"/>
            </a:xfrm>
            <a:custGeom>
              <a:avLst/>
              <a:gdLst/>
              <a:ahLst/>
              <a:cxnLst/>
              <a:rect l="l" t="t" r="r" b="b"/>
              <a:pathLst>
                <a:path w="987425" h="1121410">
                  <a:moveTo>
                    <a:pt x="0" y="1120810"/>
                  </a:moveTo>
                  <a:lnTo>
                    <a:pt x="987029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5291622" y="2018575"/>
              <a:ext cx="40640" cy="43180"/>
            </a:xfrm>
            <a:custGeom>
              <a:avLst/>
              <a:gdLst/>
              <a:ahLst/>
              <a:cxnLst/>
              <a:rect l="l" t="t" r="r" b="b"/>
              <a:pathLst>
                <a:path w="40639" h="43180">
                  <a:moveTo>
                    <a:pt x="23614" y="42837"/>
                  </a:moveTo>
                  <a:lnTo>
                    <a:pt x="0" y="22041"/>
                  </a:lnTo>
                  <a:lnTo>
                    <a:pt x="40374" y="0"/>
                  </a:lnTo>
                  <a:lnTo>
                    <a:pt x="23614" y="428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91622" y="2018575"/>
              <a:ext cx="40640" cy="43180"/>
            </a:xfrm>
            <a:custGeom>
              <a:avLst/>
              <a:gdLst/>
              <a:ahLst/>
              <a:cxnLst/>
              <a:rect l="l" t="t" r="r" b="b"/>
              <a:pathLst>
                <a:path w="40639" h="43180">
                  <a:moveTo>
                    <a:pt x="23614" y="42837"/>
                  </a:moveTo>
                  <a:lnTo>
                    <a:pt x="40374" y="0"/>
                  </a:lnTo>
                  <a:lnTo>
                    <a:pt x="0" y="22041"/>
                  </a:lnTo>
                  <a:lnTo>
                    <a:pt x="23614" y="42837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87650" y="1890825"/>
              <a:ext cx="176399" cy="11729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172200" y="6324600"/>
            <a:ext cx="2861310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spcBef>
                <a:spcPts val="35"/>
              </a:spcBef>
            </a:pPr>
            <a:r>
              <a:rPr sz="800" i="1" spc="-25" dirty="0">
                <a:latin typeface="Trebuchet MS"/>
                <a:cs typeface="Trebuchet MS"/>
              </a:rPr>
              <a:t>"</a:t>
            </a:r>
            <a:r>
              <a:rPr sz="800" i="1" spc="-25" dirty="0">
                <a:solidFill>
                  <a:srgbClr val="FF5252"/>
                </a:solidFill>
                <a:latin typeface="Trebuchet MS"/>
                <a:cs typeface="Trebuchet MS"/>
                <a:hlinkClick r:id="rId4"/>
              </a:rPr>
              <a:t>Proximal</a:t>
            </a:r>
            <a:r>
              <a:rPr sz="800" i="1" dirty="0">
                <a:solidFill>
                  <a:srgbClr val="FF5252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sz="800" i="1" spc="-20" dirty="0">
                <a:solidFill>
                  <a:srgbClr val="FF5252"/>
                </a:solidFill>
                <a:latin typeface="Trebuchet MS"/>
                <a:cs typeface="Trebuchet MS"/>
                <a:hlinkClick r:id="rId4"/>
              </a:rPr>
              <a:t>Policy</a:t>
            </a:r>
            <a:r>
              <a:rPr sz="800" i="1" dirty="0">
                <a:solidFill>
                  <a:srgbClr val="FF5252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sz="800" i="1" spc="-30" dirty="0">
                <a:solidFill>
                  <a:srgbClr val="FF5252"/>
                </a:solidFill>
                <a:latin typeface="Trebuchet MS"/>
                <a:cs typeface="Trebuchet MS"/>
                <a:hlinkClick r:id="rId4"/>
              </a:rPr>
              <a:t>Optimization</a:t>
            </a:r>
            <a:r>
              <a:rPr sz="800" i="1" spc="5" dirty="0">
                <a:solidFill>
                  <a:srgbClr val="FF5252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sz="800" i="1" spc="-35" dirty="0">
                <a:solidFill>
                  <a:srgbClr val="FF5252"/>
                </a:solidFill>
                <a:latin typeface="Trebuchet MS"/>
                <a:cs typeface="Trebuchet MS"/>
                <a:hlinkClick r:id="rId4"/>
              </a:rPr>
              <a:t>Algorithms</a:t>
            </a:r>
            <a:r>
              <a:rPr sz="800" i="1" spc="-35" dirty="0">
                <a:latin typeface="Trebuchet MS"/>
                <a:cs typeface="Trebuchet MS"/>
              </a:rPr>
              <a:t>",</a:t>
            </a:r>
            <a:r>
              <a:rPr sz="800" i="1" dirty="0">
                <a:latin typeface="Trebuchet MS"/>
                <a:cs typeface="Trebuchet MS"/>
              </a:rPr>
              <a:t> Schulman</a:t>
            </a:r>
            <a:r>
              <a:rPr sz="800" i="1" spc="5" dirty="0">
                <a:latin typeface="Trebuchet MS"/>
                <a:cs typeface="Trebuchet MS"/>
              </a:rPr>
              <a:t> </a:t>
            </a:r>
            <a:r>
              <a:rPr sz="800" i="1" spc="-50" dirty="0">
                <a:latin typeface="Trebuchet MS"/>
                <a:cs typeface="Trebuchet MS"/>
              </a:rPr>
              <a:t>et</a:t>
            </a:r>
            <a:r>
              <a:rPr sz="800" i="1" dirty="0">
                <a:latin typeface="Trebuchet MS"/>
                <a:cs typeface="Trebuchet MS"/>
              </a:rPr>
              <a:t> </a:t>
            </a:r>
            <a:r>
              <a:rPr sz="800" i="1" spc="-80" dirty="0">
                <a:latin typeface="Trebuchet MS"/>
                <a:cs typeface="Trebuchet MS"/>
              </a:rPr>
              <a:t>al.,</a:t>
            </a:r>
            <a:r>
              <a:rPr sz="800" i="1" spc="5" dirty="0">
                <a:latin typeface="Trebuchet MS"/>
                <a:cs typeface="Trebuchet MS"/>
              </a:rPr>
              <a:t> </a:t>
            </a:r>
            <a:r>
              <a:rPr sz="800" i="1" spc="-25" dirty="0">
                <a:latin typeface="Trebuchet MS"/>
                <a:cs typeface="Trebuchet MS"/>
              </a:rPr>
              <a:t>2017.</a:t>
            </a:r>
            <a:endParaRPr sz="800" dirty="0">
              <a:latin typeface="Trebuchet MS"/>
              <a:cs typeface="Trebuchet MS"/>
            </a:endParaRPr>
          </a:p>
        </p:txBody>
      </p:sp>
      <p:pic>
        <p:nvPicPr>
          <p:cNvPr id="17" name="object 6">
            <a:extLst>
              <a:ext uri="{FF2B5EF4-FFF2-40B4-BE49-F238E27FC236}">
                <a16:creationId xmlns:a16="http://schemas.microsoft.com/office/drawing/2014/main" id="{5C82EBB6-8983-3B78-4DF4-2B5D3675519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76869" y="991338"/>
            <a:ext cx="2571817" cy="5970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5AC4A89-4313-FB09-A37E-7B928363C4C2}"/>
              </a:ext>
            </a:extLst>
          </p:cNvPr>
          <p:cNvSpPr/>
          <p:nvPr/>
        </p:nvSpPr>
        <p:spPr>
          <a:xfrm>
            <a:off x="0" y="3694659"/>
            <a:ext cx="8305800" cy="10156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Explicit KL penalty: The second term subtracts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b="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β </a:t>
            </a:r>
            <a:r>
              <a:rPr lang="en-US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KL(</a:t>
            </a:r>
            <a:r>
              <a:rPr lang="en-US" sz="2000" b="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π</a:t>
            </a:r>
            <a:r>
              <a:rPr lang="en-US" sz="2000" b="0" i="1" baseline="-2500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θ</a:t>
            </a:r>
            <a:r>
              <a:rPr lang="en-US" sz="2000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ref</a:t>
            </a:r>
            <a:r>
              <a:rPr lang="en-US" sz="2000" b="0" i="0" baseline="-250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∥ </a:t>
            </a:r>
            <a:r>
              <a:rPr lang="en-US" sz="2000" b="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π</a:t>
            </a:r>
            <a:r>
              <a:rPr lang="en-US" sz="2000" b="0" i="1" baseline="-250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θ</a:t>
            </a:r>
            <a:r>
              <a:rPr lang="en-US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), which directly penalizes the whole distribution drifting too far from the old policy; </a:t>
            </a:r>
            <a:r>
              <a:rPr lang="en-US" sz="2000" b="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β</a:t>
            </a:r>
            <a:r>
              <a:rPr lang="en-US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controls the strength of this penalty.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A31009-C73C-445C-F03E-71CDB20EC7ED}"/>
              </a:ext>
            </a:extLst>
          </p:cNvPr>
          <p:cNvSpPr/>
          <p:nvPr/>
        </p:nvSpPr>
        <p:spPr>
          <a:xfrm>
            <a:off x="319347" y="4976224"/>
            <a:ext cx="8534400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effectLst/>
                <a:latin typeface="fkGroteskNeue"/>
              </a:rPr>
              <a:t>Intuition: “Do standard policy gradient on the ratio–advantage term, but also pay a ‘distance tax’ proportional to the KL between old and new policies.”</a:t>
            </a:r>
            <a:endParaRPr lang="en-IN" dirty="0"/>
          </a:p>
        </p:txBody>
      </p:sp>
      <p:sp>
        <p:nvSpPr>
          <p:cNvPr id="18" name="object 13">
            <a:extLst>
              <a:ext uri="{FF2B5EF4-FFF2-40B4-BE49-F238E27FC236}">
                <a16:creationId xmlns:a16="http://schemas.microsoft.com/office/drawing/2014/main" id="{4C22CBFA-3AA9-BEEC-150C-FCB73FC90073}"/>
              </a:ext>
            </a:extLst>
          </p:cNvPr>
          <p:cNvSpPr txBox="1"/>
          <p:nvPr/>
        </p:nvSpPr>
        <p:spPr>
          <a:xfrm>
            <a:off x="4668520" y="2745447"/>
            <a:ext cx="4488180" cy="669414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175895">
              <a:spcBef>
                <a:spcPts val="1525"/>
              </a:spcBef>
              <a:tabLst>
                <a:tab pos="542290" algn="l"/>
              </a:tabLst>
            </a:pPr>
            <a:r>
              <a:rPr dirty="0">
                <a:solidFill>
                  <a:srgbClr val="202729"/>
                </a:solidFill>
                <a:latin typeface="Trebuchet MS"/>
                <a:cs typeface="Trebuchet MS"/>
              </a:rPr>
              <a:t>old</a:t>
            </a:r>
            <a:r>
              <a:rPr spc="-8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60" dirty="0">
                <a:solidFill>
                  <a:srgbClr val="202729"/>
                </a:solidFill>
                <a:latin typeface="Trebuchet MS"/>
                <a:cs typeface="Trebuchet MS"/>
              </a:rPr>
              <a:t>=</a:t>
            </a:r>
            <a:r>
              <a:rPr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02729"/>
                </a:solidFill>
                <a:latin typeface="Trebuchet MS"/>
                <a:cs typeface="Trebuchet MS"/>
              </a:rPr>
              <a:t>model</a:t>
            </a:r>
            <a:r>
              <a:rPr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75" dirty="0">
                <a:solidFill>
                  <a:srgbClr val="202729"/>
                </a:solidFill>
                <a:latin typeface="Trebuchet MS"/>
                <a:cs typeface="Trebuchet MS"/>
              </a:rPr>
              <a:t>from</a:t>
            </a:r>
            <a:r>
              <a:rPr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02729"/>
                </a:solidFill>
                <a:latin typeface="Trebuchet MS"/>
                <a:cs typeface="Trebuchet MS"/>
              </a:rPr>
              <a:t>previous</a:t>
            </a:r>
            <a:r>
              <a:rPr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02729"/>
                </a:solidFill>
                <a:latin typeface="Trebuchet MS"/>
                <a:cs typeface="Trebuchet MS"/>
              </a:rPr>
              <a:t>RL</a:t>
            </a:r>
            <a:r>
              <a:rPr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10" dirty="0">
                <a:solidFill>
                  <a:srgbClr val="202729"/>
                </a:solidFill>
                <a:latin typeface="Trebuchet MS"/>
                <a:cs typeface="Trebuchet MS"/>
              </a:rPr>
              <a:t>iteration</a:t>
            </a:r>
            <a:endParaRPr dirty="0">
              <a:latin typeface="Trebuchet MS"/>
              <a:cs typeface="Trebuchet MS"/>
            </a:endParaRPr>
          </a:p>
          <a:p>
            <a:pPr marL="175895">
              <a:spcBef>
                <a:spcPts val="325"/>
              </a:spcBef>
              <a:tabLst>
                <a:tab pos="542290" algn="l"/>
              </a:tabLst>
            </a:pPr>
            <a:r>
              <a:rPr spc="-85" dirty="0">
                <a:solidFill>
                  <a:srgbClr val="202729"/>
                </a:solidFill>
                <a:latin typeface="Trebuchet MS"/>
                <a:cs typeface="Trebuchet MS"/>
              </a:rPr>
              <a:t>ref</a:t>
            </a:r>
            <a:r>
              <a:rPr spc="-2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60" dirty="0">
                <a:solidFill>
                  <a:srgbClr val="202729"/>
                </a:solidFill>
                <a:latin typeface="Trebuchet MS"/>
                <a:cs typeface="Trebuchet MS"/>
              </a:rPr>
              <a:t>=</a:t>
            </a:r>
            <a:r>
              <a:rPr spc="-2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202729"/>
                </a:solidFill>
                <a:latin typeface="Trebuchet MS"/>
                <a:cs typeface="Trebuchet MS"/>
              </a:rPr>
              <a:t>base</a:t>
            </a:r>
            <a:r>
              <a:rPr spc="-2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pc="-20" dirty="0">
                <a:solidFill>
                  <a:srgbClr val="202729"/>
                </a:solidFill>
                <a:latin typeface="Trebuchet MS"/>
                <a:cs typeface="Trebuchet MS"/>
              </a:rPr>
              <a:t>model</a:t>
            </a:r>
            <a:endParaRPr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4822967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" y="-39422"/>
            <a:ext cx="8160907" cy="1219200"/>
          </a:xfrm>
        </p:spPr>
        <p:txBody>
          <a:bodyPr/>
          <a:lstStyle/>
          <a:p>
            <a:r>
              <a:rPr lang="en-US" dirty="0"/>
              <a:t>Preference tuning using PPO</a:t>
            </a:r>
            <a:endParaRPr lang="en-IN" dirty="0"/>
          </a:p>
        </p:txBody>
      </p:sp>
      <p:grpSp>
        <p:nvGrpSpPr>
          <p:cNvPr id="19" name="Group 18"/>
          <p:cNvGrpSpPr/>
          <p:nvPr/>
        </p:nvGrpSpPr>
        <p:grpSpPr>
          <a:xfrm>
            <a:off x="609600" y="990600"/>
            <a:ext cx="6484506" cy="2057400"/>
            <a:chOff x="502920" y="3276600"/>
            <a:chExt cx="8201458" cy="2898648"/>
          </a:xfrm>
        </p:grpSpPr>
        <p:sp>
          <p:nvSpPr>
            <p:cNvPr id="5" name="Rounded Rectangle 4"/>
            <p:cNvSpPr/>
            <p:nvPr/>
          </p:nvSpPr>
          <p:spPr>
            <a:xfrm>
              <a:off x="502920" y="3352800"/>
              <a:ext cx="1752600" cy="9144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dirty="0"/>
                <a:t> Preference data</a:t>
              </a:r>
              <a:endParaRPr lang="en-IN" dirty="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950969" y="3276600"/>
              <a:ext cx="4408057" cy="9144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Reward model</a:t>
              </a:r>
              <a:endParaRPr lang="en-IN" dirty="0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14788" y="5260848"/>
              <a:ext cx="1752600" cy="9144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dirty="0"/>
                <a:t> Instruction tuned model</a:t>
              </a:r>
              <a:endParaRPr lang="en-IN" dirty="0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950970" y="5223509"/>
              <a:ext cx="1752600" cy="9144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dirty="0"/>
                <a:t> Policy model</a:t>
              </a:r>
              <a:endParaRPr lang="en-IN" dirty="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887280" y="5130690"/>
              <a:ext cx="1752600" cy="9144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PPO</a:t>
              </a:r>
              <a:endParaRPr lang="en-IN" dirty="0"/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2598801" y="3482530"/>
              <a:ext cx="978408" cy="4846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train</a:t>
              </a:r>
              <a:endParaRPr lang="en-IN" dirty="0"/>
            </a:p>
          </p:txBody>
        </p:sp>
        <p:sp>
          <p:nvSpPr>
            <p:cNvPr id="11" name="Right Arrow 10"/>
            <p:cNvSpPr/>
            <p:nvPr/>
          </p:nvSpPr>
          <p:spPr>
            <a:xfrm>
              <a:off x="2598801" y="5396484"/>
              <a:ext cx="978408" cy="4846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copy</a:t>
              </a:r>
              <a:endParaRPr lang="en-IN" dirty="0"/>
            </a:p>
          </p:txBody>
        </p:sp>
        <p:sp>
          <p:nvSpPr>
            <p:cNvPr id="13" name="Up Arrow 12"/>
            <p:cNvSpPr/>
            <p:nvPr/>
          </p:nvSpPr>
          <p:spPr>
            <a:xfrm>
              <a:off x="4491418" y="4334065"/>
              <a:ext cx="478699" cy="746379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4" name="Down Arrow 13"/>
            <p:cNvSpPr/>
            <p:nvPr/>
          </p:nvSpPr>
          <p:spPr>
            <a:xfrm>
              <a:off x="7278948" y="4334065"/>
              <a:ext cx="484632" cy="72302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801567" y="4476179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Scores</a:t>
              </a:r>
              <a:endParaRPr lang="en-IN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827270" y="4597979"/>
              <a:ext cx="9925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Outputs</a:t>
              </a:r>
              <a:endParaRPr lang="en-IN" dirty="0"/>
            </a:p>
          </p:txBody>
        </p:sp>
        <p:sp>
          <p:nvSpPr>
            <p:cNvPr id="17" name="Left Arrow 16"/>
            <p:cNvSpPr/>
            <p:nvPr/>
          </p:nvSpPr>
          <p:spPr>
            <a:xfrm>
              <a:off x="5598463" y="5448378"/>
              <a:ext cx="1365814" cy="484632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update</a:t>
              </a:r>
              <a:endParaRPr lang="en-IN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7FDD745-5722-EEDC-FCA3-C1545F391F3F}"/>
              </a:ext>
            </a:extLst>
          </p:cNvPr>
          <p:cNvSpPr txBox="1"/>
          <p:nvPr/>
        </p:nvSpPr>
        <p:spPr>
          <a:xfrm>
            <a:off x="0" y="3589942"/>
            <a:ext cx="9144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Train a reward model on preference data. Architecture: SFT model with its next-token head replaced by a scalar reward head — sometimes a smaller sibling of the SFT model to save compute.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Copy the SFT model to serve as the policy model. This is what PPO will update.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The policy generates a response for each prompt. The frozen reward model scores that response.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Fine-tune the policy using PPO.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During PPO, both the reward model and π</a:t>
            </a:r>
            <a:r>
              <a:rPr lang="en-IN" sz="2000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ref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stay frozen. Only the policy π</a:t>
            </a:r>
            <a:r>
              <a:rPr lang="en-IN" sz="2000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θ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is updated.</a:t>
            </a:r>
          </a:p>
        </p:txBody>
      </p:sp>
    </p:spTree>
    <p:extLst>
      <p:ext uri="{BB962C8B-B14F-4D97-AF65-F5344CB8AC3E}">
        <p14:creationId xmlns:p14="http://schemas.microsoft.com/office/powerpoint/2010/main" val="19599509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6120680" cy="56361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spc="-65" dirty="0"/>
              <a:t>Alternatives of PPO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2400" y="6629400"/>
            <a:ext cx="3701415" cy="10195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600" i="1" dirty="0">
                <a:latin typeface="Trebuchet MS"/>
                <a:cs typeface="Trebuchet MS"/>
              </a:rPr>
              <a:t>"</a:t>
            </a:r>
            <a:r>
              <a:rPr sz="600" i="1" dirty="0">
                <a:solidFill>
                  <a:srgbClr val="FF5252"/>
                </a:solidFill>
                <a:latin typeface="Trebuchet MS"/>
                <a:cs typeface="Trebuchet MS"/>
                <a:hlinkClick r:id="rId3"/>
              </a:rPr>
              <a:t>DeepSeekMath:</a:t>
            </a:r>
            <a:r>
              <a:rPr sz="600" i="1" spc="19" dirty="0">
                <a:solidFill>
                  <a:srgbClr val="FF5252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sz="600" i="1" dirty="0">
                <a:solidFill>
                  <a:srgbClr val="FF5252"/>
                </a:solidFill>
                <a:latin typeface="Trebuchet MS"/>
                <a:cs typeface="Trebuchet MS"/>
                <a:hlinkClick r:id="rId3"/>
              </a:rPr>
              <a:t>Pushing</a:t>
            </a:r>
            <a:r>
              <a:rPr sz="600" i="1" spc="23" dirty="0">
                <a:solidFill>
                  <a:srgbClr val="FF5252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sz="600" i="1" spc="-30" dirty="0">
                <a:solidFill>
                  <a:srgbClr val="FF5252"/>
                </a:solidFill>
                <a:latin typeface="Trebuchet MS"/>
                <a:cs typeface="Trebuchet MS"/>
                <a:hlinkClick r:id="rId3"/>
              </a:rPr>
              <a:t>the</a:t>
            </a:r>
            <a:r>
              <a:rPr sz="600" i="1" spc="23" dirty="0">
                <a:solidFill>
                  <a:srgbClr val="FF5252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sz="600" i="1" spc="-26" dirty="0">
                <a:solidFill>
                  <a:srgbClr val="FF5252"/>
                </a:solidFill>
                <a:latin typeface="Trebuchet MS"/>
                <a:cs typeface="Trebuchet MS"/>
                <a:hlinkClick r:id="rId3"/>
              </a:rPr>
              <a:t>Limits</a:t>
            </a:r>
            <a:r>
              <a:rPr sz="600" i="1" spc="23" dirty="0">
                <a:solidFill>
                  <a:srgbClr val="FF5252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sz="600" i="1" spc="-30" dirty="0">
                <a:solidFill>
                  <a:srgbClr val="FF5252"/>
                </a:solidFill>
                <a:latin typeface="Trebuchet MS"/>
                <a:cs typeface="Trebuchet MS"/>
                <a:hlinkClick r:id="rId3"/>
              </a:rPr>
              <a:t>of</a:t>
            </a:r>
            <a:r>
              <a:rPr sz="600" i="1" spc="19" dirty="0">
                <a:solidFill>
                  <a:srgbClr val="FF5252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sz="600" i="1" spc="-15" dirty="0">
                <a:solidFill>
                  <a:srgbClr val="FF5252"/>
                </a:solidFill>
                <a:latin typeface="Trebuchet MS"/>
                <a:cs typeface="Trebuchet MS"/>
                <a:hlinkClick r:id="rId3"/>
              </a:rPr>
              <a:t>Mathematical</a:t>
            </a:r>
            <a:r>
              <a:rPr sz="600" i="1" spc="23" dirty="0">
                <a:solidFill>
                  <a:srgbClr val="FF5252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sz="600" i="1" dirty="0">
                <a:solidFill>
                  <a:srgbClr val="FF5252"/>
                </a:solidFill>
                <a:latin typeface="Trebuchet MS"/>
                <a:cs typeface="Trebuchet MS"/>
                <a:hlinkClick r:id="rId3"/>
              </a:rPr>
              <a:t>Reasoning</a:t>
            </a:r>
            <a:r>
              <a:rPr sz="600" i="1" spc="23" dirty="0">
                <a:solidFill>
                  <a:srgbClr val="FF5252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sz="600" i="1" spc="-30" dirty="0">
                <a:solidFill>
                  <a:srgbClr val="FF5252"/>
                </a:solidFill>
                <a:latin typeface="Trebuchet MS"/>
                <a:cs typeface="Trebuchet MS"/>
                <a:hlinkClick r:id="rId3"/>
              </a:rPr>
              <a:t>in</a:t>
            </a:r>
            <a:r>
              <a:rPr sz="600" i="1" spc="23" dirty="0">
                <a:solidFill>
                  <a:srgbClr val="FF5252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sz="600" i="1" dirty="0">
                <a:solidFill>
                  <a:srgbClr val="FF5252"/>
                </a:solidFill>
                <a:latin typeface="Trebuchet MS"/>
                <a:cs typeface="Trebuchet MS"/>
                <a:hlinkClick r:id="rId3"/>
              </a:rPr>
              <a:t>Open</a:t>
            </a:r>
            <a:r>
              <a:rPr sz="600" i="1" spc="19" dirty="0">
                <a:solidFill>
                  <a:srgbClr val="FF5252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sz="600" i="1" dirty="0">
                <a:solidFill>
                  <a:srgbClr val="FF5252"/>
                </a:solidFill>
                <a:latin typeface="Trebuchet MS"/>
                <a:cs typeface="Trebuchet MS"/>
                <a:hlinkClick r:id="rId3"/>
              </a:rPr>
              <a:t>Language</a:t>
            </a:r>
            <a:r>
              <a:rPr sz="600" i="1" spc="23" dirty="0">
                <a:solidFill>
                  <a:srgbClr val="FF5252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sz="600" i="1" spc="-19" dirty="0">
                <a:solidFill>
                  <a:srgbClr val="FF5252"/>
                </a:solidFill>
                <a:latin typeface="Trebuchet MS"/>
                <a:cs typeface="Trebuchet MS"/>
                <a:hlinkClick r:id="rId3"/>
              </a:rPr>
              <a:t>Models</a:t>
            </a:r>
            <a:r>
              <a:rPr sz="600" i="1" spc="-19" dirty="0">
                <a:latin typeface="Trebuchet MS"/>
                <a:cs typeface="Trebuchet MS"/>
              </a:rPr>
              <a:t>",</a:t>
            </a:r>
            <a:r>
              <a:rPr sz="600" i="1" spc="23" dirty="0">
                <a:latin typeface="Trebuchet MS"/>
                <a:cs typeface="Trebuchet MS"/>
              </a:rPr>
              <a:t> </a:t>
            </a:r>
            <a:r>
              <a:rPr sz="600" i="1" dirty="0">
                <a:latin typeface="Trebuchet MS"/>
                <a:cs typeface="Trebuchet MS"/>
              </a:rPr>
              <a:t>Shao</a:t>
            </a:r>
            <a:r>
              <a:rPr sz="600" i="1" spc="23" dirty="0">
                <a:latin typeface="Trebuchet MS"/>
                <a:cs typeface="Trebuchet MS"/>
              </a:rPr>
              <a:t> </a:t>
            </a:r>
            <a:r>
              <a:rPr sz="600" i="1" spc="-38" dirty="0">
                <a:latin typeface="Trebuchet MS"/>
                <a:cs typeface="Trebuchet MS"/>
              </a:rPr>
              <a:t>et</a:t>
            </a:r>
            <a:r>
              <a:rPr sz="600" i="1" spc="19" dirty="0">
                <a:latin typeface="Trebuchet MS"/>
                <a:cs typeface="Trebuchet MS"/>
              </a:rPr>
              <a:t> </a:t>
            </a:r>
            <a:r>
              <a:rPr sz="600" i="1" spc="-60" dirty="0">
                <a:latin typeface="Trebuchet MS"/>
                <a:cs typeface="Trebuchet MS"/>
              </a:rPr>
              <a:t>al.,</a:t>
            </a:r>
            <a:r>
              <a:rPr sz="600" i="1" spc="23" dirty="0">
                <a:latin typeface="Trebuchet MS"/>
                <a:cs typeface="Trebuchet MS"/>
              </a:rPr>
              <a:t> </a:t>
            </a:r>
            <a:r>
              <a:rPr sz="600" i="1" spc="-8" dirty="0">
                <a:latin typeface="Trebuchet MS"/>
                <a:cs typeface="Trebuchet MS"/>
              </a:rPr>
              <a:t>2024.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2400" y="1380382"/>
            <a:ext cx="8915400" cy="4362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sz="2000" b="1" dirty="0">
                <a:solidFill>
                  <a:srgbClr val="065A82"/>
                </a:solidFill>
                <a:latin typeface="Cambria"/>
              </a:rPr>
              <a:t>Limitations of PPO</a:t>
            </a:r>
          </a:p>
          <a:p>
            <a:pPr marL="342900" indent="-342900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F1A2B"/>
                </a:solidFill>
                <a:latin typeface="Cambria"/>
              </a:rPr>
              <a:t>Needs 4 models — policy, value, reward, base</a:t>
            </a:r>
          </a:p>
          <a:p>
            <a:pPr marL="342900" indent="-342900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F1A2B"/>
                </a:solidFill>
                <a:latin typeface="Cambria"/>
              </a:rPr>
              <a:t>Slow on-policy training — the model generates from its current policy at every step</a:t>
            </a:r>
          </a:p>
          <a:p>
            <a:pPr marL="342900" indent="-342900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F1A2B"/>
                </a:solidFill>
                <a:latin typeface="Cambria"/>
              </a:rPr>
              <a:t>Not clear that preference tuning absolutely needs RL</a:t>
            </a:r>
          </a:p>
          <a:p>
            <a:pPr marL="342900" indent="-342900">
              <a:spcAft>
                <a:spcPts val="450"/>
              </a:spcAft>
              <a:buFont typeface="Arial" panose="020B0604020202020204" pitchFamily="34" charset="0"/>
              <a:buChar char="•"/>
            </a:pPr>
            <a:endParaRPr sz="2000" dirty="0">
              <a:solidFill>
                <a:srgbClr val="0F1A2B"/>
              </a:solidFill>
              <a:latin typeface="Cambria"/>
            </a:endParaRPr>
          </a:p>
          <a:p>
            <a:pPr marL="342900" indent="-342900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sz="2000" b="1" dirty="0">
                <a:solidFill>
                  <a:srgbClr val="065A82"/>
                </a:solidFill>
                <a:latin typeface="Cambria"/>
              </a:rPr>
              <a:t>Two ways forward</a:t>
            </a:r>
          </a:p>
          <a:p>
            <a:pPr marL="342900" indent="-342900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F1A2B"/>
                </a:solidFill>
                <a:latin typeface="Cambria"/>
              </a:rPr>
              <a:t>DPO  —  removes the reward model and the RL loop entirely</a:t>
            </a:r>
          </a:p>
          <a:p>
            <a:pPr marL="342900" indent="-342900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F1A2B"/>
                </a:solidFill>
                <a:latin typeface="Cambria"/>
              </a:rPr>
              <a:t>GRPO  —  keeps the clipped objective and the KL penalty; removes only the value network, using a group baseline instead</a:t>
            </a:r>
          </a:p>
          <a:p>
            <a:pPr marL="342900" indent="-342900">
              <a:spcAft>
                <a:spcPts val="450"/>
              </a:spcAft>
              <a:buFont typeface="Arial" panose="020B0604020202020204" pitchFamily="34" charset="0"/>
              <a:buChar char="•"/>
            </a:pPr>
            <a:endParaRPr sz="2000" dirty="0">
              <a:solidFill>
                <a:srgbClr val="0F1A2B"/>
              </a:solidFill>
              <a:latin typeface="Cambria"/>
            </a:endParaRPr>
          </a:p>
          <a:p>
            <a:pPr marL="342900" indent="-342900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6C7A89"/>
                </a:solidFill>
                <a:latin typeface="Cambria"/>
              </a:rPr>
              <a:t>… and many more (IPO, KTO, ORPO, </a:t>
            </a:r>
            <a:r>
              <a:rPr sz="2000" dirty="0" err="1">
                <a:solidFill>
                  <a:srgbClr val="6C7A89"/>
                </a:solidFill>
                <a:latin typeface="Cambria"/>
              </a:rPr>
              <a:t>SimPO</a:t>
            </a:r>
            <a:r>
              <a:rPr sz="2000" dirty="0">
                <a:solidFill>
                  <a:srgbClr val="6C7A89"/>
                </a:solidFill>
                <a:latin typeface="Cambria"/>
              </a:rPr>
              <a:t>, RLAIF, Constitutional AI)</a:t>
            </a:r>
          </a:p>
        </p:txBody>
      </p:sp>
    </p:spTree>
    <p:extLst>
      <p:ext uri="{BB962C8B-B14F-4D97-AF65-F5344CB8AC3E}">
        <p14:creationId xmlns:p14="http://schemas.microsoft.com/office/powerpoint/2010/main" val="34585215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74320" y="264033"/>
            <a:ext cx="8572500" cy="480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algn="l"/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GRPO — Group Relative Policy Optimization</a:t>
            </a:r>
          </a:p>
        </p:txBody>
      </p:sp>
      <p:sp>
        <p:nvSpPr>
          <p:cNvPr id="5" name="Text 3"/>
          <p:cNvSpPr/>
          <p:nvPr/>
        </p:nvSpPr>
        <p:spPr>
          <a:xfrm>
            <a:off x="163286" y="1508760"/>
            <a:ext cx="8828314" cy="5030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65A82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Same PPO objective.  </a:t>
            </a:r>
            <a:r>
              <a:rPr lang="en-US" sz="2000" dirty="0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Same reward maximization, same β·KL(πθ ‖ πref) against the frozen SFT model.  What changes is how the advantage A</a:t>
            </a:r>
            <a:r>
              <a:rPr lang="en-US" sz="2000" baseline="-25000" dirty="0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t</a:t>
            </a:r>
            <a:r>
              <a:rPr lang="en-US" sz="2000" dirty="0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is computed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65A82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Change.  </a:t>
            </a:r>
            <a:r>
              <a:rPr lang="en-US" sz="2000" dirty="0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Replace the value network V with the mean reward over a group of G responses sampled for the same prompt.  No critic to train.</a:t>
            </a:r>
          </a:p>
          <a:p>
            <a:pPr>
              <a:spcAft>
                <a:spcPts val="300"/>
              </a:spcAft>
            </a:pPr>
            <a:r>
              <a:rPr lang="en-US" sz="2000" b="1" dirty="0">
                <a:solidFill>
                  <a:srgbClr val="065A82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Recipe (one update):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>
              <a:spcAft>
                <a:spcPts val="225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Sample G responses  y₁, …, </a:t>
            </a:r>
            <a:r>
              <a:rPr lang="en-US" sz="2000" dirty="0" err="1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y</a:t>
            </a:r>
            <a:r>
              <a:rPr lang="en-US" sz="2000" baseline="-25000" dirty="0" err="1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G</a:t>
            </a:r>
            <a:r>
              <a:rPr lang="en-US" sz="2000" dirty="0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 per prompt from π</a:t>
            </a:r>
            <a:r>
              <a:rPr lang="en-US" sz="2000" baseline="-25000" dirty="0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θ</a:t>
            </a:r>
            <a:r>
              <a:rPr lang="en-US" sz="2000" dirty="0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  (G ≈ 8–64)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>
              <a:spcAft>
                <a:spcPts val="225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Score each response:  r(x, </a:t>
            </a:r>
            <a:r>
              <a:rPr lang="en-US" sz="2000" dirty="0" err="1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y</a:t>
            </a:r>
            <a:r>
              <a:rPr lang="en-US" sz="2000" baseline="-25000" dirty="0" err="1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i</a:t>
            </a:r>
            <a:r>
              <a:rPr lang="en-US" sz="2000" dirty="0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)  — from a reward model or a verifier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Compute the group-relative advantage: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 algn="ctr">
              <a:spcBef>
                <a:spcPts val="300"/>
              </a:spcBef>
              <a:spcAft>
                <a:spcPts val="600"/>
              </a:spcAft>
            </a:pPr>
            <a:r>
              <a:rPr lang="en-US" sz="2000" b="1" dirty="0">
                <a:solidFill>
                  <a:srgbClr val="21295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 pitchFamily="34" charset="-120"/>
              </a:rPr>
              <a:t>A</a:t>
            </a:r>
            <a:r>
              <a:rPr lang="en-US" sz="2000" b="1" baseline="-25000" dirty="0">
                <a:solidFill>
                  <a:srgbClr val="21295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 pitchFamily="34" charset="-120"/>
              </a:rPr>
              <a:t>i</a:t>
            </a:r>
            <a:r>
              <a:rPr lang="en-US" sz="2000" b="1" dirty="0">
                <a:solidFill>
                  <a:srgbClr val="21295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 pitchFamily="34" charset="-120"/>
              </a:rPr>
              <a:t>  =  ( </a:t>
            </a:r>
            <a:r>
              <a:rPr lang="en-US" sz="2000" b="1" dirty="0" err="1">
                <a:solidFill>
                  <a:srgbClr val="21295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 pitchFamily="34" charset="-120"/>
              </a:rPr>
              <a:t>r</a:t>
            </a:r>
            <a:r>
              <a:rPr lang="en-US" sz="2000" b="1" baseline="-25000" dirty="0" err="1">
                <a:solidFill>
                  <a:srgbClr val="21295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 pitchFamily="34" charset="-120"/>
              </a:rPr>
              <a:t>i</a:t>
            </a:r>
            <a:r>
              <a:rPr lang="en-US" sz="2000" b="1" dirty="0">
                <a:solidFill>
                  <a:srgbClr val="21295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 pitchFamily="34" charset="-120"/>
              </a:rPr>
              <a:t> − mean(r₁, …, </a:t>
            </a:r>
            <a:r>
              <a:rPr lang="en-US" sz="2000" b="1" dirty="0" err="1">
                <a:solidFill>
                  <a:srgbClr val="21295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 pitchFamily="34" charset="-120"/>
              </a:rPr>
              <a:t>r</a:t>
            </a:r>
            <a:r>
              <a:rPr lang="en-US" sz="2000" b="1" baseline="-25000" dirty="0" err="1">
                <a:solidFill>
                  <a:srgbClr val="21295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 pitchFamily="34" charset="-120"/>
              </a:rPr>
              <a:t>G</a:t>
            </a:r>
            <a:r>
              <a:rPr lang="en-US" sz="2000" b="1" dirty="0">
                <a:solidFill>
                  <a:srgbClr val="21295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 pitchFamily="34" charset="-120"/>
              </a:rPr>
              <a:t>) )  /  std(r₁, …, </a:t>
            </a:r>
            <a:r>
              <a:rPr lang="en-US" sz="2000" b="1" dirty="0" err="1">
                <a:solidFill>
                  <a:srgbClr val="21295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 pitchFamily="34" charset="-120"/>
              </a:rPr>
              <a:t>r</a:t>
            </a:r>
            <a:r>
              <a:rPr lang="en-US" sz="2000" b="1" baseline="-25000" dirty="0" err="1">
                <a:solidFill>
                  <a:srgbClr val="21295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 pitchFamily="34" charset="-120"/>
              </a:rPr>
              <a:t>G</a:t>
            </a:r>
            <a:r>
              <a:rPr lang="en-US" sz="2000" b="1" dirty="0">
                <a:solidFill>
                  <a:srgbClr val="21295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 pitchFamily="34" charset="-120"/>
              </a:rPr>
              <a:t>)</a:t>
            </a:r>
          </a:p>
          <a:p>
            <a:pPr marL="285750" lvl="1" indent="-285750">
              <a:spcAft>
                <a:spcPts val="9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Every token in </a:t>
            </a:r>
            <a:r>
              <a:rPr lang="en-US" sz="2000" dirty="0" err="1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y</a:t>
            </a:r>
            <a:r>
              <a:rPr lang="en-US" sz="2000" baseline="-25000" dirty="0" err="1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i</a:t>
            </a:r>
            <a:r>
              <a:rPr lang="en-US" sz="2000" dirty="0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is assigned advantage A</a:t>
            </a:r>
            <a:r>
              <a:rPr lang="en-US" sz="2000" baseline="-25000" dirty="0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i</a:t>
            </a:r>
            <a:r>
              <a:rPr lang="en-US" sz="2000" dirty="0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.  Apply the standard PPO update with β·KL against π</a:t>
            </a:r>
            <a:r>
              <a:rPr lang="en-US" sz="2000" baseline="-25000" dirty="0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ref</a:t>
            </a:r>
            <a:r>
              <a:rPr lang="en-US" sz="2000" dirty="0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52400" y="6539103"/>
            <a:ext cx="84353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6C7A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Reference: Shao et al., 2024 — DeepSeekMath: Pushing the Limits of Mathematical Reasoning in Open Language Models.</a:t>
            </a:r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E413B2-C9B9-2F47-3EF8-9AE5536CCC49}"/>
              </a:ext>
            </a:extLst>
          </p:cNvPr>
          <p:cNvSpPr txBox="1"/>
          <p:nvPr/>
        </p:nvSpPr>
        <p:spPr>
          <a:xfrm>
            <a:off x="241663" y="5523440"/>
            <a:ext cx="8001000" cy="1015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Payoff 1 — Memory :  </a:t>
            </a: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value network to train or serve. </a:t>
            </a:r>
            <a:r>
              <a:rPr lang="en-US" sz="20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 memory drops from 4× model size to roughly 3× —reference, reward source,  policy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963227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574B99-1DE9-742A-EF18-66578A43CF0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52400" y="1371600"/>
            <a:ext cx="8991600" cy="5334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Verifier:  r = 1 if the final answer is 408, else 0</a:t>
            </a:r>
          </a:p>
          <a:p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Sample G = 4 responses from π</a:t>
            </a:r>
            <a:r>
              <a:rPr lang="en-US" sz="2000" b="1" baseline="-25000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score each</a:t>
            </a:r>
          </a:p>
          <a:p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Group statistics:  mean(r) = 0.5   std(r) ≈ 0.5</a:t>
            </a:r>
          </a:p>
          <a:p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Advantage:   A</a:t>
            </a:r>
            <a:r>
              <a:rPr lang="en-US" sz="2000" b="1" baseline="-25000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( </a:t>
            </a:r>
            <a:r>
              <a:rPr lang="en-US" sz="2000" b="1" dirty="0" err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en-US" sz="2000" b="1" baseline="-25000" dirty="0" err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− 0.5 ) / 0.5</a:t>
            </a:r>
          </a:p>
          <a:p>
            <a:endParaRPr lang="en-US" sz="2000" b="1" dirty="0">
              <a:solidFill>
                <a:srgbClr val="065A82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endParaRPr lang="en-US" sz="2000" b="1" dirty="0">
              <a:solidFill>
                <a:srgbClr val="065A82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endParaRPr lang="en-US" sz="2000" b="1" dirty="0">
              <a:solidFill>
                <a:srgbClr val="065A82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endParaRPr lang="en-US" sz="2000" b="1" dirty="0">
              <a:solidFill>
                <a:srgbClr val="065A82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endParaRPr lang="en-US" sz="2000" b="1" dirty="0">
              <a:solidFill>
                <a:srgbClr val="065A82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endParaRPr lang="en-US" sz="2000" b="1" dirty="0">
              <a:solidFill>
                <a:srgbClr val="065A82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endParaRPr lang="en-US" sz="2000" b="1" dirty="0">
              <a:solidFill>
                <a:srgbClr val="065A82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endParaRPr lang="en-US" sz="2000" b="1" dirty="0">
              <a:solidFill>
                <a:srgbClr val="065A82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— What the update does</a:t>
            </a:r>
          </a:p>
          <a:p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token in </a:t>
            </a: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y₁ and y₂ </a:t>
            </a: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gets advantage +1.0 → π</a:t>
            </a:r>
            <a:r>
              <a:rPr lang="en-US" sz="2000" baseline="-25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pushes their log-probs </a:t>
            </a: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</a:t>
            </a:r>
            <a:endParaRPr lang="en-US" sz="2000" dirty="0">
              <a:solidFill>
                <a:srgbClr val="0F1A2B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Every token in </a:t>
            </a: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y₃ and y₄ </a:t>
            </a: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gets −1.0 → π</a:t>
            </a:r>
            <a:r>
              <a:rPr lang="en-US" sz="2000" baseline="-25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pushes their log-probs </a:t>
            </a: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</a:t>
            </a:r>
            <a:endParaRPr lang="en-US" sz="2000" dirty="0">
              <a:solidFill>
                <a:srgbClr val="0F1A2B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clip (from PPO) keeps individual token updates bounded; the KL term keeps π</a:t>
            </a:r>
            <a:r>
              <a:rPr lang="en-US" sz="2000" baseline="-25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near π</a:t>
            </a:r>
            <a:r>
              <a:rPr lang="en-US" sz="2000" baseline="-25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</a:t>
            </a:r>
            <a:endParaRPr lang="en-US" sz="2000" baseline="-25000" dirty="0"/>
          </a:p>
          <a:p>
            <a:endParaRPr lang="en-US" sz="2000" dirty="0"/>
          </a:p>
          <a:p>
            <a:endParaRPr lang="en-IN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878242-AD02-BB6B-F760-89F7B9940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GRPO — Worked Example</a:t>
            </a:r>
            <a:endParaRPr lang="en-IN" dirty="0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1CE8418D-F755-DAA0-1CCA-CB2EDC170D60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3048000"/>
          <a:ext cx="6789420" cy="1988820"/>
        </p:xfrm>
        <a:graphic>
          <a:graphicData uri="http://schemas.openxmlformats.org/drawingml/2006/table">
            <a:tbl>
              <a:tblPr/>
              <a:tblGrid>
                <a:gridCol w="891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Response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Final answer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 err="1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en-US" sz="1800" b="1" baseline="-25000" dirty="0" err="1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</a:t>
                      </a: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(verifier)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 err="1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en-US" sz="1800" b="1" baseline="-25000" dirty="0" err="1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</a:t>
                      </a: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− mean(r)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</a:t>
                      </a:r>
                      <a:r>
                        <a:rPr lang="en-US" sz="1800" b="1" baseline="-25000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</a:t>
                      </a:r>
                      <a:endParaRPr lang="en-US" sz="1800" baseline="-25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y₁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408 ✓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+0.5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+1.0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y₂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408 ✓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+0.5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+1.0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y₃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388 ✗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−0.5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−1.0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y₄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428 ✗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−0.5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−1.0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16C9492-3AFC-4120-0042-A88462B08C28}"/>
              </a:ext>
            </a:extLst>
          </p:cNvPr>
          <p:cNvSpPr txBox="1"/>
          <p:nvPr/>
        </p:nvSpPr>
        <p:spPr>
          <a:xfrm>
            <a:off x="1447800" y="81909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x:  </a:t>
            </a:r>
            <a:r>
              <a:rPr lang="en-US" sz="2000" i="1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is 17 × 24?"  </a:t>
            </a:r>
          </a:p>
        </p:txBody>
      </p:sp>
    </p:spTree>
    <p:extLst>
      <p:ext uri="{BB962C8B-B14F-4D97-AF65-F5344CB8AC3E}">
        <p14:creationId xmlns:p14="http://schemas.microsoft.com/office/powerpoint/2010/main" val="28107901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290" y="171450"/>
            <a:ext cx="8572500" cy="480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 algn="l"/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Why GRPO Matters — RLVR and Reasoning Models</a:t>
            </a:r>
          </a:p>
        </p:txBody>
      </p:sp>
      <p:sp>
        <p:nvSpPr>
          <p:cNvPr id="4" name="Text 2"/>
          <p:cNvSpPr/>
          <p:nvPr/>
        </p:nvSpPr>
        <p:spPr>
          <a:xfrm>
            <a:off x="161925" y="743494"/>
            <a:ext cx="8820150" cy="541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payoffs that explain why GRPO powered every open-weight reasoning model of 2024–25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4320" y="5781294"/>
            <a:ext cx="6858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6C7A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AIML ZG536 · Preference Alignment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0962" y="1340241"/>
            <a:ext cx="89820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50"/>
              </a:spcAft>
            </a:pPr>
            <a:r>
              <a:rPr lang="en-US" b="1" dirty="0">
                <a:solidFill>
                  <a:srgbClr val="065A82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Payoff 2 —  reward can be a program: </a:t>
            </a:r>
            <a:r>
              <a:rPr lang="en-US" dirty="0">
                <a:solidFill>
                  <a:srgbClr val="0F1A2B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GRPO does not care where r(x, y) comes from.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Aft>
                <a:spcPts val="300"/>
              </a:spcAft>
            </a:pPr>
            <a:r>
              <a:rPr lang="en-US" dirty="0">
                <a:solidFill>
                  <a:srgbClr val="1F2937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For math, code, and formal proofs a verifier is available: numeric checks, unit tests, Lean.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i="1" dirty="0">
                <a:solidFill>
                  <a:srgbClr val="1F2937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the verifier is ground truth.</a:t>
            </a:r>
          </a:p>
          <a:p>
            <a:pPr algn="ctr"/>
            <a:r>
              <a:rPr lang="en-IN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Is 408 the answer to 17×24? Yes or no. There is no "sort of" answer. </a:t>
            </a:r>
          </a:p>
          <a:p>
            <a:pPr algn="ctr"/>
            <a:r>
              <a:rPr lang="en-IN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Do the unit tests pass? Yes or no. </a:t>
            </a:r>
          </a:p>
          <a:p>
            <a:pPr algn="ctr"/>
            <a:r>
              <a:rPr lang="en-IN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Does Lean accept the proof? Yes or no.</a:t>
            </a:r>
            <a:endParaRPr lang="en-US" dirty="0">
              <a:highlight>
                <a:srgbClr val="FFFF00"/>
              </a:highligh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151038" y="4258817"/>
          <a:ext cx="8911999" cy="2263140"/>
        </p:xfrm>
        <a:graphic>
          <a:graphicData uri="http://schemas.openxmlformats.org/drawingml/2006/table">
            <a:tbl>
              <a:tblPr/>
              <a:tblGrid>
                <a:gridCol w="20287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3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Model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How GRPO is used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DeepSeek-Math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GRPO + RLVR — paper that introduced algorithm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DeepSeek-R1-Zero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Pure GRPO + RLVR from a base model, no SFT — emergent chain-of-thought reasoning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DeepSeek-R1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SFT → GRPO with RLVR for reasoning → SFT → GRPO with RM for chat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Qwen-QwQ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Adds GRPO with RLVR on math and code on top of chat alignment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4DEF584-F60C-C70C-634F-BB8FE9673A34}"/>
              </a:ext>
            </a:extLst>
          </p:cNvPr>
          <p:cNvSpPr txBox="1"/>
          <p:nvPr/>
        </p:nvSpPr>
        <p:spPr>
          <a:xfrm>
            <a:off x="171450" y="3260481"/>
            <a:ext cx="8224157" cy="987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</a:pPr>
            <a:r>
              <a:rPr lang="en-US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RLVR — Reinforcement Learning with Verifiable Rewards</a:t>
            </a:r>
            <a:endParaRPr lang="en-US" dirty="0"/>
          </a:p>
          <a:p>
            <a:r>
              <a:rPr lang="en-US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the name for the combination: GRPO as the optimizer, a program-based verifier as the reward source. No reward model at all in the loop.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4617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0" y="1371600"/>
            <a:ext cx="9144000" cy="481584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DPO (Direct Preference Optimization)</a:t>
            </a:r>
            <a:r>
              <a:rPr lang="en-US" sz="2000" dirty="0"/>
              <a:t>: Skip the explicit reward model and finetune directly on the preference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DPO is a preference-based SFT method that aligns LLMs with human values by directly optimizing the model's policy based on pairwise preference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i="1" dirty="0"/>
              <a:t>Direct Preference Optimization: Your Language Model is Secretly a Reward Model</a:t>
            </a:r>
            <a:endParaRPr lang="en-IN" sz="2800" i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040307"/>
              </p:ext>
            </p:extLst>
          </p:nvPr>
        </p:nvGraphicFramePr>
        <p:xfrm>
          <a:off x="206829" y="2895600"/>
          <a:ext cx="7886700" cy="2377440"/>
        </p:xfrm>
        <a:graphic>
          <a:graphicData uri="http://schemas.openxmlformats.org/drawingml/2006/table">
            <a:tbl>
              <a:tblPr/>
              <a:tblGrid>
                <a:gridCol w="1352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effectLst/>
                        </a:rPr>
                        <a:t>Framework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effectLst/>
                        </a:rPr>
                        <a:t>Model 1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Model 2</a:t>
                      </a:r>
                      <a:endParaRPr lang="en-IN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Model 3</a:t>
                      </a:r>
                      <a:endParaRPr lang="en-IN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Model 4</a:t>
                      </a:r>
                      <a:endParaRPr lang="en-IN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PPO-RLHF</a:t>
                      </a:r>
                      <a:endParaRPr lang="en-IN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Policy Model π</a:t>
                      </a:r>
                      <a:r>
                        <a:rPr lang="en-US" baseline="-25000" dirty="0">
                          <a:effectLst/>
                        </a:rPr>
                        <a:t>θ</a:t>
                      </a:r>
                      <a:r>
                        <a:rPr lang="en-US" dirty="0">
                          <a:effectLst/>
                        </a:rPr>
                        <a:t> (trainable)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Value Function Model (trainable)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Reward Model </a:t>
                      </a:r>
                      <a:r>
                        <a:rPr lang="en-US" dirty="0" err="1">
                          <a:effectLst/>
                        </a:rPr>
                        <a:t>r</a:t>
                      </a:r>
                      <a:r>
                        <a:rPr lang="en-US" baseline="-25000" dirty="0" err="1">
                          <a:effectLst/>
                        </a:rPr>
                        <a:t>ϕ</a:t>
                      </a:r>
                      <a:r>
                        <a:rPr lang="en-US" dirty="0">
                          <a:effectLst/>
                        </a:rPr>
                        <a:t> (trainable)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Reference Policy </a:t>
                      </a:r>
                      <a:r>
                        <a:rPr lang="el-GR" dirty="0">
                          <a:effectLst/>
                        </a:rPr>
                        <a:t>π</a:t>
                      </a:r>
                      <a:r>
                        <a:rPr lang="en-IN" baseline="-25000" dirty="0">
                          <a:effectLst/>
                        </a:rPr>
                        <a:t>ref</a:t>
                      </a:r>
                      <a:r>
                        <a:rPr lang="en-IN" dirty="0">
                          <a:effectLst/>
                        </a:rPr>
                        <a:t> (frozen)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</a:rPr>
                        <a:t>DPO</a:t>
                      </a:r>
                      <a:endParaRPr lang="en-IN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Policy Model π</a:t>
                      </a:r>
                      <a:r>
                        <a:rPr lang="en-US" baseline="-25000" dirty="0">
                          <a:effectLst/>
                        </a:rPr>
                        <a:t>θ</a:t>
                      </a:r>
                      <a:r>
                        <a:rPr lang="en-US" dirty="0">
                          <a:effectLst/>
                        </a:rPr>
                        <a:t> (trainable)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Reference Model </a:t>
                      </a:r>
                      <a:r>
                        <a:rPr lang="el-GR" dirty="0">
                          <a:effectLst/>
                        </a:rPr>
                        <a:t>π</a:t>
                      </a:r>
                      <a:r>
                        <a:rPr lang="en-IN" baseline="-25000" dirty="0">
                          <a:effectLst/>
                        </a:rPr>
                        <a:t>ref</a:t>
                      </a:r>
                      <a:r>
                        <a:rPr lang="en-IN" dirty="0">
                          <a:effectLst/>
                        </a:rPr>
                        <a:t> (frozen)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—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—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89763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8DC9369-3C7F-6B79-29B6-718A2116C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DPO Training - supervised learning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6B43E6-E5E5-ED1D-C0F2-58B110E8F104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4800600" y="4532911"/>
            <a:ext cx="4038600" cy="19152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03A76C-31C1-A7A9-FB7E-139BDB052FD8}"/>
              </a:ext>
            </a:extLst>
          </p:cNvPr>
          <p:cNvSpPr txBox="1"/>
          <p:nvPr/>
        </p:nvSpPr>
        <p:spPr>
          <a:xfrm>
            <a:off x="-35312" y="1367483"/>
            <a:ext cx="910311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Start with preference data (x, ow,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ol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) — same pairs used in RLHF, no reward model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Load two models: π</a:t>
            </a:r>
            <a:r>
              <a:rPr lang="en-IN" sz="2000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ref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(frozen SFT model, never updated) and π</a:t>
            </a:r>
            <a:r>
              <a:rPr lang="en-IN" sz="2000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θ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(policy being trained)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For each triple, run four forward passes — π</a:t>
            </a:r>
            <a:r>
              <a:rPr lang="en-IN" sz="2000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ref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and π</a:t>
            </a:r>
            <a:r>
              <a:rPr lang="en-IN" sz="2000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θ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each score both o</a:t>
            </a:r>
            <a:r>
              <a:rPr lang="en-IN" sz="2000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w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o</a:t>
            </a:r>
            <a:r>
              <a:rPr lang="en-IN" sz="2000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l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producing four log-probabilities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Compute the DPO loss — it compares how much more the policy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favors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o</a:t>
            </a:r>
            <a:r>
              <a:rPr lang="en-IN" sz="2000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w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over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o</a:t>
            </a:r>
            <a:r>
              <a:rPr lang="en-IN" sz="2000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l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relative to what the reference model already assigned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Backprop through π</a:t>
            </a:r>
            <a:r>
              <a:rPr lang="en-IN" sz="2000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θ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only — push o</a:t>
            </a:r>
            <a:r>
              <a:rPr lang="en-IN" sz="2000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w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log-prob up, push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o</a:t>
            </a:r>
            <a:r>
              <a:rPr lang="en-IN" sz="2000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l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log-prob down, relative to π</a:t>
            </a:r>
            <a:r>
              <a:rPr lang="en-IN" sz="2000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ref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Repeat over all preference pairs using standard minibatch gradient descent</a:t>
            </a:r>
          </a:p>
        </p:txBody>
      </p:sp>
    </p:spTree>
    <p:extLst>
      <p:ext uri="{BB962C8B-B14F-4D97-AF65-F5344CB8AC3E}">
        <p14:creationId xmlns:p14="http://schemas.microsoft.com/office/powerpoint/2010/main" val="41900834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103858" y="1327943"/>
            <a:ext cx="9040141" cy="4525963"/>
          </a:xfrm>
        </p:spPr>
        <p:txBody>
          <a:bodyPr>
            <a:normAutofit/>
          </a:bodyPr>
          <a:lstStyle/>
          <a:p>
            <a:r>
              <a:rPr lang="en-US" sz="2000" dirty="0"/>
              <a:t>BT </a:t>
            </a:r>
            <a:r>
              <a:rPr lang="en-US" sz="2000" dirty="0" err="1"/>
              <a:t>prob</a:t>
            </a:r>
            <a:r>
              <a:rPr lang="en-US" sz="2000" dirty="0"/>
              <a:t> model: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DPO derives that the optimal reward can be expressed as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l-GR" sz="2000" i="1" dirty="0"/>
              <a:t>Π</a:t>
            </a:r>
            <a:r>
              <a:rPr lang="en-US" sz="2000" i="1" baseline="-25000" dirty="0"/>
              <a:t>θ</a:t>
            </a:r>
            <a:r>
              <a:rPr lang="en-US" sz="2000" i="1" dirty="0"/>
              <a:t> </a:t>
            </a:r>
            <a:r>
              <a:rPr lang="en-US" sz="2000" i="1" dirty="0">
                <a:sym typeface="Wingdings" panose="05000000000000000000" pitchFamily="2" charset="2"/>
              </a:rPr>
              <a:t></a:t>
            </a:r>
            <a:r>
              <a:rPr lang="en-US" sz="2000" dirty="0"/>
              <a:t> optimal policy which initialized with an existing </a:t>
            </a:r>
            <a:r>
              <a:rPr lang="en-US" sz="2000" dirty="0" err="1"/>
              <a:t>pretrained</a:t>
            </a:r>
            <a:r>
              <a:rPr lang="en-US" sz="2000" dirty="0"/>
              <a:t>, </a:t>
            </a:r>
            <a:r>
              <a:rPr lang="en-US" sz="2000" dirty="0" err="1"/>
              <a:t>finetuned</a:t>
            </a:r>
            <a:r>
              <a:rPr lang="en-US" sz="2000" dirty="0"/>
              <a:t> LLM</a:t>
            </a:r>
          </a:p>
          <a:p>
            <a:r>
              <a:rPr lang="en-US" sz="2000" i="1" dirty="0"/>
              <a:t>π</a:t>
            </a:r>
            <a:r>
              <a:rPr lang="en-US" sz="2000" i="1" baseline="-25000" dirty="0"/>
              <a:t>ref</a:t>
            </a:r>
            <a:r>
              <a:rPr lang="en-US" sz="2000" dirty="0"/>
              <a:t> </a:t>
            </a:r>
            <a:r>
              <a:rPr lang="en-US" sz="2000" dirty="0">
                <a:sym typeface="Wingdings" panose="05000000000000000000" pitchFamily="2" charset="2"/>
              </a:rPr>
              <a:t></a:t>
            </a:r>
            <a:r>
              <a:rPr lang="en-US" sz="2000" dirty="0"/>
              <a:t> reference (initial) model</a:t>
            </a:r>
          </a:p>
          <a:p>
            <a:r>
              <a:rPr lang="en-US" sz="2000" i="1" dirty="0"/>
              <a:t>β</a:t>
            </a:r>
            <a:r>
              <a:rPr lang="en-US" sz="2000" dirty="0"/>
              <a:t> </a:t>
            </a:r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 err="1"/>
              <a:t>hyperparameter</a:t>
            </a:r>
            <a:r>
              <a:rPr lang="en-US" sz="2000" dirty="0"/>
              <a:t> that controls penalty term; typically range from 0.1 to 0.01</a:t>
            </a:r>
          </a:p>
          <a:p>
            <a:r>
              <a:rPr lang="en-US" sz="2000" i="1" dirty="0"/>
              <a:t>Z</a:t>
            </a:r>
            <a:r>
              <a:rPr lang="en-US" sz="2000" dirty="0"/>
              <a:t>(</a:t>
            </a:r>
            <a:r>
              <a:rPr lang="en-US" sz="2000" i="1" dirty="0"/>
              <a:t>x</a:t>
            </a:r>
            <a:r>
              <a:rPr lang="en-US" sz="2000" dirty="0"/>
              <a:t>) </a:t>
            </a:r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/>
              <a:t>intractable normalizing constant. </a:t>
            </a:r>
          </a:p>
          <a:p>
            <a:r>
              <a:rPr lang="en-US" sz="2000" dirty="0"/>
              <a:t>Substituting back into BT model, normalizing constant cancels out: </a:t>
            </a:r>
          </a:p>
          <a:p>
            <a:endParaRPr lang="en-IN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DPO Loss Function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1316669"/>
            <a:ext cx="3482005" cy="7931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2737474"/>
            <a:ext cx="3765239" cy="7017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4837" y="5280149"/>
            <a:ext cx="5567563" cy="114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9652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228600" y="1447800"/>
            <a:ext cx="8610600" cy="45259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Loss is likelihood of a preference pair in terms of the two LLM policies, rather than in terms of an explicit reward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CE loss (negative log likelihood) for a single instance 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Loss over the training set D 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06829" y="0"/>
            <a:ext cx="8160907" cy="1219200"/>
          </a:xfrm>
        </p:spPr>
        <p:txBody>
          <a:bodyPr/>
          <a:lstStyle/>
          <a:p>
            <a:r>
              <a:rPr lang="en-US" dirty="0"/>
              <a:t>DPO Loss Function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373" y="2971800"/>
            <a:ext cx="5739527" cy="6048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495800"/>
            <a:ext cx="7391400" cy="74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7548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85AF49-D7D2-E8DF-5B3C-F8DC41784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PPO Vs DPO Vs GRPO</a:t>
            </a:r>
            <a:endParaRPr lang="en-IN" dirty="0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8FA15AFC-EED6-0B32-24F7-F467B59515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717567"/>
              </p:ext>
            </p:extLst>
          </p:nvPr>
        </p:nvGraphicFramePr>
        <p:xfrm>
          <a:off x="206829" y="2133600"/>
          <a:ext cx="8435340" cy="3627120"/>
        </p:xfrm>
        <a:graphic>
          <a:graphicData uri="http://schemas.openxmlformats.org/drawingml/2006/table">
            <a:tbl>
              <a:tblPr/>
              <a:tblGrid>
                <a:gridCol w="1303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51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Framework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Model 1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Model 2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Model 3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Model 4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129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PPO-RLHF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Policy πθ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(trainable)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Value function </a:t>
                      </a:r>
                      <a:r>
                        <a:rPr lang="en-US" sz="2000" dirty="0" err="1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Vψ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(trainable)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Reward model </a:t>
                      </a:r>
                      <a:r>
                        <a:rPr lang="en-US" sz="2000" dirty="0" err="1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rφ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(frozen)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Reference πref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(frozen)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129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DPO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Policy πθ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(trainable)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Reference πref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(frozen)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6C7A89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6C7A89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1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129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GRPO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Policy πθ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(trainable)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Reference πref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(frozen)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Reward model rφ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(frozen)  or  verifier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6C7A89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9911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31760" y="102870"/>
            <a:ext cx="8572500" cy="480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algn="l"/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Constitutional AI (CAI)</a:t>
            </a:r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725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 human harmlessness labels with a written constitution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980" y="1474470"/>
            <a:ext cx="8904620" cy="390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Bef>
                <a:spcPts val="450"/>
              </a:spcBef>
              <a:spcAft>
                <a:spcPts val="300"/>
              </a:spcAft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2000" dirty="0"/>
          </a:p>
          <a:p>
            <a:pPr marL="285750" indent="-285750">
              <a:spcAft>
                <a:spcPts val="45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labelling of harmful outputs is slow, expensive, and psychologically costly</a:t>
            </a:r>
            <a:endParaRPr lang="en-US" sz="2000" dirty="0"/>
          </a:p>
          <a:p>
            <a:pPr marL="285750" indent="-285750">
              <a:spcAft>
                <a:spcPts val="45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Guidelines already exist in text — encode them explicitly and let the model apply them</a:t>
            </a:r>
            <a:endParaRPr lang="en-US" sz="2000" dirty="0"/>
          </a:p>
          <a:p>
            <a:pPr>
              <a:spcBef>
                <a:spcPts val="450"/>
              </a:spcBef>
              <a:spcAft>
                <a:spcPts val="300"/>
              </a:spcAft>
            </a:pPr>
            <a:endParaRPr lang="en-US" sz="2000" b="1" dirty="0">
              <a:solidFill>
                <a:srgbClr val="065A82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>
              <a:spcBef>
                <a:spcPts val="450"/>
              </a:spcBef>
              <a:spcAft>
                <a:spcPts val="300"/>
              </a:spcAft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'constitution' is</a:t>
            </a:r>
            <a:endParaRPr lang="en-US" sz="20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short list of natural-language principles used as critique / revision prompts during training. Examples:</a:t>
            </a:r>
            <a:endParaRPr lang="en-US" sz="2000" dirty="0"/>
          </a:p>
          <a:p>
            <a:pPr marL="285750" indent="-285750">
              <a:spcAft>
                <a:spcPts val="45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"Choose the response that is most helpful, honest, and harmless."</a:t>
            </a:r>
            <a:endParaRPr lang="en-US" sz="2000" dirty="0"/>
          </a:p>
          <a:p>
            <a:pPr marL="285750" indent="-285750">
              <a:spcAft>
                <a:spcPts val="45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"Do not provide instructions for illegal activity."</a:t>
            </a:r>
            <a:endParaRPr lang="en-US" sz="2000" dirty="0"/>
          </a:p>
          <a:p>
            <a:pPr marL="285750" indent="-285750">
              <a:spcAft>
                <a:spcPts val="45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"Prefer the response that acknowledges uncertainty when knowledge is limited."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E580DC-FD71-3F41-4747-5D2A8935C54A}"/>
              </a:ext>
            </a:extLst>
          </p:cNvPr>
          <p:cNvSpPr txBox="1"/>
          <p:nvPr/>
        </p:nvSpPr>
        <p:spPr>
          <a:xfrm>
            <a:off x="0" y="6488668"/>
            <a:ext cx="71726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Constitutional AI: Harmlessness from AI Feedback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05740" y="265734"/>
            <a:ext cx="8572500" cy="480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algn="l"/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Constitutional AI — Two Phases</a:t>
            </a:r>
          </a:p>
        </p:txBody>
      </p:sp>
      <p:sp>
        <p:nvSpPr>
          <p:cNvPr id="6" name="Text 4"/>
          <p:cNvSpPr/>
          <p:nvPr/>
        </p:nvSpPr>
        <p:spPr>
          <a:xfrm>
            <a:off x="274320" y="1474470"/>
            <a:ext cx="8435340" cy="416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Bef>
                <a:spcPts val="450"/>
              </a:spcBef>
              <a:spcAft>
                <a:spcPts val="300"/>
              </a:spcAft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SL-CAI (self-critique + revision)</a:t>
            </a:r>
            <a:endParaRPr lang="en-US" sz="2000" dirty="0"/>
          </a:p>
          <a:p>
            <a:pPr marL="257175" lvl="1" indent="-257175">
              <a:spcAft>
                <a:spcPts val="450"/>
              </a:spcAft>
              <a:buSzPct val="100000"/>
              <a:buChar char="■"/>
            </a:pP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the base model with a harmful query</a:t>
            </a:r>
            <a:endParaRPr lang="en-US" sz="2000" dirty="0"/>
          </a:p>
          <a:p>
            <a:pPr marL="257175" lvl="1" indent="-257175">
              <a:spcAft>
                <a:spcPts val="450"/>
              </a:spcAft>
              <a:buSzPct val="100000"/>
              <a:buChar char="■"/>
            </a:pP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it to critique its own answer using a constitutional principle</a:t>
            </a:r>
            <a:endParaRPr lang="en-US" sz="2000" dirty="0"/>
          </a:p>
          <a:p>
            <a:pPr marL="257175" lvl="1" indent="-257175">
              <a:spcAft>
                <a:spcPts val="450"/>
              </a:spcAft>
              <a:buSzPct val="100000"/>
              <a:buChar char="■"/>
            </a:pP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it to revise the answer to remove the flaw</a:t>
            </a:r>
            <a:endParaRPr lang="en-US" sz="2000" dirty="0"/>
          </a:p>
          <a:p>
            <a:pPr marL="257175" lvl="1" indent="-257175">
              <a:spcAft>
                <a:spcPts val="450"/>
              </a:spcAft>
              <a:buSzPct val="100000"/>
              <a:buChar char="■"/>
            </a:pP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 (SFT) on the (prompt, revised answer) pairs</a:t>
            </a:r>
            <a:endParaRPr lang="en-US" sz="2000" dirty="0"/>
          </a:p>
          <a:p>
            <a:pPr>
              <a:spcAft>
                <a:spcPts val="300"/>
              </a:spcAft>
            </a:pPr>
            <a:endParaRPr lang="en-US" sz="2000" dirty="0"/>
          </a:p>
          <a:p>
            <a:pPr>
              <a:spcBef>
                <a:spcPts val="450"/>
              </a:spcBef>
              <a:spcAft>
                <a:spcPts val="300"/>
              </a:spcAft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RL-CAI (RLAIF)</a:t>
            </a:r>
            <a:endParaRPr lang="en-US" sz="2000" dirty="0"/>
          </a:p>
          <a:p>
            <a:pPr marL="257175" indent="-257175">
              <a:spcAft>
                <a:spcPts val="450"/>
              </a:spcAft>
              <a:buSzPct val="100000"/>
              <a:buChar char="■"/>
            </a:pP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response pairs for many prompts</a:t>
            </a:r>
            <a:endParaRPr lang="en-US" sz="2000" dirty="0"/>
          </a:p>
          <a:p>
            <a:pPr marL="257175" indent="-257175">
              <a:spcAft>
                <a:spcPts val="450"/>
              </a:spcAft>
              <a:buSzPct val="100000"/>
              <a:buChar char="■"/>
            </a:pP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judge picks the preferred response using constitutional principles</a:t>
            </a:r>
            <a:endParaRPr lang="en-US" sz="2000" dirty="0"/>
          </a:p>
          <a:p>
            <a:pPr marL="257175" indent="-257175">
              <a:spcAft>
                <a:spcPts val="450"/>
              </a:spcAft>
              <a:buSzPct val="100000"/>
              <a:buChar char="■"/>
            </a:pP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a reward model on these AI-generated preferences</a:t>
            </a:r>
            <a:endParaRPr lang="en-US" sz="2000" dirty="0"/>
          </a:p>
          <a:p>
            <a:pPr marL="257175" indent="-257175">
              <a:spcAft>
                <a:spcPts val="450"/>
              </a:spcAft>
              <a:buSzPct val="100000"/>
              <a:buChar char="■"/>
            </a:pP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PPO (or DPO / GRPO) against that reward model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05740" y="430642"/>
            <a:ext cx="8572500" cy="480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algn="l"/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RLAIF — RL from AI Feedback</a:t>
            </a:r>
          </a:p>
        </p:txBody>
      </p:sp>
      <p:sp>
        <p:nvSpPr>
          <p:cNvPr id="4" name="Text 2"/>
          <p:cNvSpPr/>
          <p:nvPr/>
        </p:nvSpPr>
        <p:spPr>
          <a:xfrm>
            <a:off x="205740" y="999856"/>
            <a:ext cx="85725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Whenever a human would label a preference pair, ask a strong model instead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05740" y="1549908"/>
            <a:ext cx="8785860" cy="4548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Bef>
                <a:spcPts val="450"/>
              </a:spcBef>
              <a:spcAft>
                <a:spcPts val="300"/>
              </a:spcAft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Mechanism</a:t>
            </a:r>
            <a:endParaRPr lang="en-US" sz="2000" dirty="0"/>
          </a:p>
          <a:p>
            <a:pPr marL="257175" indent="-257175">
              <a:spcAft>
                <a:spcPts val="450"/>
              </a:spcAft>
              <a:buSzPct val="100000"/>
              <a:buChar char="■"/>
            </a:pP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 model reads (prompt, response A, response B) plus a rubric</a:t>
            </a:r>
            <a:endParaRPr lang="en-US" sz="2000" dirty="0"/>
          </a:p>
          <a:p>
            <a:pPr marL="257175" indent="-257175">
              <a:spcAft>
                <a:spcPts val="450"/>
              </a:spcAft>
              <a:buSzPct val="100000"/>
              <a:buChar char="■"/>
            </a:pP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 a preference — used exactly like a human label</a:t>
            </a:r>
            <a:endParaRPr lang="en-US" sz="2000" dirty="0"/>
          </a:p>
          <a:p>
            <a:pPr marL="257175" indent="-257175">
              <a:spcAft>
                <a:spcPts val="450"/>
              </a:spcAft>
              <a:buSzPct val="100000"/>
              <a:buChar char="■"/>
            </a:pP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 can be a stronger model, a fine-tuned critic, or an ensemble</a:t>
            </a:r>
            <a:endParaRPr lang="en-US" sz="2000" dirty="0"/>
          </a:p>
          <a:p>
            <a:pPr marL="257175" indent="-257175">
              <a:spcAft>
                <a:spcPts val="450"/>
              </a:spcAft>
              <a:buSzPct val="100000"/>
              <a:buChar char="■"/>
            </a:pP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Preferences feed the same RM → RLHF / DPO / GRPO pipeline</a:t>
            </a:r>
            <a:endParaRPr lang="en-US" sz="2000" dirty="0"/>
          </a:p>
          <a:p>
            <a:pPr>
              <a:spcAft>
                <a:spcPts val="300"/>
              </a:spcAft>
            </a:pPr>
            <a:endParaRPr lang="en-US" sz="2000" dirty="0"/>
          </a:p>
          <a:p>
            <a:pPr>
              <a:spcBef>
                <a:spcPts val="450"/>
              </a:spcBef>
              <a:spcAft>
                <a:spcPts val="300"/>
              </a:spcAft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Trade-offs</a:t>
            </a:r>
            <a:endParaRPr lang="en-US" sz="2000" dirty="0"/>
          </a:p>
          <a:p>
            <a:pPr marL="257175" indent="-257175">
              <a:spcAft>
                <a:spcPts val="450"/>
              </a:spcAft>
              <a:buSzPct val="100000"/>
              <a:buChar char="■"/>
            </a:pP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 of magnitude cheaper than human labels; consistent — no annotator drift</a:t>
            </a:r>
            <a:endParaRPr lang="en-US" sz="2000" dirty="0"/>
          </a:p>
          <a:p>
            <a:pPr marL="257175" indent="-257175">
              <a:spcAft>
                <a:spcPts val="450"/>
              </a:spcAft>
              <a:buSzPct val="100000"/>
              <a:buChar char="■"/>
            </a:pP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— can label 100× more prompts</a:t>
            </a:r>
            <a:endParaRPr lang="en-US" sz="2000" dirty="0"/>
          </a:p>
          <a:p>
            <a:pPr marL="257175" indent="-257175">
              <a:spcAft>
                <a:spcPts val="450"/>
              </a:spcAft>
              <a:buSzPct val="100000"/>
              <a:buChar char="■"/>
            </a:pP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 inherits its own biases — systematic errors, not random noise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CCE8A8-5850-3569-A3CC-88E6CA0CE86A}"/>
              </a:ext>
            </a:extLst>
          </p:cNvPr>
          <p:cNvSpPr txBox="1"/>
          <p:nvPr/>
        </p:nvSpPr>
        <p:spPr>
          <a:xfrm>
            <a:off x="381000" y="5858144"/>
            <a:ext cx="7696200" cy="40011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defPPr>
              <a:defRPr kern="0"/>
            </a:defPPr>
            <a:lvl1pPr>
              <a:defRPr sz="1200"/>
            </a:lvl1pPr>
          </a:lstStyle>
          <a:p>
            <a:r>
              <a:rPr lang="en-US" sz="2000" dirty="0"/>
              <a:t>Google's RLAIF paper: matches RLHF quality on summarization.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68569" y="214605"/>
            <a:ext cx="8572500" cy="480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algn="l"/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What Real Models Actually Do (2024–2026)</a:t>
            </a:r>
          </a:p>
        </p:txBody>
      </p:sp>
      <p:sp>
        <p:nvSpPr>
          <p:cNvPr id="4" name="Text 2"/>
          <p:cNvSpPr/>
          <p:nvPr/>
        </p:nvSpPr>
        <p:spPr>
          <a:xfrm>
            <a:off x="168569" y="919557"/>
            <a:ext cx="85725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recipes have converged on multi-stage pipelines</a:t>
            </a:r>
            <a:endParaRPr lang="en-US" sz="2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02987"/>
              </p:ext>
            </p:extLst>
          </p:nvPr>
        </p:nvGraphicFramePr>
        <p:xfrm>
          <a:off x="183437" y="1603336"/>
          <a:ext cx="8731591" cy="3909060"/>
        </p:xfrm>
        <a:graphic>
          <a:graphicData uri="http://schemas.openxmlformats.org/drawingml/2006/table">
            <a:tbl>
              <a:tblPr/>
              <a:tblGrid>
                <a:gridCol w="2271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59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Model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Post-training pipeline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Llama-3-Instruct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SFT → Rejection sampling → DPO (multi-round).  No PPO.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DeepSeek-R1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SFT → GRPO with RLVR (reasoning) → SFT → GRPO with RM (chat)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DeepSeek-R1-Zero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Pure GRPO + RLVR from base model — no SFT.  Proof of concept.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Qwen-2.5-Instruct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SFT → offline DPO → online DPO with self-generated pairs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QwQ / reasoning Qwen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Adds RLVR-style RL on math and code on top of chat alignment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Claude family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Constitutional AI + RLAIF + RLHF-style preference training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Mistral / Mixtral Instruct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SFT → DPO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31562" y="5904989"/>
            <a:ext cx="84353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Pattern: DPO for chat quality, GRPO+RLVR for reasoning, RLAIF / CAI to scale supervision. PPO is now the exception, not the norm.</a:t>
            </a:r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200" y="262016"/>
            <a:ext cx="8572500" cy="480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algn="l"/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Which Method ?</a:t>
            </a:r>
          </a:p>
        </p:txBody>
      </p:sp>
      <p:sp>
        <p:nvSpPr>
          <p:cNvPr id="6" name="Text 4"/>
          <p:cNvSpPr/>
          <p:nvPr/>
        </p:nvSpPr>
        <p:spPr>
          <a:xfrm>
            <a:off x="144780" y="1474470"/>
            <a:ext cx="8846820" cy="431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Bef>
                <a:spcPts val="450"/>
              </a:spcBef>
              <a:spcAft>
                <a:spcPts val="300"/>
              </a:spcAft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 answer is machine-verifiable</a:t>
            </a:r>
            <a:endParaRPr lang="en-US" sz="2000" dirty="0"/>
          </a:p>
          <a:p>
            <a:pPr marL="342900" indent="-342900">
              <a:spcAft>
                <a:spcPts val="45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GRPO + RLVR — math, code, formal reasoning, schema-constrained output</a:t>
            </a:r>
            <a:endParaRPr lang="en-US" sz="2000" dirty="0"/>
          </a:p>
          <a:p>
            <a:pPr>
              <a:spcBef>
                <a:spcPts val="450"/>
              </a:spcBef>
              <a:spcAft>
                <a:spcPts val="300"/>
              </a:spcAft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have preference pairs and constrained compute</a:t>
            </a:r>
            <a:endParaRPr lang="en-US" sz="2000" dirty="0"/>
          </a:p>
          <a:p>
            <a:pPr marL="342900" indent="-342900">
              <a:spcAft>
                <a:spcPts val="45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DPO (or ORPO) — the default for chat alignment in 2026</a:t>
            </a:r>
            <a:endParaRPr lang="en-US" sz="2000" dirty="0"/>
          </a:p>
          <a:p>
            <a:pPr>
              <a:spcBef>
                <a:spcPts val="450"/>
              </a:spcBef>
              <a:spcAft>
                <a:spcPts val="300"/>
              </a:spcAft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have deep compute </a:t>
            </a:r>
            <a:endParaRPr lang="en-US" sz="2000" dirty="0"/>
          </a:p>
          <a:p>
            <a:pPr marL="342900" indent="-342900">
              <a:spcAft>
                <a:spcPts val="45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RLHF (PPO) or GRPO with an RM — only if you can afford four models and a full ML-Ops loop</a:t>
            </a:r>
          </a:p>
          <a:p>
            <a:pPr>
              <a:spcBef>
                <a:spcPts val="450"/>
              </a:spcBef>
              <a:spcAft>
                <a:spcPts val="300"/>
              </a:spcAft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 goal is harmlessness or auditable behavior</a:t>
            </a:r>
            <a:endParaRPr lang="en-US" sz="2000" dirty="0"/>
          </a:p>
          <a:p>
            <a:pPr marL="342900" indent="-342900">
              <a:spcAft>
                <a:spcPts val="45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Constitutional AI + RLAIF — write the target as a constitution, scale supervision with an AI judge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Ch-10 Speech and Language Processing  By </a:t>
            </a:r>
            <a:r>
              <a:rPr lang="en-US" dirty="0" err="1"/>
              <a:t>Jurafsky</a:t>
            </a:r>
            <a:r>
              <a:rPr lang="en-US" dirty="0"/>
              <a:t> and Martin, Aug 2025 edition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hlinkClick r:id="rId2"/>
              </a:rPr>
              <a:t>https://huggingface.co/blog/deep-rl-ppo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https://cme295.stanford.edu/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Research Papers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ULTRAFEEDBACK: Boosting Language Models with Scaled AI Feedback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Direct Preference Optimization: Your Language Model is Secretly a Reward Model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err="1"/>
              <a:t>DeepSeekMath</a:t>
            </a:r>
            <a:r>
              <a:rPr lang="en-US" dirty="0"/>
              <a:t>: Pushing the Limits of Mathematical Reasoning in Open Language Models.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Refrences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0953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4861</Words>
  <Application>Microsoft Office PowerPoint</Application>
  <PresentationFormat>On-screen Show (4:3)</PresentationFormat>
  <Paragraphs>503</Paragraphs>
  <Slides>43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58" baseType="lpstr">
      <vt:lpstr>Arial</vt:lpstr>
      <vt:lpstr>Arial MT</vt:lpstr>
      <vt:lpstr>Calibri</vt:lpstr>
      <vt:lpstr>Cambria</vt:lpstr>
      <vt:lpstr>Cambria Math</vt:lpstr>
      <vt:lpstr>Consolas</vt:lpstr>
      <vt:lpstr>Courier New</vt:lpstr>
      <vt:lpstr>fkGroteskNeue</vt:lpstr>
      <vt:lpstr>Montserrat</vt:lpstr>
      <vt:lpstr>Tahoma</vt:lpstr>
      <vt:lpstr>Times New Roman</vt:lpstr>
      <vt:lpstr>Trebuchet MS</vt:lpstr>
      <vt:lpstr>Wingdings</vt:lpstr>
      <vt:lpstr>Office Theme</vt:lpstr>
      <vt:lpstr>1_Office Theme</vt:lpstr>
      <vt:lpstr> LLM for Gen AI</vt:lpstr>
      <vt:lpstr>PowerPoint Presentation</vt:lpstr>
      <vt:lpstr>PowerPoint Presentation</vt:lpstr>
      <vt:lpstr>Why is Instruction Tuning not enough?</vt:lpstr>
      <vt:lpstr>Preference-Tuning / Alignment / RLHF</vt:lpstr>
      <vt:lpstr>Automating Preference Evaluation Using Reward Models</vt:lpstr>
      <vt:lpstr>Reward Model</vt:lpstr>
      <vt:lpstr>Preference tuning pipeline</vt:lpstr>
      <vt:lpstr>PowerPoint Presentation</vt:lpstr>
      <vt:lpstr>PowerPoint Presentation</vt:lpstr>
      <vt:lpstr>Modeling Preferences - Bradley-Terry (BT) model </vt:lpstr>
      <vt:lpstr>Learning to Score Preferences </vt:lpstr>
      <vt:lpstr>PowerPoint Presentation</vt:lpstr>
      <vt:lpstr>Reward models (RMs) - example </vt:lpstr>
      <vt:lpstr>Multiple reward models</vt:lpstr>
      <vt:lpstr>Reinforcement Learning (RL)</vt:lpstr>
      <vt:lpstr>RLHF for preference tuning</vt:lpstr>
      <vt:lpstr>RLHF</vt:lpstr>
      <vt:lpstr>RLHF Step 1 — Reward Modeling </vt:lpstr>
      <vt:lpstr>RLHF Step 2 — Reinforcement Learning</vt:lpstr>
      <vt:lpstr>RLHF Step 2 — Reinforcement Learning </vt:lpstr>
      <vt:lpstr>PowerPoint Presentation</vt:lpstr>
      <vt:lpstr>Maximize Reward Minus KL</vt:lpstr>
      <vt:lpstr>PPO — Advantages and the Clipped Objective </vt:lpstr>
      <vt:lpstr>Variation 1: PPO-Clip -Clipped surrogate objective function </vt:lpstr>
      <vt:lpstr>Variation 1: PPO-Clip</vt:lpstr>
      <vt:lpstr>Variation 2: PPO-KL Penalty</vt:lpstr>
      <vt:lpstr>Preference tuning using PPO</vt:lpstr>
      <vt:lpstr>Alternatives of PPO</vt:lpstr>
      <vt:lpstr>PowerPoint Presentation</vt:lpstr>
      <vt:lpstr>GRPO — Worked Example</vt:lpstr>
      <vt:lpstr>PowerPoint Presentation</vt:lpstr>
      <vt:lpstr>Direct Preference Optimization: Your Language Model is Secretly a Reward Model</vt:lpstr>
      <vt:lpstr>DPO Training - supervised learning </vt:lpstr>
      <vt:lpstr>DPO Loss Function</vt:lpstr>
      <vt:lpstr>DPO Loss Function</vt:lpstr>
      <vt:lpstr>PPO Vs DPO Vs GRPO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2026-07-23T10:31:37Z</dcterms:created>
  <dcterms:modified xsi:type="dcterms:W3CDTF">2026-07-24T14:20:05Z</dcterms:modified>
</cp:coreProperties>
</file>