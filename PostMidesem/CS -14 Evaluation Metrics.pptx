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651" r:id="rId2"/>
  </p:sldMasterIdLst>
  <p:notesMasterIdLst>
    <p:notesMasterId r:id="rId27"/>
  </p:notesMasterIdLst>
  <p:sldIdLst>
    <p:sldId id="408" r:id="rId3"/>
    <p:sldId id="409" r:id="rId4"/>
    <p:sldId id="257" r:id="rId5"/>
    <p:sldId id="258" r:id="rId6"/>
    <p:sldId id="260" r:id="rId7"/>
    <p:sldId id="261" r:id="rId8"/>
    <p:sldId id="631" r:id="rId9"/>
    <p:sldId id="632" r:id="rId10"/>
    <p:sldId id="411" r:id="rId11"/>
    <p:sldId id="635" r:id="rId12"/>
    <p:sldId id="262" r:id="rId13"/>
    <p:sldId id="639" r:id="rId14"/>
    <p:sldId id="264" r:id="rId15"/>
    <p:sldId id="667" r:id="rId16"/>
    <p:sldId id="665" r:id="rId17"/>
    <p:sldId id="666" r:id="rId18"/>
    <p:sldId id="268" r:id="rId19"/>
    <p:sldId id="668" r:id="rId20"/>
    <p:sldId id="657" r:id="rId21"/>
    <p:sldId id="669" r:id="rId22"/>
    <p:sldId id="271" r:id="rId23"/>
    <p:sldId id="269" r:id="rId24"/>
    <p:sldId id="259" r:id="rId25"/>
    <p:sldId id="664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531" autoAdjust="0"/>
  </p:normalViewPr>
  <p:slideViewPr>
    <p:cSldViewPr snapToGrid="0" snapToObjects="1">
      <p:cViewPr varScale="1"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43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992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54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414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2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5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TS_MAS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569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47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2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35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7620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1715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2087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8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40"/>
            <a:ext cx="10972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823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683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2"/>
            <a:ext cx="5386917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2"/>
            <a:ext cx="5389033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362202"/>
            <a:ext cx="5389033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09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5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3"/>
            <a:ext cx="6815667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600203"/>
            <a:ext cx="4011084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073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0279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6"/>
            <a:ext cx="78232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0440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7538509" y="2560111"/>
            <a:ext cx="5181600" cy="61383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10582" y="381003"/>
            <a:ext cx="922868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48491" y="3826195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922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731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368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11512" y="6639736"/>
            <a:ext cx="2274993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55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35"/>
              <a:t> </a:t>
            </a:r>
            <a:r>
              <a:rPr lang="en-IN"/>
              <a:t>Pilani</a:t>
            </a:r>
            <a:r>
              <a:rPr lang="en-IN" spc="-30"/>
              <a:t> </a:t>
            </a:r>
            <a:r>
              <a:rPr lang="en-IN" spc="-10"/>
              <a:t>Campus</a:t>
            </a:r>
            <a:endParaRPr lang="en-IN" spc="-10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" y="1545224"/>
            <a:ext cx="114808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0881209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785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6291" y="435270"/>
            <a:ext cx="5779416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093" y="1559556"/>
            <a:ext cx="5163897" cy="896271"/>
          </a:xfrm>
        </p:spPr>
        <p:txBody>
          <a:bodyPr lIns="0" tIns="0" rIns="0" bIns="0"/>
          <a:lstStyle>
            <a:lvl1pPr>
              <a:defRPr sz="582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/>
              <a:t>1</a:t>
            </a:r>
            <a:fld id="{81D60167-4931-47E6-BA6A-407CBD079E47}" type="slidenum">
              <a:rPr smtClean="0"/>
              <a:pPr marL="11206">
                <a:lnSpc>
                  <a:spcPts val="1094"/>
                </a:lnSpc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4627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2C8AA01-D23D-4041-A02F-F9D7E8C37BA3}"/>
              </a:ext>
            </a:extLst>
          </p:cNvPr>
          <p:cNvGrpSpPr/>
          <p:nvPr userDrawn="1"/>
        </p:nvGrpSpPr>
        <p:grpSpPr>
          <a:xfrm>
            <a:off x="-451962" y="-603517"/>
            <a:ext cx="12689524" cy="8232476"/>
            <a:chOff x="-211367" y="-654317"/>
            <a:chExt cx="9517143" cy="8232476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0B6697F-8542-4467-A5D4-DC15ABACE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DF072920-AAB1-4F9B-AEF5-9F5B25676B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60E9350-5FB1-471B-9AD7-8193A597F7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A05A99E4-B47E-42C9-87BE-16A834F645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76E5146-2464-4A58-B8E6-F561205F0C87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6" name="Group 6">
                <a:extLst>
                  <a:ext uri="{FF2B5EF4-FFF2-40B4-BE49-F238E27FC236}">
                    <a16:creationId xmlns:a16="http://schemas.microsoft.com/office/drawing/2014/main" id="{D474A4EC-C93A-493C-88B2-A48BACCF5FE0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3" name="Rectangle 6">
                  <a:extLst>
                    <a:ext uri="{FF2B5EF4-FFF2-40B4-BE49-F238E27FC236}">
                      <a16:creationId xmlns:a16="http://schemas.microsoft.com/office/drawing/2014/main" id="{C23217C1-B547-4717-A00E-AEDE28E1BA28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44" name="Rectangle 7">
                  <a:extLst>
                    <a:ext uri="{FF2B5EF4-FFF2-40B4-BE49-F238E27FC236}">
                      <a16:creationId xmlns:a16="http://schemas.microsoft.com/office/drawing/2014/main" id="{94960EAA-1D93-4A85-9211-9BE99B61295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45" name="Rectangle 8">
                  <a:extLst>
                    <a:ext uri="{FF2B5EF4-FFF2-40B4-BE49-F238E27FC236}">
                      <a16:creationId xmlns:a16="http://schemas.microsoft.com/office/drawing/2014/main" id="{23DC74F6-8BD3-4602-A913-B33658D4540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grpSp>
            <p:nvGrpSpPr>
              <p:cNvPr id="37" name="Group 10">
                <a:extLst>
                  <a:ext uri="{FF2B5EF4-FFF2-40B4-BE49-F238E27FC236}">
                    <a16:creationId xmlns:a16="http://schemas.microsoft.com/office/drawing/2014/main" id="{B487F23B-3F7A-4580-828C-3849452F8D18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40" name="Rectangle 10">
                  <a:extLst>
                    <a:ext uri="{FF2B5EF4-FFF2-40B4-BE49-F238E27FC236}">
                      <a16:creationId xmlns:a16="http://schemas.microsoft.com/office/drawing/2014/main" id="{806EAF59-B583-4157-AF07-612D17BCA1AD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41" name="Rectangle 11">
                  <a:extLst>
                    <a:ext uri="{FF2B5EF4-FFF2-40B4-BE49-F238E27FC236}">
                      <a16:creationId xmlns:a16="http://schemas.microsoft.com/office/drawing/2014/main" id="{A4CE5782-6411-48D1-8D40-24ABC6B6C51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  <p:sp>
              <p:nvSpPr>
                <p:cNvPr id="42" name="Rectangle 12">
                  <a:extLst>
                    <a:ext uri="{FF2B5EF4-FFF2-40B4-BE49-F238E27FC236}">
                      <a16:creationId xmlns:a16="http://schemas.microsoft.com/office/drawing/2014/main" id="{36543293-26AC-4E3C-A8DA-43E28BB29BF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sz="1800"/>
                </a:p>
              </p:txBody>
            </p:sp>
          </p:grpSp>
          <p:pic>
            <p:nvPicPr>
              <p:cNvPr id="38" name="Picture 14" descr="Picture 14">
                <a:extLst>
                  <a:ext uri="{FF2B5EF4-FFF2-40B4-BE49-F238E27FC236}">
                    <a16:creationId xmlns:a16="http://schemas.microsoft.com/office/drawing/2014/main" id="{AC11A442-C24C-4CF0-824F-FAB8D04EC68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9" name="TextBox 14">
                <a:extLst>
                  <a:ext uri="{FF2B5EF4-FFF2-40B4-BE49-F238E27FC236}">
                    <a16:creationId xmlns:a16="http://schemas.microsoft.com/office/drawing/2014/main" id="{F994DF25-1BCD-464E-ADD1-B3C346DE9FDD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sz="1100" dirty="0"/>
                  <a:t>BITS </a:t>
                </a:r>
                <a:r>
                  <a:rPr lang="en-IN" sz="1100" b="0" dirty="0" err="1"/>
                  <a:t>Pilani</a:t>
                </a:r>
                <a:r>
                  <a:rPr lang="en-IN" sz="1100" b="0" dirty="0"/>
                  <a:t>, Deemed to be University under Section 3 of UGC Act, 1956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210FB0E2-5FFB-452D-AB3F-19BF47E44D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F91D43F-7C38-4BC3-A6AC-0620D2341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980931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  <p:sldLayoutId id="2147483669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8/7/2026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1880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OpenEvals/evaluation-guidebook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38650" y="3714750"/>
            <a:ext cx="462915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for Gen AI</a:t>
            </a: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Monali</a:t>
            </a:r>
            <a:r>
              <a:rPr lang="en-US" sz="15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500" i="1" dirty="0" err="1">
                <a:latin typeface="Times New Roman" pitchFamily="18" charset="0"/>
                <a:cs typeface="Times New Roman" pitchFamily="18" charset="0"/>
              </a:rPr>
              <a:t>Mavani</a:t>
            </a:r>
            <a:endParaRPr lang="en-US" sz="15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9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58786" y="4133141"/>
            <a:ext cx="6777644" cy="848137"/>
          </a:xfrm>
          <a:prstGeom prst="rect">
            <a:avLst/>
          </a:prstGeom>
        </p:spPr>
        <p:txBody>
          <a:bodyPr vert="horz" wrap="square" lIns="0" tIns="24595" rIns="0" bIns="0" rtlCol="0">
            <a:spAutoFit/>
          </a:bodyPr>
          <a:lstStyle/>
          <a:p>
            <a:pPr marL="99961" marR="29325" indent="-93969" fontAlgn="base">
              <a:lnSpc>
                <a:spcPts val="1153"/>
              </a:lnSpc>
              <a:spcBef>
                <a:spcPts val="194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content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these slides has been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obtained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from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books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various other </a:t>
            </a:r>
            <a:r>
              <a:rPr sz="1200" spc="-236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on the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Internet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58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here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by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acknowledge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contributors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for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their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material</a:t>
            </a:r>
            <a:r>
              <a:rPr sz="12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</a:t>
            </a:r>
            <a:r>
              <a:rPr sz="1200" spc="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inputs.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provided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source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information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wherever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necessary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99961" indent="-93969" fontAlgn="base">
              <a:spcBef>
                <a:spcPts val="281"/>
              </a:spcBef>
              <a:spcAft>
                <a:spcPct val="0"/>
              </a:spcAft>
              <a:buFont typeface="Arial MT"/>
              <a:buChar char="•"/>
              <a:tabLst>
                <a:tab pos="100276" algn="l"/>
              </a:tabLst>
            </a:pP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I </a:t>
            </a:r>
            <a:r>
              <a:rPr sz="1200" spc="-1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have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added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and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modified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content to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suit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requirements</a:t>
            </a:r>
            <a:r>
              <a:rPr sz="1200" spc="-1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sz="1200" spc="-2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 the</a:t>
            </a:r>
            <a:r>
              <a:rPr sz="1200" spc="-8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course</a:t>
            </a:r>
            <a:endParaRPr sz="12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7389" y="2171701"/>
            <a:ext cx="4274196" cy="233216"/>
          </a:xfrm>
          <a:prstGeom prst="rect">
            <a:avLst/>
          </a:prstGeom>
        </p:spPr>
        <p:txBody>
          <a:bodyPr vert="horz" wrap="square" lIns="0" tIns="7568" rIns="0" bIns="0" rtlCol="0">
            <a:spAutoFit/>
          </a:bodyPr>
          <a:lstStyle/>
          <a:p>
            <a:pPr marL="6306" fontAlgn="base">
              <a:spcBef>
                <a:spcPts val="59"/>
              </a:spcBef>
              <a:spcAft>
                <a:spcPct val="0"/>
              </a:spcAft>
            </a:pPr>
            <a:r>
              <a:rPr sz="1466" spc="-8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Disclaimer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and</a:t>
            </a:r>
            <a:r>
              <a:rPr sz="1466" spc="-35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 </a:t>
            </a:r>
            <a:r>
              <a:rPr sz="1466" spc="-12" dirty="0">
                <a:solidFill>
                  <a:srgbClr val="1C15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/>
              </a:rPr>
              <a:t>Acknowledgement</a:t>
            </a:r>
            <a:endParaRPr sz="1466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 Ligh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0598" y="2823275"/>
            <a:ext cx="815403" cy="89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8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Framing: what to measure, and why one metric is never enough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Automatic metrics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Perplexity ,  BLEU / ROUGE / METEOR ,  </a:t>
            </a:r>
            <a:r>
              <a:rPr lang="en-US" sz="24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BERTScore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Faithfulness &amp; hallucination:  </a:t>
            </a:r>
            <a:r>
              <a:rPr lang="en-US" sz="24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FActScore</a:t>
            </a: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  RAGAS  (RAG triad)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Benchmarks landscape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LLM-as-a-Judge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Framing:  What Are We Actually Measuring?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vs. Extrinsic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— how well the model models language  (perplexity)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Extrinsic — how well it performs a downstream task  (translation, QA, code)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Reference-based vs. Reference-free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Reference-based — compare output to gold answer  (BLEU, ROUGE, BERTScore)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Reference-free — score the output on its own  (LLM-as-judge, perplexity, </a:t>
            </a:r>
            <a:r>
              <a:rPr lang="en-US" sz="2000" dirty="0" err="1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FActScore</a:t>
            </a: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IN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Reference-based metrics compare to a gold answer — they cannot judge faithfulness to the retrieved source</a:t>
            </a:r>
            <a:endParaRPr lang="en-US" sz="2000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vs. Human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— cheap, reproducible, imperfect proxy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— expensive, slow, still the ground truth for open-ended generation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i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metric captures quality — always pair one automatic + one task-level check.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 —  Intrinsic Fluency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Definition:  average "confusion" of the model over next-token predictions.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= exp( mean negative log-likelihood )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b="1" dirty="0">
              <a:solidFill>
                <a:srgbClr val="1F386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b="1" dirty="0">
              <a:solidFill>
                <a:srgbClr val="1F386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PPL  ⇔  higher probability on true tokens  ⇔  better LM fit.  Range = 1.0 to ∞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training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Cross-entropy loss  ≡  log-perplexity.  Every gradient step lowering loss lowers PPL.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validation PPL; stop when it plateaus or rises.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only across models with identical tokenizer + eval set.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defined for SFT / RLHF stages — use task metrics there.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PPL does not guarantee downstream gains  (intrinsic ≠ extrinsic).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2DB6A5-067B-04EF-FDE5-95C54E7B0006}"/>
              </a:ext>
            </a:extLst>
          </p:cNvPr>
          <p:cNvSpPr/>
          <p:nvPr/>
        </p:nvSpPr>
        <p:spPr>
          <a:xfrm>
            <a:off x="1430434" y="2231326"/>
            <a:ext cx="3679279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dirty="0"/>
              <a:t>Normalize by the number of words N by taking the Nth root.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29972B5-7FC7-6FCD-C2C4-27D1C95F4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976" y="1723495"/>
            <a:ext cx="4134928" cy="115416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</a:t>
            </a:r>
            <a:r>
              <a:rPr lang="en-US" altLang="en-US" b="1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No of words in sequence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</a:t>
            </a:r>
            <a:r>
              <a:rPr kumimoji="0" lang="en-US" altLang="en-US" sz="1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Symbol" panose="05050102010706020507" pitchFamily="18" charset="2"/>
              </a:rPr>
              <a:t>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</a:t>
            </a:r>
            <a:r>
              <a:rPr kumimoji="0" lang="en-US" altLang="en-US" sz="18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| w</a:t>
            </a:r>
            <a:r>
              <a:rPr kumimoji="0" lang="en-US" altLang="en-US" sz="1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&lt;</a:t>
            </a:r>
            <a:r>
              <a:rPr kumimoji="0" lang="en-US" altLang="en-US" sz="1800" b="1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Probability the model assigns to the current word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</a:t>
            </a:r>
            <a:r>
              <a:rPr kumimoji="0" lang="en-US" altLang="en-US" sz="18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given all previous words w</a:t>
            </a:r>
            <a:r>
              <a:rPr kumimoji="0" lang="en-US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&lt;</a:t>
            </a:r>
            <a:r>
              <a:rPr kumimoji="0" lang="en-US" altLang="en-US" sz="18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043178-084A-8CB5-4F99-7B3DE0E4F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80" y="1654245"/>
            <a:ext cx="1562180" cy="8255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 —  Worked Numericals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8022" y="1678873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 1.  Direct from probabilities  (n = 2)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Context: "The cat" ;  target: "sat down".   P(sat|·) = 0.4,   P(down|·) = 0.5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= ²√( 1/0.4 × 1/0.5 )  =  √( 2.5 × 2.0 )  =  √5  ≈  2.236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 2.  From training loss  (cross-entropy in nats)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reports mean NLL = 2.3.   PPL = e</a:t>
            </a:r>
            <a:r>
              <a:rPr lang="en-US" sz="2000" b="1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≈  9.97   ≈  10 equally likely words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 3.  Comparing two models on the same test set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A: mean NLL = 1.5  →  PPL = e</a:t>
            </a:r>
            <a:r>
              <a:rPr lang="en-US" sz="2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≈  4.48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B: mean NLL = 2.0  →  PPL = e</a:t>
            </a:r>
            <a:r>
              <a:rPr lang="en-US" sz="2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</a:t>
            </a: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≈  7.39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is better  (lower PPL  ⇔  higher likelihood on the true tokens)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 4.  Extremes 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P(true token) = 1.0 for every step  →  PPL = 1.0    (perfect)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0.01 uniformly  →  PPL = 100    (model highly "surprised")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5D56D-1999-01CF-C45C-905BE5FB087E}"/>
              </a:ext>
            </a:extLst>
          </p:cNvPr>
          <p:cNvSpPr txBox="1"/>
          <p:nvPr/>
        </p:nvSpPr>
        <p:spPr>
          <a:xfrm>
            <a:off x="7228936" y="972132"/>
            <a:ext cx="4749417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modern training uses natural log (</a:t>
            </a:r>
            <a:r>
              <a:rPr lang="en-IN" dirty="0" err="1"/>
              <a:t>nats</a:t>
            </a:r>
            <a:r>
              <a:rPr lang="en-IN" dirty="0"/>
              <a:t>), so </a:t>
            </a:r>
            <a:r>
              <a:rPr lang="en-IN" dirty="0">
                <a:latin typeface="Courier New" panose="02070309020205020404" pitchFamily="49" charset="0"/>
              </a:rPr>
              <a:t>PPL = exp(loss)</a:t>
            </a:r>
            <a:r>
              <a:rPr lang="en-IN" dirty="0"/>
              <a:t>. Older NLP literature sometimes uses log base 2 (bits), where </a:t>
            </a:r>
            <a:r>
              <a:rPr lang="en-IN" dirty="0">
                <a:latin typeface="Courier New" panose="02070309020205020404" pitchFamily="49" charset="0"/>
              </a:rPr>
              <a:t>PPL = 2</a:t>
            </a:r>
            <a:r>
              <a:rPr lang="en-IN" baseline="30000" dirty="0">
                <a:latin typeface="Courier New" panose="02070309020205020404" pitchFamily="49" charset="0"/>
              </a:rPr>
              <a:t>H</a:t>
            </a:r>
            <a:endParaRPr lang="en-IN" baseline="30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09164DF-D369-ECE9-FEBA-DE32E42594F6}"/>
              </a:ext>
            </a:extLst>
          </p:cNvPr>
          <p:cNvSpPr>
            <a:spLocks noGrp="1"/>
          </p:cNvSpPr>
          <p:nvPr/>
        </p:nvSpPr>
        <p:spPr bwMode="auto">
          <a:xfrm>
            <a:off x="1828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Standard N-Gram Precision</a:t>
            </a:r>
            <a:endParaRPr lang="en-IN" b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25BD9-B27E-B9EB-FD50-3DF742D7A266}"/>
              </a:ext>
            </a:extLst>
          </p:cNvPr>
          <p:cNvSpPr/>
          <p:nvPr/>
        </p:nvSpPr>
        <p:spPr>
          <a:xfrm>
            <a:off x="94890" y="1427473"/>
            <a:ext cx="11723299" cy="5041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kern="0"/>
            </a:def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0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refs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(w): An indicator function that equals 1 if the word w exists in any reference, and 0 if it does not</a:t>
            </a:r>
          </a:p>
          <a:p>
            <a:pPr marL="457200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Counts how many words in the Candidate appear in any of the References</a:t>
            </a:r>
          </a:p>
          <a:p>
            <a:pPr marL="914400"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 1: The cat is on the mat </a:t>
            </a:r>
          </a:p>
          <a:p>
            <a:pPr marL="914400"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 2: There is a cat on the mat</a:t>
            </a:r>
          </a:p>
          <a:p>
            <a:pPr marL="914400"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Candidate: "the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Standard Unigram Precision: 7 / 7 = 1.0 (100%)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Every "the" in the candidate exists in the references. This is a "perfect" score for  a nonsensical sentence </a:t>
            </a:r>
          </a:p>
          <a:p>
            <a:pPr marL="457200"/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D0088-5FDF-720B-0487-AE6AF95A3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1" y="1295400"/>
            <a:ext cx="3848203" cy="981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D2BB1E-B6FF-83A6-2F7A-8B406AB164EF}"/>
              </a:ext>
            </a:extLst>
          </p:cNvPr>
          <p:cNvSpPr txBox="1"/>
          <p:nvPr/>
        </p:nvSpPr>
        <p:spPr>
          <a:xfrm>
            <a:off x="567558" y="2556800"/>
            <a:ext cx="9301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(number of candidate words that appear anywhere in the reference)</a:t>
            </a:r>
          </a:p>
          <a:p>
            <a:r>
              <a:rPr lang="en-IN" dirty="0"/>
              <a:t>        P =  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IN" dirty="0"/>
              <a:t>                    (total number of words in the candidate)</a:t>
            </a:r>
          </a:p>
        </p:txBody>
      </p:sp>
    </p:spTree>
    <p:extLst>
      <p:ext uri="{BB962C8B-B14F-4D97-AF65-F5344CB8AC3E}">
        <p14:creationId xmlns:p14="http://schemas.microsoft.com/office/powerpoint/2010/main" val="17593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9D5ECEA-C834-6A7D-584A-8EB5AAA197A1}"/>
              </a:ext>
            </a:extLst>
          </p:cNvPr>
          <p:cNvSpPr>
            <a:spLocks noGrp="1"/>
          </p:cNvSpPr>
          <p:nvPr/>
        </p:nvSpPr>
        <p:spPr bwMode="auto">
          <a:xfrm>
            <a:off x="1828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Modified n-gram Precision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5F74C1-2F00-018E-F66A-45BC19E012B8}"/>
              </a:ext>
            </a:extLst>
          </p:cNvPr>
          <p:cNvSpPr/>
          <p:nvPr/>
        </p:nvSpPr>
        <p:spPr>
          <a:xfrm>
            <a:off x="110557" y="1305342"/>
            <a:ext cx="12081443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"Clipping" mechanism to fix the over-generation of "reasonable"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Find the number of times an n-gram appears in the Candidate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Max_Ref_Count</a:t>
            </a:r>
            <a:r>
              <a:rPr lang="en-US" sz="2400" dirty="0"/>
              <a:t>: Find max no of times that n-gram appears in any single reference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Clip: The count is "clipped" so it cannot exceed the </a:t>
            </a:r>
            <a:r>
              <a:rPr lang="en-US" sz="2400" dirty="0" err="1"/>
              <a:t>Max_Ref_Count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DFF036-BAA9-F6AF-9688-4A13D22F0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41" y="3118974"/>
            <a:ext cx="3827595" cy="13115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119CB-058A-C301-3BD7-F612C6F12F1C}"/>
              </a:ext>
            </a:extLst>
          </p:cNvPr>
          <p:cNvSpPr txBox="1"/>
          <p:nvPr/>
        </p:nvSpPr>
        <p:spPr>
          <a:xfrm>
            <a:off x="6096000" y="3105836"/>
            <a:ext cx="6097712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n-gram</a:t>
            </a:r>
            <a:r>
              <a:rPr lang="en-IN" dirty="0"/>
              <a:t> is any group of </a:t>
            </a:r>
            <a:r>
              <a:rPr lang="en-IN" i="1" dirty="0"/>
              <a:t>n</a:t>
            </a:r>
            <a:r>
              <a:rPr lang="en-IN" dirty="0"/>
              <a:t> consecutive words in a sentence — </a:t>
            </a:r>
          </a:p>
          <a:p>
            <a:r>
              <a:rPr lang="en-IN" i="1" dirty="0"/>
              <a:t>"the cat sat on the mat"</a:t>
            </a:r>
            <a:r>
              <a:rPr lang="en-IN" dirty="0"/>
              <a:t>.</a:t>
            </a:r>
          </a:p>
          <a:p>
            <a:pPr lvl="0"/>
            <a:r>
              <a:rPr lang="en-IN" b="1" dirty="0"/>
              <a:t>Unigrams (n=1):</a:t>
            </a:r>
            <a:r>
              <a:rPr lang="en-IN" dirty="0"/>
              <a:t> the, cat, sat, on, the, mat</a:t>
            </a:r>
          </a:p>
          <a:p>
            <a:pPr lvl="0"/>
            <a:r>
              <a:rPr lang="en-IN" b="1" dirty="0"/>
              <a:t>Bigrams (n=2):</a:t>
            </a:r>
            <a:r>
              <a:rPr lang="en-IN" dirty="0"/>
              <a:t> the cat, cat sat, sat on, on the, the mat</a:t>
            </a:r>
          </a:p>
          <a:p>
            <a:pPr lvl="0"/>
            <a:r>
              <a:rPr lang="en-IN" b="1" dirty="0"/>
              <a:t>Trigrams (n=3):</a:t>
            </a:r>
            <a:r>
              <a:rPr lang="en-IN" dirty="0"/>
              <a:t> the cat sat, cat sat on, sat on the, on the mat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D8659-EC9A-B304-6914-5E59270A4393}"/>
              </a:ext>
            </a:extLst>
          </p:cNvPr>
          <p:cNvSpPr txBox="1"/>
          <p:nvPr/>
        </p:nvSpPr>
        <p:spPr>
          <a:xfrm>
            <a:off x="413841" y="5164592"/>
            <a:ext cx="92832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(matches — clipped)         → n-grams in candidate that are in reference,</a:t>
            </a:r>
          </a:p>
          <a:p>
            <a:r>
              <a:rPr lang="en-IN" dirty="0"/>
              <a:t>pₙ  =  ─────────────────────           counted with an upper limit</a:t>
            </a:r>
          </a:p>
          <a:p>
            <a:r>
              <a:rPr lang="en-IN" dirty="0"/>
              <a:t>               (total in candidate)        → all n-grams in candidate, counted normally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5434E0-6CA6-5ED9-2334-C5830338D74C}"/>
              </a:ext>
            </a:extLst>
          </p:cNvPr>
          <p:cNvCxnSpPr/>
          <p:nvPr/>
        </p:nvCxnSpPr>
        <p:spPr>
          <a:xfrm>
            <a:off x="2075380" y="4582274"/>
            <a:ext cx="328773" cy="58231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67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7400FB-A6A5-3431-A3D1-E2096C7067BF}"/>
              </a:ext>
            </a:extLst>
          </p:cNvPr>
          <p:cNvSpPr txBox="1"/>
          <p:nvPr/>
        </p:nvSpPr>
        <p:spPr>
          <a:xfrm>
            <a:off x="338586" y="1353720"/>
            <a:ext cx="1090163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  <a:ea typeface="Cambria" pitchFamily="34" charset="-122"/>
                <a:cs typeface="Cambria" pitchFamily="34" charset="-120"/>
              </a:rPr>
              <a:t>Fraction of candidate n-grams (n=1..4) found in reference(s).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000000"/>
                </a:solidFill>
                <a:ea typeface="Cambria" pitchFamily="34" charset="-122"/>
                <a:cs typeface="Cambria" pitchFamily="34" charset="-120"/>
              </a:rPr>
              <a:t>Brevity penalty punishes short outputs.  Range [0,1], usually reported ×100.</a:t>
            </a:r>
            <a:endParaRPr lang="en-US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6AFAC-D052-1EFB-4E0C-E3F94AF3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" y="2532321"/>
            <a:ext cx="4295864" cy="1209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A7395-B55B-FDFE-0C9B-803C9CF36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376" y="2340843"/>
            <a:ext cx="4256566" cy="12095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0E4F78-7D95-8387-3E75-5AD108A9A0AA}"/>
              </a:ext>
            </a:extLst>
          </p:cNvPr>
          <p:cNvSpPr txBox="1"/>
          <p:nvPr/>
        </p:nvSpPr>
        <p:spPr>
          <a:xfrm>
            <a:off x="215512" y="160610"/>
            <a:ext cx="10670875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dirty="0"/>
              <a:t>BLEU  (</a:t>
            </a:r>
            <a:r>
              <a:rPr lang="en-US" dirty="0" err="1"/>
              <a:t>BiLingual</a:t>
            </a:r>
            <a:r>
              <a:rPr lang="en-US" dirty="0"/>
              <a:t> Evaluation Understudy)  —  translation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Precision-oriented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4DC04-2FC8-4C18-BDCA-A1890AFA5F93}"/>
              </a:ext>
            </a:extLst>
          </p:cNvPr>
          <p:cNvSpPr txBox="1"/>
          <p:nvPr/>
        </p:nvSpPr>
        <p:spPr>
          <a:xfrm>
            <a:off x="215512" y="4015987"/>
            <a:ext cx="1176097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pn</a:t>
            </a:r>
            <a:r>
              <a:rPr lang="en-IN" sz="2000" dirty="0"/>
              <a:t> : Modified n-gram precision</a:t>
            </a:r>
          </a:p>
          <a:p>
            <a:r>
              <a:rPr lang="en-IN" sz="2000" dirty="0" err="1"/>
              <a:t>Wn</a:t>
            </a:r>
            <a:r>
              <a:rPr lang="en-IN" sz="2000" dirty="0"/>
              <a:t> : Positive weights that sum to one (for  uniform weights </a:t>
            </a:r>
            <a:r>
              <a:rPr lang="en-IN" sz="2000" dirty="0" err="1"/>
              <a:t>wn</a:t>
            </a:r>
            <a:r>
              <a:rPr lang="en-IN" sz="2000" dirty="0"/>
              <a:t> = 1/N)</a:t>
            </a:r>
          </a:p>
          <a:p>
            <a:r>
              <a:rPr lang="en-IN" sz="2000" dirty="0"/>
              <a:t>N:  maximum n-gram order (typically N=4)</a:t>
            </a:r>
          </a:p>
          <a:p>
            <a:r>
              <a:rPr lang="en-IN" sz="2000" dirty="0"/>
              <a:t>BP (Brevity Penalty): A factor used to penalize translations that are too short</a:t>
            </a:r>
          </a:p>
          <a:p>
            <a:r>
              <a:rPr lang="en-US" sz="2000" dirty="0"/>
              <a:t>c: Total length of candidate translation </a:t>
            </a:r>
          </a:p>
          <a:p>
            <a:r>
              <a:rPr lang="en-US" sz="2000" dirty="0"/>
              <a:t>r:   effective reference length (sum of the best-match lengths for each sentence)</a:t>
            </a:r>
          </a:p>
          <a:p>
            <a:r>
              <a:rPr lang="en-US" sz="2000" dirty="0"/>
              <a:t>Log is natural Log (ln)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920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31E149F-7857-0820-75A0-014B86E15DFC}"/>
              </a:ext>
            </a:extLst>
          </p:cNvPr>
          <p:cNvSpPr>
            <a:spLocks noGrp="1"/>
          </p:cNvSpPr>
          <p:nvPr/>
        </p:nvSpPr>
        <p:spPr bwMode="auto">
          <a:xfrm>
            <a:off x="1780643" y="201558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BLEU Example</a:t>
            </a:r>
            <a:endParaRPr lang="en-IN" b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51DA6-2694-CFD4-AA5E-59968A1D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79" y="1384668"/>
            <a:ext cx="11827585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Candidate ( C)  : "the cat on mat" (4 words),  Reference (r): "the cat is on the mat" (6 words) </a:t>
            </a: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Uniform weights and for bigram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w1=0.5, w2=0.5 for N=2</a:t>
            </a:r>
          </a:p>
          <a:p>
            <a:pPr marL="342900" indent="-342900">
              <a:buAutoNum type="arabicPeriod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BP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= e(1 - 6/4) = </a:t>
            </a:r>
            <a:r>
              <a:rPr lang="en-IN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0.606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(c&lt;=r)</a:t>
            </a:r>
          </a:p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Precision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pn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Identify Candidate Unigrams (n=1) : the, cat, on, mat (4 words=denominator) </a:t>
            </a:r>
          </a:p>
          <a:p>
            <a:pPr marL="0"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Count the Occurrences in the Candidate (Count): "the": 1, "cat": 1, "on": 1, "mat": 1</a:t>
            </a:r>
          </a:p>
          <a:p>
            <a:pPr marL="0"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 the Maximum Occurrences in the Reference (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Max_Ref_Count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): “the": 2, "cat":  1, "on": 1, "mat": 1 </a:t>
            </a:r>
          </a:p>
          <a:p>
            <a:pPr marL="0" lvl="1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Apply the "Clipped" Count (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Count</a:t>
            </a:r>
            <a:r>
              <a:rPr lang="en-US" altLang="en-US" sz="2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clip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): “the": min(1, 2) = 1, "cat": min(1, 1) = 1, “on": min(1, 1) = 1, "mat": min(1, 1) = 1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Sum of Clipped Counts (Numerator) = 4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p1 = 4 / 4 = 1.0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Bigrams (p2): *Candidate bigrams: {"the cat", "cat on", "on mat"} : Matches in reference: {"the cat" )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p2 = matched bigrams/total candidate bigrams = 1 / 3 = 0.33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BLEU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0.606 x exp(0.5 x ln (1.0) + 0.5 x ln (0.33) = 0.35    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>
              <a:spcBef>
                <a:spcPct val="0"/>
              </a:spcBef>
              <a:spcAft>
                <a:spcPct val="0"/>
              </a:spcAft>
            </a:pPr>
            <a:r>
              <a:rPr lang="en-IN" sz="2000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Even though the candidate used mostly "correct" words (p1=1.0), the low bigram match (fluency) and the short length (brevity) brought the final score down to 0.35</a:t>
            </a:r>
          </a:p>
          <a:p>
            <a:pPr lvl="2" eaLnBrk="0" fontAlgn="base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FD3D7C-255B-98E0-798B-6007AC5AF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314" y="223229"/>
            <a:ext cx="2615089" cy="7430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AD6B62-5C48-5BCF-FA35-82E76523F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205" y="320522"/>
            <a:ext cx="3214562" cy="9050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022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551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ROUGE  (Recall-Oriented Understudy for </a:t>
            </a:r>
            <a:r>
              <a:rPr lang="en-US" sz="2800" b="1" dirty="0" err="1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Gisting</a:t>
            </a: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 Evaluation)  —  summarization</a:t>
            </a:r>
          </a:p>
        </p:txBody>
      </p:sp>
      <p:sp>
        <p:nvSpPr>
          <p:cNvPr id="3" name="Text 1"/>
          <p:cNvSpPr/>
          <p:nvPr/>
        </p:nvSpPr>
        <p:spPr>
          <a:xfrm>
            <a:off x="172528" y="1383332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precision, recall, and F1.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a human writes a summary with 5 key points, ROUGE checks how many of those 5 points appear in the machine-generated summary.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ROUGE-N (N-gram): Matches fixed-length sequences (standard).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ROUGE-L (Longest Common Subsequence):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Finds the longest sequence of words that appear in both, in the same relative order, but not necessarily consecutively.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Example: "The cat is on the mat" and "The cat mat" share the LCS "The cat mat".</a:t>
            </a:r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whole n-gram family</a:t>
            </a:r>
            <a:endParaRPr lang="en-US" sz="2000" dirty="0"/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Surface-level:  "quick brown fox" ≠ "fast tan fox"  even though meaning matches.</a:t>
            </a:r>
            <a:endParaRPr lang="en-US" sz="2000" dirty="0"/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correlation with human judgment on open-ended text.</a:t>
            </a:r>
            <a:endParaRPr lang="en-US" sz="2000" dirty="0"/>
          </a:p>
          <a:p>
            <a:pPr marL="6858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references improve reliability; single reference is often too narrow.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9DA60-4F5E-E68F-F552-557C1641B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697" y="2097278"/>
            <a:ext cx="2652355" cy="9545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F6947F-0C14-86B1-E2CD-74B43C94457D}"/>
              </a:ext>
            </a:extLst>
          </p:cNvPr>
          <p:cNvSpPr txBox="1"/>
          <p:nvPr/>
        </p:nvSpPr>
        <p:spPr>
          <a:xfrm>
            <a:off x="914400" y="2329355"/>
            <a:ext cx="48332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Numerator: No of n-grams that appear in both candidate and  reference</a:t>
            </a:r>
          </a:p>
          <a:p>
            <a:r>
              <a:rPr lang="en-US" alt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Denominator: Total no. of n-grams in the human reference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3226B-C887-FA2F-D198-4158B30ECB9E}"/>
              </a:ext>
            </a:extLst>
          </p:cNvPr>
          <p:cNvSpPr txBox="1"/>
          <p:nvPr/>
        </p:nvSpPr>
        <p:spPr>
          <a:xfrm>
            <a:off x="5756609" y="2329355"/>
            <a:ext cx="2015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Recall oriented</a:t>
            </a:r>
            <a:r>
              <a:rPr lang="en-US" altLang="en-US" sz="1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  <a:endParaRPr lang="en-US" altLang="en-US" sz="16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32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26FBBD-BDCC-5D26-B1A1-A7EA9413EF60}"/>
              </a:ext>
            </a:extLst>
          </p:cNvPr>
          <p:cNvSpPr>
            <a:spLocks noGrp="1"/>
          </p:cNvSpPr>
          <p:nvPr/>
        </p:nvSpPr>
        <p:spPr bwMode="auto">
          <a:xfrm>
            <a:off x="1828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ROUGE example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AD899-1D91-1263-AF15-E176CBEDE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98" y="1389661"/>
            <a:ext cx="11757804" cy="47735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kern="0"/>
            </a:defPPr>
          </a:lstStyle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 : "the cat is on the mat" (6 words)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Candidate : "the cat mat" (3 words)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ROUGE-1 (Unigrams)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Count Matches:  3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candidate has {the, cat, mat}, all 3 appear in reference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Count Reference Unigrams: 6 words 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ROUGE-1 =  3 / 6 = 0.50   (50 % content missing)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ROUGE-2 (Bigrams)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 Bigrams: {the cat, cat is, is on, on the, the mat} (Total = 5)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Candidate Bigrams: {the cat, cat mat}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Matches: Only "the cat" matches. </a:t>
            </a:r>
          </a:p>
          <a:p>
            <a:pPr lvl="1"/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ROUGE-2 = 1 / 5 = 0.20  (80 % phrase missing)</a:t>
            </a:r>
          </a:p>
          <a:p>
            <a:r>
              <a:rPr lang="en-US" altLang="en-US" sz="2000" dirty="0">
                <a:latin typeface="Cambria"/>
                <a:ea typeface="Cambria"/>
              </a:rPr>
              <a:t>In this case, the machine was "precise" (all its words were correct), but its Recall (ROUGE) is low because it missed 50% of the content words and 80% of the phrase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FE663-1EF2-2DA8-8696-881006813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731" y="167328"/>
            <a:ext cx="3455375" cy="1243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AC82E-9A19-5B44-87F2-50C5D938595E}"/>
              </a:ext>
            </a:extLst>
          </p:cNvPr>
          <p:cNvSpPr txBox="1"/>
          <p:nvPr/>
        </p:nvSpPr>
        <p:spPr>
          <a:xfrm>
            <a:off x="560717" y="5669665"/>
            <a:ext cx="10921042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BLEU (Precision): "How much of the machine's output is correct?"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ROUGE (Recall): "How much of the human's reference did the machine manage to include?"</a:t>
            </a:r>
          </a:p>
        </p:txBody>
      </p:sp>
    </p:spTree>
    <p:extLst>
      <p:ext uri="{BB962C8B-B14F-4D97-AF65-F5344CB8AC3E}">
        <p14:creationId xmlns:p14="http://schemas.microsoft.com/office/powerpoint/2010/main" val="206847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N-grams:  METEOR  &amp;  BERTScore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Designed to address weaknesses in BLEU, such as the lack of a recall measure </a:t>
            </a:r>
          </a:p>
          <a:p>
            <a:pPr marL="685800" lvl="1" indent="-342900">
              <a:spcAft>
                <a:spcPts val="800"/>
              </a:spcAft>
              <a:buSzPct val="100000"/>
              <a:buFont typeface="Arial" panose="020B0604020202020204" pitchFamily="34" charset="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It uses generalized unigram matching : it can match words that are synonyms or different grammatical forms of each other (e.g., "run" and "ran")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Correlates better with human judgment than BLEU on short outputs.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 err="1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Embeds candidate and reference tokens with a pretrained model; matches by cosine similarity.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paraphrase:  "began" ≈ "started"; word order matters less.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token-level precision, recall, F1.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Caveat:  score depends on the embedding model used — always report it (e.g. roberta-large).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8DEDD582-B22B-E4A9-68DB-12CE0B411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160" y="805674"/>
            <a:ext cx="6237840" cy="5224189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B916-D36C-943E-72A0-C8967CBDB9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738" y="249987"/>
            <a:ext cx="6324600" cy="1143000"/>
          </a:xfrm>
          <a:noFill/>
          <a:ln/>
        </p:spPr>
        <p:txBody>
          <a:bodyPr wrap="square" lIns="0" tIns="0" rIns="0" bIns="0" rtlCol="0" anchor="ctr"/>
          <a:lstStyle/>
          <a:p>
            <a:pPr indent="0"/>
            <a:r>
              <a:rPr lang="en-GB" sz="3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Hallucination &amp; Faithfulness</a:t>
            </a:r>
            <a:endParaRPr lang="en-US" sz="3200" dirty="0">
              <a:solidFill>
                <a:srgbClr val="00000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0A7F5-286A-6402-E6D7-555BEED4F29B}"/>
              </a:ext>
            </a:extLst>
          </p:cNvPr>
          <p:cNvSpPr txBox="1"/>
          <p:nvPr/>
        </p:nvSpPr>
        <p:spPr>
          <a:xfrm>
            <a:off x="241739" y="1377221"/>
            <a:ext cx="6452360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LLM Evaluation Foundations: </a:t>
            </a:r>
            <a:endParaRPr lang="en-US" sz="2000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Evaluating factual correctness is critical for deploying​ Trustworthy Large Language Models (LLMs) and Retrieval-​Augmented Generation (RAG) pipelines. ​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Hallucination:​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Generation of content that is unfaithful to provided​ source documents or nonsensical relative to real-world​ factual knowledge. ​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Intrinsic: Output directly contradicts facts in source​ context. ​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Extrinsic: Output fabricates information unsupported by​ source context. ​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Faithfulness vs. Truthfulness:​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Faithfulness: Measures strict logical entailment relative only to​ the retrieved context . ​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Truthfulness: Measures alignment against general real-​world facts, regardless of given context. ​</a:t>
            </a:r>
          </a:p>
        </p:txBody>
      </p:sp>
    </p:spTree>
    <p:extLst>
      <p:ext uri="{BB962C8B-B14F-4D97-AF65-F5344CB8AC3E}">
        <p14:creationId xmlns:p14="http://schemas.microsoft.com/office/powerpoint/2010/main" val="30198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D061C-A7AD-C95E-3B9E-B1F9F22C9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3" y="1560515"/>
            <a:ext cx="11481758" cy="4525963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Core Concept: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Evaluates factual precision in long-form LLM outputs by breaking responses down into individual, indivisible </a:t>
            </a: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atomic facts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and verifying each against a knowledge source C.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Mathematical Formula:</a:t>
            </a:r>
          </a:p>
          <a:p>
            <a:pPr marL="285750" indent="-285750">
              <a:buFont typeface="Arial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Variables:</a:t>
            </a:r>
          </a:p>
          <a:p>
            <a:pPr marL="285750" indent="-285750">
              <a:buFont typeface="Arial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20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 Takeaway: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Higher score = higher percentage of factual statements; directly penalizes hallucinations in long-form generations.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Cost:  decomposition + verification are LLM-driven → expensive.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endParaRPr lang="en-GB" sz="20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D92EB-EB35-CC42-4950-FAF6E60E2B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Faithfulness:  </a:t>
            </a:r>
            <a:r>
              <a:rPr lang="en-US" sz="2800" dirty="0" err="1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FActScore</a:t>
            </a:r>
            <a:r>
              <a:rPr lang="en-US" sz="2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</a:t>
            </a:r>
            <a:r>
              <a:rPr lang="en-GB" b="0" dirty="0">
                <a:latin typeface="Arial"/>
                <a:cs typeface="Arial"/>
              </a:rPr>
              <a:t> Atomic Fact Evaluation)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A33CB-2C5D-19E4-1F46-1CEAFFFEF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877" y="2214562"/>
            <a:ext cx="4591050" cy="1057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AADB7F-DCE3-AA21-087E-0647B0A04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939" y="3429000"/>
            <a:ext cx="58769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6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6A3D9B-9247-7497-C6E6-E89327FE7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6960"/>
            <a:ext cx="12192000" cy="553104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Definition: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An automated framework designed to evaluate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RAG pipelines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continuously without relying on expensive human ground-truth annotations.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Core Architecture Evaluation: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Decouples assessment into two distinct performance layers:</a:t>
            </a:r>
          </a:p>
          <a:p>
            <a:pPr marL="842645" lvl="1" indent="-285750">
              <a:buFont typeface="Arial"/>
              <a:buChar char="–"/>
            </a:pP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Retrieval Quality: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Evaluates if the system fetches the correct context.</a:t>
            </a:r>
          </a:p>
          <a:p>
            <a:pPr marL="842645" lvl="1" indent="-285750">
              <a:buFont typeface="Arial"/>
              <a:buChar char="–"/>
            </a:pPr>
            <a:r>
              <a:rPr lang="en-GB" sz="18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Generation Quality:</a:t>
            </a: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Evaluates if the LLM uses that context accurately without hallucinating.</a:t>
            </a:r>
          </a:p>
          <a:p>
            <a:pPr marL="285750" indent="-285750">
              <a:buFont typeface="Arial"/>
              <a:buChar char="•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Key Evaluation Metrics: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 —  answer claims supported by retrieved context   (hallucination)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Relevance  —  answer addresses the query   (off-topic)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  —  retrieved chunks that are relevant   (noisy retrieval)</a:t>
            </a:r>
            <a:endParaRPr lang="en-US" sz="18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  —  needed facts actually retrieved   (needs ground truth)</a:t>
            </a:r>
            <a:endParaRPr lang="en-US" sz="1800" dirty="0"/>
          </a:p>
          <a:p>
            <a:pPr marL="842645" lvl="1" indent="-285750">
              <a:buFont typeface="Arial"/>
              <a:buChar char="–"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Primary Technical Advantage: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Uses an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LLM-as-a-Judge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approach to automate claim extraction, context-entailment checking, and query alignment, making evaluation fast and scalable during development.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531F-12BB-065D-2715-552466BC72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2826" y="210236"/>
            <a:ext cx="10892221" cy="1143000"/>
          </a:xfrm>
        </p:spPr>
        <p:txBody>
          <a:bodyPr/>
          <a:lstStyle/>
          <a:p>
            <a:r>
              <a:rPr lang="en-GB" b="0" dirty="0"/>
              <a:t>RAGAS Framework (Retrieval-Augmented Generation Assessment)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341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 example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policy Q&amp;A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chunks retrieved: 2 on maternity leave , 2 off-topic . 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Answer has 3 claims: 2 supported, 1 hallucinated.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= </a:t>
            </a:r>
            <a:r>
              <a:rPr lang="en-IN" sz="2000" dirty="0"/>
              <a:t>Faithfulness = supported claims / total claims =</a:t>
            </a: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2/3 ≈ 0.67    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 = </a:t>
            </a:r>
            <a:r>
              <a:rPr lang="en-IN" sz="2000" dirty="0"/>
              <a:t>relevant chunks / retrieved chunks = </a:t>
            </a: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2/4 = 0.50   </a:t>
            </a:r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Context Recall = </a:t>
            </a:r>
            <a:r>
              <a:rPr lang="en-IN" sz="2000" dirty="0"/>
              <a:t>needed facts retrieved / needed facts total = </a:t>
            </a: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 = 1.00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8790B0-3237-13D8-594D-B9974345D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587977"/>
              </p:ext>
            </p:extLst>
          </p:nvPr>
        </p:nvGraphicFramePr>
        <p:xfrm>
          <a:off x="685800" y="4381762"/>
          <a:ext cx="10515600" cy="1889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72044">
                  <a:extLst>
                    <a:ext uri="{9D8B030D-6E8A-4147-A177-3AD203B41FA5}">
                      <a16:colId xmlns:a16="http://schemas.microsoft.com/office/drawing/2014/main" val="2935235758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91289710"/>
                    </a:ext>
                  </a:extLst>
                </a:gridCol>
                <a:gridCol w="7429763">
                  <a:extLst>
                    <a:ext uri="{9D8B030D-6E8A-4147-A177-3AD203B41FA5}">
                      <a16:colId xmlns:a16="http://schemas.microsoft.com/office/drawing/2014/main" val="2678832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Verdict on that sub-system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304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Context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Retriever </a:t>
                      </a:r>
                      <a:r>
                        <a:rPr lang="en-IN" sz="2000" b="1"/>
                        <a:t>complete</a:t>
                      </a:r>
                      <a:r>
                        <a:rPr lang="en-IN" sz="2000"/>
                        <a:t> — nothing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71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Context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Retriever </a:t>
                      </a:r>
                      <a:r>
                        <a:rPr lang="en-IN" sz="2000" b="1"/>
                        <a:t>noisy</a:t>
                      </a:r>
                      <a:r>
                        <a:rPr lang="en-IN" sz="2000"/>
                        <a:t> — pulls irrelevant chunks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488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Faithfulness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Generator </a:t>
                      </a:r>
                      <a:r>
                        <a:rPr lang="en-IN" sz="2000" b="1" dirty="0"/>
                        <a:t>hallucinates</a:t>
                      </a:r>
                      <a:r>
                        <a:rPr lang="en-IN" sz="2000" dirty="0"/>
                        <a:t> — invents facts even with good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0477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5B978B-8E34-2F8E-36F6-3D5D5AEE25D2}"/>
              </a:ext>
            </a:extLst>
          </p:cNvPr>
          <p:cNvSpPr txBox="1"/>
          <p:nvPr/>
        </p:nvSpPr>
        <p:spPr>
          <a:xfrm>
            <a:off x="0" y="1610040"/>
            <a:ext cx="11981793" cy="4485960"/>
          </a:xfrm>
          <a:prstGeom prst="rect">
            <a:avLst/>
          </a:prstGeom>
        </p:spPr>
        <p:txBody>
          <a:bodyPr/>
          <a:lstStyle>
            <a:lvl1pPr marL="285750" marR="0" indent="-285750" defTabSz="6858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/>
              <a:buChar char="•"/>
              <a:tabLst/>
              <a:defRPr b="1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1pPr>
            <a:lvl2pPr marL="842645" marR="0" lvl="1" indent="-285750" defTabSz="6858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 b="1">
                <a:latin typeface="Cambria" panose="02040503050406030204" pitchFamily="18" charset="0"/>
                <a:ea typeface="Cambria" panose="02040503050406030204" pitchFamily="18" charset="0"/>
                <a:cs typeface="Calibri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IN" sz="2000" b="0" dirty="0"/>
              <a:t>Diagnosis: the retriever isn't missing information — it's over-retrieving. And the generator isn't grounded — it added a fact from nowhere.</a:t>
            </a:r>
          </a:p>
          <a:p>
            <a:r>
              <a:rPr lang="en-IN" sz="2000" b="0" dirty="0"/>
              <a:t>For the retriever noise: add a </a:t>
            </a:r>
            <a:r>
              <a:rPr lang="en-IN" sz="2000" b="0" dirty="0" err="1"/>
              <a:t>reranker</a:t>
            </a:r>
            <a:r>
              <a:rPr lang="en-IN" sz="2000" b="0" dirty="0"/>
              <a:t> (e.g., a cross-encoder) after the initial top-k; tighten similarity threshold; use hybrid dense + BM25 retrieval to sharpen relevance.</a:t>
            </a:r>
          </a:p>
          <a:p>
            <a:r>
              <a:rPr lang="en-IN" sz="2000" b="0" dirty="0"/>
              <a:t>For the generator hallucination: tighten the prompt ("Only use facts from the provided context. If information is missing, say so."); add a post-hoc claim verifier; consider a smaller-temperature setting.</a:t>
            </a:r>
          </a:p>
          <a:p>
            <a:r>
              <a:rPr lang="en-IN" sz="2000" b="0" dirty="0"/>
              <a:t>A single accuracy score cannot tell you which of these to do. That's why RAGAS matters in production.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11C48-2A17-99A6-A5CB-2A2306305E37}"/>
              </a:ext>
            </a:extLst>
          </p:cNvPr>
          <p:cNvSpPr txBox="1"/>
          <p:nvPr/>
        </p:nvSpPr>
        <p:spPr>
          <a:xfrm>
            <a:off x="1064173" y="469612"/>
            <a:ext cx="6122276" cy="584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3200" b="1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/>
              <a:t>RAGAS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929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5E8E620-0ABE-4120-2A7D-E1612AB4FAB4}"/>
              </a:ext>
            </a:extLst>
          </p:cNvPr>
          <p:cNvSpPr>
            <a:spLocks noGrp="1"/>
          </p:cNvSpPr>
          <p:nvPr/>
        </p:nvSpPr>
        <p:spPr bwMode="auto">
          <a:xfrm>
            <a:off x="1114096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Benchmarks</a:t>
            </a:r>
            <a:endParaRPr lang="en-IN" b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3BBB7A-74DE-A0E4-8106-B7D3B297771E}"/>
              </a:ext>
            </a:extLst>
          </p:cNvPr>
          <p:cNvSpPr/>
          <p:nvPr/>
        </p:nvSpPr>
        <p:spPr>
          <a:xfrm>
            <a:off x="304799" y="1430033"/>
            <a:ext cx="11603421" cy="47089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Static Benchmarks 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are fixed datasets where the questions and answers never change E.g. MMLU, GSM8K, ARC,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HellaSwag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 set of thousands of questions is released as a CSV or JSON file. Every model is tested against the exact same questions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Contamination - Because the questions are public, they often "leak" into the training data of new models, making the models look smarter than they actually are (memorization vs. reasoning)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Dynamic / Live Benchmarks 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These benchmarks change over time to ensure models cannot "memorize" the answers. E.g. -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LiveCodeBench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Big-Bench Hard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They pull fresh data from the real world that was created after the model's cutoff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date.E.g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LiveCodeBench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uses problems from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LeetCode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contests held this month.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Prevents contamination; tests true generalization</a:t>
            </a:r>
          </a:p>
          <a:p>
            <a:pPr marL="914400" lvl="1" indent="-457200" eaLnBrk="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Harder to maintain</a:t>
            </a:r>
          </a:p>
        </p:txBody>
      </p:sp>
    </p:spTree>
    <p:extLst>
      <p:ext uri="{BB962C8B-B14F-4D97-AF65-F5344CB8AC3E}">
        <p14:creationId xmlns:p14="http://schemas.microsoft.com/office/powerpoint/2010/main" val="2358254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6">
            <a:extLst>
              <a:ext uri="{FF2B5EF4-FFF2-40B4-BE49-F238E27FC236}">
                <a16:creationId xmlns:a16="http://schemas.microsoft.com/office/drawing/2014/main" id="{271952A8-61EA-FC05-37A8-51B5A50E2C97}"/>
              </a:ext>
            </a:extLst>
          </p:cNvPr>
          <p:cNvSpPr/>
          <p:nvPr/>
        </p:nvSpPr>
        <p:spPr>
          <a:xfrm>
            <a:off x="278809" y="253045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</a:t>
            </a:r>
            <a:endParaRPr lang="en-US" sz="32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B59F6507-3B53-FA21-94FF-EB7C574A1C85}"/>
              </a:ext>
            </a:extLst>
          </p:cNvPr>
          <p:cNvSpPr/>
          <p:nvPr/>
        </p:nvSpPr>
        <p:spPr>
          <a:xfrm>
            <a:off x="204381" y="1466581"/>
            <a:ext cx="11247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33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Arenas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Rely on subjective human preference, not a reference answer. E.g. Chatbot Arena (lmarena.ai), Vision Arena.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helpfulness, tone, and formatting — things reference-based metrics can't measure.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Mechanic: anonymous 1-v-1 battles; user votes; identities revealed post-vote. Pairwise votes → Bradley–Terry → Elo rating with 95% CI.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expensive, slow, and humans carry the same biases as LLM judges — position, verbosity, style.</a:t>
            </a:r>
            <a:endParaRPr lang="en-US" sz="22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5C6236B3-4C4E-B9CE-19C2-5910B78D0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492450"/>
              </p:ext>
            </p:extLst>
          </p:nvPr>
        </p:nvGraphicFramePr>
        <p:xfrm>
          <a:off x="584791" y="3692688"/>
          <a:ext cx="11111023" cy="2103120"/>
        </p:xfrm>
        <a:graphic>
          <a:graphicData uri="http://schemas.openxmlformats.org/drawingml/2006/table">
            <a:tbl>
              <a:tblPr/>
              <a:tblGrid>
                <a:gridCol w="3780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5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i="1" dirty="0">
                          <a:solidFill>
                            <a:srgbClr val="0033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Evaluation Metric  ↓   /   Question Source </a:t>
                      </a:r>
                      <a:r>
                        <a:rPr lang="en-US" sz="1200" i="1" dirty="0">
                          <a:solidFill>
                            <a:srgbClr val="0033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Static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33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Ground Truth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MMLU, HellaSwag, GSM8K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LiveCodeBench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(Codeforces / LeetCode contests)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33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LLM Judge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MT-Bench, AlpacaEval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336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Human Preference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Chatbot Arena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11">
            <a:extLst>
              <a:ext uri="{FF2B5EF4-FFF2-40B4-BE49-F238E27FC236}">
                <a16:creationId xmlns:a16="http://schemas.microsoft.com/office/drawing/2014/main" id="{C36C8008-B588-E7C3-F3B2-12927F1A76B0}"/>
              </a:ext>
            </a:extLst>
          </p:cNvPr>
          <p:cNvSpPr/>
          <p:nvPr/>
        </p:nvSpPr>
        <p:spPr>
          <a:xfrm>
            <a:off x="457200" y="6298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Arena: An Open Platform for Evaluating LLMs by Human Preference (Chiang et al., 2024)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428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LLM-as-a-Judge  —  Modern Default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strong LLM  (GPT-4-class)  to score another model's outputs.  Scales beyond human review.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dominant prompt patterns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Single-answer grading  —  judge scores one output on a rubric  (1-10, or pass/fail).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comparison  —  judge picks winner between A and B  (basis for MT-Bench, Arena-Hard).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judge prompt contains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rubric  (helpfulness, factuality, formatting, safety — scored separately).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reasoning before the final score  →  more reliable.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answer or ground truth when available  (raises agreement with humans).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◦"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Adjudicate ties or borderline scores with a second judge or human.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8232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Landscape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4663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Examples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Strength / Weakness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Static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MMLU, HellaSwag, ARC, GSM8K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Cheap, reproducible / contamination risk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 / Rolling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LiveCodeBench, SWE-bench Verified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Resists contamination / harder to compare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Human Arenas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LMSys Chatbot Arena (Elo)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Real user preference / slow, noisy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Model-graded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MT-Bench, AlpacaEval, Arena-Hard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Scales eval / inherits judge biases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Domain-specific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MedQA, LegalBench, FinBench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Realistic / narrow; no transfer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 →  Metric  (Quick Reference)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649071"/>
              </p:ext>
            </p:extLst>
          </p:nvPr>
        </p:nvGraphicFramePr>
        <p:xfrm>
          <a:off x="457200" y="1417320"/>
          <a:ext cx="11247120" cy="507187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Task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Primary metric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Secondary / sanity check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Translation / Summarization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BLEU, ROUGE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BERTScore, LLM-as-Judge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Open-ended generation / Chat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LLM-as-Judge, Arena Elo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Human eval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Code generation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Pass@k  (functional)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Exec@k, LLM-as-Judge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RAG (retrieval-augmented)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Faithfulness  (RAGAS)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Answer relevance, context precision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Factuality / Long-form QA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FActScore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LLM-Judge with retrieval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Classification / Extractive QA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Exact match, F1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Accuracy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Instruction following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IFEval, MT-Bench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Human pairwise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6601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BITS Pilani, Pilani Campus</a:t>
            </a:r>
            <a:endParaRPr lang="en-US" sz="1000" dirty="0"/>
          </a:p>
        </p:txBody>
      </p:sp>
      <p:sp>
        <p:nvSpPr>
          <p:cNvPr id="3" name="Text 2"/>
          <p:cNvSpPr/>
          <p:nvPr/>
        </p:nvSpPr>
        <p:spPr>
          <a:xfrm>
            <a:off x="457200" y="6601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28574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2C032EC3-1FF9-8763-5984-443FF5265E1E}"/>
              </a:ext>
            </a:extLst>
          </p:cNvPr>
          <p:cNvSpPr>
            <a:spLocks noGrp="1"/>
          </p:cNvSpPr>
          <p:nvPr/>
        </p:nvSpPr>
        <p:spPr bwMode="auto">
          <a:xfrm>
            <a:off x="1828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57175" indent="-6858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SzTx/>
              <a:buFontTx/>
              <a:buNone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24592" indent="-367392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57300" indent="-342900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•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830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–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240279" indent="-411479" algn="l" rtl="0" fontAlgn="base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FontTx/>
              <a:buChar char="»"/>
              <a:defRPr sz="3600" b="1" kern="1200" spc="-15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E9433-0BC8-AB49-8E91-017652F934B1}"/>
              </a:ext>
            </a:extLst>
          </p:cNvPr>
          <p:cNvSpPr/>
          <p:nvPr/>
        </p:nvSpPr>
        <p:spPr>
          <a:xfrm>
            <a:off x="252248" y="1625455"/>
            <a:ext cx="11740055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kern="0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https://huggingface.co/spaces/OpenEvals/evaluation-guidebook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https://huggingface.co/learn/cookbook/en/llm_judge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BLEU: a Method for Automatic Evaluation of Machine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ROUGE: A Package for Automatic Evaluation of Summaries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BERTSCORE: EVALUATING TEXT GENERATION WITH BERT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MAUVE: Measuring the Gap Between Neural Text and Human Text using Divergence Frontiers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Judging LLM-as-a-Judge with MT-Bench and Chatbot Arena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Chatbot Arena: An Open Platform for Evaluating LLMs by Human Preference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FActScore</a:t>
            </a:r>
            <a:r>
              <a:rPr lang="en-US" dirty="0"/>
              <a:t>: Fine-grained Atomic Evaluation of Factual Precision in Long Form Text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Ragas: Automated Evaluation of Retrieval Augmented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Holistic Evaluation of Language Models (HELM) (TMLR).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39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3159</Words>
  <Application>Microsoft Office PowerPoint</Application>
  <PresentationFormat>Widescreen</PresentationFormat>
  <Paragraphs>346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MT</vt:lpstr>
      <vt:lpstr>Calibri</vt:lpstr>
      <vt:lpstr>Cambria</vt:lpstr>
      <vt:lpstr>Courier New</vt:lpstr>
      <vt:lpstr>Google Sans Text</vt:lpstr>
      <vt:lpstr>Times New Roman</vt:lpstr>
      <vt:lpstr>Office Theme</vt:lpstr>
      <vt:lpstr>1_Office Theme</vt:lpstr>
      <vt:lpstr> LLM for Gen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2026-08-07T12:21:32Z</dcterms:created>
  <dcterms:modified xsi:type="dcterms:W3CDTF">2026-08-07T12:21:37Z</dcterms:modified>
</cp:coreProperties>
</file>