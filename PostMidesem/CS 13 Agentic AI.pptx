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4" r:id="rId2"/>
  </p:sldMasterIdLst>
  <p:notesMasterIdLst>
    <p:notesMasterId r:id="rId40"/>
  </p:notesMasterIdLst>
  <p:sldIdLst>
    <p:sldId id="408" r:id="rId3"/>
    <p:sldId id="409" r:id="rId4"/>
    <p:sldId id="410" r:id="rId5"/>
    <p:sldId id="647" r:id="rId6"/>
    <p:sldId id="628" r:id="rId7"/>
    <p:sldId id="627" r:id="rId8"/>
    <p:sldId id="262" r:id="rId9"/>
    <p:sldId id="256" r:id="rId10"/>
    <p:sldId id="273" r:id="rId11"/>
    <p:sldId id="653" r:id="rId12"/>
    <p:sldId id="654" r:id="rId13"/>
    <p:sldId id="657" r:id="rId14"/>
    <p:sldId id="655" r:id="rId15"/>
    <p:sldId id="656" r:id="rId16"/>
    <p:sldId id="667" r:id="rId17"/>
    <p:sldId id="668" r:id="rId18"/>
    <p:sldId id="669" r:id="rId19"/>
    <p:sldId id="661" r:id="rId20"/>
    <p:sldId id="634" r:id="rId21"/>
    <p:sldId id="637" r:id="rId22"/>
    <p:sldId id="639" r:id="rId23"/>
    <p:sldId id="630" r:id="rId24"/>
    <p:sldId id="260" r:id="rId25"/>
    <p:sldId id="651" r:id="rId26"/>
    <p:sldId id="650" r:id="rId27"/>
    <p:sldId id="646" r:id="rId28"/>
    <p:sldId id="659" r:id="rId29"/>
    <p:sldId id="670" r:id="rId30"/>
    <p:sldId id="675" r:id="rId31"/>
    <p:sldId id="672" r:id="rId32"/>
    <p:sldId id="673" r:id="rId33"/>
    <p:sldId id="674" r:id="rId34"/>
    <p:sldId id="662" r:id="rId35"/>
    <p:sldId id="663" r:id="rId36"/>
    <p:sldId id="665" r:id="rId37"/>
    <p:sldId id="666" r:id="rId38"/>
    <p:sldId id="642"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995" autoAdjust="0"/>
  </p:normalViewPr>
  <p:slideViewPr>
    <p:cSldViewPr snapToGrid="0">
      <p:cViewPr varScale="1">
        <p:scale>
          <a:sx n="61" d="100"/>
          <a:sy n="61" d="100"/>
        </p:scale>
        <p:origin x="88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26E7B2-C093-40D4-9648-7D1CE98F9FA2}" type="datetimeFigureOut">
              <a:rPr lang="en-IN" smtClean="0"/>
              <a:t>30-07-2026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478396-8B0D-4595-8B65-CF92AC54A4CF}" type="slidenum">
              <a:rPr lang="en-IN" smtClean="0"/>
              <a:t>‹#›</a:t>
            </a:fld>
            <a:endParaRPr lang="en-IN"/>
          </a:p>
        </p:txBody>
      </p:sp>
    </p:spTree>
    <p:extLst>
      <p:ext uri="{BB962C8B-B14F-4D97-AF65-F5344CB8AC3E}">
        <p14:creationId xmlns:p14="http://schemas.microsoft.com/office/powerpoint/2010/main" val="1062265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478396-8B0D-4595-8B65-CF92AC54A4CF}" type="slidenum">
              <a:rPr lang="en-IN" smtClean="0"/>
              <a:t>4</a:t>
            </a:fld>
            <a:endParaRPr lang="en-IN"/>
          </a:p>
        </p:txBody>
      </p:sp>
    </p:spTree>
    <p:extLst>
      <p:ext uri="{BB962C8B-B14F-4D97-AF65-F5344CB8AC3E}">
        <p14:creationId xmlns:p14="http://schemas.microsoft.com/office/powerpoint/2010/main" val="818619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478396-8B0D-4595-8B65-CF92AC54A4CF}" type="slidenum">
              <a:rPr lang="en-IN" smtClean="0"/>
              <a:t>5</a:t>
            </a:fld>
            <a:endParaRPr lang="en-IN"/>
          </a:p>
        </p:txBody>
      </p:sp>
    </p:spTree>
    <p:extLst>
      <p:ext uri="{BB962C8B-B14F-4D97-AF65-F5344CB8AC3E}">
        <p14:creationId xmlns:p14="http://schemas.microsoft.com/office/powerpoint/2010/main" val="3227645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478396-8B0D-4595-8B65-CF92AC54A4CF}" type="slidenum">
              <a:rPr lang="en-IN" smtClean="0"/>
              <a:t>10</a:t>
            </a:fld>
            <a:endParaRPr lang="en-IN"/>
          </a:p>
        </p:txBody>
      </p:sp>
    </p:spTree>
    <p:extLst>
      <p:ext uri="{BB962C8B-B14F-4D97-AF65-F5344CB8AC3E}">
        <p14:creationId xmlns:p14="http://schemas.microsoft.com/office/powerpoint/2010/main" val="659116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478396-8B0D-4595-8B65-CF92AC54A4CF}" type="slidenum">
              <a:rPr lang="en-IN" smtClean="0"/>
              <a:t>11</a:t>
            </a:fld>
            <a:endParaRPr lang="en-IN"/>
          </a:p>
        </p:txBody>
      </p:sp>
    </p:spTree>
    <p:extLst>
      <p:ext uri="{BB962C8B-B14F-4D97-AF65-F5344CB8AC3E}">
        <p14:creationId xmlns:p14="http://schemas.microsoft.com/office/powerpoint/2010/main" val="1959685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478396-8B0D-4595-8B65-CF92AC54A4CF}" type="slidenum">
              <a:rPr lang="en-IN" smtClean="0"/>
              <a:t>13</a:t>
            </a:fld>
            <a:endParaRPr lang="en-IN"/>
          </a:p>
        </p:txBody>
      </p:sp>
    </p:spTree>
    <p:extLst>
      <p:ext uri="{BB962C8B-B14F-4D97-AF65-F5344CB8AC3E}">
        <p14:creationId xmlns:p14="http://schemas.microsoft.com/office/powerpoint/2010/main" val="905094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478396-8B0D-4595-8B65-CF92AC54A4CF}" type="slidenum">
              <a:rPr lang="en-IN" smtClean="0"/>
              <a:t>18</a:t>
            </a:fld>
            <a:endParaRPr lang="en-IN"/>
          </a:p>
        </p:txBody>
      </p:sp>
    </p:spTree>
    <p:extLst>
      <p:ext uri="{BB962C8B-B14F-4D97-AF65-F5344CB8AC3E}">
        <p14:creationId xmlns:p14="http://schemas.microsoft.com/office/powerpoint/2010/main" val="14836862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478396-8B0D-4595-8B65-CF92AC54A4CF}" type="slidenum">
              <a:rPr lang="en-IN" smtClean="0"/>
              <a:t>19</a:t>
            </a:fld>
            <a:endParaRPr lang="en-IN"/>
          </a:p>
        </p:txBody>
      </p:sp>
    </p:spTree>
    <p:extLst>
      <p:ext uri="{BB962C8B-B14F-4D97-AF65-F5344CB8AC3E}">
        <p14:creationId xmlns:p14="http://schemas.microsoft.com/office/powerpoint/2010/main" val="3973373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478396-8B0D-4595-8B65-CF92AC54A4CF}" type="slidenum">
              <a:rPr lang="en-IN" smtClean="0"/>
              <a:t>20</a:t>
            </a:fld>
            <a:endParaRPr lang="en-IN"/>
          </a:p>
        </p:txBody>
      </p:sp>
    </p:spTree>
    <p:extLst>
      <p:ext uri="{BB962C8B-B14F-4D97-AF65-F5344CB8AC3E}">
        <p14:creationId xmlns:p14="http://schemas.microsoft.com/office/powerpoint/2010/main" val="14952793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478396-8B0D-4595-8B65-CF92AC54A4CF}" type="slidenum">
              <a:rPr lang="en-IN" smtClean="0"/>
              <a:t>21</a:t>
            </a:fld>
            <a:endParaRPr lang="en-IN"/>
          </a:p>
        </p:txBody>
      </p:sp>
    </p:spTree>
    <p:extLst>
      <p:ext uri="{BB962C8B-B14F-4D97-AF65-F5344CB8AC3E}">
        <p14:creationId xmlns:p14="http://schemas.microsoft.com/office/powerpoint/2010/main" val="25679382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49611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478396-8B0D-4595-8B65-CF92AC54A4CF}" type="slidenum">
              <a:rPr lang="en-IN" smtClean="0"/>
              <a:t>24</a:t>
            </a:fld>
            <a:endParaRPr lang="en-IN"/>
          </a:p>
        </p:txBody>
      </p:sp>
    </p:spTree>
    <p:extLst>
      <p:ext uri="{BB962C8B-B14F-4D97-AF65-F5344CB8AC3E}">
        <p14:creationId xmlns:p14="http://schemas.microsoft.com/office/powerpoint/2010/main" val="219594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478396-8B0D-4595-8B65-CF92AC54A4CF}" type="slidenum">
              <a:rPr lang="en-IN" smtClean="0"/>
              <a:t>27</a:t>
            </a:fld>
            <a:endParaRPr lang="en-IN"/>
          </a:p>
        </p:txBody>
      </p:sp>
    </p:spTree>
    <p:extLst>
      <p:ext uri="{BB962C8B-B14F-4D97-AF65-F5344CB8AC3E}">
        <p14:creationId xmlns:p14="http://schemas.microsoft.com/office/powerpoint/2010/main" val="3256443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385A1-64E2-317A-3239-02E99C96AC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593739A-C900-22C6-90B1-0EB540F1EE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98B4F43-31C2-9BC3-07FC-063B8F0CE27A}"/>
              </a:ext>
            </a:extLst>
          </p:cNvPr>
          <p:cNvSpPr>
            <a:spLocks noGrp="1"/>
          </p:cNvSpPr>
          <p:nvPr>
            <p:ph type="dt" sz="half" idx="10"/>
          </p:nvPr>
        </p:nvSpPr>
        <p:spPr/>
        <p:txBody>
          <a:bodyPr/>
          <a:lstStyle/>
          <a:p>
            <a:fld id="{B9C6A744-3583-4464-A6C0-23907E05A9EB}" type="datetimeFigureOut">
              <a:rPr lang="en-IN" smtClean="0"/>
              <a:t>30-07-2026</a:t>
            </a:fld>
            <a:endParaRPr lang="en-IN"/>
          </a:p>
        </p:txBody>
      </p:sp>
      <p:sp>
        <p:nvSpPr>
          <p:cNvPr id="5" name="Footer Placeholder 4">
            <a:extLst>
              <a:ext uri="{FF2B5EF4-FFF2-40B4-BE49-F238E27FC236}">
                <a16:creationId xmlns:a16="http://schemas.microsoft.com/office/drawing/2014/main" id="{62E8A029-E19D-4487-B28E-300E3B0CE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ABCCAF-1C01-ADB1-DF6C-ECB9F8CA86FD}"/>
              </a:ext>
            </a:extLst>
          </p:cNvPr>
          <p:cNvSpPr>
            <a:spLocks noGrp="1"/>
          </p:cNvSpPr>
          <p:nvPr>
            <p:ph type="sldNum" sz="quarter" idx="12"/>
          </p:nvPr>
        </p:nvSpPr>
        <p:spPr/>
        <p:txBody>
          <a:bodyPr/>
          <a:lstStyle/>
          <a:p>
            <a:fld id="{34366A9E-35CC-4DCB-BE7C-9D696556A49A}" type="slidenum">
              <a:rPr lang="en-IN" smtClean="0"/>
              <a:t>‹#›</a:t>
            </a:fld>
            <a:endParaRPr lang="en-IN"/>
          </a:p>
        </p:txBody>
      </p:sp>
    </p:spTree>
    <p:extLst>
      <p:ext uri="{BB962C8B-B14F-4D97-AF65-F5344CB8AC3E}">
        <p14:creationId xmlns:p14="http://schemas.microsoft.com/office/powerpoint/2010/main" val="2152709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6C8FE-9218-CA75-195E-D4440011C25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9AC53E-8E07-8907-0437-EB34FD6A6C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532563-6DA8-A40A-294E-F8DA2FDD841A}"/>
              </a:ext>
            </a:extLst>
          </p:cNvPr>
          <p:cNvSpPr>
            <a:spLocks noGrp="1"/>
          </p:cNvSpPr>
          <p:nvPr>
            <p:ph type="dt" sz="half" idx="10"/>
          </p:nvPr>
        </p:nvSpPr>
        <p:spPr/>
        <p:txBody>
          <a:bodyPr/>
          <a:lstStyle/>
          <a:p>
            <a:fld id="{B9C6A744-3583-4464-A6C0-23907E05A9EB}" type="datetimeFigureOut">
              <a:rPr lang="en-IN" smtClean="0"/>
              <a:t>30-07-2026</a:t>
            </a:fld>
            <a:endParaRPr lang="en-IN"/>
          </a:p>
        </p:txBody>
      </p:sp>
      <p:sp>
        <p:nvSpPr>
          <p:cNvPr id="5" name="Footer Placeholder 4">
            <a:extLst>
              <a:ext uri="{FF2B5EF4-FFF2-40B4-BE49-F238E27FC236}">
                <a16:creationId xmlns:a16="http://schemas.microsoft.com/office/drawing/2014/main" id="{BBB5798C-46AD-BB81-477F-9A658AA8A9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6C6A0F-A80E-3C7E-617D-E90DFDCDC408}"/>
              </a:ext>
            </a:extLst>
          </p:cNvPr>
          <p:cNvSpPr>
            <a:spLocks noGrp="1"/>
          </p:cNvSpPr>
          <p:nvPr>
            <p:ph type="sldNum" sz="quarter" idx="12"/>
          </p:nvPr>
        </p:nvSpPr>
        <p:spPr/>
        <p:txBody>
          <a:bodyPr/>
          <a:lstStyle/>
          <a:p>
            <a:fld id="{34366A9E-35CC-4DCB-BE7C-9D696556A49A}" type="slidenum">
              <a:rPr lang="en-IN" smtClean="0"/>
              <a:t>‹#›</a:t>
            </a:fld>
            <a:endParaRPr lang="en-IN"/>
          </a:p>
        </p:txBody>
      </p:sp>
    </p:spTree>
    <p:extLst>
      <p:ext uri="{BB962C8B-B14F-4D97-AF65-F5344CB8AC3E}">
        <p14:creationId xmlns:p14="http://schemas.microsoft.com/office/powerpoint/2010/main" val="1506734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0AE8E-C321-04C9-CACC-8F4C4442D6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37F502-707A-E4DC-7939-1967230250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7F4079-5028-A90E-96CE-A6455E100706}"/>
              </a:ext>
            </a:extLst>
          </p:cNvPr>
          <p:cNvSpPr>
            <a:spLocks noGrp="1"/>
          </p:cNvSpPr>
          <p:nvPr>
            <p:ph type="dt" sz="half" idx="10"/>
          </p:nvPr>
        </p:nvSpPr>
        <p:spPr/>
        <p:txBody>
          <a:bodyPr/>
          <a:lstStyle/>
          <a:p>
            <a:fld id="{B9C6A744-3583-4464-A6C0-23907E05A9EB}" type="datetimeFigureOut">
              <a:rPr lang="en-IN" smtClean="0"/>
              <a:t>30-07-2026</a:t>
            </a:fld>
            <a:endParaRPr lang="en-IN"/>
          </a:p>
        </p:txBody>
      </p:sp>
      <p:sp>
        <p:nvSpPr>
          <p:cNvPr id="5" name="Footer Placeholder 4">
            <a:extLst>
              <a:ext uri="{FF2B5EF4-FFF2-40B4-BE49-F238E27FC236}">
                <a16:creationId xmlns:a16="http://schemas.microsoft.com/office/drawing/2014/main" id="{5C744DBA-39D3-786F-97AD-9CA31507D6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D6C34D-529F-B8F6-E9A7-1CC54CA19291}"/>
              </a:ext>
            </a:extLst>
          </p:cNvPr>
          <p:cNvSpPr>
            <a:spLocks noGrp="1"/>
          </p:cNvSpPr>
          <p:nvPr>
            <p:ph type="sldNum" sz="quarter" idx="12"/>
          </p:nvPr>
        </p:nvSpPr>
        <p:spPr/>
        <p:txBody>
          <a:bodyPr/>
          <a:lstStyle/>
          <a:p>
            <a:fld id="{34366A9E-35CC-4DCB-BE7C-9D696556A49A}" type="slidenum">
              <a:rPr lang="en-IN" smtClean="0"/>
              <a:t>‹#›</a:t>
            </a:fld>
            <a:endParaRPr lang="en-IN"/>
          </a:p>
        </p:txBody>
      </p:sp>
    </p:spTree>
    <p:extLst>
      <p:ext uri="{BB962C8B-B14F-4D97-AF65-F5344CB8AC3E}">
        <p14:creationId xmlns:p14="http://schemas.microsoft.com/office/powerpoint/2010/main" val="8019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D738-BF98-C747-CA85-CD4EA682EB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F8470F-C593-CACA-9E1E-B7ED9B7670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22AD18-0718-D4C3-7A5F-AACEF67E3D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FEFF82-9AA0-9AE2-9B58-9D4494211233}"/>
              </a:ext>
            </a:extLst>
          </p:cNvPr>
          <p:cNvSpPr>
            <a:spLocks noGrp="1"/>
          </p:cNvSpPr>
          <p:nvPr>
            <p:ph type="dt" sz="half" idx="10"/>
          </p:nvPr>
        </p:nvSpPr>
        <p:spPr/>
        <p:txBody>
          <a:bodyPr/>
          <a:lstStyle/>
          <a:p>
            <a:fld id="{B9C6A744-3583-4464-A6C0-23907E05A9EB}" type="datetimeFigureOut">
              <a:rPr lang="en-IN" smtClean="0"/>
              <a:t>30-07-2026</a:t>
            </a:fld>
            <a:endParaRPr lang="en-IN"/>
          </a:p>
        </p:txBody>
      </p:sp>
      <p:sp>
        <p:nvSpPr>
          <p:cNvPr id="6" name="Footer Placeholder 5">
            <a:extLst>
              <a:ext uri="{FF2B5EF4-FFF2-40B4-BE49-F238E27FC236}">
                <a16:creationId xmlns:a16="http://schemas.microsoft.com/office/drawing/2014/main" id="{6335B82D-42EE-1DD9-7518-29A90D2EEF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5B401B-A9A8-F8EC-6B04-D429FABB98F6}"/>
              </a:ext>
            </a:extLst>
          </p:cNvPr>
          <p:cNvSpPr>
            <a:spLocks noGrp="1"/>
          </p:cNvSpPr>
          <p:nvPr>
            <p:ph type="sldNum" sz="quarter" idx="12"/>
          </p:nvPr>
        </p:nvSpPr>
        <p:spPr/>
        <p:txBody>
          <a:bodyPr/>
          <a:lstStyle/>
          <a:p>
            <a:fld id="{34366A9E-35CC-4DCB-BE7C-9D696556A49A}" type="slidenum">
              <a:rPr lang="en-IN" smtClean="0"/>
              <a:t>‹#›</a:t>
            </a:fld>
            <a:endParaRPr lang="en-IN"/>
          </a:p>
        </p:txBody>
      </p:sp>
    </p:spTree>
    <p:extLst>
      <p:ext uri="{BB962C8B-B14F-4D97-AF65-F5344CB8AC3E}">
        <p14:creationId xmlns:p14="http://schemas.microsoft.com/office/powerpoint/2010/main" val="3572464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B5046-17D5-9A2E-E38E-58394EF4C45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C57C75-2E52-EF24-DDB8-2656D039D3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92F9C3-1807-BB5F-F23C-465F9A32AF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D44AD69-6F79-E622-097B-D4EEDC262B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9F6A3F-177C-445A-6459-B63A77F856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053B9A-CF28-6248-9E96-676C1E30C09B}"/>
              </a:ext>
            </a:extLst>
          </p:cNvPr>
          <p:cNvSpPr>
            <a:spLocks noGrp="1"/>
          </p:cNvSpPr>
          <p:nvPr>
            <p:ph type="dt" sz="half" idx="10"/>
          </p:nvPr>
        </p:nvSpPr>
        <p:spPr/>
        <p:txBody>
          <a:bodyPr/>
          <a:lstStyle/>
          <a:p>
            <a:fld id="{B9C6A744-3583-4464-A6C0-23907E05A9EB}" type="datetimeFigureOut">
              <a:rPr lang="en-IN" smtClean="0"/>
              <a:t>30-07-2026</a:t>
            </a:fld>
            <a:endParaRPr lang="en-IN"/>
          </a:p>
        </p:txBody>
      </p:sp>
      <p:sp>
        <p:nvSpPr>
          <p:cNvPr id="8" name="Footer Placeholder 7">
            <a:extLst>
              <a:ext uri="{FF2B5EF4-FFF2-40B4-BE49-F238E27FC236}">
                <a16:creationId xmlns:a16="http://schemas.microsoft.com/office/drawing/2014/main" id="{E7ACA27A-9538-5C83-88AF-C8F7BA6BC2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58E8A7B-BA66-FC63-103A-3EF4A4634ECF}"/>
              </a:ext>
            </a:extLst>
          </p:cNvPr>
          <p:cNvSpPr>
            <a:spLocks noGrp="1"/>
          </p:cNvSpPr>
          <p:nvPr>
            <p:ph type="sldNum" sz="quarter" idx="12"/>
          </p:nvPr>
        </p:nvSpPr>
        <p:spPr/>
        <p:txBody>
          <a:bodyPr/>
          <a:lstStyle/>
          <a:p>
            <a:fld id="{34366A9E-35CC-4DCB-BE7C-9D696556A49A}" type="slidenum">
              <a:rPr lang="en-IN" smtClean="0"/>
              <a:t>‹#›</a:t>
            </a:fld>
            <a:endParaRPr lang="en-IN"/>
          </a:p>
        </p:txBody>
      </p:sp>
    </p:spTree>
    <p:extLst>
      <p:ext uri="{BB962C8B-B14F-4D97-AF65-F5344CB8AC3E}">
        <p14:creationId xmlns:p14="http://schemas.microsoft.com/office/powerpoint/2010/main" val="1437214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E2989-FB34-4A1C-F4DA-186C89AFCD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3D2E173-F02C-287D-ED00-36A8F859034B}"/>
              </a:ext>
            </a:extLst>
          </p:cNvPr>
          <p:cNvSpPr>
            <a:spLocks noGrp="1"/>
          </p:cNvSpPr>
          <p:nvPr>
            <p:ph type="dt" sz="half" idx="10"/>
          </p:nvPr>
        </p:nvSpPr>
        <p:spPr/>
        <p:txBody>
          <a:bodyPr/>
          <a:lstStyle/>
          <a:p>
            <a:fld id="{B9C6A744-3583-4464-A6C0-23907E05A9EB}" type="datetimeFigureOut">
              <a:rPr lang="en-IN" smtClean="0"/>
              <a:t>30-07-2026</a:t>
            </a:fld>
            <a:endParaRPr lang="en-IN"/>
          </a:p>
        </p:txBody>
      </p:sp>
      <p:sp>
        <p:nvSpPr>
          <p:cNvPr id="4" name="Footer Placeholder 3">
            <a:extLst>
              <a:ext uri="{FF2B5EF4-FFF2-40B4-BE49-F238E27FC236}">
                <a16:creationId xmlns:a16="http://schemas.microsoft.com/office/drawing/2014/main" id="{FF6CD89A-D433-AC79-7415-36A41B3912B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6FD7E56-9783-A6F1-3412-02929DF347F0}"/>
              </a:ext>
            </a:extLst>
          </p:cNvPr>
          <p:cNvSpPr>
            <a:spLocks noGrp="1"/>
          </p:cNvSpPr>
          <p:nvPr>
            <p:ph type="sldNum" sz="quarter" idx="12"/>
          </p:nvPr>
        </p:nvSpPr>
        <p:spPr/>
        <p:txBody>
          <a:bodyPr/>
          <a:lstStyle/>
          <a:p>
            <a:fld id="{34366A9E-35CC-4DCB-BE7C-9D696556A49A}" type="slidenum">
              <a:rPr lang="en-IN" smtClean="0"/>
              <a:t>‹#›</a:t>
            </a:fld>
            <a:endParaRPr lang="en-IN"/>
          </a:p>
        </p:txBody>
      </p:sp>
    </p:spTree>
    <p:extLst>
      <p:ext uri="{BB962C8B-B14F-4D97-AF65-F5344CB8AC3E}">
        <p14:creationId xmlns:p14="http://schemas.microsoft.com/office/powerpoint/2010/main" val="3167155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13F439-266C-4F90-7417-C63B60C3AEAB}"/>
              </a:ext>
            </a:extLst>
          </p:cNvPr>
          <p:cNvSpPr>
            <a:spLocks noGrp="1"/>
          </p:cNvSpPr>
          <p:nvPr>
            <p:ph type="dt" sz="half" idx="10"/>
          </p:nvPr>
        </p:nvSpPr>
        <p:spPr/>
        <p:txBody>
          <a:bodyPr/>
          <a:lstStyle/>
          <a:p>
            <a:fld id="{B9C6A744-3583-4464-A6C0-23907E05A9EB}" type="datetimeFigureOut">
              <a:rPr lang="en-IN" smtClean="0"/>
              <a:t>30-07-2026</a:t>
            </a:fld>
            <a:endParaRPr lang="en-IN"/>
          </a:p>
        </p:txBody>
      </p:sp>
      <p:sp>
        <p:nvSpPr>
          <p:cNvPr id="3" name="Footer Placeholder 2">
            <a:extLst>
              <a:ext uri="{FF2B5EF4-FFF2-40B4-BE49-F238E27FC236}">
                <a16:creationId xmlns:a16="http://schemas.microsoft.com/office/drawing/2014/main" id="{8F7E51EE-E427-8D06-4844-5B36D04312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145390-E657-F2B7-81DB-F9AE06B7186B}"/>
              </a:ext>
            </a:extLst>
          </p:cNvPr>
          <p:cNvSpPr>
            <a:spLocks noGrp="1"/>
          </p:cNvSpPr>
          <p:nvPr>
            <p:ph type="sldNum" sz="quarter" idx="12"/>
          </p:nvPr>
        </p:nvSpPr>
        <p:spPr/>
        <p:txBody>
          <a:bodyPr/>
          <a:lstStyle/>
          <a:p>
            <a:fld id="{34366A9E-35CC-4DCB-BE7C-9D696556A49A}" type="slidenum">
              <a:rPr lang="en-IN" smtClean="0"/>
              <a:t>‹#›</a:t>
            </a:fld>
            <a:endParaRPr lang="en-IN"/>
          </a:p>
        </p:txBody>
      </p:sp>
    </p:spTree>
    <p:extLst>
      <p:ext uri="{BB962C8B-B14F-4D97-AF65-F5344CB8AC3E}">
        <p14:creationId xmlns:p14="http://schemas.microsoft.com/office/powerpoint/2010/main" val="2968344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32BF-DEDA-49E0-0D0F-39BC02B05B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3C636EA-309D-59F7-DBFA-10F0A0F855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33F82F-EC85-9A14-70CC-434A213F49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28D894-8C6C-A149-BAEB-64D1593EFD5C}"/>
              </a:ext>
            </a:extLst>
          </p:cNvPr>
          <p:cNvSpPr>
            <a:spLocks noGrp="1"/>
          </p:cNvSpPr>
          <p:nvPr>
            <p:ph type="dt" sz="half" idx="10"/>
          </p:nvPr>
        </p:nvSpPr>
        <p:spPr/>
        <p:txBody>
          <a:bodyPr/>
          <a:lstStyle/>
          <a:p>
            <a:fld id="{B9C6A744-3583-4464-A6C0-23907E05A9EB}" type="datetimeFigureOut">
              <a:rPr lang="en-IN" smtClean="0"/>
              <a:t>30-07-2026</a:t>
            </a:fld>
            <a:endParaRPr lang="en-IN"/>
          </a:p>
        </p:txBody>
      </p:sp>
      <p:sp>
        <p:nvSpPr>
          <p:cNvPr id="6" name="Footer Placeholder 5">
            <a:extLst>
              <a:ext uri="{FF2B5EF4-FFF2-40B4-BE49-F238E27FC236}">
                <a16:creationId xmlns:a16="http://schemas.microsoft.com/office/drawing/2014/main" id="{33D357CA-06FD-ED06-0D09-82F38139B0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D7146D-8A01-AD82-92EC-692769BC21B8}"/>
              </a:ext>
            </a:extLst>
          </p:cNvPr>
          <p:cNvSpPr>
            <a:spLocks noGrp="1"/>
          </p:cNvSpPr>
          <p:nvPr>
            <p:ph type="sldNum" sz="quarter" idx="12"/>
          </p:nvPr>
        </p:nvSpPr>
        <p:spPr/>
        <p:txBody>
          <a:bodyPr/>
          <a:lstStyle/>
          <a:p>
            <a:fld id="{34366A9E-35CC-4DCB-BE7C-9D696556A49A}" type="slidenum">
              <a:rPr lang="en-IN" smtClean="0"/>
              <a:t>‹#›</a:t>
            </a:fld>
            <a:endParaRPr lang="en-IN"/>
          </a:p>
        </p:txBody>
      </p:sp>
    </p:spTree>
    <p:extLst>
      <p:ext uri="{BB962C8B-B14F-4D97-AF65-F5344CB8AC3E}">
        <p14:creationId xmlns:p14="http://schemas.microsoft.com/office/powerpoint/2010/main" val="2225580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3F416-0465-1408-6B88-1B5FE36353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8890A76-40F7-D109-3C16-191E4DAF16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FFCB491-5A3C-C159-6F16-682A89B07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D1071E-25AE-8F90-E817-64F7124B8BA6}"/>
              </a:ext>
            </a:extLst>
          </p:cNvPr>
          <p:cNvSpPr>
            <a:spLocks noGrp="1"/>
          </p:cNvSpPr>
          <p:nvPr>
            <p:ph type="dt" sz="half" idx="10"/>
          </p:nvPr>
        </p:nvSpPr>
        <p:spPr/>
        <p:txBody>
          <a:bodyPr/>
          <a:lstStyle/>
          <a:p>
            <a:fld id="{B9C6A744-3583-4464-A6C0-23907E05A9EB}" type="datetimeFigureOut">
              <a:rPr lang="en-IN" smtClean="0"/>
              <a:t>30-07-2026</a:t>
            </a:fld>
            <a:endParaRPr lang="en-IN"/>
          </a:p>
        </p:txBody>
      </p:sp>
      <p:sp>
        <p:nvSpPr>
          <p:cNvPr id="6" name="Footer Placeholder 5">
            <a:extLst>
              <a:ext uri="{FF2B5EF4-FFF2-40B4-BE49-F238E27FC236}">
                <a16:creationId xmlns:a16="http://schemas.microsoft.com/office/drawing/2014/main" id="{F5E922D3-60EC-BBF6-73B3-5ABFC076BF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C8C613-8527-B580-7067-4E7E04552B76}"/>
              </a:ext>
            </a:extLst>
          </p:cNvPr>
          <p:cNvSpPr>
            <a:spLocks noGrp="1"/>
          </p:cNvSpPr>
          <p:nvPr>
            <p:ph type="sldNum" sz="quarter" idx="12"/>
          </p:nvPr>
        </p:nvSpPr>
        <p:spPr/>
        <p:txBody>
          <a:bodyPr/>
          <a:lstStyle/>
          <a:p>
            <a:fld id="{34366A9E-35CC-4DCB-BE7C-9D696556A49A}" type="slidenum">
              <a:rPr lang="en-IN" smtClean="0"/>
              <a:t>‹#›</a:t>
            </a:fld>
            <a:endParaRPr lang="en-IN"/>
          </a:p>
        </p:txBody>
      </p:sp>
    </p:spTree>
    <p:extLst>
      <p:ext uri="{BB962C8B-B14F-4D97-AF65-F5344CB8AC3E}">
        <p14:creationId xmlns:p14="http://schemas.microsoft.com/office/powerpoint/2010/main" val="2290146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678E7-48C8-FF43-A915-B7C9E556C81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146AA0-AE54-5ED1-9129-510CDC0F55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95B204-87F7-A672-C143-CDF816E9A207}"/>
              </a:ext>
            </a:extLst>
          </p:cNvPr>
          <p:cNvSpPr>
            <a:spLocks noGrp="1"/>
          </p:cNvSpPr>
          <p:nvPr>
            <p:ph type="dt" sz="half" idx="10"/>
          </p:nvPr>
        </p:nvSpPr>
        <p:spPr/>
        <p:txBody>
          <a:bodyPr/>
          <a:lstStyle/>
          <a:p>
            <a:fld id="{B9C6A744-3583-4464-A6C0-23907E05A9EB}" type="datetimeFigureOut">
              <a:rPr lang="en-IN" smtClean="0"/>
              <a:t>30-07-2026</a:t>
            </a:fld>
            <a:endParaRPr lang="en-IN"/>
          </a:p>
        </p:txBody>
      </p:sp>
      <p:sp>
        <p:nvSpPr>
          <p:cNvPr id="5" name="Footer Placeholder 4">
            <a:extLst>
              <a:ext uri="{FF2B5EF4-FFF2-40B4-BE49-F238E27FC236}">
                <a16:creationId xmlns:a16="http://schemas.microsoft.com/office/drawing/2014/main" id="{B18AD8E0-69AB-2F23-07E8-FA43400B55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416D19-E0DB-7143-28BB-77D7DCBB5432}"/>
              </a:ext>
            </a:extLst>
          </p:cNvPr>
          <p:cNvSpPr>
            <a:spLocks noGrp="1"/>
          </p:cNvSpPr>
          <p:nvPr>
            <p:ph type="sldNum" sz="quarter" idx="12"/>
          </p:nvPr>
        </p:nvSpPr>
        <p:spPr/>
        <p:txBody>
          <a:bodyPr/>
          <a:lstStyle/>
          <a:p>
            <a:fld id="{34366A9E-35CC-4DCB-BE7C-9D696556A49A}" type="slidenum">
              <a:rPr lang="en-IN" smtClean="0"/>
              <a:t>‹#›</a:t>
            </a:fld>
            <a:endParaRPr lang="en-IN"/>
          </a:p>
        </p:txBody>
      </p:sp>
    </p:spTree>
    <p:extLst>
      <p:ext uri="{BB962C8B-B14F-4D97-AF65-F5344CB8AC3E}">
        <p14:creationId xmlns:p14="http://schemas.microsoft.com/office/powerpoint/2010/main" val="2616864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DCDDE5-27EF-23FE-F3B9-BFEB8BF294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219B97-A580-08ED-78BA-5532AB2E3B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ECCFF7-755B-CA39-F1EF-5A86A05109E3}"/>
              </a:ext>
            </a:extLst>
          </p:cNvPr>
          <p:cNvSpPr>
            <a:spLocks noGrp="1"/>
          </p:cNvSpPr>
          <p:nvPr>
            <p:ph type="dt" sz="half" idx="10"/>
          </p:nvPr>
        </p:nvSpPr>
        <p:spPr/>
        <p:txBody>
          <a:bodyPr/>
          <a:lstStyle/>
          <a:p>
            <a:fld id="{B9C6A744-3583-4464-A6C0-23907E05A9EB}" type="datetimeFigureOut">
              <a:rPr lang="en-IN" smtClean="0"/>
              <a:t>30-07-2026</a:t>
            </a:fld>
            <a:endParaRPr lang="en-IN"/>
          </a:p>
        </p:txBody>
      </p:sp>
      <p:sp>
        <p:nvSpPr>
          <p:cNvPr id="5" name="Footer Placeholder 4">
            <a:extLst>
              <a:ext uri="{FF2B5EF4-FFF2-40B4-BE49-F238E27FC236}">
                <a16:creationId xmlns:a16="http://schemas.microsoft.com/office/drawing/2014/main" id="{0BFE130D-D593-1524-50F2-34CF42952A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508205-1AEA-DD1B-0FD2-AE1834E5C3BA}"/>
              </a:ext>
            </a:extLst>
          </p:cNvPr>
          <p:cNvSpPr>
            <a:spLocks noGrp="1"/>
          </p:cNvSpPr>
          <p:nvPr>
            <p:ph type="sldNum" sz="quarter" idx="12"/>
          </p:nvPr>
        </p:nvSpPr>
        <p:spPr/>
        <p:txBody>
          <a:bodyPr/>
          <a:lstStyle/>
          <a:p>
            <a:fld id="{34366A9E-35CC-4DCB-BE7C-9D696556A49A}" type="slidenum">
              <a:rPr lang="en-IN" smtClean="0"/>
              <a:t>‹#›</a:t>
            </a:fld>
            <a:endParaRPr lang="en-IN"/>
          </a:p>
        </p:txBody>
      </p:sp>
    </p:spTree>
    <p:extLst>
      <p:ext uri="{BB962C8B-B14F-4D97-AF65-F5344CB8AC3E}">
        <p14:creationId xmlns:p14="http://schemas.microsoft.com/office/powerpoint/2010/main" val="1157012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0" name="TextBox 9"/>
          <p:cNvSpPr txBox="1"/>
          <p:nvPr/>
        </p:nvSpPr>
        <p:spPr>
          <a:xfrm>
            <a:off x="-101600" y="5257800"/>
            <a:ext cx="29464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203200" y="5667376"/>
            <a:ext cx="2540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2" name="Rectangle 11"/>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13" name="Rectangle 12"/>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7" name="TextBox 16"/>
          <p:cNvSpPr txBox="1"/>
          <p:nvPr/>
        </p:nvSpPr>
        <p:spPr>
          <a:xfrm>
            <a:off x="-101600" y="5257800"/>
            <a:ext cx="29464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8" name="TextBox 17"/>
          <p:cNvSpPr txBox="1"/>
          <p:nvPr/>
        </p:nvSpPr>
        <p:spPr>
          <a:xfrm>
            <a:off x="203200" y="5667376"/>
            <a:ext cx="2540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259330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29777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816906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26258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8187" y="400303"/>
            <a:ext cx="3600027" cy="574040"/>
          </a:xfrm>
          <a:prstGeom prst="rect">
            <a:avLst/>
          </a:prstGeom>
        </p:spPr>
        <p:txBody>
          <a:bodyPr wrap="square" lIns="0" tIns="0" rIns="0" bIns="0">
            <a:spAutoFit/>
          </a:bodyPr>
          <a:lstStyle>
            <a:lvl1pPr>
              <a:defRPr sz="3600" b="1"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246221"/>
          </a:xfrm>
          <a:prstGeom prst="rect">
            <a:avLst/>
          </a:prstGeom>
        </p:spPr>
        <p:txBody>
          <a:bodyPr wrap="square" lIns="0" tIns="0" rIns="0" bIns="0">
            <a:spAutoFit/>
          </a:bodyPr>
          <a:lstStyle>
            <a:lvl1pPr>
              <a:defRPr sz="1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a:latin typeface="Arial"/>
                <a:cs typeface="Arial"/>
              </a:rPr>
              <a:t>BITS</a:t>
            </a:r>
            <a:r>
              <a:rPr lang="en-IN" b="1" spc="-55">
                <a:latin typeface="Arial"/>
                <a:cs typeface="Arial"/>
              </a:rPr>
              <a:t> </a:t>
            </a:r>
            <a:r>
              <a:rPr lang="en-IN"/>
              <a:t>Pilani,</a:t>
            </a:r>
            <a:r>
              <a:rPr lang="en-IN" spc="-35"/>
              <a:t> </a:t>
            </a:r>
            <a:r>
              <a:rPr lang="en-IN"/>
              <a:t>Pilani</a:t>
            </a:r>
            <a:r>
              <a:rPr lang="en-IN" spc="-30"/>
              <a:t> </a:t>
            </a:r>
            <a:r>
              <a:rPr lang="en-IN" spc="-10"/>
              <a:t>Campus</a:t>
            </a:r>
            <a:endParaRPr lang="en-IN" spc="-10"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7/30/2026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769397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a:latin typeface="Arial"/>
                <a:cs typeface="Arial"/>
              </a:rPr>
              <a:t>BITS</a:t>
            </a:r>
            <a:r>
              <a:rPr lang="en-IN" b="1" spc="-55">
                <a:latin typeface="Arial"/>
                <a:cs typeface="Arial"/>
              </a:rPr>
              <a:t> </a:t>
            </a:r>
            <a:r>
              <a:rPr lang="en-IN"/>
              <a:t>Pilani,</a:t>
            </a:r>
            <a:r>
              <a:rPr lang="en-IN" spc="-35"/>
              <a:t> </a:t>
            </a:r>
            <a:r>
              <a:rPr lang="en-IN"/>
              <a:t>Pilani</a:t>
            </a:r>
            <a:r>
              <a:rPr lang="en-IN" spc="-30"/>
              <a:t> </a:t>
            </a:r>
            <a:r>
              <a:rPr lang="en-IN" spc="-10"/>
              <a:t>Campus</a:t>
            </a:r>
            <a:endParaRPr lang="en-IN"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5356729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a:latin typeface="Arial"/>
                <a:cs typeface="Arial"/>
              </a:rPr>
              <a:t>BITS</a:t>
            </a:r>
            <a:r>
              <a:rPr lang="en-IN" b="1" spc="-55">
                <a:latin typeface="Arial"/>
                <a:cs typeface="Arial"/>
              </a:rPr>
              <a:t> </a:t>
            </a:r>
            <a:r>
              <a:rPr lang="en-IN"/>
              <a:t>Pilani,</a:t>
            </a:r>
            <a:r>
              <a:rPr lang="en-IN" spc="-35"/>
              <a:t> </a:t>
            </a:r>
            <a:r>
              <a:rPr lang="en-IN"/>
              <a:t>Pilani</a:t>
            </a:r>
            <a:r>
              <a:rPr lang="en-IN" spc="-30"/>
              <a:t> </a:t>
            </a:r>
            <a:r>
              <a:rPr lang="en-IN" spc="-10"/>
              <a:t>Campus</a:t>
            </a:r>
            <a:endParaRPr lang="en-IN" spc="-10" dirty="0"/>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7/30/2026</a:t>
            </a:fld>
            <a:endParaRPr lang="en-US"/>
          </a:p>
        </p:txBody>
      </p:sp>
      <p:sp>
        <p:nvSpPr>
          <p:cNvPr id="7" name="Holder 7"/>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733955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839200" y="0"/>
            <a:ext cx="2924048" cy="693420"/>
          </a:xfrm>
          <a:prstGeom prst="rect">
            <a:avLst/>
          </a:prstGeom>
        </p:spPr>
      </p:pic>
      <p:sp>
        <p:nvSpPr>
          <p:cNvPr id="17" name="bg object 17"/>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sz="1800"/>
          </a:p>
        </p:txBody>
      </p:sp>
      <p:sp>
        <p:nvSpPr>
          <p:cNvPr id="18" name="bg object 18"/>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sz="1800"/>
          </a:p>
        </p:txBody>
      </p:sp>
      <p:sp>
        <p:nvSpPr>
          <p:cNvPr id="19" name="bg object 19"/>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sz="1800"/>
          </a:p>
        </p:txBody>
      </p:sp>
      <p:sp>
        <p:nvSpPr>
          <p:cNvPr id="20" name="bg object 20"/>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sz="1800"/>
          </a:p>
        </p:txBody>
      </p:sp>
      <p:sp>
        <p:nvSpPr>
          <p:cNvPr id="21" name="bg object 21"/>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sz="1800"/>
          </a:p>
        </p:txBody>
      </p:sp>
      <p:sp>
        <p:nvSpPr>
          <p:cNvPr id="22" name="bg object 22"/>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sz="1800"/>
          </a:p>
        </p:txBody>
      </p:sp>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a:latin typeface="Arial"/>
                <a:cs typeface="Arial"/>
              </a:rPr>
              <a:t>BITS</a:t>
            </a:r>
            <a:r>
              <a:rPr lang="en-IN" b="1" spc="-55">
                <a:latin typeface="Arial"/>
                <a:cs typeface="Arial"/>
              </a:rPr>
              <a:t> </a:t>
            </a:r>
            <a:r>
              <a:rPr lang="en-IN"/>
              <a:t>Pilani,</a:t>
            </a:r>
            <a:r>
              <a:rPr lang="en-IN" spc="-35"/>
              <a:t> </a:t>
            </a:r>
            <a:r>
              <a:rPr lang="en-IN"/>
              <a:t>Pilani</a:t>
            </a:r>
            <a:r>
              <a:rPr lang="en-IN" spc="-30"/>
              <a:t> </a:t>
            </a:r>
            <a:r>
              <a:rPr lang="en-IN" spc="-10"/>
              <a:t>Campus</a:t>
            </a:r>
            <a:endParaRPr lang="en-IN" spc="-10" dirty="0"/>
          </a:p>
        </p:txBody>
      </p:sp>
      <p:sp>
        <p:nvSpPr>
          <p:cNvPr id="4" name="Holder 4"/>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7/30/2026</a:t>
            </a:fld>
            <a:endParaRPr lang="en-US"/>
          </a:p>
        </p:txBody>
      </p:sp>
      <p:sp>
        <p:nvSpPr>
          <p:cNvPr id="5" name="Holder 5"/>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945797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 y="1"/>
            <a:ext cx="12191999" cy="6857999"/>
          </a:xfrm>
          <a:prstGeom prst="rect">
            <a:avLst/>
          </a:prstGeom>
        </p:spPr>
      </p:pic>
      <p:sp>
        <p:nvSpPr>
          <p:cNvPr id="17" name="bg object 17"/>
          <p:cNvSpPr/>
          <p:nvPr/>
        </p:nvSpPr>
        <p:spPr>
          <a:xfrm>
            <a:off x="38608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sz="1800"/>
          </a:p>
        </p:txBody>
      </p:sp>
      <p:sp>
        <p:nvSpPr>
          <p:cNvPr id="18" name="bg object 18"/>
          <p:cNvSpPr/>
          <p:nvPr/>
        </p:nvSpPr>
        <p:spPr>
          <a:xfrm>
            <a:off x="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sz="1800"/>
          </a:p>
        </p:txBody>
      </p:sp>
      <p:sp>
        <p:nvSpPr>
          <p:cNvPr id="19" name="bg object 19"/>
          <p:cNvSpPr/>
          <p:nvPr/>
        </p:nvSpPr>
        <p:spPr>
          <a:xfrm>
            <a:off x="77216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sz="1800"/>
          </a:p>
        </p:txBody>
      </p:sp>
      <p:pic>
        <p:nvPicPr>
          <p:cNvPr id="20" name="bg object 20"/>
          <p:cNvPicPr/>
          <p:nvPr/>
        </p:nvPicPr>
        <p:blipFill>
          <a:blip r:embed="rId3" cstate="print"/>
          <a:stretch>
            <a:fillRect/>
          </a:stretch>
        </p:blipFill>
        <p:spPr>
          <a:xfrm>
            <a:off x="101600" y="3352800"/>
            <a:ext cx="2743200" cy="1979676"/>
          </a:xfrm>
          <a:prstGeom prst="rect">
            <a:avLst/>
          </a:prstGeom>
        </p:spPr>
      </p:pic>
      <p:sp>
        <p:nvSpPr>
          <p:cNvPr id="2" name="Holder 2"/>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a:latin typeface="Arial"/>
                <a:cs typeface="Arial"/>
              </a:rPr>
              <a:t>BITS</a:t>
            </a:r>
            <a:r>
              <a:rPr lang="en-IN" b="1" spc="-55">
                <a:latin typeface="Arial"/>
                <a:cs typeface="Arial"/>
              </a:rPr>
              <a:t> </a:t>
            </a:r>
            <a:r>
              <a:rPr lang="en-IN"/>
              <a:t>Pilani,</a:t>
            </a:r>
            <a:r>
              <a:rPr lang="en-IN" spc="-35"/>
              <a:t> </a:t>
            </a:r>
            <a:r>
              <a:rPr lang="en-IN"/>
              <a:t>Pilani</a:t>
            </a:r>
            <a:r>
              <a:rPr lang="en-IN" spc="-30"/>
              <a:t> </a:t>
            </a:r>
            <a:r>
              <a:rPr lang="en-IN" spc="-10"/>
              <a:t>Campus</a:t>
            </a:r>
            <a:endParaRPr lang="en-IN" spc="-10" dirty="0"/>
          </a:p>
        </p:txBody>
      </p:sp>
      <p:sp>
        <p:nvSpPr>
          <p:cNvPr id="3" name="Holder 3"/>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7/30/2026</a:t>
            </a:fld>
            <a:endParaRPr lang="en-US"/>
          </a:p>
        </p:txBody>
      </p:sp>
      <p:sp>
        <p:nvSpPr>
          <p:cNvPr id="4" name="Holder 4"/>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320377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3132412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26177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0037312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3226214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9570843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3850117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4552120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5872339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6156290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8625446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0107033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2152550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4080918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6363295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5367007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4755517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29710981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15997949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107946326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23483204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32303059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19436891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rtl="0" fontAlgn="base">
              <a:spcBef>
                <a:spcPct val="0"/>
              </a:spcBef>
              <a:spcAft>
                <a:spcPct val="0"/>
              </a:spcAft>
              <a:defRPr/>
            </a:pPr>
            <a:r>
              <a:rPr lang="en-US" sz="1100" b="1" kern="1200" dirty="0">
                <a:solidFill>
                  <a:srgbClr val="101141"/>
                </a:solidFill>
                <a:ea typeface="+mn-ea"/>
                <a:cs typeface="Arial" panose="020B0604020202020204" pitchFamily="34" charset="0"/>
              </a:rPr>
              <a:t>BITS </a:t>
            </a:r>
            <a:r>
              <a:rPr lang="en-US" sz="1100" kern="1200" dirty="0" err="1">
                <a:solidFill>
                  <a:srgbClr val="101141"/>
                </a:solidFill>
                <a:ea typeface="+mn-ea"/>
                <a:cs typeface="Arial" panose="020B0604020202020204" pitchFamily="34" charset="0"/>
              </a:rPr>
              <a:t>Pilani</a:t>
            </a:r>
            <a:endParaRPr lang="en-US" sz="1100" kern="1200" dirty="0">
              <a:solidFill>
                <a:srgbClr val="101141"/>
              </a:solidFill>
              <a:ea typeface="+mn-ea"/>
              <a:cs typeface="Arial" panose="020B0604020202020204" pitchFamily="34" charset="0"/>
            </a:endParaRP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8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8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800" kern="1200">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8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8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800" kern="1200">
                <a:solidFill>
                  <a:prstClr val="white"/>
                </a:solidFill>
              </a:endParaRPr>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800"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800"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800" kern="1200">
                <a:solidFill>
                  <a:prstClr val="white"/>
                </a:solidFill>
              </a:endParaRPr>
            </a:p>
          </p:txBody>
        </p:sp>
      </p:grpSp>
      <p:sp>
        <p:nvSpPr>
          <p:cNvPr id="3" name="Content Placeholder 2"/>
          <p:cNvSpPr>
            <a:spLocks noGrp="1"/>
          </p:cNvSpPr>
          <p:nvPr>
            <p:ph idx="1"/>
          </p:nvPr>
        </p:nvSpPr>
        <p:spPr>
          <a:xfrm>
            <a:off x="406400" y="1600201"/>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0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000">
                <a:latin typeface="Cambria" panose="02040503050406030204" pitchFamily="18" charset="0"/>
                <a:ea typeface="Cambria" panose="02040503050406030204" pitchFamily="18" charset="0"/>
                <a:cs typeface="Times New Roman" panose="02020603050405020304" pitchFamily="18" charset="0"/>
              </a:defRPr>
            </a:lvl2pPr>
            <a:lvl3pPr>
              <a:defRPr sz="2000">
                <a:latin typeface="Cambria" panose="02040503050406030204" pitchFamily="18" charset="0"/>
                <a:ea typeface="Cambria" panose="02040503050406030204" pitchFamily="18" charset="0"/>
                <a:cs typeface="Times New Roman" panose="02020603050405020304" pitchFamily="18" charset="0"/>
              </a:defRPr>
            </a:lvl3pPr>
            <a:lvl4pPr>
              <a:defRPr sz="2000">
                <a:latin typeface="Cambria" panose="02040503050406030204" pitchFamily="18" charset="0"/>
                <a:ea typeface="Cambria" panose="02040503050406030204" pitchFamily="18" charset="0"/>
                <a:cs typeface="Times New Roman" panose="02020603050405020304" pitchFamily="18" charset="0"/>
              </a:defRPr>
            </a:lvl4pPr>
            <a:lvl5pPr>
              <a:defRPr sz="20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chemeClr val="accent2"/>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
        <p:nvSpPr>
          <p:cNvPr id="2" name="Date Placeholder 1"/>
          <p:cNvSpPr>
            <a:spLocks noGrp="1"/>
          </p:cNvSpPr>
          <p:nvPr>
            <p:ph type="dt" sz="half" idx="11"/>
          </p:nvPr>
        </p:nvSpPr>
        <p:spPr>
          <a:xfrm>
            <a:off x="609600" y="6356351"/>
            <a:ext cx="2844800" cy="365125"/>
          </a:xfrm>
          <a:prstGeom prst="rect">
            <a:avLst/>
          </a:prstGeom>
        </p:spPr>
        <p:txBody>
          <a:bodyPr/>
          <a:lstStyle/>
          <a:p>
            <a:pPr algn="l" rtl="0" fontAlgn="base">
              <a:spcBef>
                <a:spcPct val="0"/>
              </a:spcBef>
              <a:spcAft>
                <a:spcPct val="0"/>
              </a:spcAft>
              <a:defRPr/>
            </a:pPr>
            <a:endParaRPr lang="en-US" sz="1600" kern="1200">
              <a:solidFill>
                <a:prstClr val="black">
                  <a:tint val="75000"/>
                </a:prstClr>
              </a:solidFill>
              <a:latin typeface="Tahoma" charset="0"/>
              <a:ea typeface="+mn-ea"/>
              <a:cs typeface="+mn-cs"/>
            </a:endParaRPr>
          </a:p>
        </p:txBody>
      </p:sp>
      <p:sp>
        <p:nvSpPr>
          <p:cNvPr id="18" name="Footer Placeholder 17"/>
          <p:cNvSpPr>
            <a:spLocks noGrp="1"/>
          </p:cNvSpPr>
          <p:nvPr>
            <p:ph type="ftr" sz="quarter" idx="12"/>
          </p:nvPr>
        </p:nvSpPr>
        <p:spPr>
          <a:xfrm>
            <a:off x="4165600" y="6356351"/>
            <a:ext cx="3860800" cy="365125"/>
          </a:xfrm>
          <a:prstGeom prst="rect">
            <a:avLst/>
          </a:prstGeom>
        </p:spPr>
        <p:txBody>
          <a:bodyPr/>
          <a:lstStyle/>
          <a:p>
            <a:pPr algn="l" rtl="0" fontAlgn="base">
              <a:spcBef>
                <a:spcPct val="0"/>
              </a:spcBef>
              <a:spcAft>
                <a:spcPct val="0"/>
              </a:spcAft>
              <a:defRPr/>
            </a:pPr>
            <a:endParaRPr lang="en-US" sz="1600" kern="1200" dirty="0">
              <a:solidFill>
                <a:prstClr val="black">
                  <a:tint val="75000"/>
                </a:prstClr>
              </a:solidFill>
              <a:latin typeface="Tahoma" charset="0"/>
              <a:ea typeface="+mn-ea"/>
              <a:cs typeface="+mn-cs"/>
            </a:endParaRPr>
          </a:p>
        </p:txBody>
      </p:sp>
      <p:sp>
        <p:nvSpPr>
          <p:cNvPr id="19" name="Slide Number Placeholder 18"/>
          <p:cNvSpPr>
            <a:spLocks noGrp="1"/>
          </p:cNvSpPr>
          <p:nvPr>
            <p:ph type="sldNum" sz="quarter" idx="13"/>
          </p:nvPr>
        </p:nvSpPr>
        <p:spPr>
          <a:xfrm>
            <a:off x="4114800" y="6424613"/>
            <a:ext cx="2844800" cy="365125"/>
          </a:xfrm>
          <a:prstGeom prst="rect">
            <a:avLst/>
          </a:prstGeom>
        </p:spPr>
        <p:txBody>
          <a:bodyPr/>
          <a:lstStyle>
            <a:lvl1pPr>
              <a:defRPr>
                <a:solidFill>
                  <a:srgbClr val="C00000"/>
                </a:solidFill>
              </a:defRPr>
            </a:lvl1pPr>
          </a:lstStyle>
          <a:p>
            <a:pPr algn="l" rtl="0" fontAlgn="base">
              <a:spcBef>
                <a:spcPct val="0"/>
              </a:spcBef>
              <a:spcAft>
                <a:spcPct val="0"/>
              </a:spcAft>
            </a:pPr>
            <a:fld id="{DB1C2494-8932-4549-9EEA-B787E7A0F253}" type="slidenum">
              <a:rPr lang="en-US" sz="1600" kern="1200" smtClean="0">
                <a:latin typeface="Tahoma" charset="0"/>
                <a:ea typeface="+mn-ea"/>
                <a:cs typeface="+mn-cs"/>
              </a:rPr>
              <a:pPr algn="l" rtl="0" fontAlgn="base">
                <a:spcBef>
                  <a:spcPct val="0"/>
                </a:spcBef>
                <a:spcAft>
                  <a:spcPct val="0"/>
                </a:spcAft>
              </a:pPr>
              <a:t>‹#›</a:t>
            </a:fld>
            <a:endParaRPr lang="en-US" sz="1600" kern="1200" dirty="0">
              <a:latin typeface="Tahoma" charset="0"/>
              <a:ea typeface="+mn-ea"/>
              <a:cs typeface="+mn-cs"/>
            </a:endParaRPr>
          </a:p>
        </p:txBody>
      </p:sp>
    </p:spTree>
    <p:extLst>
      <p:ext uri="{BB962C8B-B14F-4D97-AF65-F5344CB8AC3E}">
        <p14:creationId xmlns:p14="http://schemas.microsoft.com/office/powerpoint/2010/main" val="87681460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6204757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783827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0045817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87405688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5067107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348307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6093937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5563914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3554561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406400" y="1493837"/>
            <a:ext cx="10972800" cy="1920526"/>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Times New Roman" panose="02020603050405020304" pitchFamily="18" charset="0"/>
              </a:defRPr>
            </a:lvl2pPr>
            <a:lvl3pPr>
              <a:defRPr sz="2400">
                <a:latin typeface="Cambria" panose="02040503050406030204" pitchFamily="18" charset="0"/>
                <a:ea typeface="Cambria" panose="02040503050406030204" pitchFamily="18" charset="0"/>
                <a:cs typeface="Times New Roman" panose="02020603050405020304" pitchFamily="18" charset="0"/>
              </a:defRPr>
            </a:lvl3pPr>
            <a:lvl4pPr>
              <a:defRPr sz="2400">
                <a:latin typeface="Cambria" panose="02040503050406030204" pitchFamily="18" charset="0"/>
                <a:ea typeface="Cambria" panose="02040503050406030204" pitchFamily="18" charset="0"/>
                <a:cs typeface="Times New Roman" panose="02020603050405020304" pitchFamily="18" charset="0"/>
              </a:defRPr>
            </a:lvl4pPr>
            <a:lvl5pPr>
              <a:defRPr sz="24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0" spc="-150" baseline="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560139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Montserrat"/>
              <a:buNone/>
              <a:defRPr>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Montserrat"/>
              <a:buChar char="●"/>
              <a:defRPr>
                <a:latin typeface="Montserrat"/>
                <a:ea typeface="Montserrat"/>
                <a:cs typeface="Montserrat"/>
                <a:sym typeface="Montserrat"/>
              </a:defRPr>
            </a:lvl1pPr>
            <a:lvl2pPr marL="914400" lvl="1" indent="-317500">
              <a:spcBef>
                <a:spcPts val="0"/>
              </a:spcBef>
              <a:spcAft>
                <a:spcPts val="0"/>
              </a:spcAft>
              <a:buSzPts val="1400"/>
              <a:buFont typeface="Montserrat"/>
              <a:buChar char="○"/>
              <a:defRPr>
                <a:latin typeface="Montserrat"/>
                <a:ea typeface="Montserrat"/>
                <a:cs typeface="Montserrat"/>
                <a:sym typeface="Montserrat"/>
              </a:defRPr>
            </a:lvl2pPr>
            <a:lvl3pPr marL="1371600" lvl="2" indent="-317500">
              <a:spcBef>
                <a:spcPts val="0"/>
              </a:spcBef>
              <a:spcAft>
                <a:spcPts val="0"/>
              </a:spcAft>
              <a:buSzPts val="1400"/>
              <a:buFont typeface="Montserrat"/>
              <a:buChar char="■"/>
              <a:defRPr>
                <a:latin typeface="Montserrat"/>
                <a:ea typeface="Montserrat"/>
                <a:cs typeface="Montserrat"/>
                <a:sym typeface="Montserrat"/>
              </a:defRPr>
            </a:lvl3pPr>
            <a:lvl4pPr marL="1828800" lvl="3" indent="-317500">
              <a:spcBef>
                <a:spcPts val="0"/>
              </a:spcBef>
              <a:spcAft>
                <a:spcPts val="0"/>
              </a:spcAft>
              <a:buSzPts val="1400"/>
              <a:buFont typeface="Montserrat"/>
              <a:buChar char="●"/>
              <a:defRPr>
                <a:latin typeface="Montserrat"/>
                <a:ea typeface="Montserrat"/>
                <a:cs typeface="Montserrat"/>
                <a:sym typeface="Montserrat"/>
              </a:defRPr>
            </a:lvl4pPr>
            <a:lvl5pPr marL="2286000" lvl="4" indent="-317500">
              <a:spcBef>
                <a:spcPts val="0"/>
              </a:spcBef>
              <a:spcAft>
                <a:spcPts val="0"/>
              </a:spcAft>
              <a:buSzPts val="1400"/>
              <a:buFont typeface="Montserrat"/>
              <a:buChar char="○"/>
              <a:defRPr>
                <a:latin typeface="Montserrat"/>
                <a:ea typeface="Montserrat"/>
                <a:cs typeface="Montserrat"/>
                <a:sym typeface="Montserrat"/>
              </a:defRPr>
            </a:lvl5pPr>
            <a:lvl6pPr marL="2743200" lvl="5" indent="-317500">
              <a:spcBef>
                <a:spcPts val="0"/>
              </a:spcBef>
              <a:spcAft>
                <a:spcPts val="0"/>
              </a:spcAft>
              <a:buSzPts val="1400"/>
              <a:buFont typeface="Montserrat"/>
              <a:buChar char="■"/>
              <a:defRPr>
                <a:latin typeface="Montserrat"/>
                <a:ea typeface="Montserrat"/>
                <a:cs typeface="Montserrat"/>
                <a:sym typeface="Montserrat"/>
              </a:defRPr>
            </a:lvl6pPr>
            <a:lvl7pPr marL="3200400" lvl="6" indent="-317500">
              <a:spcBef>
                <a:spcPts val="0"/>
              </a:spcBef>
              <a:spcAft>
                <a:spcPts val="0"/>
              </a:spcAft>
              <a:buSzPts val="1400"/>
              <a:buFont typeface="Montserrat"/>
              <a:buChar char="●"/>
              <a:defRPr>
                <a:latin typeface="Montserrat"/>
                <a:ea typeface="Montserrat"/>
                <a:cs typeface="Montserrat"/>
                <a:sym typeface="Montserrat"/>
              </a:defRPr>
            </a:lvl7pPr>
            <a:lvl8pPr marL="3657600" lvl="7" indent="-317500">
              <a:spcBef>
                <a:spcPts val="0"/>
              </a:spcBef>
              <a:spcAft>
                <a:spcPts val="0"/>
              </a:spcAft>
              <a:buSzPts val="1400"/>
              <a:buFont typeface="Montserrat"/>
              <a:buChar char="○"/>
              <a:defRPr>
                <a:latin typeface="Montserrat"/>
                <a:ea typeface="Montserrat"/>
                <a:cs typeface="Montserrat"/>
                <a:sym typeface="Montserrat"/>
              </a:defRPr>
            </a:lvl8pPr>
            <a:lvl9pPr marL="4114800" lvl="8" indent="-317500">
              <a:spcBef>
                <a:spcPts val="0"/>
              </a:spcBef>
              <a:spcAft>
                <a:spcPts val="0"/>
              </a:spcAft>
              <a:buSzPts val="1400"/>
              <a:buFont typeface="Montserrat"/>
              <a:buChar char="■"/>
              <a:defRPr>
                <a:latin typeface="Montserrat"/>
                <a:ea typeface="Montserrat"/>
                <a:cs typeface="Montserrat"/>
                <a:sym typeface="Montserrat"/>
              </a:defRPr>
            </a:lvl9pPr>
          </a:lstStyle>
          <a:p>
            <a:endParaRPr/>
          </a:p>
        </p:txBody>
      </p:sp>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rtl="0"/>
            <a:fld id="{00000000-1234-1234-1234-123412341234}" type="slidenum">
              <a:rPr lang="en" smtClean="0"/>
              <a:pPr algn="r" rtl="0"/>
              <a:t>‹#›</a:t>
            </a:fld>
            <a:endParaRPr lang="en"/>
          </a:p>
        </p:txBody>
      </p:sp>
      <p:pic>
        <p:nvPicPr>
          <p:cNvPr id="22" name="Google Shape;22;p4"/>
          <p:cNvPicPr preferRelativeResize="0"/>
          <p:nvPr/>
        </p:nvPicPr>
        <p:blipFill rotWithShape="1">
          <a:blip r:embed="rId2">
            <a:alphaModFix amt="24000"/>
          </a:blip>
          <a:srcRect b="93593"/>
          <a:stretch/>
        </p:blipFill>
        <p:spPr>
          <a:xfrm>
            <a:off x="2" y="6594465"/>
            <a:ext cx="12192004" cy="263533"/>
          </a:xfrm>
          <a:prstGeom prst="rect">
            <a:avLst/>
          </a:prstGeom>
          <a:noFill/>
          <a:ln>
            <a:noFill/>
          </a:ln>
        </p:spPr>
      </p:pic>
    </p:spTree>
    <p:extLst>
      <p:ext uri="{BB962C8B-B14F-4D97-AF65-F5344CB8AC3E}">
        <p14:creationId xmlns:p14="http://schemas.microsoft.com/office/powerpoint/2010/main" val="38238264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and Bullet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4A0AA2-B636-401F-B58B-6DF5349EBC51}"/>
              </a:ext>
            </a:extLst>
          </p:cNvPr>
          <p:cNvSpPr>
            <a:spLocks noGrp="1"/>
          </p:cNvSpPr>
          <p:nvPr>
            <p:ph type="title" hasCustomPrompt="1"/>
          </p:nvPr>
        </p:nvSpPr>
        <p:spPr>
          <a:xfrm>
            <a:off x="711894" y="142827"/>
            <a:ext cx="10780553" cy="1143389"/>
          </a:xfrm>
          <a:prstGeom prst="rect">
            <a:avLst/>
          </a:prstGeom>
        </p:spPr>
        <p:txBody>
          <a:bodyPr anchor="b"/>
          <a:lstStyle>
            <a:lvl1pPr>
              <a:defRPr sz="3000" b="1">
                <a:solidFill>
                  <a:schemeClr val="tx2"/>
                </a:solidFill>
              </a:defRPr>
            </a:lvl1pPr>
          </a:lstStyle>
          <a:p>
            <a:r>
              <a:rPr lang="en-US" noProof="0" dirty="0"/>
              <a:t>Click to </a:t>
            </a:r>
            <a:r>
              <a:rPr lang="en-US" noProof="0"/>
              <a:t>add title</a:t>
            </a:r>
            <a:endParaRPr lang="en-US" noProof="0" dirty="0"/>
          </a:p>
        </p:txBody>
      </p:sp>
      <p:sp>
        <p:nvSpPr>
          <p:cNvPr id="11" name="Rectangle 10">
            <a:extLst>
              <a:ext uri="{FF2B5EF4-FFF2-40B4-BE49-F238E27FC236}">
                <a16:creationId xmlns:a16="http://schemas.microsoft.com/office/drawing/2014/main" id="{20414BC9-864B-4D63-BFF5-8A26BC6E5477}"/>
              </a:ext>
              <a:ext uri="{C183D7F6-B498-43B3-948B-1728B52AA6E4}">
                <adec:decorative xmlns:adec="http://schemas.microsoft.com/office/drawing/2017/decorative" val="1"/>
              </a:ext>
            </a:extLst>
          </p:cNvPr>
          <p:cNvSpPr/>
          <p:nvPr userDrawn="1"/>
        </p:nvSpPr>
        <p:spPr>
          <a:xfrm>
            <a:off x="853440" y="1287500"/>
            <a:ext cx="1037573" cy="137787"/>
          </a:xfrm>
          <a:prstGeom prst="rect">
            <a:avLst/>
          </a:prstGeom>
          <a:solidFill>
            <a:srgbClr val="69ACE5"/>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panose="020F0502020204030204"/>
              <a:ea typeface="Tahoma" panose="020B0604030504040204" pitchFamily="34" charset="0"/>
              <a:cs typeface="Tahoma" panose="020B0604030504040204" pitchFamily="34" charset="0"/>
            </a:endParaRPr>
          </a:p>
        </p:txBody>
      </p:sp>
      <p:sp>
        <p:nvSpPr>
          <p:cNvPr id="10" name="Bullets">
            <a:extLst>
              <a:ext uri="{FF2B5EF4-FFF2-40B4-BE49-F238E27FC236}">
                <a16:creationId xmlns:a16="http://schemas.microsoft.com/office/drawing/2014/main" id="{489A78E5-4DD4-4398-92E6-73293FB04D0D}"/>
              </a:ext>
            </a:extLst>
          </p:cNvPr>
          <p:cNvSpPr>
            <a:spLocks noGrp="1"/>
          </p:cNvSpPr>
          <p:nvPr userDrawn="1">
            <p:ph type="body" sz="quarter" idx="16" hasCustomPrompt="1"/>
          </p:nvPr>
        </p:nvSpPr>
        <p:spPr>
          <a:xfrm>
            <a:off x="711894" y="1854202"/>
            <a:ext cx="10780553" cy="4103431"/>
          </a:xfrm>
          <a:prstGeom prst="rect">
            <a:avLst/>
          </a:prstGeom>
        </p:spPr>
        <p:txBody>
          <a:bodyPr>
            <a:noAutofit/>
          </a:bodyPr>
          <a:lstStyle>
            <a:lvl1pPr marL="230188" indent="-230188">
              <a:spcBef>
                <a:spcPts val="750"/>
              </a:spcBef>
              <a:buClr>
                <a:srgbClr val="092C74"/>
              </a:buClr>
              <a:buFont typeface="Wingdings" panose="05000000000000000000" pitchFamily="2" charset="2"/>
              <a:buChar char="§"/>
              <a:defRPr sz="1600" b="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71500" indent="-228600">
              <a:buClr>
                <a:srgbClr val="092C74"/>
              </a:buClr>
              <a:buFont typeface="Courier New" panose="02070309020205020404" pitchFamily="49" charset="0"/>
              <a:buChar char="o"/>
              <a:defRPr sz="1600"/>
            </a:lvl2pPr>
            <a:lvl3pPr marL="914400" indent="-228600">
              <a:buClr>
                <a:srgbClr val="092C74"/>
              </a:buClr>
              <a:defRPr sz="1600"/>
            </a:lvl3pPr>
          </a:lstStyle>
          <a:p>
            <a:pPr lvl="0"/>
            <a:r>
              <a:rPr lang="en-US" noProof="0" dirty="0"/>
              <a:t>Click to add bullets</a:t>
            </a:r>
          </a:p>
          <a:p>
            <a:pPr lvl="1"/>
            <a:r>
              <a:rPr lang="en-US" noProof="0" dirty="0"/>
              <a:t>Second level</a:t>
            </a:r>
          </a:p>
          <a:p>
            <a:pPr lvl="2"/>
            <a:r>
              <a:rPr lang="en-US" noProof="0" dirty="0"/>
              <a:t>Third level</a:t>
            </a:r>
          </a:p>
        </p:txBody>
      </p:sp>
      <p:pic>
        <p:nvPicPr>
          <p:cNvPr id="8" name="WSE logo">
            <a:extLst>
              <a:ext uri="{FF2B5EF4-FFF2-40B4-BE49-F238E27FC236}">
                <a16:creationId xmlns:a16="http://schemas.microsoft.com/office/drawing/2014/main" id="{5F712F24-2ADD-4B4F-B20F-5AF8A0644F0E}"/>
              </a:ext>
              <a:ext uri="{C183D7F6-B498-43B3-948B-1728B52AA6E4}">
                <adec:decorative xmlns:adec="http://schemas.microsoft.com/office/drawing/2017/decorative" val="1"/>
              </a:ext>
            </a:extLst>
          </p:cNvPr>
          <p:cNvPicPr>
            <a:picLocks noChangeAspect="1"/>
          </p:cNvPicPr>
          <p:nvPr userDrawn="1"/>
        </p:nvPicPr>
        <p:blipFill rotWithShape="1">
          <a:blip r:embed="rId2" cstate="print">
            <a:clrChange>
              <a:clrFrom>
                <a:srgbClr val="000000">
                  <a:alpha val="0"/>
                </a:srgbClr>
              </a:clrFrom>
              <a:clrTo>
                <a:srgbClr val="000000">
                  <a:alpha val="0"/>
                </a:srgbClr>
              </a:clrTo>
            </a:clrChange>
            <a:alphaModFix amt="50000"/>
            <a:extLst>
              <a:ext uri="{28A0092B-C50C-407E-A947-70E740481C1C}">
                <a14:useLocalDpi xmlns:a14="http://schemas.microsoft.com/office/drawing/2010/main" val="0"/>
              </a:ext>
            </a:extLst>
          </a:blip>
          <a:srcRect l="12472" t="27464" r="12906" b="27019"/>
          <a:stretch/>
        </p:blipFill>
        <p:spPr>
          <a:xfrm>
            <a:off x="696951" y="6407120"/>
            <a:ext cx="1377375" cy="381160"/>
          </a:xfrm>
          <a:prstGeom prst="rect">
            <a:avLst/>
          </a:prstGeom>
        </p:spPr>
      </p:pic>
      <p:sp>
        <p:nvSpPr>
          <p:cNvPr id="7" name="Page Number">
            <a:extLst>
              <a:ext uri="{FF2B5EF4-FFF2-40B4-BE49-F238E27FC236}">
                <a16:creationId xmlns:a16="http://schemas.microsoft.com/office/drawing/2014/main" id="{A10FF969-5C1A-4F23-A07F-2B9FBF69C84B}"/>
              </a:ext>
            </a:extLst>
          </p:cNvPr>
          <p:cNvSpPr txBox="1"/>
          <p:nvPr userDrawn="1"/>
        </p:nvSpPr>
        <p:spPr>
          <a:xfrm>
            <a:off x="10521949" y="6480227"/>
            <a:ext cx="1060451" cy="234951"/>
          </a:xfrm>
          <a:prstGeom prst="rect">
            <a:avLst/>
          </a:prstGeom>
        </p:spPr>
        <p:txBody>
          <a:bodyPr wrap="none" anchor="ctr" anchorCtr="1">
            <a:no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r" defTabSz="685783">
              <a:defRPr/>
            </a:pPr>
            <a:r>
              <a:rPr lang="en-US" sz="1000" b="0" i="0" baseline="0" dirty="0">
                <a:solidFill>
                  <a:schemeClr val="tx1"/>
                </a:solidFill>
                <a:latin typeface="+mj-lt"/>
                <a:ea typeface="Tahoma" panose="020B0604030504040204" pitchFamily="34" charset="0"/>
                <a:cs typeface="Tahoma" panose="020B0604030504040204" pitchFamily="34" charset="0"/>
              </a:rPr>
              <a:t>                </a:t>
            </a:r>
            <a:fld id="{F2C1E792-EDA4-4DC5-8412-A2C2E5D30ADF}" type="slidenum">
              <a:rPr lang="en-US" sz="1000" b="0" i="0" baseline="0">
                <a:solidFill>
                  <a:schemeClr val="tx1"/>
                </a:solidFill>
                <a:latin typeface="+mj-lt"/>
                <a:ea typeface="Tahoma" panose="020B0604030504040204" pitchFamily="34" charset="0"/>
                <a:cs typeface="Tahoma" panose="020B0604030504040204" pitchFamily="34" charset="0"/>
              </a:rPr>
              <a:pPr algn="r" defTabSz="685783">
                <a:defRPr/>
              </a:pPr>
              <a:t>‹#›</a:t>
            </a:fld>
            <a:endParaRPr lang="en-US" sz="1000" b="0" i="0" baseline="0" dirty="0">
              <a:solidFill>
                <a:schemeClr val="tx1"/>
              </a:solidFill>
              <a:latin typeface="+mj-lt"/>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4708754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1194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9" Type="http://schemas.openxmlformats.org/officeDocument/2006/relationships/slideLayout" Target="../slideLayouts/slideLayout54.xml"/><Relationship Id="rId21" Type="http://schemas.openxmlformats.org/officeDocument/2006/relationships/slideLayout" Target="../slideLayouts/slideLayout36.xml"/><Relationship Id="rId34" Type="http://schemas.openxmlformats.org/officeDocument/2006/relationships/slideLayout" Target="../slideLayouts/slideLayout49.xml"/><Relationship Id="rId42" Type="http://schemas.openxmlformats.org/officeDocument/2006/relationships/theme" Target="../theme/theme2.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29" Type="http://schemas.openxmlformats.org/officeDocument/2006/relationships/slideLayout" Target="../slideLayouts/slideLayout44.xml"/><Relationship Id="rId41" Type="http://schemas.openxmlformats.org/officeDocument/2006/relationships/slideLayout" Target="../slideLayouts/slideLayout56.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slideLayout" Target="../slideLayouts/slideLayout46.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image" Target="../media/image4.jpg"/><Relationship Id="rId8" Type="http://schemas.openxmlformats.org/officeDocument/2006/relationships/slideLayout" Target="../slideLayouts/slideLayout23.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2AC8AE-CF86-039E-56F8-710C09ACFE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B0C852-67DB-7D05-B4F1-BB470996B6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D9F2DB-856F-5026-77E5-7C6BEC9F13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C6A744-3583-4464-A6C0-23907E05A9EB}" type="datetimeFigureOut">
              <a:rPr lang="en-IN" smtClean="0"/>
              <a:t>30-07-2026</a:t>
            </a:fld>
            <a:endParaRPr lang="en-IN"/>
          </a:p>
        </p:txBody>
      </p:sp>
      <p:sp>
        <p:nvSpPr>
          <p:cNvPr id="5" name="Footer Placeholder 4">
            <a:extLst>
              <a:ext uri="{FF2B5EF4-FFF2-40B4-BE49-F238E27FC236}">
                <a16:creationId xmlns:a16="http://schemas.microsoft.com/office/drawing/2014/main" id="{78F5330D-0A37-F2DD-72CC-8C12279BAF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EA7CC72-287A-BF48-4E4A-2206FDE629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366A9E-35CC-4DCB-BE7C-9D696556A49A}" type="slidenum">
              <a:rPr lang="en-IN" smtClean="0"/>
              <a:t>‹#›</a:t>
            </a:fld>
            <a:endParaRPr lang="en-IN"/>
          </a:p>
        </p:txBody>
      </p:sp>
    </p:spTree>
    <p:extLst>
      <p:ext uri="{BB962C8B-B14F-4D97-AF65-F5344CB8AC3E}">
        <p14:creationId xmlns:p14="http://schemas.microsoft.com/office/powerpoint/2010/main" val="2663823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706"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175248" y="6550153"/>
            <a:ext cx="3105573"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sz="1800"/>
          </a:p>
        </p:txBody>
      </p:sp>
      <p:sp>
        <p:nvSpPr>
          <p:cNvPr id="17" name="bg object 17"/>
          <p:cNvSpPr/>
          <p:nvPr/>
        </p:nvSpPr>
        <p:spPr>
          <a:xfrm>
            <a:off x="9211056" y="6550152"/>
            <a:ext cx="2981113"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sz="1800"/>
          </a:p>
        </p:txBody>
      </p:sp>
      <p:sp>
        <p:nvSpPr>
          <p:cNvPr id="18" name="bg object 18"/>
          <p:cNvSpPr/>
          <p:nvPr/>
        </p:nvSpPr>
        <p:spPr>
          <a:xfrm>
            <a:off x="2779776" y="6550153"/>
            <a:ext cx="3440853"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sz="1800"/>
          </a:p>
        </p:txBody>
      </p:sp>
      <p:sp>
        <p:nvSpPr>
          <p:cNvPr id="19" name="bg object 19"/>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sz="1800"/>
          </a:p>
        </p:txBody>
      </p:sp>
      <p:sp>
        <p:nvSpPr>
          <p:cNvPr id="20" name="bg object 20"/>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sz="1800"/>
          </a:p>
        </p:txBody>
      </p:sp>
      <p:sp>
        <p:nvSpPr>
          <p:cNvPr id="21" name="bg object 21"/>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sz="1800"/>
          </a:p>
        </p:txBody>
      </p:sp>
      <p:pic>
        <p:nvPicPr>
          <p:cNvPr id="22" name="bg object 22"/>
          <p:cNvPicPr/>
          <p:nvPr/>
        </p:nvPicPr>
        <p:blipFill>
          <a:blip r:embed="rId43" cstate="print"/>
          <a:stretch>
            <a:fillRect/>
          </a:stretch>
        </p:blipFill>
        <p:spPr>
          <a:xfrm>
            <a:off x="8839201" y="0"/>
            <a:ext cx="2926079" cy="691896"/>
          </a:xfrm>
          <a:prstGeom prst="rect">
            <a:avLst/>
          </a:prstGeom>
        </p:spPr>
      </p:pic>
      <p:sp>
        <p:nvSpPr>
          <p:cNvPr id="23" name="bg object 23"/>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sz="1800"/>
          </a:p>
        </p:txBody>
      </p:sp>
      <p:sp>
        <p:nvSpPr>
          <p:cNvPr id="24" name="bg object 24"/>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sz="1800"/>
          </a:p>
        </p:txBody>
      </p:sp>
      <p:sp>
        <p:nvSpPr>
          <p:cNvPr id="25" name="bg object 25"/>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sz="1800"/>
          </a:p>
        </p:txBody>
      </p:sp>
      <p:sp>
        <p:nvSpPr>
          <p:cNvPr id="8" name="Title Placeholder 7"/>
          <p:cNvSpPr>
            <a:spLocks noGrp="1"/>
          </p:cNvSpPr>
          <p:nvPr>
            <p:ph type="title"/>
          </p:nvPr>
        </p:nvSpPr>
        <p:spPr>
          <a:xfrm>
            <a:off x="231987" y="32163"/>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9" name="Text Placeholder 8"/>
          <p:cNvSpPr>
            <a:spLocks noGrp="1"/>
          </p:cNvSpPr>
          <p:nvPr>
            <p:ph type="body" idx="1"/>
          </p:nvPr>
        </p:nvSpPr>
        <p:spPr>
          <a:xfrm>
            <a:off x="406400" y="167640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505896728"/>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7" r:id="rId23"/>
    <p:sldLayoutId id="2147483688" r:id="rId24"/>
    <p:sldLayoutId id="2147483689" r:id="rId25"/>
    <p:sldLayoutId id="2147483690" r:id="rId26"/>
    <p:sldLayoutId id="2147483691" r:id="rId27"/>
    <p:sldLayoutId id="2147483692" r:id="rId28"/>
    <p:sldLayoutId id="2147483693" r:id="rId29"/>
    <p:sldLayoutId id="2147483694" r:id="rId30"/>
    <p:sldLayoutId id="2147483695" r:id="rId31"/>
    <p:sldLayoutId id="2147483696" r:id="rId32"/>
    <p:sldLayoutId id="2147483697" r:id="rId33"/>
    <p:sldLayoutId id="2147483698" r:id="rId34"/>
    <p:sldLayoutId id="2147483699" r:id="rId35"/>
    <p:sldLayoutId id="2147483700" r:id="rId36"/>
    <p:sldLayoutId id="2147483701" r:id="rId37"/>
    <p:sldLayoutId id="2147483702" r:id="rId38"/>
    <p:sldLayoutId id="2147483703" r:id="rId39"/>
    <p:sldLayoutId id="2147483704" r:id="rId40"/>
    <p:sldLayoutId id="2147483705" r:id="rId41"/>
  </p:sldLayoutIdLst>
  <p:txStyles>
    <p:titleStyle>
      <a:lvl1pPr>
        <a:defRPr sz="3600">
          <a:latin typeface="Cambria" panose="02040503050406030204" pitchFamily="18" charset="0"/>
          <a:ea typeface="Cambria" panose="02040503050406030204" pitchFamily="18" charset="0"/>
          <a:cs typeface="+mj-cs"/>
        </a:defRPr>
      </a:lvl1pPr>
    </p:titleStyle>
    <p:body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56.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6.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6.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6.xml"/><Relationship Id="rId6" Type="http://schemas.openxmlformats.org/officeDocument/2006/relationships/hyperlink" Target="https://developers.googleblog.com/en/a2a-a-new-era-of-agent-interoperability/" TargetMode="Externa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hyperlink" Target="https://a2a-protocol.org/latest/specification/" TargetMode="External"/><Relationship Id="rId2" Type="http://schemas.openxmlformats.org/officeDocument/2006/relationships/image" Target="../media/image21.png"/><Relationship Id="rId1" Type="http://schemas.openxmlformats.org/officeDocument/2006/relationships/slideLayout" Target="../slideLayouts/slideLayout56.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5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6.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56.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56.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6.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56.xml"/><Relationship Id="rId4" Type="http://schemas.openxmlformats.org/officeDocument/2006/relationships/image" Target="../media/image2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hyperlink" Target="https://milvus.io/blog/harness-engineering-ai-agents.md" TargetMode="External"/><Relationship Id="rId7" Type="http://schemas.openxmlformats.org/officeDocument/2006/relationships/hyperlink" Target="https://www.langchain.com/blog/choosing-the-right-multi-agent-architecture" TargetMode="External"/><Relationship Id="rId2" Type="http://schemas.openxmlformats.org/officeDocument/2006/relationships/hyperlink" Target="https://www.mongodb.com/resources/basics/artificial-intelligence/" TargetMode="External"/><Relationship Id="rId1" Type="http://schemas.openxmlformats.org/officeDocument/2006/relationships/slideLayout" Target="../slideLayouts/slideLayout17.xml"/><Relationship Id="rId6" Type="http://schemas.openxmlformats.org/officeDocument/2006/relationships/hyperlink" Target="https://www.langchain.com/blog/the-anatomy-of-an-agent-harness" TargetMode="External"/><Relationship Id="rId5" Type="http://schemas.openxmlformats.org/officeDocument/2006/relationships/hyperlink" Target="https://huggingface.co/blog/agent-glossary" TargetMode="External"/><Relationship Id="rId4" Type="http://schemas.openxmlformats.org/officeDocument/2006/relationships/hyperlink" Target="https://www.mongodb.com/resources/basics/artificial-intelligence/agent-memo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438650" y="3714750"/>
            <a:ext cx="4629150" cy="1143000"/>
          </a:xfrm>
        </p:spPr>
        <p:txBody>
          <a:bodyPr/>
          <a:lstStyle/>
          <a:p>
            <a:pPr>
              <a:defRPr/>
            </a:pP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LLM for Gen AI</a:t>
            </a:r>
          </a:p>
        </p:txBody>
      </p:sp>
      <p:sp>
        <p:nvSpPr>
          <p:cNvPr id="14339" name="Content Placeholder 5"/>
          <p:cNvSpPr>
            <a:spLocks noGrp="1"/>
          </p:cNvSpPr>
          <p:nvPr>
            <p:ph sz="quarter" idx="13"/>
          </p:nvPr>
        </p:nvSpPr>
        <p:spPr/>
        <p:txBody>
          <a:bodyPr/>
          <a:lstStyle/>
          <a:p>
            <a:pPr eaLnBrk="1" hangingPunct="1">
              <a:spcBef>
                <a:spcPct val="0"/>
              </a:spcBef>
            </a:pPr>
            <a:r>
              <a:rPr lang="en-US" sz="1500" i="1" dirty="0">
                <a:latin typeface="Times New Roman" pitchFamily="18" charset="0"/>
                <a:cs typeface="Times New Roman" pitchFamily="18" charset="0"/>
              </a:rPr>
              <a:t>Dr. </a:t>
            </a:r>
            <a:r>
              <a:rPr lang="en-US" sz="1500" i="1" dirty="0" err="1">
                <a:latin typeface="Times New Roman" pitchFamily="18" charset="0"/>
                <a:cs typeface="Times New Roman" pitchFamily="18" charset="0"/>
              </a:rPr>
              <a:t>Monali</a:t>
            </a:r>
            <a:r>
              <a:rPr lang="en-US" sz="1500" i="1" dirty="0">
                <a:latin typeface="Times New Roman" pitchFamily="18" charset="0"/>
                <a:cs typeface="Times New Roman" pitchFamily="18" charset="0"/>
              </a:rPr>
              <a:t> </a:t>
            </a:r>
            <a:r>
              <a:rPr lang="en-US" sz="1500" i="1" dirty="0" err="1">
                <a:latin typeface="Times New Roman" pitchFamily="18" charset="0"/>
                <a:cs typeface="Times New Roman" pitchFamily="18" charset="0"/>
              </a:rPr>
              <a:t>Mavani</a:t>
            </a:r>
            <a:endParaRPr lang="en-US" sz="1500" i="1" dirty="0">
              <a:latin typeface="Times New Roman" pitchFamily="18" charset="0"/>
              <a:cs typeface="Times New Roman" pitchFamily="18" charset="0"/>
            </a:endParaRPr>
          </a:p>
        </p:txBody>
      </p:sp>
    </p:spTree>
    <p:extLst>
      <p:ext uri="{BB962C8B-B14F-4D97-AF65-F5344CB8AC3E}">
        <p14:creationId xmlns:p14="http://schemas.microsoft.com/office/powerpoint/2010/main" val="36459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58786" y="4133141"/>
            <a:ext cx="6777644" cy="848137"/>
          </a:xfrm>
          <a:prstGeom prst="rect">
            <a:avLst/>
          </a:prstGeom>
        </p:spPr>
        <p:txBody>
          <a:bodyPr vert="horz" wrap="square" lIns="0" tIns="24595" rIns="0" bIns="0" rtlCol="0">
            <a:spAutoFit/>
          </a:bodyPr>
          <a:lstStyle/>
          <a:p>
            <a:pPr marL="99961" marR="29325" indent="-93969" fontAlgn="base">
              <a:lnSpc>
                <a:spcPts val="1153"/>
              </a:lnSpc>
              <a:spcBef>
                <a:spcPts val="194"/>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The </a:t>
            </a:r>
            <a:r>
              <a:rPr sz="1200" spc="-8" dirty="0">
                <a:solidFill>
                  <a:prstClr val="black"/>
                </a:solidFill>
                <a:latin typeface="Cambria" panose="02040503050406030204" pitchFamily="18" charset="0"/>
                <a:ea typeface="Cambria" panose="02040503050406030204" pitchFamily="18" charset="0"/>
                <a:cs typeface="Calibri"/>
              </a:rPr>
              <a:t>content </a:t>
            </a:r>
            <a:r>
              <a:rPr sz="1200" spc="-10" dirty="0">
                <a:solidFill>
                  <a:prstClr val="black"/>
                </a:solidFill>
                <a:latin typeface="Cambria" panose="02040503050406030204" pitchFamily="18" charset="0"/>
                <a:ea typeface="Cambria" panose="02040503050406030204" pitchFamily="18" charset="0"/>
                <a:cs typeface="Calibri"/>
              </a:rPr>
              <a:t>for </a:t>
            </a:r>
            <a:r>
              <a:rPr sz="1200" spc="-2" dirty="0">
                <a:solidFill>
                  <a:prstClr val="black"/>
                </a:solidFill>
                <a:latin typeface="Cambria" panose="02040503050406030204" pitchFamily="18" charset="0"/>
                <a:ea typeface="Cambria" panose="02040503050406030204" pitchFamily="18" charset="0"/>
                <a:cs typeface="Calibri"/>
              </a:rPr>
              <a:t>these slides has been </a:t>
            </a:r>
            <a:r>
              <a:rPr sz="1200" spc="-5" dirty="0">
                <a:solidFill>
                  <a:prstClr val="black"/>
                </a:solidFill>
                <a:latin typeface="Cambria" panose="02040503050406030204" pitchFamily="18" charset="0"/>
                <a:ea typeface="Cambria" panose="02040503050406030204" pitchFamily="18" charset="0"/>
                <a:cs typeface="Calibri"/>
              </a:rPr>
              <a:t>obtained </a:t>
            </a:r>
            <a:r>
              <a:rPr sz="1200" spc="-8" dirty="0">
                <a:solidFill>
                  <a:prstClr val="black"/>
                </a:solidFill>
                <a:latin typeface="Cambria" panose="02040503050406030204" pitchFamily="18" charset="0"/>
                <a:ea typeface="Cambria" panose="02040503050406030204" pitchFamily="18" charset="0"/>
                <a:cs typeface="Calibri"/>
              </a:rPr>
              <a:t>from </a:t>
            </a:r>
            <a:r>
              <a:rPr sz="1200" spc="-5" dirty="0">
                <a:solidFill>
                  <a:prstClr val="black"/>
                </a:solidFill>
                <a:latin typeface="Cambria" panose="02040503050406030204" pitchFamily="18" charset="0"/>
                <a:ea typeface="Cambria" panose="02040503050406030204" pitchFamily="18" charset="0"/>
                <a:cs typeface="Calibri"/>
              </a:rPr>
              <a:t>books </a:t>
            </a:r>
            <a:r>
              <a:rPr sz="1200" spc="-2" dirty="0">
                <a:solidFill>
                  <a:prstClr val="black"/>
                </a:solidFill>
                <a:latin typeface="Cambria" panose="02040503050406030204" pitchFamily="18" charset="0"/>
                <a:ea typeface="Cambria" panose="02040503050406030204" pitchFamily="18" charset="0"/>
                <a:cs typeface="Calibri"/>
              </a:rPr>
              <a:t>and </a:t>
            </a:r>
            <a:r>
              <a:rPr sz="1200" spc="-5" dirty="0">
                <a:solidFill>
                  <a:prstClr val="black"/>
                </a:solidFill>
                <a:latin typeface="Cambria" panose="02040503050406030204" pitchFamily="18" charset="0"/>
                <a:ea typeface="Cambria" panose="02040503050406030204" pitchFamily="18" charset="0"/>
                <a:cs typeface="Calibri"/>
              </a:rPr>
              <a:t>various other </a:t>
            </a:r>
            <a:r>
              <a:rPr sz="1200" spc="-236"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source</a:t>
            </a:r>
            <a:r>
              <a:rPr sz="1200" spc="-1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on the </a:t>
            </a:r>
            <a:r>
              <a:rPr sz="1200" spc="-8" dirty="0">
                <a:solidFill>
                  <a:prstClr val="black"/>
                </a:solidFill>
                <a:latin typeface="Cambria" panose="02040503050406030204" pitchFamily="18" charset="0"/>
                <a:ea typeface="Cambria" panose="02040503050406030204" pitchFamily="18" charset="0"/>
                <a:cs typeface="Calibri"/>
              </a:rPr>
              <a:t>Internet</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58"/>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a:t>
            </a:r>
            <a:r>
              <a:rPr sz="1200"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here</a:t>
            </a:r>
            <a:r>
              <a:rPr sz="1200"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by</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acknowledge</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all</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a:t>
            </a:r>
            <a:r>
              <a:rPr sz="1200" spc="2"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contributors</a:t>
            </a:r>
            <a:r>
              <a:rPr sz="1200" dirty="0">
                <a:solidFill>
                  <a:prstClr val="black"/>
                </a:solidFill>
                <a:latin typeface="Cambria" panose="02040503050406030204" pitchFamily="18" charset="0"/>
                <a:ea typeface="Cambria" panose="02040503050406030204" pitchFamily="18" charset="0"/>
                <a:cs typeface="Calibri"/>
              </a:rPr>
              <a:t> </a:t>
            </a:r>
            <a:r>
              <a:rPr sz="1200" spc="-10" dirty="0">
                <a:solidFill>
                  <a:prstClr val="black"/>
                </a:solidFill>
                <a:latin typeface="Cambria" panose="02040503050406030204" pitchFamily="18" charset="0"/>
                <a:ea typeface="Cambria" panose="02040503050406030204" pitchFamily="18" charset="0"/>
                <a:cs typeface="Calibri"/>
              </a:rPr>
              <a:t>for</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their</a:t>
            </a:r>
            <a:r>
              <a:rPr sz="1200"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material</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and</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inputs.</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81"/>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 </a:t>
            </a:r>
            <a:r>
              <a:rPr sz="1200" spc="-10" dirty="0">
                <a:solidFill>
                  <a:prstClr val="black"/>
                </a:solidFill>
                <a:latin typeface="Cambria" panose="02040503050406030204" pitchFamily="18" charset="0"/>
                <a:ea typeface="Cambria" panose="02040503050406030204" pitchFamily="18" charset="0"/>
                <a:cs typeface="Calibri"/>
              </a:rPr>
              <a:t>have</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provided</a:t>
            </a:r>
            <a:r>
              <a:rPr sz="1200" spc="-8"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source</a:t>
            </a:r>
            <a:r>
              <a:rPr sz="1200" spc="-8" dirty="0">
                <a:solidFill>
                  <a:prstClr val="black"/>
                </a:solidFill>
                <a:latin typeface="Cambria" panose="02040503050406030204" pitchFamily="18" charset="0"/>
                <a:ea typeface="Cambria" panose="02040503050406030204" pitchFamily="18" charset="0"/>
                <a:cs typeface="Calibri"/>
              </a:rPr>
              <a:t> information</a:t>
            </a:r>
            <a:r>
              <a:rPr sz="1200" spc="-2"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wherever </a:t>
            </a:r>
            <a:r>
              <a:rPr sz="1200" spc="-2" dirty="0">
                <a:solidFill>
                  <a:prstClr val="black"/>
                </a:solidFill>
                <a:latin typeface="Cambria" panose="02040503050406030204" pitchFamily="18" charset="0"/>
                <a:ea typeface="Cambria" panose="02040503050406030204" pitchFamily="18" charset="0"/>
                <a:cs typeface="Calibri"/>
              </a:rPr>
              <a:t>necessary</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81"/>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 </a:t>
            </a:r>
            <a:r>
              <a:rPr sz="1200" spc="-10" dirty="0">
                <a:solidFill>
                  <a:prstClr val="black"/>
                </a:solidFill>
                <a:latin typeface="Cambria" panose="02040503050406030204" pitchFamily="18" charset="0"/>
                <a:ea typeface="Cambria" panose="02040503050406030204" pitchFamily="18" charset="0"/>
                <a:cs typeface="Calibri"/>
              </a:rPr>
              <a:t>have</a:t>
            </a:r>
            <a:r>
              <a:rPr sz="1200" spc="-2" dirty="0">
                <a:solidFill>
                  <a:prstClr val="black"/>
                </a:solidFill>
                <a:latin typeface="Cambria" panose="02040503050406030204" pitchFamily="18" charset="0"/>
                <a:ea typeface="Cambria" panose="02040503050406030204" pitchFamily="18" charset="0"/>
                <a:cs typeface="Calibri"/>
              </a:rPr>
              <a:t> added</a:t>
            </a:r>
            <a:r>
              <a:rPr sz="1200" spc="-8"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and </a:t>
            </a:r>
            <a:r>
              <a:rPr sz="1200" spc="-5" dirty="0">
                <a:solidFill>
                  <a:prstClr val="black"/>
                </a:solidFill>
                <a:latin typeface="Cambria" panose="02040503050406030204" pitchFamily="18" charset="0"/>
                <a:ea typeface="Cambria" panose="02040503050406030204" pitchFamily="18" charset="0"/>
                <a:cs typeface="Calibri"/>
              </a:rPr>
              <a:t>modified</a:t>
            </a:r>
            <a:r>
              <a:rPr sz="1200" spc="-8"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a:t>
            </a:r>
            <a:r>
              <a:rPr sz="1200" spc="-8" dirty="0">
                <a:solidFill>
                  <a:prstClr val="black"/>
                </a:solidFill>
                <a:latin typeface="Cambria" panose="02040503050406030204" pitchFamily="18" charset="0"/>
                <a:ea typeface="Cambria" panose="02040503050406030204" pitchFamily="18" charset="0"/>
                <a:cs typeface="Calibri"/>
              </a:rPr>
              <a:t> content to</a:t>
            </a:r>
            <a:r>
              <a:rPr sz="1200" spc="-2" dirty="0">
                <a:solidFill>
                  <a:prstClr val="black"/>
                </a:solidFill>
                <a:latin typeface="Cambria" panose="02040503050406030204" pitchFamily="18" charset="0"/>
                <a:ea typeface="Cambria" panose="02040503050406030204" pitchFamily="18" charset="0"/>
                <a:cs typeface="Calibri"/>
              </a:rPr>
              <a:t> suit the</a:t>
            </a:r>
            <a:r>
              <a:rPr sz="1200" spc="-8"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requirements</a:t>
            </a:r>
            <a:r>
              <a:rPr sz="1200" spc="-12"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of the</a:t>
            </a:r>
            <a:r>
              <a:rPr sz="1200" spc="-8" dirty="0">
                <a:solidFill>
                  <a:prstClr val="black"/>
                </a:solidFill>
                <a:latin typeface="Cambria" panose="02040503050406030204" pitchFamily="18" charset="0"/>
                <a:ea typeface="Cambria" panose="02040503050406030204" pitchFamily="18" charset="0"/>
                <a:cs typeface="Calibri"/>
              </a:rPr>
              <a:t> course</a:t>
            </a:r>
            <a:endParaRPr sz="1200" dirty="0">
              <a:solidFill>
                <a:prstClr val="black"/>
              </a:solidFill>
              <a:latin typeface="Cambria" panose="02040503050406030204" pitchFamily="18" charset="0"/>
              <a:ea typeface="Cambria" panose="02040503050406030204" pitchFamily="18" charset="0"/>
              <a:cs typeface="Calibri"/>
            </a:endParaRPr>
          </a:p>
        </p:txBody>
      </p:sp>
      <p:sp>
        <p:nvSpPr>
          <p:cNvPr id="4" name="object 4"/>
          <p:cNvSpPr txBox="1"/>
          <p:nvPr/>
        </p:nvSpPr>
        <p:spPr>
          <a:xfrm>
            <a:off x="4467389" y="2171701"/>
            <a:ext cx="4274196" cy="233216"/>
          </a:xfrm>
          <a:prstGeom prst="rect">
            <a:avLst/>
          </a:prstGeom>
        </p:spPr>
        <p:txBody>
          <a:bodyPr vert="horz" wrap="square" lIns="0" tIns="7568" rIns="0" bIns="0" rtlCol="0">
            <a:spAutoFit/>
          </a:bodyPr>
          <a:lstStyle/>
          <a:p>
            <a:pPr marL="6306" fontAlgn="base">
              <a:spcBef>
                <a:spcPts val="59"/>
              </a:spcBef>
              <a:spcAft>
                <a:spcPct val="0"/>
              </a:spcAft>
            </a:pPr>
            <a:r>
              <a:rPr sz="1466" spc="-8" dirty="0">
                <a:solidFill>
                  <a:srgbClr val="1C1572"/>
                </a:solidFill>
                <a:latin typeface="Cambria" panose="02040503050406030204" pitchFamily="18" charset="0"/>
                <a:ea typeface="Cambria" panose="02040503050406030204" pitchFamily="18" charset="0"/>
                <a:cs typeface="Calibri Light"/>
              </a:rPr>
              <a:t>Disclaimer</a:t>
            </a:r>
            <a:r>
              <a:rPr sz="1466" spc="-35" dirty="0">
                <a:solidFill>
                  <a:srgbClr val="1C1572"/>
                </a:solidFill>
                <a:latin typeface="Cambria" panose="02040503050406030204" pitchFamily="18" charset="0"/>
                <a:ea typeface="Cambria" panose="02040503050406030204" pitchFamily="18" charset="0"/>
                <a:cs typeface="Calibri Light"/>
              </a:rPr>
              <a:t> </a:t>
            </a:r>
            <a:r>
              <a:rPr sz="1466" spc="-5" dirty="0">
                <a:solidFill>
                  <a:srgbClr val="1C1572"/>
                </a:solidFill>
                <a:latin typeface="Cambria" panose="02040503050406030204" pitchFamily="18" charset="0"/>
                <a:ea typeface="Cambria" panose="02040503050406030204" pitchFamily="18" charset="0"/>
                <a:cs typeface="Calibri Light"/>
              </a:rPr>
              <a:t>and</a:t>
            </a:r>
            <a:r>
              <a:rPr sz="1466" spc="-35" dirty="0">
                <a:solidFill>
                  <a:srgbClr val="1C1572"/>
                </a:solidFill>
                <a:latin typeface="Cambria" panose="02040503050406030204" pitchFamily="18" charset="0"/>
                <a:ea typeface="Cambria" panose="02040503050406030204" pitchFamily="18" charset="0"/>
                <a:cs typeface="Calibri Light"/>
              </a:rPr>
              <a:t> </a:t>
            </a:r>
            <a:r>
              <a:rPr sz="1466" spc="-12" dirty="0">
                <a:solidFill>
                  <a:srgbClr val="1C1572"/>
                </a:solidFill>
                <a:latin typeface="Cambria" panose="02040503050406030204" pitchFamily="18" charset="0"/>
                <a:ea typeface="Cambria" panose="02040503050406030204" pitchFamily="18" charset="0"/>
                <a:cs typeface="Calibri Light"/>
              </a:rPr>
              <a:t>Acknowledgement</a:t>
            </a:r>
            <a:endParaRPr sz="1466" dirty="0">
              <a:solidFill>
                <a:prstClr val="black"/>
              </a:solidFill>
              <a:latin typeface="Cambria" panose="02040503050406030204" pitchFamily="18" charset="0"/>
              <a:ea typeface="Cambria" panose="02040503050406030204" pitchFamily="18" charset="0"/>
              <a:cs typeface="Calibri Light"/>
            </a:endParaRPr>
          </a:p>
        </p:txBody>
      </p:sp>
      <p:pic>
        <p:nvPicPr>
          <p:cNvPr id="5" name="object 5"/>
          <p:cNvPicPr/>
          <p:nvPr/>
        </p:nvPicPr>
        <p:blipFill>
          <a:blip r:embed="rId2" cstate="print"/>
          <a:stretch>
            <a:fillRect/>
          </a:stretch>
        </p:blipFill>
        <p:spPr>
          <a:xfrm>
            <a:off x="5280598" y="2823275"/>
            <a:ext cx="815403" cy="891476"/>
          </a:xfrm>
          <a:prstGeom prst="rect">
            <a:avLst/>
          </a:prstGeom>
        </p:spPr>
      </p:pic>
    </p:spTree>
    <p:extLst>
      <p:ext uri="{BB962C8B-B14F-4D97-AF65-F5344CB8AC3E}">
        <p14:creationId xmlns:p14="http://schemas.microsoft.com/office/powerpoint/2010/main" val="314728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51463" y="1524001"/>
            <a:ext cx="8229600" cy="4525963"/>
          </a:xfrm>
        </p:spPr>
        <p:txBody>
          <a:bodyPr/>
          <a:lstStyle/>
          <a:p>
            <a:pPr marL="457200" indent="-457200">
              <a:buFont typeface="Arial" panose="020B0604020202020204" pitchFamily="34" charset="0"/>
              <a:buChar char="•"/>
            </a:pPr>
            <a:endParaRPr lang="en-IN" sz="2800" spc="-10" dirty="0">
              <a:latin typeface="Cambria" panose="02040503050406030204" pitchFamily="18" charset="0"/>
              <a:ea typeface="Cambria" panose="02040503050406030204" pitchFamily="18" charset="0"/>
            </a:endParaRPr>
          </a:p>
          <a:p>
            <a:pPr marL="457200" indent="-457200">
              <a:buFont typeface="Arial" panose="020B0604020202020204" pitchFamily="34" charset="0"/>
              <a:buChar char="•"/>
            </a:pPr>
            <a:endParaRPr lang="en-IN" sz="2800" spc="-10" dirty="0">
              <a:latin typeface="Cambria" panose="02040503050406030204" pitchFamily="18" charset="0"/>
              <a:ea typeface="Cambria" panose="02040503050406030204" pitchFamily="18" charset="0"/>
            </a:endParaRPr>
          </a:p>
          <a:p>
            <a:pPr marL="457200" indent="-457200">
              <a:buFont typeface="Arial" panose="020B0604020202020204" pitchFamily="34" charset="0"/>
              <a:buChar char="•"/>
            </a:pPr>
            <a:endParaRPr lang="en-IN" sz="2800"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0"/>
          </p:nvPr>
        </p:nvSpPr>
        <p:spPr/>
        <p:txBody>
          <a:bodyPr vert="horz" lIns="91440" tIns="45720" rIns="91440" bIns="45720" rtlCol="0" anchor="ctr">
            <a:normAutofit fontScale="97500"/>
          </a:bodyPr>
          <a:lstStyle/>
          <a:p>
            <a:r>
              <a:rPr lang="en-US" sz="3600" b="0" dirty="0">
                <a:latin typeface="Cambria" panose="02040503050406030204" pitchFamily="18" charset="0"/>
                <a:ea typeface="Cambria" panose="02040503050406030204" pitchFamily="18" charset="0"/>
                <a:cs typeface="+mj-cs"/>
              </a:rPr>
              <a:t>Session Agenda</a:t>
            </a:r>
            <a:endParaRPr lang="en-IN" sz="3600" b="0" dirty="0">
              <a:latin typeface="Cambria" panose="02040503050406030204" pitchFamily="18" charset="0"/>
              <a:ea typeface="Cambria" panose="02040503050406030204" pitchFamily="18" charset="0"/>
              <a:cs typeface="+mj-cs"/>
            </a:endParaRPr>
          </a:p>
        </p:txBody>
      </p:sp>
      <p:sp>
        <p:nvSpPr>
          <p:cNvPr id="4" name="Content Placeholder 1">
            <a:extLst>
              <a:ext uri="{FF2B5EF4-FFF2-40B4-BE49-F238E27FC236}">
                <a16:creationId xmlns:a16="http://schemas.microsoft.com/office/drawing/2014/main" id="{DAE25A65-091A-BB4D-BD2F-B0842C5A69A8}"/>
              </a:ext>
            </a:extLst>
          </p:cNvPr>
          <p:cNvSpPr txBox="1">
            <a:spLocks/>
          </p:cNvSpPr>
          <p:nvPr/>
        </p:nvSpPr>
        <p:spPr bwMode="auto">
          <a:xfrm>
            <a:off x="1560963" y="1524000"/>
            <a:ext cx="8610600" cy="45259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lvl1pPr marL="0" indent="-257175" algn="l" rtl="0" fontAlgn="base">
              <a:lnSpc>
                <a:spcPts val="2700"/>
              </a:lnSpc>
              <a:spcBef>
                <a:spcPts val="0"/>
              </a:spcBef>
              <a:spcAft>
                <a:spcPct val="0"/>
              </a:spcAft>
              <a:buFont typeface="Arial" charset="0"/>
              <a:buNone/>
              <a:defRPr sz="2700" b="1" kern="1200" spc="-113" baseline="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00025" indent="-457200">
              <a:buFont typeface="Arial" panose="020B0604020202020204" pitchFamily="34" charset="0"/>
              <a:buChar char="•"/>
            </a:pPr>
            <a:endParaRPr lang="en-IN" sz="2400" b="0" dirty="0">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69F19DB4-CBD2-249B-34D0-89C204AFB9EC}"/>
              </a:ext>
            </a:extLst>
          </p:cNvPr>
          <p:cNvSpPr txBox="1"/>
          <p:nvPr/>
        </p:nvSpPr>
        <p:spPr>
          <a:xfrm>
            <a:off x="406399" y="1523999"/>
            <a:ext cx="11459779" cy="4893647"/>
          </a:xfrm>
          <a:prstGeom prst="rect">
            <a:avLst/>
          </a:prstGeom>
          <a:noFill/>
        </p:spPr>
        <p:txBody>
          <a:bodyPr wrap="square">
            <a:spAutoFit/>
          </a:bodyPr>
          <a:lstStyle/>
          <a:p>
            <a:pPr marL="285750" indent="-285750">
              <a:buFont typeface="Arial" panose="020B0604020202020204" pitchFamily="34" charset="0"/>
              <a:buChar char="•"/>
            </a:pPr>
            <a:r>
              <a:rPr lang="en-IN" sz="2400" dirty="0">
                <a:latin typeface="Cambria" panose="02040503050406030204" pitchFamily="18" charset="0"/>
                <a:ea typeface="Cambria" panose="02040503050406030204" pitchFamily="18" charset="0"/>
              </a:rPr>
              <a:t>Designing systems around model intelligence</a:t>
            </a:r>
          </a:p>
          <a:p>
            <a:pPr marL="285750" indent="-285750">
              <a:buFont typeface="Arial" panose="020B0604020202020204" pitchFamily="34" charset="0"/>
              <a:buChar char="•"/>
            </a:pPr>
            <a:r>
              <a:rPr lang="en-IN" sz="2400" dirty="0">
                <a:latin typeface="Cambria" panose="02040503050406030204" pitchFamily="18" charset="0"/>
                <a:ea typeface="Cambria" panose="02040503050406030204" pitchFamily="18" charset="0"/>
              </a:rPr>
              <a:t>LLM-powered autonomous agent system</a:t>
            </a:r>
          </a:p>
          <a:p>
            <a:pPr marL="285750" indent="-285750">
              <a:buFont typeface="Arial" panose="020B0604020202020204" pitchFamily="34" charset="0"/>
              <a:buChar char="•"/>
            </a:pPr>
            <a:r>
              <a:rPr lang="en-US" sz="2400" dirty="0">
                <a:latin typeface="Cambria" panose="02040503050406030204" pitchFamily="18" charset="0"/>
                <a:ea typeface="Cambria" panose="02040503050406030204" pitchFamily="18" charset="0"/>
              </a:rPr>
              <a:t>Agent Execution Loop (</a:t>
            </a:r>
            <a:r>
              <a:rPr lang="en-US" sz="2400" dirty="0" err="1">
                <a:latin typeface="Cambria" panose="02040503050406030204" pitchFamily="18" charset="0"/>
                <a:ea typeface="Cambria" panose="02040503050406030204" pitchFamily="18" charset="0"/>
              </a:rPr>
              <a:t>ReAct</a:t>
            </a:r>
            <a:r>
              <a:rPr lang="en-US" sz="2400" dirty="0">
                <a:latin typeface="Cambria" panose="02040503050406030204" pitchFamily="18" charset="0"/>
                <a:ea typeface="Cambria" panose="02040503050406030204" pitchFamily="18" charset="0"/>
              </a:rPr>
              <a:t>) </a:t>
            </a:r>
          </a:p>
          <a:p>
            <a:pPr marL="285750" indent="-285750">
              <a:buFont typeface="Arial" panose="020B0604020202020204" pitchFamily="34" charset="0"/>
              <a:buChar char="•"/>
            </a:pPr>
            <a:r>
              <a:rPr lang="en-US" sz="2400" dirty="0">
                <a:latin typeface="Cambria" panose="02040503050406030204" pitchFamily="18" charset="0"/>
                <a:ea typeface="Cambria" panose="02040503050406030204" pitchFamily="18" charset="0"/>
              </a:rPr>
              <a:t>Multi-Agent Systems</a:t>
            </a:r>
          </a:p>
          <a:p>
            <a:pPr marL="285750" indent="-285750">
              <a:buFont typeface="Arial" panose="020B0604020202020204" pitchFamily="34" charset="0"/>
              <a:buChar char="•"/>
            </a:pPr>
            <a:r>
              <a:rPr lang="en-IN" sz="2400" kern="0" dirty="0">
                <a:latin typeface="Cambria" panose="02040503050406030204" pitchFamily="18" charset="0"/>
                <a:ea typeface="Cambria" panose="02040503050406030204" pitchFamily="18" charset="0"/>
              </a:rPr>
              <a:t>Agent memory </a:t>
            </a:r>
          </a:p>
          <a:p>
            <a:pPr marL="285750" indent="-285750">
              <a:buFont typeface="Arial" panose="020B0604020202020204" pitchFamily="34" charset="0"/>
              <a:buChar char="•"/>
            </a:pPr>
            <a:r>
              <a:rPr lang="en-US" sz="2400" dirty="0">
                <a:latin typeface="Cambria" panose="02040503050406030204" pitchFamily="18" charset="0"/>
                <a:ea typeface="Cambria" panose="02040503050406030204" pitchFamily="18" charset="0"/>
                <a:cs typeface="Cambria" pitchFamily="34" charset="-120"/>
              </a:rPr>
              <a:t>Two Mental Models of an Agent</a:t>
            </a:r>
          </a:p>
          <a:p>
            <a:pPr marL="285750" indent="-285750">
              <a:buFont typeface="Arial" panose="020B0604020202020204" pitchFamily="34" charset="0"/>
              <a:buChar char="•"/>
            </a:pPr>
            <a:r>
              <a:rPr lang="en-IN" sz="2400" dirty="0">
                <a:latin typeface="Cambria" panose="02040503050406030204" pitchFamily="18" charset="0"/>
                <a:ea typeface="Cambria" panose="02040503050406030204" pitchFamily="18" charset="0"/>
              </a:rPr>
              <a:t>Harness engineering</a:t>
            </a:r>
          </a:p>
          <a:p>
            <a:pPr marL="285750" indent="-285750">
              <a:buFont typeface="Arial" panose="020B0604020202020204" pitchFamily="34" charset="0"/>
              <a:buChar char="•"/>
            </a:pPr>
            <a:r>
              <a:rPr lang="en-IN" sz="2400" dirty="0">
                <a:latin typeface="Cambria" panose="02040503050406030204" pitchFamily="18" charset="0"/>
                <a:ea typeface="Cambria" panose="02040503050406030204" pitchFamily="18" charset="0"/>
              </a:rPr>
              <a:t>Sample </a:t>
            </a:r>
            <a:r>
              <a:rPr lang="en-IN" sz="2400">
                <a:latin typeface="Cambria" panose="02040503050406030204" pitchFamily="18" charset="0"/>
                <a:ea typeface="Cambria" panose="02040503050406030204" pitchFamily="18" charset="0"/>
              </a:rPr>
              <a:t>Case studies</a:t>
            </a:r>
            <a:endParaRPr lang="en-IN" sz="24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endParaRPr lang="en-IN" sz="24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endParaRPr lang="en-US" sz="24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endParaRPr lang="en-US" sz="24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endParaRPr lang="en-US" sz="24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endParaRPr lang="en-IN"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8574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0FB909-6EF2-B121-A049-6774F3997CCB}"/>
              </a:ext>
            </a:extLst>
          </p:cNvPr>
          <p:cNvSpPr>
            <a:spLocks noGrp="1"/>
          </p:cNvSpPr>
          <p:nvPr>
            <p:ph idx="10"/>
          </p:nvPr>
        </p:nvSpPr>
        <p:spPr>
          <a:xfrm>
            <a:off x="92926" y="1545224"/>
            <a:ext cx="6309603" cy="4525963"/>
          </a:xfrm>
        </p:spPr>
        <p:txBody>
          <a:bodyPr>
            <a:normAutofit fontScale="92500"/>
          </a:bodyPr>
          <a:lstStyle/>
          <a:p>
            <a:pPr marL="342900" indent="-342900">
              <a:buFont typeface="Arial" panose="020B0604020202020204" pitchFamily="34" charset="0"/>
              <a:buChar char="•"/>
            </a:pPr>
            <a:r>
              <a:rPr lang="en-IN" dirty="0"/>
              <a:t>Models (mostly) take in data like text, images, audio, video and they output text. That's it. </a:t>
            </a:r>
          </a:p>
          <a:p>
            <a:pPr marL="342900" indent="-342900">
              <a:buFont typeface="Arial" panose="020B0604020202020204" pitchFamily="34" charset="0"/>
              <a:buChar char="•"/>
            </a:pPr>
            <a:r>
              <a:rPr lang="en-IN" dirty="0"/>
              <a:t>Out of the box they cannot:</a:t>
            </a:r>
          </a:p>
          <a:p>
            <a:pPr marL="800100" lvl="1" indent="-342900">
              <a:buFont typeface="Arial" panose="020B0604020202020204" pitchFamily="34" charset="0"/>
              <a:buChar char="•"/>
            </a:pPr>
            <a:r>
              <a:rPr lang="en-IN" dirty="0"/>
              <a:t>Maintain durable state across interactions</a:t>
            </a:r>
          </a:p>
          <a:p>
            <a:pPr marL="800100" lvl="1" indent="-342900">
              <a:buFont typeface="Arial" panose="020B0604020202020204" pitchFamily="34" charset="0"/>
              <a:buChar char="•"/>
            </a:pPr>
            <a:r>
              <a:rPr lang="en-IN" dirty="0"/>
              <a:t>Execute code</a:t>
            </a:r>
          </a:p>
          <a:p>
            <a:pPr marL="800100" lvl="1" indent="-342900">
              <a:buFont typeface="Arial" panose="020B0604020202020204" pitchFamily="34" charset="0"/>
              <a:buChar char="•"/>
            </a:pPr>
            <a:r>
              <a:rPr lang="en-IN" dirty="0"/>
              <a:t>Access </a:t>
            </a:r>
            <a:r>
              <a:rPr lang="en-IN" dirty="0" err="1"/>
              <a:t>realtime</a:t>
            </a:r>
            <a:r>
              <a:rPr lang="en-IN" dirty="0"/>
              <a:t> knowledge</a:t>
            </a:r>
          </a:p>
          <a:p>
            <a:pPr marL="800100" lvl="1" indent="-342900">
              <a:buFont typeface="Arial" panose="020B0604020202020204" pitchFamily="34" charset="0"/>
              <a:buChar char="•"/>
            </a:pPr>
            <a:r>
              <a:rPr lang="en-IN" dirty="0"/>
              <a:t>Setup environments and install packages to complete work</a:t>
            </a:r>
          </a:p>
          <a:p>
            <a:pPr marL="342900" indent="-342900">
              <a:buFont typeface="Arial" panose="020B0604020202020204" pitchFamily="34" charset="0"/>
              <a:buChar char="•"/>
            </a:pPr>
            <a:r>
              <a:rPr lang="en-IN" dirty="0"/>
              <a:t>These are all harness level features. The structure of LLMs requires some sort of machinery that wraps them to do useful work.</a:t>
            </a:r>
          </a:p>
        </p:txBody>
      </p:sp>
      <p:sp>
        <p:nvSpPr>
          <p:cNvPr id="3" name="Title 2">
            <a:extLst>
              <a:ext uri="{FF2B5EF4-FFF2-40B4-BE49-F238E27FC236}">
                <a16:creationId xmlns:a16="http://schemas.microsoft.com/office/drawing/2014/main" id="{1E2AA8D4-3D8A-47AD-C643-A5998BA96C7F}"/>
              </a:ext>
            </a:extLst>
          </p:cNvPr>
          <p:cNvSpPr>
            <a:spLocks noGrp="1"/>
          </p:cNvSpPr>
          <p:nvPr>
            <p:ph type="title"/>
          </p:nvPr>
        </p:nvSpPr>
        <p:spPr/>
        <p:txBody>
          <a:bodyPr/>
          <a:lstStyle/>
          <a:p>
            <a:r>
              <a:rPr lang="en-IN" dirty="0">
                <a:solidFill>
                  <a:srgbClr val="030710"/>
                </a:solidFill>
                <a:latin typeface="Twklausanne"/>
              </a:rPr>
              <a:t>Designing systems around model intelligence</a:t>
            </a:r>
            <a:br>
              <a:rPr lang="en-IN" dirty="0"/>
            </a:br>
            <a:endParaRPr lang="en-IN" dirty="0"/>
          </a:p>
        </p:txBody>
      </p:sp>
      <p:pic>
        <p:nvPicPr>
          <p:cNvPr id="5" name="Picture 4">
            <a:extLst>
              <a:ext uri="{FF2B5EF4-FFF2-40B4-BE49-F238E27FC236}">
                <a16:creationId xmlns:a16="http://schemas.microsoft.com/office/drawing/2014/main" id="{54DDB69D-7135-7389-F073-9D5743FEFF58}"/>
              </a:ext>
            </a:extLst>
          </p:cNvPr>
          <p:cNvPicPr>
            <a:picLocks noChangeAspect="1"/>
          </p:cNvPicPr>
          <p:nvPr/>
        </p:nvPicPr>
        <p:blipFill>
          <a:blip r:embed="rId3"/>
          <a:stretch>
            <a:fillRect/>
          </a:stretch>
        </p:blipFill>
        <p:spPr>
          <a:xfrm>
            <a:off x="6238758" y="1349239"/>
            <a:ext cx="5860316" cy="4917747"/>
          </a:xfrm>
          <a:prstGeom prst="rect">
            <a:avLst/>
          </a:prstGeom>
        </p:spPr>
      </p:pic>
    </p:spTree>
    <p:extLst>
      <p:ext uri="{BB962C8B-B14F-4D97-AF65-F5344CB8AC3E}">
        <p14:creationId xmlns:p14="http://schemas.microsoft.com/office/powerpoint/2010/main" val="2295409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DD5F5-148B-E5FE-6272-92060F25BDE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AAC5604-E3CD-F1DF-CD62-70014F107099}"/>
              </a:ext>
            </a:extLst>
          </p:cNvPr>
          <p:cNvPicPr>
            <a:picLocks noGrp="1" noChangeAspect="1"/>
          </p:cNvPicPr>
          <p:nvPr>
            <p:ph idx="10"/>
          </p:nvPr>
        </p:nvPicPr>
        <p:blipFill>
          <a:blip r:embed="rId3"/>
          <a:stretch>
            <a:fillRect/>
          </a:stretch>
        </p:blipFill>
        <p:spPr>
          <a:xfrm>
            <a:off x="148482" y="1567603"/>
            <a:ext cx="6875449" cy="3159118"/>
          </a:xfrm>
          <a:prstGeom prst="rect">
            <a:avLst/>
          </a:prstGeom>
        </p:spPr>
      </p:pic>
      <p:sp>
        <p:nvSpPr>
          <p:cNvPr id="3" name="Title 2">
            <a:extLst>
              <a:ext uri="{FF2B5EF4-FFF2-40B4-BE49-F238E27FC236}">
                <a16:creationId xmlns:a16="http://schemas.microsoft.com/office/drawing/2014/main" id="{1B52DB3A-0018-204D-2C13-0509C01682EE}"/>
              </a:ext>
            </a:extLst>
          </p:cNvPr>
          <p:cNvSpPr>
            <a:spLocks noGrp="1"/>
          </p:cNvSpPr>
          <p:nvPr>
            <p:ph type="title"/>
          </p:nvPr>
        </p:nvSpPr>
        <p:spPr/>
        <p:txBody>
          <a:bodyPr/>
          <a:lstStyle/>
          <a:p>
            <a:r>
              <a:rPr lang="en-US" dirty="0"/>
              <a:t>Agentic AI</a:t>
            </a:r>
            <a:endParaRPr lang="en-IN" dirty="0"/>
          </a:p>
        </p:txBody>
      </p:sp>
      <p:sp>
        <p:nvSpPr>
          <p:cNvPr id="6" name="TextBox 5">
            <a:extLst>
              <a:ext uri="{FF2B5EF4-FFF2-40B4-BE49-F238E27FC236}">
                <a16:creationId xmlns:a16="http://schemas.microsoft.com/office/drawing/2014/main" id="{F4E1293C-0387-7FFC-CE7A-1A8D76E982B5}"/>
              </a:ext>
            </a:extLst>
          </p:cNvPr>
          <p:cNvSpPr txBox="1"/>
          <p:nvPr/>
        </p:nvSpPr>
        <p:spPr>
          <a:xfrm>
            <a:off x="304801" y="4926726"/>
            <a:ext cx="11695249" cy="1631216"/>
          </a:xfrm>
          <a:prstGeom prst="rect">
            <a:avLst/>
          </a:prstGeom>
          <a:noFill/>
        </p:spPr>
        <p:txBody>
          <a:bodyPr wrap="square">
            <a:spAutoFit/>
          </a:bodyPr>
          <a:lstStyle/>
          <a:p>
            <a:pPr marL="0" marR="0" indent="0" algn="l">
              <a:buNone/>
            </a:pPr>
            <a:r>
              <a:rPr lang="en-IN" sz="2000" b="0" i="0" dirty="0">
                <a:solidFill>
                  <a:srgbClr val="3D4F58"/>
                </a:solidFill>
                <a:effectLst/>
                <a:latin typeface="Cambria" panose="02040503050406030204" pitchFamily="18" charset="0"/>
                <a:ea typeface="Cambria" panose="02040503050406030204" pitchFamily="18" charset="0"/>
              </a:rPr>
              <a:t> </a:t>
            </a:r>
            <a:r>
              <a:rPr lang="en-IN" sz="2000" b="0" i="0" u="none" strike="noStrike" dirty="0">
                <a:solidFill>
                  <a:srgbClr val="006CFA"/>
                </a:solidFill>
                <a:effectLst/>
                <a:latin typeface="Cambria" panose="02040503050406030204" pitchFamily="18" charset="0"/>
                <a:ea typeface="Cambria" panose="02040503050406030204" pitchFamily="18" charset="0"/>
              </a:rPr>
              <a:t>AI Agent</a:t>
            </a:r>
            <a:r>
              <a:rPr lang="en-IN" sz="2000" b="0" i="0" dirty="0">
                <a:solidFill>
                  <a:srgbClr val="3D4F58"/>
                </a:solidFill>
                <a:effectLst/>
                <a:latin typeface="Cambria" panose="02040503050406030204" pitchFamily="18" charset="0"/>
                <a:ea typeface="Cambria" panose="02040503050406030204" pitchFamily="18" charset="0"/>
              </a:rPr>
              <a:t> as a computational entity aware of its environment and equipped with four core faculties:</a:t>
            </a:r>
          </a:p>
          <a:p>
            <a:pPr marL="0" marR="0" indent="0" algn="l">
              <a:buFont typeface="+mj-lt"/>
              <a:buAutoNum type="arabicPeriod"/>
            </a:pPr>
            <a:r>
              <a:rPr lang="en-IN" sz="2000" b="1" i="0" dirty="0">
                <a:solidFill>
                  <a:srgbClr val="3D4F58"/>
                </a:solidFill>
                <a:effectLst/>
                <a:latin typeface="Cambria" panose="02040503050406030204" pitchFamily="18" charset="0"/>
                <a:ea typeface="Cambria" panose="02040503050406030204" pitchFamily="18" charset="0"/>
              </a:rPr>
              <a:t>cognitive abilities</a:t>
            </a:r>
            <a:r>
              <a:rPr lang="en-IN" sz="2000" b="0" i="0" dirty="0">
                <a:solidFill>
                  <a:srgbClr val="3D4F58"/>
                </a:solidFill>
                <a:effectLst/>
                <a:latin typeface="Cambria" panose="02040503050406030204" pitchFamily="18" charset="0"/>
                <a:ea typeface="Cambria" panose="02040503050406030204" pitchFamily="18" charset="0"/>
              </a:rPr>
              <a:t> via an LLM</a:t>
            </a:r>
          </a:p>
          <a:p>
            <a:pPr marL="0" marR="0" indent="0" algn="l">
              <a:buFont typeface="+mj-lt"/>
              <a:buAutoNum type="arabicPeriod"/>
            </a:pPr>
            <a:r>
              <a:rPr lang="en-IN" sz="2000" b="1" i="0" dirty="0">
                <a:solidFill>
                  <a:srgbClr val="3D4F58"/>
                </a:solidFill>
                <a:effectLst/>
                <a:latin typeface="Cambria" panose="02040503050406030204" pitchFamily="18" charset="0"/>
                <a:ea typeface="Cambria" panose="02040503050406030204" pitchFamily="18" charset="0"/>
              </a:rPr>
              <a:t>action</a:t>
            </a:r>
            <a:r>
              <a:rPr lang="en-IN" sz="2000" b="0" i="0" dirty="0">
                <a:solidFill>
                  <a:srgbClr val="3D4F58"/>
                </a:solidFill>
                <a:effectLst/>
                <a:latin typeface="Cambria" panose="02040503050406030204" pitchFamily="18" charset="0"/>
                <a:ea typeface="Cambria" panose="02040503050406030204" pitchFamily="18" charset="0"/>
              </a:rPr>
              <a:t> through tool use</a:t>
            </a:r>
          </a:p>
          <a:p>
            <a:pPr marL="0" marR="0" indent="0" algn="l">
              <a:buFont typeface="+mj-lt"/>
              <a:buAutoNum type="arabicPeriod"/>
            </a:pPr>
            <a:r>
              <a:rPr lang="en-IN" sz="2000" b="1" i="0" dirty="0">
                <a:solidFill>
                  <a:srgbClr val="3D4F58"/>
                </a:solidFill>
                <a:effectLst/>
                <a:latin typeface="Cambria" panose="02040503050406030204" pitchFamily="18" charset="0"/>
                <a:ea typeface="Cambria" panose="02040503050406030204" pitchFamily="18" charset="0"/>
              </a:rPr>
              <a:t>memory</a:t>
            </a:r>
            <a:r>
              <a:rPr lang="en-IN" sz="2000" b="0" i="0" dirty="0">
                <a:solidFill>
                  <a:srgbClr val="3D4F58"/>
                </a:solidFill>
                <a:effectLst/>
                <a:latin typeface="Cambria" panose="02040503050406030204" pitchFamily="18" charset="0"/>
                <a:ea typeface="Cambria" panose="02040503050406030204" pitchFamily="18" charset="0"/>
              </a:rPr>
              <a:t> for short-term and long-term persistence of information,</a:t>
            </a:r>
          </a:p>
          <a:p>
            <a:pPr marL="0" marR="0" indent="0" algn="l">
              <a:buFont typeface="+mj-lt"/>
              <a:buAutoNum type="arabicPeriod"/>
            </a:pPr>
            <a:r>
              <a:rPr lang="en-IN" sz="2000" b="0" i="0" dirty="0">
                <a:solidFill>
                  <a:srgbClr val="3D4F58"/>
                </a:solidFill>
                <a:effectLst/>
                <a:latin typeface="Cambria" panose="02040503050406030204" pitchFamily="18" charset="0"/>
                <a:ea typeface="Cambria" panose="02040503050406030204" pitchFamily="18" charset="0"/>
              </a:rPr>
              <a:t>and </a:t>
            </a:r>
            <a:r>
              <a:rPr lang="en-IN" sz="2000" b="1" i="0" dirty="0">
                <a:solidFill>
                  <a:srgbClr val="3D4F58"/>
                </a:solidFill>
                <a:effectLst/>
                <a:latin typeface="Cambria" panose="02040503050406030204" pitchFamily="18" charset="0"/>
                <a:ea typeface="Cambria" panose="02040503050406030204" pitchFamily="18" charset="0"/>
              </a:rPr>
              <a:t>perception</a:t>
            </a:r>
            <a:r>
              <a:rPr lang="en-IN" sz="2000" b="0" i="0" dirty="0">
                <a:solidFill>
                  <a:srgbClr val="3D4F58"/>
                </a:solidFill>
                <a:effectLst/>
                <a:latin typeface="Cambria" panose="02040503050406030204" pitchFamily="18" charset="0"/>
                <a:ea typeface="Cambria" panose="02040503050406030204" pitchFamily="18" charset="0"/>
              </a:rPr>
              <a:t> through multi-modal inputs.</a:t>
            </a:r>
          </a:p>
        </p:txBody>
      </p:sp>
      <p:sp>
        <p:nvSpPr>
          <p:cNvPr id="8" name="TextBox 7">
            <a:extLst>
              <a:ext uri="{FF2B5EF4-FFF2-40B4-BE49-F238E27FC236}">
                <a16:creationId xmlns:a16="http://schemas.microsoft.com/office/drawing/2014/main" id="{5316E24F-385C-AA34-8E0C-3A11DA0030F0}"/>
              </a:ext>
            </a:extLst>
          </p:cNvPr>
          <p:cNvSpPr txBox="1"/>
          <p:nvPr/>
        </p:nvSpPr>
        <p:spPr>
          <a:xfrm>
            <a:off x="7101990" y="1408224"/>
            <a:ext cx="5090010" cy="3170099"/>
          </a:xfrm>
          <a:prstGeom prst="rect">
            <a:avLst/>
          </a:prstGeom>
          <a:noFill/>
        </p:spPr>
        <p:txBody>
          <a:bodyPr wrap="square">
            <a:spAutoFit/>
          </a:bodyPr>
          <a:lstStyle>
            <a:defPPr>
              <a:defRPr lang="en-US"/>
            </a:defPPr>
            <a:lvl1pPr marR="0" indent="0">
              <a:lnSpc>
                <a:spcPts val="2400"/>
              </a:lnSpc>
              <a:spcBef>
                <a:spcPts val="2400"/>
              </a:spcBef>
              <a:buNone/>
              <a:defRPr sz="2000" b="0" i="0">
                <a:solidFill>
                  <a:srgbClr val="3D4F58"/>
                </a:solidFill>
                <a:effectLst/>
                <a:latin typeface="Cambria" panose="02040503050406030204" pitchFamily="18" charset="0"/>
                <a:ea typeface="Cambria" panose="02040503050406030204" pitchFamily="18" charset="0"/>
              </a:defRPr>
            </a:lvl1pPr>
          </a:lstStyle>
          <a:p>
            <a:pPr marL="342900" indent="-342900">
              <a:lnSpc>
                <a:spcPct val="100000"/>
              </a:lnSpc>
              <a:spcBef>
                <a:spcPts val="0"/>
              </a:spcBef>
              <a:buFont typeface="Arial" panose="020B0604020202020204" pitchFamily="34" charset="0"/>
              <a:buChar char="•"/>
            </a:pPr>
            <a:r>
              <a:rPr lang="en-IN" dirty="0"/>
              <a:t>Agent: term comes from reinforcement learning, where an agent is simply a function that takes an observation and returns an action. </a:t>
            </a:r>
          </a:p>
          <a:p>
            <a:pPr marL="342900" indent="-342900">
              <a:lnSpc>
                <a:spcPct val="100000"/>
              </a:lnSpc>
              <a:spcBef>
                <a:spcPts val="0"/>
              </a:spcBef>
              <a:buFont typeface="Arial" panose="020B0604020202020204" pitchFamily="34" charset="0"/>
              <a:buChar char="•"/>
            </a:pPr>
            <a:r>
              <a:rPr lang="en-IN" dirty="0"/>
              <a:t>The environment takes that action and returns a new observation, and the loop repeats. </a:t>
            </a:r>
          </a:p>
          <a:p>
            <a:pPr marL="342900" indent="-342900">
              <a:lnSpc>
                <a:spcPct val="100000"/>
              </a:lnSpc>
              <a:spcBef>
                <a:spcPts val="0"/>
              </a:spcBef>
              <a:buFont typeface="Arial" panose="020B0604020202020204" pitchFamily="34" charset="0"/>
              <a:buChar char="•"/>
            </a:pPr>
            <a:r>
              <a:rPr lang="en-IN" dirty="0"/>
              <a:t>That loop is still at the core of how LLM agents work.</a:t>
            </a:r>
          </a:p>
          <a:p>
            <a:pPr marL="342900" indent="-342900">
              <a:lnSpc>
                <a:spcPct val="100000"/>
              </a:lnSpc>
              <a:spcBef>
                <a:spcPts val="0"/>
              </a:spcBef>
              <a:buFont typeface="Arial" panose="020B0604020202020204" pitchFamily="34" charset="0"/>
              <a:buChar char="•"/>
            </a:pPr>
            <a:r>
              <a:rPr lang="en-IN" dirty="0"/>
              <a:t>In the LLM world, the term has expanded. </a:t>
            </a:r>
          </a:p>
        </p:txBody>
      </p:sp>
    </p:spTree>
    <p:extLst>
      <p:ext uri="{BB962C8B-B14F-4D97-AF65-F5344CB8AC3E}">
        <p14:creationId xmlns:p14="http://schemas.microsoft.com/office/powerpoint/2010/main" val="1363318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B4FC436-71F2-21BA-4247-0E71A52BA5D0}"/>
              </a:ext>
            </a:extLst>
          </p:cNvPr>
          <p:cNvPicPr>
            <a:picLocks noGrp="1" noChangeAspect="1"/>
          </p:cNvPicPr>
          <p:nvPr>
            <p:ph idx="10"/>
          </p:nvPr>
        </p:nvPicPr>
        <p:blipFill>
          <a:blip r:embed="rId2"/>
          <a:stretch>
            <a:fillRect/>
          </a:stretch>
        </p:blipFill>
        <p:spPr>
          <a:xfrm>
            <a:off x="179106" y="2554014"/>
            <a:ext cx="8427811" cy="3343299"/>
          </a:xfrm>
          <a:prstGeom prst="rect">
            <a:avLst/>
          </a:prstGeom>
        </p:spPr>
      </p:pic>
      <p:sp>
        <p:nvSpPr>
          <p:cNvPr id="3" name="Title 2">
            <a:extLst>
              <a:ext uri="{FF2B5EF4-FFF2-40B4-BE49-F238E27FC236}">
                <a16:creationId xmlns:a16="http://schemas.microsoft.com/office/drawing/2014/main" id="{ABA78D31-6ED7-6CFB-09BE-779BAF3DAC86}"/>
              </a:ext>
            </a:extLst>
          </p:cNvPr>
          <p:cNvSpPr>
            <a:spLocks noGrp="1"/>
          </p:cNvSpPr>
          <p:nvPr>
            <p:ph type="title"/>
          </p:nvPr>
        </p:nvSpPr>
        <p:spPr/>
        <p:txBody>
          <a:bodyPr/>
          <a:lstStyle/>
          <a:p>
            <a:r>
              <a:rPr lang="en-IN" dirty="0"/>
              <a:t>LLM-powered autonomous agent system</a:t>
            </a:r>
          </a:p>
        </p:txBody>
      </p:sp>
      <p:sp>
        <p:nvSpPr>
          <p:cNvPr id="5" name="TextBox 4">
            <a:extLst>
              <a:ext uri="{FF2B5EF4-FFF2-40B4-BE49-F238E27FC236}">
                <a16:creationId xmlns:a16="http://schemas.microsoft.com/office/drawing/2014/main" id="{3DB2BE87-C451-8592-1DC3-A996E7A0D50B}"/>
              </a:ext>
            </a:extLst>
          </p:cNvPr>
          <p:cNvSpPr txBox="1"/>
          <p:nvPr/>
        </p:nvSpPr>
        <p:spPr>
          <a:xfrm>
            <a:off x="304800" y="1385423"/>
            <a:ext cx="11409075" cy="646331"/>
          </a:xfrm>
          <a:prstGeom prst="rect">
            <a:avLst/>
          </a:prstGeom>
          <a:noFill/>
        </p:spPr>
        <p:txBody>
          <a:bodyPr wrap="square">
            <a:spAutoFit/>
          </a:bodyPr>
          <a:lstStyle/>
          <a:p>
            <a:r>
              <a:rPr lang="en-IN" dirty="0"/>
              <a:t>Augmentation view — what you add around a base LLM (Memory, Planning, Tools, Action) to turn a text generator into an autonomous agent.</a:t>
            </a:r>
          </a:p>
        </p:txBody>
      </p:sp>
      <p:sp>
        <p:nvSpPr>
          <p:cNvPr id="6" name="TextBox 5">
            <a:extLst>
              <a:ext uri="{FF2B5EF4-FFF2-40B4-BE49-F238E27FC236}">
                <a16:creationId xmlns:a16="http://schemas.microsoft.com/office/drawing/2014/main" id="{56C54EEE-F95F-FCB3-5A52-D33B5A5ABB0B}"/>
              </a:ext>
            </a:extLst>
          </p:cNvPr>
          <p:cNvSpPr txBox="1"/>
          <p:nvPr/>
        </p:nvSpPr>
        <p:spPr>
          <a:xfrm>
            <a:off x="8606917" y="2113894"/>
            <a:ext cx="3468413" cy="1938992"/>
          </a:xfrm>
          <a:prstGeom prst="rect">
            <a:avLst/>
          </a:prstGeom>
          <a:noFill/>
        </p:spPr>
        <p:txBody>
          <a:bodyPr wrap="square">
            <a:spAutoFit/>
          </a:bodyPr>
          <a:lstStyle/>
          <a:p>
            <a:pPr marL="0" lvl="8"/>
            <a:r>
              <a:rPr lang="en-US" sz="2000" dirty="0"/>
              <a:t>Single agent components</a:t>
            </a:r>
            <a:endParaRPr lang="en-IN" sz="2000" dirty="0"/>
          </a:p>
          <a:p>
            <a:pPr marL="285750" lvl="8" indent="-285750">
              <a:buFont typeface="Arial" panose="020B0604020202020204" pitchFamily="34" charset="0"/>
              <a:buChar char="•"/>
            </a:pPr>
            <a:r>
              <a:rPr lang="en-IN" sz="2000" dirty="0"/>
              <a:t>Profile and Persona</a:t>
            </a:r>
          </a:p>
          <a:p>
            <a:pPr marL="285750" lvl="7" indent="-285750">
              <a:buFont typeface="Arial" panose="020B0604020202020204" pitchFamily="34" charset="0"/>
              <a:buChar char="•"/>
            </a:pPr>
            <a:r>
              <a:rPr lang="en-IN" sz="2000" dirty="0"/>
              <a:t>Actions and Tool Use</a:t>
            </a:r>
          </a:p>
          <a:p>
            <a:pPr marL="285750" lvl="8" indent="-285750">
              <a:buFont typeface="Arial" panose="020B0604020202020204" pitchFamily="34" charset="0"/>
              <a:buChar char="•"/>
            </a:pPr>
            <a:r>
              <a:rPr lang="en-IN" sz="2000" dirty="0"/>
              <a:t>Reasoning and Evaluation</a:t>
            </a:r>
          </a:p>
          <a:p>
            <a:pPr marL="285750" lvl="8" indent="-285750">
              <a:buFont typeface="Arial" panose="020B0604020202020204" pitchFamily="34" charset="0"/>
              <a:buChar char="•"/>
            </a:pPr>
            <a:r>
              <a:rPr lang="en-IN" sz="2000" dirty="0"/>
              <a:t>Memory and Knowledge</a:t>
            </a:r>
          </a:p>
          <a:p>
            <a:pPr marL="285750" lvl="8" indent="-285750">
              <a:buFont typeface="Arial" panose="020B0604020202020204" pitchFamily="34" charset="0"/>
              <a:buChar char="•"/>
            </a:pPr>
            <a:r>
              <a:rPr lang="en-IN" sz="2000" dirty="0"/>
              <a:t>Planning and Feedback</a:t>
            </a:r>
          </a:p>
        </p:txBody>
      </p:sp>
    </p:spTree>
    <p:extLst>
      <p:ext uri="{BB962C8B-B14F-4D97-AF65-F5344CB8AC3E}">
        <p14:creationId xmlns:p14="http://schemas.microsoft.com/office/powerpoint/2010/main" val="2656233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10312" y="0"/>
            <a:ext cx="11064240" cy="685800"/>
          </a:xfrm>
          <a:prstGeom prst="rect">
            <a:avLst/>
          </a:prstGeom>
        </p:spPr>
        <p:txBody>
          <a:bodyPr vert="horz" lIns="91440" tIns="45720" rIns="91440" bIns="45720" rtlCol="0" anchor="ctr">
            <a:normAutofit/>
          </a:bodyPr>
          <a:lstStyle/>
          <a:p>
            <a:r>
              <a:rPr lang="en-US" sz="3600" dirty="0">
                <a:latin typeface="Cambria" panose="02040503050406030204" pitchFamily="18" charset="0"/>
                <a:ea typeface="Cambria" panose="02040503050406030204" pitchFamily="18" charset="0"/>
                <a:cs typeface="+mj-cs"/>
              </a:rPr>
              <a:t>Agent Execution Loop (</a:t>
            </a:r>
            <a:r>
              <a:rPr lang="en-US" sz="3600" dirty="0" err="1">
                <a:latin typeface="Cambria" panose="02040503050406030204" pitchFamily="18" charset="0"/>
                <a:ea typeface="Cambria" panose="02040503050406030204" pitchFamily="18" charset="0"/>
                <a:cs typeface="+mj-cs"/>
              </a:rPr>
              <a:t>ReAct</a:t>
            </a:r>
            <a:r>
              <a:rPr lang="en-US" sz="3600" dirty="0">
                <a:latin typeface="Cambria" panose="02040503050406030204" pitchFamily="18" charset="0"/>
                <a:ea typeface="Cambria" panose="02040503050406030204" pitchFamily="18" charset="0"/>
                <a:cs typeface="+mj-cs"/>
              </a:rPr>
              <a:t>) </a:t>
            </a:r>
          </a:p>
        </p:txBody>
      </p:sp>
      <p:sp>
        <p:nvSpPr>
          <p:cNvPr id="3" name="Text 1"/>
          <p:cNvSpPr/>
          <p:nvPr/>
        </p:nvSpPr>
        <p:spPr>
          <a:xfrm>
            <a:off x="640080" y="1371600"/>
            <a:ext cx="2514600" cy="1600200"/>
          </a:xfrm>
          <a:prstGeom prst="roundRect">
            <a:avLst>
              <a:gd name="adj" fmla="val 6857"/>
            </a:avLst>
          </a:prstGeom>
          <a:solidFill>
            <a:srgbClr val="0D3B3B"/>
          </a:solidFill>
          <a:ln>
            <a:solidFill>
              <a:srgbClr val="0D3B3B"/>
            </a:solidFill>
          </a:ln>
        </p:spPr>
        <p:txBody>
          <a:bodyPr wrap="square" lIns="0" tIns="0" rIns="0" bIns="0" rtlCol="0" anchor="ctr"/>
          <a:lstStyle/>
          <a:p>
            <a:pPr marL="0" indent="0" algn="ctr">
              <a:buNone/>
            </a:pPr>
            <a:r>
              <a:rPr lang="en-US" sz="2200" b="1" dirty="0">
                <a:solidFill>
                  <a:srgbClr val="F5F1E8"/>
                </a:solidFill>
                <a:latin typeface="Cambria" pitchFamily="34" charset="0"/>
                <a:ea typeface="Cambria" pitchFamily="34" charset="-122"/>
                <a:cs typeface="Cambria" pitchFamily="34" charset="-120"/>
              </a:rPr>
              <a:t>Perceive
</a:t>
            </a:r>
            <a:r>
              <a:rPr lang="en-US" sz="1400" i="1" dirty="0">
                <a:solidFill>
                  <a:srgbClr val="D9D0BE"/>
                </a:solidFill>
                <a:latin typeface="Cambria" pitchFamily="34" charset="0"/>
                <a:ea typeface="Cambria" pitchFamily="34" charset="-122"/>
                <a:cs typeface="Cambria" pitchFamily="34" charset="-120"/>
              </a:rPr>
              <a:t>Read context, memory,</a:t>
            </a:r>
            <a:endParaRPr lang="en-US" sz="2200" dirty="0"/>
          </a:p>
          <a:p>
            <a:pPr marL="0" indent="0" algn="ctr">
              <a:buNone/>
            </a:pPr>
            <a:r>
              <a:rPr lang="en-US" sz="1400" i="1" dirty="0">
                <a:solidFill>
                  <a:srgbClr val="D9D0BE"/>
                </a:solidFill>
                <a:latin typeface="Cambria" pitchFamily="34" charset="0"/>
                <a:ea typeface="Cambria" pitchFamily="34" charset="-122"/>
                <a:cs typeface="Cambria" pitchFamily="34" charset="-120"/>
              </a:rPr>
              <a:t>goal, tool schemas</a:t>
            </a:r>
            <a:endParaRPr lang="en-US" sz="2200" dirty="0"/>
          </a:p>
        </p:txBody>
      </p:sp>
      <p:sp>
        <p:nvSpPr>
          <p:cNvPr id="4" name="Text 2"/>
          <p:cNvSpPr/>
          <p:nvPr/>
        </p:nvSpPr>
        <p:spPr>
          <a:xfrm>
            <a:off x="640080" y="3081528"/>
            <a:ext cx="2514600" cy="384048"/>
          </a:xfrm>
          <a:prstGeom prst="roundRect">
            <a:avLst>
              <a:gd name="adj" fmla="val 23810"/>
            </a:avLst>
          </a:prstGeom>
          <a:solidFill>
            <a:srgbClr val="F5F1E8"/>
          </a:solidFill>
          <a:ln w="6350">
            <a:solidFill>
              <a:srgbClr val="D9D0BE"/>
            </a:solidFill>
          </a:ln>
        </p:spPr>
        <p:txBody>
          <a:bodyPr wrap="square" lIns="0" tIns="0" rIns="0" bIns="0" rtlCol="0" anchor="ctr"/>
          <a:lstStyle/>
          <a:p>
            <a:pPr marL="0" indent="0" algn="ctr">
              <a:buNone/>
            </a:pPr>
            <a:r>
              <a:rPr lang="en-US" sz="1400" b="1" dirty="0">
                <a:solidFill>
                  <a:srgbClr val="0D3B3B"/>
                </a:solidFill>
                <a:latin typeface="Cambria" pitchFamily="34" charset="0"/>
                <a:ea typeface="Cambria" pitchFamily="34" charset="-122"/>
                <a:cs typeface="Cambria" pitchFamily="34" charset="-120"/>
              </a:rPr>
              <a:t>Memory (read)</a:t>
            </a:r>
            <a:endParaRPr lang="en-US" sz="1400" dirty="0"/>
          </a:p>
        </p:txBody>
      </p:sp>
      <p:sp>
        <p:nvSpPr>
          <p:cNvPr id="5" name="Shape 3"/>
          <p:cNvSpPr/>
          <p:nvPr/>
        </p:nvSpPr>
        <p:spPr>
          <a:xfrm>
            <a:off x="3172968" y="2007108"/>
            <a:ext cx="292608" cy="329184"/>
          </a:xfrm>
          <a:prstGeom prst="rightArrow">
            <a:avLst/>
          </a:prstGeom>
          <a:solidFill>
            <a:srgbClr val="6B7280"/>
          </a:solidFill>
          <a:ln w="12700">
            <a:solidFill>
              <a:srgbClr val="6B7280"/>
            </a:solidFill>
            <a:prstDash val="solid"/>
          </a:ln>
        </p:spPr>
        <p:txBody>
          <a:bodyPr/>
          <a:lstStyle/>
          <a:p>
            <a:endParaRPr lang="en-IN"/>
          </a:p>
        </p:txBody>
      </p:sp>
      <p:sp>
        <p:nvSpPr>
          <p:cNvPr id="6" name="Text 4"/>
          <p:cNvSpPr/>
          <p:nvPr/>
        </p:nvSpPr>
        <p:spPr>
          <a:xfrm>
            <a:off x="3474720" y="1371600"/>
            <a:ext cx="2514600" cy="1600200"/>
          </a:xfrm>
          <a:prstGeom prst="roundRect">
            <a:avLst>
              <a:gd name="adj" fmla="val 6857"/>
            </a:avLst>
          </a:prstGeom>
          <a:solidFill>
            <a:srgbClr val="B8763A"/>
          </a:solidFill>
          <a:ln>
            <a:solidFill>
              <a:srgbClr val="B8763A"/>
            </a:solidFill>
          </a:ln>
        </p:spPr>
        <p:txBody>
          <a:bodyPr wrap="square" lIns="0" tIns="0" rIns="0" bIns="0" rtlCol="0" anchor="ctr"/>
          <a:lstStyle/>
          <a:p>
            <a:pPr marL="0" indent="0" algn="ctr">
              <a:buNone/>
            </a:pPr>
            <a:r>
              <a:rPr lang="en-US" sz="2200" b="1" dirty="0">
                <a:solidFill>
                  <a:srgbClr val="F5F1E8"/>
                </a:solidFill>
                <a:latin typeface="Cambria" pitchFamily="34" charset="0"/>
                <a:ea typeface="Cambria" pitchFamily="34" charset="-122"/>
                <a:cs typeface="Cambria" pitchFamily="34" charset="-120"/>
              </a:rPr>
              <a:t>Reason
</a:t>
            </a:r>
            <a:r>
              <a:rPr lang="en-US" sz="1400" i="1" dirty="0">
                <a:solidFill>
                  <a:srgbClr val="D9D0BE"/>
                </a:solidFill>
                <a:latin typeface="Cambria" pitchFamily="34" charset="0"/>
                <a:ea typeface="Cambria" pitchFamily="34" charset="-122"/>
                <a:cs typeface="Cambria" pitchFamily="34" charset="-120"/>
              </a:rPr>
              <a:t>Decide the next action</a:t>
            </a:r>
            <a:endParaRPr lang="en-US" sz="2200" dirty="0"/>
          </a:p>
          <a:p>
            <a:pPr marL="0" indent="0" algn="ctr">
              <a:buNone/>
            </a:pPr>
            <a:r>
              <a:rPr lang="en-US" sz="1400" i="1" dirty="0">
                <a:solidFill>
                  <a:srgbClr val="D9D0BE"/>
                </a:solidFill>
                <a:latin typeface="Cambria" pitchFamily="34" charset="0"/>
                <a:ea typeface="Cambria" pitchFamily="34" charset="-122"/>
                <a:cs typeface="Cambria" pitchFamily="34" charset="-120"/>
              </a:rPr>
              <a:t>from current context</a:t>
            </a:r>
            <a:endParaRPr lang="en-US" sz="2200" dirty="0"/>
          </a:p>
        </p:txBody>
      </p:sp>
      <p:sp>
        <p:nvSpPr>
          <p:cNvPr id="7" name="Text 5"/>
          <p:cNvSpPr/>
          <p:nvPr/>
        </p:nvSpPr>
        <p:spPr>
          <a:xfrm>
            <a:off x="3474720" y="3081528"/>
            <a:ext cx="2514600" cy="384048"/>
          </a:xfrm>
          <a:prstGeom prst="roundRect">
            <a:avLst>
              <a:gd name="adj" fmla="val 23810"/>
            </a:avLst>
          </a:prstGeom>
          <a:solidFill>
            <a:srgbClr val="F5F1E8"/>
          </a:solidFill>
          <a:ln w="6350">
            <a:solidFill>
              <a:srgbClr val="D9D0BE"/>
            </a:solidFill>
          </a:ln>
        </p:spPr>
        <p:txBody>
          <a:bodyPr wrap="square" lIns="0" tIns="0" rIns="0" bIns="0" rtlCol="0" anchor="ctr"/>
          <a:lstStyle/>
          <a:p>
            <a:pPr marL="0" indent="0" algn="ctr">
              <a:buNone/>
            </a:pPr>
            <a:r>
              <a:rPr lang="en-US" sz="1400" b="1" dirty="0">
                <a:solidFill>
                  <a:srgbClr val="0D3B3B"/>
                </a:solidFill>
                <a:latin typeface="Cambria" pitchFamily="34" charset="0"/>
                <a:ea typeface="Cambria" pitchFamily="34" charset="-122"/>
                <a:cs typeface="Cambria" pitchFamily="34" charset="-120"/>
              </a:rPr>
              <a:t>Planning</a:t>
            </a:r>
            <a:endParaRPr lang="en-US" sz="1400" dirty="0"/>
          </a:p>
        </p:txBody>
      </p:sp>
      <p:sp>
        <p:nvSpPr>
          <p:cNvPr id="8" name="Shape 6"/>
          <p:cNvSpPr/>
          <p:nvPr/>
        </p:nvSpPr>
        <p:spPr>
          <a:xfrm>
            <a:off x="6007608" y="2007108"/>
            <a:ext cx="292608" cy="329184"/>
          </a:xfrm>
          <a:prstGeom prst="rightArrow">
            <a:avLst/>
          </a:prstGeom>
          <a:solidFill>
            <a:srgbClr val="6B7280"/>
          </a:solidFill>
          <a:ln w="12700">
            <a:solidFill>
              <a:srgbClr val="6B7280"/>
            </a:solidFill>
            <a:prstDash val="solid"/>
          </a:ln>
        </p:spPr>
        <p:txBody>
          <a:bodyPr/>
          <a:lstStyle/>
          <a:p>
            <a:endParaRPr lang="en-IN"/>
          </a:p>
        </p:txBody>
      </p:sp>
      <p:sp>
        <p:nvSpPr>
          <p:cNvPr id="9" name="Text 7"/>
          <p:cNvSpPr/>
          <p:nvPr/>
        </p:nvSpPr>
        <p:spPr>
          <a:xfrm>
            <a:off x="6309360" y="1371600"/>
            <a:ext cx="2514600" cy="1600200"/>
          </a:xfrm>
          <a:prstGeom prst="roundRect">
            <a:avLst>
              <a:gd name="adj" fmla="val 6857"/>
            </a:avLst>
          </a:prstGeom>
          <a:solidFill>
            <a:srgbClr val="0D3B3B"/>
          </a:solidFill>
          <a:ln>
            <a:solidFill>
              <a:srgbClr val="0D3B3B"/>
            </a:solidFill>
          </a:ln>
        </p:spPr>
        <p:txBody>
          <a:bodyPr wrap="square" lIns="0" tIns="0" rIns="0" bIns="0" rtlCol="0" anchor="ctr"/>
          <a:lstStyle/>
          <a:p>
            <a:pPr marL="0" indent="0" algn="ctr">
              <a:buNone/>
            </a:pPr>
            <a:r>
              <a:rPr lang="en-US" sz="2200" b="1" dirty="0">
                <a:solidFill>
                  <a:srgbClr val="F5F1E8"/>
                </a:solidFill>
                <a:latin typeface="Cambria" pitchFamily="34" charset="0"/>
                <a:ea typeface="Cambria" pitchFamily="34" charset="-122"/>
                <a:cs typeface="Cambria" pitchFamily="34" charset="-120"/>
              </a:rPr>
              <a:t>Act
</a:t>
            </a:r>
            <a:r>
              <a:rPr lang="en-US" sz="1400" i="1" dirty="0">
                <a:solidFill>
                  <a:srgbClr val="D9D0BE"/>
                </a:solidFill>
                <a:latin typeface="Cambria" pitchFamily="34" charset="0"/>
                <a:ea typeface="Cambria" pitchFamily="34" charset="-122"/>
                <a:cs typeface="Cambria" pitchFamily="34" charset="-120"/>
              </a:rPr>
              <a:t>Invoke the selected</a:t>
            </a:r>
            <a:endParaRPr lang="en-US" sz="2200" dirty="0"/>
          </a:p>
          <a:p>
            <a:pPr marL="0" indent="0" algn="ctr">
              <a:buNone/>
            </a:pPr>
            <a:r>
              <a:rPr lang="en-US" sz="1400" i="1" dirty="0">
                <a:solidFill>
                  <a:srgbClr val="D9D0BE"/>
                </a:solidFill>
                <a:latin typeface="Cambria" pitchFamily="34" charset="0"/>
                <a:ea typeface="Cambria" pitchFamily="34" charset="-122"/>
                <a:cs typeface="Cambria" pitchFamily="34" charset="-120"/>
              </a:rPr>
              <a:t>tool or write output</a:t>
            </a:r>
            <a:endParaRPr lang="en-US" sz="2200" dirty="0"/>
          </a:p>
        </p:txBody>
      </p:sp>
      <p:sp>
        <p:nvSpPr>
          <p:cNvPr id="10" name="Text 8"/>
          <p:cNvSpPr/>
          <p:nvPr/>
        </p:nvSpPr>
        <p:spPr>
          <a:xfrm>
            <a:off x="6309360" y="3081528"/>
            <a:ext cx="2514600" cy="384048"/>
          </a:xfrm>
          <a:prstGeom prst="roundRect">
            <a:avLst>
              <a:gd name="adj" fmla="val 23810"/>
            </a:avLst>
          </a:prstGeom>
          <a:solidFill>
            <a:srgbClr val="F5F1E8"/>
          </a:solidFill>
          <a:ln w="6350">
            <a:solidFill>
              <a:srgbClr val="D9D0BE"/>
            </a:solidFill>
          </a:ln>
        </p:spPr>
        <p:txBody>
          <a:bodyPr wrap="square" lIns="0" tIns="0" rIns="0" bIns="0" rtlCol="0" anchor="ctr"/>
          <a:lstStyle/>
          <a:p>
            <a:pPr marL="0" indent="0" algn="ctr">
              <a:buNone/>
            </a:pPr>
            <a:r>
              <a:rPr lang="en-US" sz="1400" b="1" dirty="0">
                <a:solidFill>
                  <a:srgbClr val="0D3B3B"/>
                </a:solidFill>
                <a:latin typeface="Cambria" pitchFamily="34" charset="0"/>
                <a:ea typeface="Cambria" pitchFamily="34" charset="-122"/>
                <a:cs typeface="Cambria" pitchFamily="34" charset="-120"/>
              </a:rPr>
              <a:t>Tools + Action</a:t>
            </a:r>
            <a:endParaRPr lang="en-US" sz="1400" dirty="0"/>
          </a:p>
        </p:txBody>
      </p:sp>
      <p:sp>
        <p:nvSpPr>
          <p:cNvPr id="11" name="Shape 9"/>
          <p:cNvSpPr/>
          <p:nvPr/>
        </p:nvSpPr>
        <p:spPr>
          <a:xfrm>
            <a:off x="8842248" y="2007108"/>
            <a:ext cx="292608" cy="329184"/>
          </a:xfrm>
          <a:prstGeom prst="rightArrow">
            <a:avLst/>
          </a:prstGeom>
          <a:solidFill>
            <a:srgbClr val="6B7280"/>
          </a:solidFill>
          <a:ln w="12700">
            <a:solidFill>
              <a:srgbClr val="6B7280"/>
            </a:solidFill>
            <a:prstDash val="solid"/>
          </a:ln>
        </p:spPr>
        <p:txBody>
          <a:bodyPr/>
          <a:lstStyle/>
          <a:p>
            <a:endParaRPr lang="en-IN"/>
          </a:p>
        </p:txBody>
      </p:sp>
      <p:sp>
        <p:nvSpPr>
          <p:cNvPr id="12" name="Text 10"/>
          <p:cNvSpPr/>
          <p:nvPr/>
        </p:nvSpPr>
        <p:spPr>
          <a:xfrm>
            <a:off x="9144000" y="1371600"/>
            <a:ext cx="2514600" cy="1600200"/>
          </a:xfrm>
          <a:prstGeom prst="roundRect">
            <a:avLst>
              <a:gd name="adj" fmla="val 6857"/>
            </a:avLst>
          </a:prstGeom>
          <a:solidFill>
            <a:srgbClr val="B8763A"/>
          </a:solidFill>
          <a:ln>
            <a:solidFill>
              <a:srgbClr val="B8763A"/>
            </a:solidFill>
          </a:ln>
        </p:spPr>
        <p:txBody>
          <a:bodyPr wrap="square" lIns="0" tIns="0" rIns="0" bIns="0" rtlCol="0" anchor="ctr"/>
          <a:lstStyle/>
          <a:p>
            <a:pPr marL="0" indent="0" algn="ctr">
              <a:buNone/>
            </a:pPr>
            <a:r>
              <a:rPr lang="en-US" sz="2200" b="1" dirty="0">
                <a:solidFill>
                  <a:srgbClr val="F5F1E8"/>
                </a:solidFill>
                <a:latin typeface="Cambria" pitchFamily="34" charset="0"/>
                <a:ea typeface="Cambria" pitchFamily="34" charset="-122"/>
                <a:cs typeface="Cambria" pitchFamily="34" charset="-120"/>
              </a:rPr>
              <a:t>Observe
</a:t>
            </a:r>
            <a:r>
              <a:rPr lang="en-US" sz="1400" i="1" dirty="0">
                <a:solidFill>
                  <a:srgbClr val="D9D0BE"/>
                </a:solidFill>
                <a:latin typeface="Cambria" pitchFamily="34" charset="0"/>
                <a:ea typeface="Cambria" pitchFamily="34" charset="-122"/>
                <a:cs typeface="Cambria" pitchFamily="34" charset="-120"/>
              </a:rPr>
              <a:t>Append result;</a:t>
            </a:r>
            <a:endParaRPr lang="en-US" sz="2200" dirty="0"/>
          </a:p>
          <a:p>
            <a:pPr marL="0" indent="0" algn="ctr">
              <a:buNone/>
            </a:pPr>
            <a:r>
              <a:rPr lang="en-US" sz="1400" i="1" dirty="0">
                <a:solidFill>
                  <a:srgbClr val="D9D0BE"/>
                </a:solidFill>
                <a:latin typeface="Cambria" pitchFamily="34" charset="0"/>
                <a:ea typeface="Cambria" pitchFamily="34" charset="-122"/>
                <a:cs typeface="Cambria" pitchFamily="34" charset="-120"/>
              </a:rPr>
              <a:t>persist what matters</a:t>
            </a:r>
            <a:endParaRPr lang="en-US" sz="2200" dirty="0"/>
          </a:p>
        </p:txBody>
      </p:sp>
      <p:sp>
        <p:nvSpPr>
          <p:cNvPr id="13" name="Text 11"/>
          <p:cNvSpPr/>
          <p:nvPr/>
        </p:nvSpPr>
        <p:spPr>
          <a:xfrm>
            <a:off x="9144000" y="3081528"/>
            <a:ext cx="2514600" cy="384048"/>
          </a:xfrm>
          <a:prstGeom prst="roundRect">
            <a:avLst>
              <a:gd name="adj" fmla="val 23810"/>
            </a:avLst>
          </a:prstGeom>
          <a:solidFill>
            <a:srgbClr val="F5F1E8"/>
          </a:solidFill>
          <a:ln w="6350">
            <a:solidFill>
              <a:srgbClr val="D9D0BE"/>
            </a:solidFill>
          </a:ln>
        </p:spPr>
        <p:txBody>
          <a:bodyPr wrap="square" lIns="0" tIns="0" rIns="0" bIns="0" rtlCol="0" anchor="ctr"/>
          <a:lstStyle/>
          <a:p>
            <a:pPr marL="0" indent="0" algn="ctr">
              <a:buNone/>
            </a:pPr>
            <a:r>
              <a:rPr lang="en-US" sz="1400" b="1" dirty="0">
                <a:solidFill>
                  <a:srgbClr val="0D3B3B"/>
                </a:solidFill>
                <a:latin typeface="Cambria" pitchFamily="34" charset="0"/>
                <a:ea typeface="Cambria" pitchFamily="34" charset="-122"/>
                <a:cs typeface="Cambria" pitchFamily="34" charset="-120"/>
              </a:rPr>
              <a:t>Memory (write)</a:t>
            </a:r>
            <a:endParaRPr lang="en-US" sz="1400" dirty="0"/>
          </a:p>
        </p:txBody>
      </p:sp>
      <p:sp>
        <p:nvSpPr>
          <p:cNvPr id="14" name="Text 12"/>
          <p:cNvSpPr/>
          <p:nvPr/>
        </p:nvSpPr>
        <p:spPr>
          <a:xfrm>
            <a:off x="640080" y="3566160"/>
            <a:ext cx="10881360" cy="365760"/>
          </a:xfrm>
          <a:prstGeom prst="rect">
            <a:avLst/>
          </a:prstGeom>
          <a:noFill/>
          <a:ln/>
        </p:spPr>
        <p:txBody>
          <a:bodyPr wrap="square" lIns="0" tIns="0" rIns="0" bIns="0" rtlCol="0" anchor="ctr"/>
          <a:lstStyle/>
          <a:p>
            <a:pPr marL="0" indent="0" algn="ctr">
              <a:buNone/>
            </a:pPr>
            <a:r>
              <a:rPr lang="en-US" sz="1600" i="1" dirty="0">
                <a:solidFill>
                  <a:srgbClr val="6B7280"/>
                </a:solidFill>
                <a:latin typeface="Cambria" pitchFamily="34" charset="0"/>
                <a:ea typeface="Cambria" pitchFamily="34" charset="-122"/>
                <a:cs typeface="Cambria" pitchFamily="34" charset="-120"/>
              </a:rPr>
              <a:t>↻   repeats until the goal is met, the budget is spent, or the step cap is hit</a:t>
            </a:r>
            <a:endParaRPr lang="en-US" sz="1600" dirty="0"/>
          </a:p>
        </p:txBody>
      </p:sp>
      <p:sp>
        <p:nvSpPr>
          <p:cNvPr id="20" name="TextBox 19">
            <a:extLst>
              <a:ext uri="{FF2B5EF4-FFF2-40B4-BE49-F238E27FC236}">
                <a16:creationId xmlns:a16="http://schemas.microsoft.com/office/drawing/2014/main" id="{AEDAB6FE-D44B-C884-3098-B09A6C80AA28}"/>
              </a:ext>
            </a:extLst>
          </p:cNvPr>
          <p:cNvSpPr txBox="1"/>
          <p:nvPr/>
        </p:nvSpPr>
        <p:spPr>
          <a:xfrm>
            <a:off x="107442" y="685800"/>
            <a:ext cx="11782044" cy="400110"/>
          </a:xfrm>
          <a:prstGeom prst="rect">
            <a:avLst/>
          </a:prstGeom>
          <a:noFill/>
        </p:spPr>
        <p:txBody>
          <a:bodyPr wrap="square">
            <a:spAutoFit/>
          </a:bodyPr>
          <a:lstStyle/>
          <a:p>
            <a:r>
              <a:rPr lang="en-IN" sz="2000" dirty="0"/>
              <a:t>what agent does on a single iteration, re-using those same components on every turn until goal is met.</a:t>
            </a:r>
          </a:p>
        </p:txBody>
      </p:sp>
      <p:sp>
        <p:nvSpPr>
          <p:cNvPr id="22" name="Text 13">
            <a:extLst>
              <a:ext uri="{FF2B5EF4-FFF2-40B4-BE49-F238E27FC236}">
                <a16:creationId xmlns:a16="http://schemas.microsoft.com/office/drawing/2014/main" id="{9F773148-ACE2-F91C-E2E1-9F7689361DE7}"/>
              </a:ext>
            </a:extLst>
          </p:cNvPr>
          <p:cNvSpPr/>
          <p:nvPr/>
        </p:nvSpPr>
        <p:spPr>
          <a:xfrm>
            <a:off x="116967" y="4517136"/>
            <a:ext cx="11958066" cy="1810512"/>
          </a:xfrm>
          <a:prstGeom prst="rect">
            <a:avLst/>
          </a:prstGeom>
          <a:noFill/>
          <a:ln/>
        </p:spPr>
        <p:txBody>
          <a:bodyPr wrap="square" lIns="0" tIns="0" rIns="0" bIns="0" rtlCol="0" anchor="t"/>
          <a:lstStyle/>
          <a:p>
            <a:pPr>
              <a:spcAft>
                <a:spcPts val="800"/>
              </a:spcAft>
            </a:pPr>
            <a:r>
              <a:rPr lang="en-US" sz="2000" dirty="0">
                <a:latin typeface="Cambria" pitchFamily="34" charset="0"/>
                <a:ea typeface="Cambria" pitchFamily="34" charset="-122"/>
                <a:cs typeface="Cambria" pitchFamily="34" charset="-120"/>
              </a:rPr>
              <a:t>Perceive→ Memory (read)→  Read short-term context </a:t>
            </a:r>
            <a:r>
              <a:rPr lang="en-US" sz="2000" dirty="0">
                <a:latin typeface="Cambria" pitchFamily="34" charset="0"/>
                <a:ea typeface="Cambria" pitchFamily="34" charset="-122"/>
              </a:rPr>
              <a:t>(</a:t>
            </a:r>
            <a:r>
              <a:rPr lang="en-IN" sz="2000" dirty="0">
                <a:latin typeface="Cambria" pitchFamily="34" charset="0"/>
                <a:ea typeface="Cambria" pitchFamily="34" charset="-122"/>
              </a:rPr>
              <a:t>in-context learning)</a:t>
            </a:r>
            <a:r>
              <a:rPr lang="en-US" sz="2000" dirty="0">
                <a:latin typeface="Cambria" pitchFamily="34" charset="0"/>
                <a:ea typeface="Cambria" pitchFamily="34" charset="-122"/>
              </a:rPr>
              <a:t>, retrieved long-term memory, environment state</a:t>
            </a:r>
          </a:p>
          <a:p>
            <a:pPr>
              <a:spcAft>
                <a:spcPts val="800"/>
              </a:spcAft>
            </a:pPr>
            <a:r>
              <a:rPr lang="en-US" sz="2000" dirty="0">
                <a:latin typeface="Cambria" pitchFamily="34" charset="0"/>
                <a:ea typeface="Cambria" pitchFamily="34" charset="-122"/>
                <a:cs typeface="Cambria" pitchFamily="34" charset="-120"/>
              </a:rPr>
              <a:t>Reason→ Planning →  Apply </a:t>
            </a:r>
            <a:r>
              <a:rPr lang="en-US" sz="2000" dirty="0" err="1">
                <a:latin typeface="Cambria" pitchFamily="34" charset="0"/>
                <a:ea typeface="Cambria" pitchFamily="34" charset="-122"/>
                <a:cs typeface="Cambria" pitchFamily="34" charset="-120"/>
              </a:rPr>
              <a:t>CoT</a:t>
            </a:r>
            <a:r>
              <a:rPr lang="en-US" sz="2000" dirty="0">
                <a:latin typeface="Cambria" pitchFamily="34" charset="0"/>
                <a:ea typeface="Cambria" pitchFamily="34" charset="-122"/>
                <a:cs typeface="Cambria" pitchFamily="34" charset="-120"/>
              </a:rPr>
              <a:t> / </a:t>
            </a:r>
            <a:r>
              <a:rPr lang="en-US" sz="2000" dirty="0" err="1">
                <a:latin typeface="Cambria" pitchFamily="34" charset="0"/>
                <a:ea typeface="Cambria" pitchFamily="34" charset="-122"/>
                <a:cs typeface="Cambria" pitchFamily="34" charset="-120"/>
              </a:rPr>
              <a:t>ToT</a:t>
            </a:r>
            <a:r>
              <a:rPr lang="en-US" sz="2000" dirty="0">
                <a:latin typeface="Cambria" pitchFamily="34" charset="0"/>
                <a:ea typeface="Cambria" pitchFamily="34" charset="-122"/>
                <a:cs typeface="Cambria" pitchFamily="34" charset="-120"/>
              </a:rPr>
              <a:t> / reflection / subgoal decomposition to pick the next action</a:t>
            </a:r>
          </a:p>
          <a:p>
            <a:pPr>
              <a:spcAft>
                <a:spcPts val="800"/>
              </a:spcAft>
            </a:pPr>
            <a:r>
              <a:rPr lang="en-US" sz="2000" dirty="0">
                <a:latin typeface="Cambria" pitchFamily="34" charset="0"/>
                <a:ea typeface="Cambria" pitchFamily="34" charset="-122"/>
                <a:cs typeface="Cambria" pitchFamily="34" charset="-120"/>
              </a:rPr>
              <a:t>Act →  Tools + Action  →  Select from available tool schemas; invoke the chosen one</a:t>
            </a:r>
          </a:p>
          <a:p>
            <a:pPr>
              <a:spcAft>
                <a:spcPts val="800"/>
              </a:spcAft>
            </a:pPr>
            <a:r>
              <a:rPr lang="en-US" sz="2000" dirty="0">
                <a:latin typeface="Cambria" pitchFamily="34" charset="0"/>
                <a:ea typeface="Cambria" pitchFamily="34" charset="-122"/>
                <a:cs typeface="Cambria" pitchFamily="34" charset="-120"/>
              </a:rPr>
              <a:t>Observe   →  Memory (write)     →  Append tool result to context; optionally persist to long-term store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45720"/>
            <a:ext cx="11247120" cy="731520"/>
          </a:xfrm>
          <a:prstGeom prst="rect">
            <a:avLst/>
          </a:prstGeom>
        </p:spPr>
        <p:txBody>
          <a:bodyPr vert="horz" lIns="91440" tIns="45720" rIns="91440" bIns="45720" rtlCol="0" anchor="ctr">
            <a:normAutofit/>
          </a:bodyPr>
          <a:lstStyle/>
          <a:p>
            <a:r>
              <a:rPr lang="en-US" sz="3600" dirty="0">
                <a:latin typeface="Cambria" panose="02040503050406030204" pitchFamily="18" charset="0"/>
                <a:ea typeface="Cambria" panose="02040503050406030204" pitchFamily="18" charset="0"/>
                <a:cs typeface="+mj-cs"/>
              </a:rPr>
              <a:t>Modern ReAct — same skeleton, seven upgrades</a:t>
            </a:r>
          </a:p>
        </p:txBody>
      </p:sp>
      <p:grpSp>
        <p:nvGrpSpPr>
          <p:cNvPr id="50" name="Group 49">
            <a:extLst>
              <a:ext uri="{FF2B5EF4-FFF2-40B4-BE49-F238E27FC236}">
                <a16:creationId xmlns:a16="http://schemas.microsoft.com/office/drawing/2014/main" id="{D0161F0B-74D4-8C34-6626-508C8FD63394}"/>
              </a:ext>
            </a:extLst>
          </p:cNvPr>
          <p:cNvGrpSpPr/>
          <p:nvPr/>
        </p:nvGrpSpPr>
        <p:grpSpPr>
          <a:xfrm>
            <a:off x="379563" y="1463039"/>
            <a:ext cx="11728354" cy="4979801"/>
            <a:chOff x="457200" y="1965960"/>
            <a:chExt cx="11247120" cy="4389120"/>
          </a:xfrm>
        </p:grpSpPr>
        <p:sp>
          <p:nvSpPr>
            <p:cNvPr id="6" name="Shape 4"/>
            <p:cNvSpPr/>
            <p:nvPr/>
          </p:nvSpPr>
          <p:spPr>
            <a:xfrm>
              <a:off x="457200" y="1965960"/>
              <a:ext cx="2674620" cy="2103120"/>
            </a:xfrm>
            <a:prstGeom prst="rect">
              <a:avLst/>
            </a:prstGeom>
            <a:solidFill>
              <a:srgbClr val="0891B2"/>
            </a:solidFill>
            <a:ln/>
          </p:spPr>
          <p:txBody>
            <a:bodyPr/>
            <a:lstStyle/>
            <a:p>
              <a:endParaRPr lang="en-IN" sz="2000"/>
            </a:p>
          </p:txBody>
        </p:sp>
        <p:sp>
          <p:nvSpPr>
            <p:cNvPr id="7" name="Shape 5"/>
            <p:cNvSpPr/>
            <p:nvPr/>
          </p:nvSpPr>
          <p:spPr>
            <a:xfrm>
              <a:off x="594360" y="2103120"/>
              <a:ext cx="365760" cy="365760"/>
            </a:xfrm>
            <a:prstGeom prst="roundRect">
              <a:avLst>
                <a:gd name="adj" fmla="val 12500"/>
              </a:avLst>
            </a:prstGeom>
            <a:solidFill>
              <a:srgbClr val="F59E0B"/>
            </a:solidFill>
            <a:ln/>
          </p:spPr>
          <p:txBody>
            <a:bodyPr/>
            <a:lstStyle/>
            <a:p>
              <a:endParaRPr lang="en-IN" sz="2000"/>
            </a:p>
          </p:txBody>
        </p:sp>
        <p:sp>
          <p:nvSpPr>
            <p:cNvPr id="8" name="Text 6"/>
            <p:cNvSpPr/>
            <p:nvPr/>
          </p:nvSpPr>
          <p:spPr>
            <a:xfrm>
              <a:off x="594360" y="2103120"/>
              <a:ext cx="365760" cy="365760"/>
            </a:xfrm>
            <a:prstGeom prst="rect">
              <a:avLst/>
            </a:prstGeom>
            <a:noFill/>
            <a:ln/>
          </p:spPr>
          <p:txBody>
            <a:bodyPr wrap="square" lIns="0" tIns="0" rIns="0" bIns="0" rtlCol="0" anchor="ctr"/>
            <a:lstStyle/>
            <a:p>
              <a:pPr marL="0" indent="0" algn="ctr">
                <a:buNone/>
              </a:pPr>
              <a:r>
                <a:rPr lang="en-US" sz="2000" b="1" dirty="0">
                  <a:solidFill>
                    <a:srgbClr val="1E2761"/>
                  </a:solidFill>
                  <a:ea typeface="Cambria" pitchFamily="34" charset="-122"/>
                  <a:cs typeface="Cambria" pitchFamily="34" charset="-120"/>
                </a:rPr>
                <a:t>1</a:t>
              </a:r>
              <a:endParaRPr lang="en-US" sz="2000" dirty="0"/>
            </a:p>
          </p:txBody>
        </p:sp>
        <p:sp>
          <p:nvSpPr>
            <p:cNvPr id="9" name="Text 7"/>
            <p:cNvSpPr/>
            <p:nvPr/>
          </p:nvSpPr>
          <p:spPr>
            <a:xfrm>
              <a:off x="1051560" y="2084832"/>
              <a:ext cx="1988820" cy="411480"/>
            </a:xfrm>
            <a:prstGeom prst="rect">
              <a:avLst/>
            </a:prstGeom>
            <a:noFill/>
            <a:ln/>
          </p:spPr>
          <p:txBody>
            <a:bodyPr wrap="square" lIns="0" tIns="0" rIns="0" bIns="0" rtlCol="0" anchor="ctr"/>
            <a:lstStyle/>
            <a:p>
              <a:pPr marL="0" indent="0">
                <a:buNone/>
              </a:pPr>
              <a:r>
                <a:rPr lang="en-US" sz="2000" b="1" dirty="0">
                  <a:solidFill>
                    <a:srgbClr val="FFFFFF"/>
                  </a:solidFill>
                  <a:ea typeface="Cambria" pitchFamily="34" charset="-122"/>
                  <a:cs typeface="Cambria" pitchFamily="34" charset="-120"/>
                </a:rPr>
                <a:t>Structured tool calls</a:t>
              </a:r>
              <a:endParaRPr lang="en-US" sz="2000" dirty="0"/>
            </a:p>
          </p:txBody>
        </p:sp>
        <p:sp>
          <p:nvSpPr>
            <p:cNvPr id="10" name="Text 8"/>
            <p:cNvSpPr/>
            <p:nvPr/>
          </p:nvSpPr>
          <p:spPr>
            <a:xfrm>
              <a:off x="594360" y="2606040"/>
              <a:ext cx="2400300" cy="1051560"/>
            </a:xfrm>
            <a:prstGeom prst="rect">
              <a:avLst/>
            </a:prstGeom>
            <a:noFill/>
            <a:ln/>
          </p:spPr>
          <p:txBody>
            <a:bodyPr wrap="square" lIns="0" tIns="0" rIns="0" bIns="0" rtlCol="0" anchor="t"/>
            <a:lstStyle/>
            <a:p>
              <a:pPr marL="0" indent="0">
                <a:buNone/>
              </a:pPr>
              <a:r>
                <a:rPr lang="en-US" sz="2000" dirty="0">
                  <a:solidFill>
                    <a:srgbClr val="FFFFFF"/>
                  </a:solidFill>
                  <a:ea typeface="Cambria" pitchFamily="34" charset="-122"/>
                  <a:cs typeface="Cambria" pitchFamily="34" charset="-120"/>
                </a:rPr>
                <a:t>Native JSON schemas via bind_tools — not text parsing. </a:t>
              </a:r>
              <a:endParaRPr lang="en-US" sz="2000" dirty="0"/>
            </a:p>
          </p:txBody>
        </p:sp>
        <p:sp>
          <p:nvSpPr>
            <p:cNvPr id="12" name="Shape 10"/>
            <p:cNvSpPr/>
            <p:nvPr/>
          </p:nvSpPr>
          <p:spPr>
            <a:xfrm>
              <a:off x="3314700" y="1965960"/>
              <a:ext cx="2674620" cy="2103120"/>
            </a:xfrm>
            <a:prstGeom prst="rect">
              <a:avLst/>
            </a:prstGeom>
            <a:solidFill>
              <a:srgbClr val="1E2761"/>
            </a:solidFill>
            <a:ln/>
          </p:spPr>
          <p:txBody>
            <a:bodyPr/>
            <a:lstStyle/>
            <a:p>
              <a:endParaRPr lang="en-IN" sz="2000"/>
            </a:p>
          </p:txBody>
        </p:sp>
        <p:sp>
          <p:nvSpPr>
            <p:cNvPr id="13" name="Shape 11"/>
            <p:cNvSpPr/>
            <p:nvPr/>
          </p:nvSpPr>
          <p:spPr>
            <a:xfrm>
              <a:off x="3451860" y="2103120"/>
              <a:ext cx="365760" cy="365760"/>
            </a:xfrm>
            <a:prstGeom prst="roundRect">
              <a:avLst>
                <a:gd name="adj" fmla="val 12500"/>
              </a:avLst>
            </a:prstGeom>
            <a:solidFill>
              <a:srgbClr val="F59E0B"/>
            </a:solidFill>
            <a:ln/>
          </p:spPr>
          <p:txBody>
            <a:bodyPr/>
            <a:lstStyle/>
            <a:p>
              <a:endParaRPr lang="en-IN" sz="2000"/>
            </a:p>
          </p:txBody>
        </p:sp>
        <p:sp>
          <p:nvSpPr>
            <p:cNvPr id="14" name="Text 12"/>
            <p:cNvSpPr/>
            <p:nvPr/>
          </p:nvSpPr>
          <p:spPr>
            <a:xfrm>
              <a:off x="3451860" y="2103120"/>
              <a:ext cx="365760" cy="365760"/>
            </a:xfrm>
            <a:prstGeom prst="rect">
              <a:avLst/>
            </a:prstGeom>
            <a:noFill/>
            <a:ln/>
          </p:spPr>
          <p:txBody>
            <a:bodyPr wrap="square" lIns="0" tIns="0" rIns="0" bIns="0" rtlCol="0" anchor="ctr"/>
            <a:lstStyle/>
            <a:p>
              <a:pPr marL="0" indent="0" algn="ctr">
                <a:buNone/>
              </a:pPr>
              <a:r>
                <a:rPr lang="en-US" sz="2000" b="1" dirty="0">
                  <a:solidFill>
                    <a:srgbClr val="1E2761"/>
                  </a:solidFill>
                  <a:ea typeface="Cambria" pitchFamily="34" charset="-122"/>
                  <a:cs typeface="Cambria" pitchFamily="34" charset="-120"/>
                </a:rPr>
                <a:t>2</a:t>
              </a:r>
              <a:endParaRPr lang="en-US" sz="2000" dirty="0"/>
            </a:p>
          </p:txBody>
        </p:sp>
        <p:sp>
          <p:nvSpPr>
            <p:cNvPr id="15" name="Text 13"/>
            <p:cNvSpPr/>
            <p:nvPr/>
          </p:nvSpPr>
          <p:spPr>
            <a:xfrm>
              <a:off x="3909060" y="2084832"/>
              <a:ext cx="1988820" cy="411480"/>
            </a:xfrm>
            <a:prstGeom prst="rect">
              <a:avLst/>
            </a:prstGeom>
            <a:noFill/>
            <a:ln/>
          </p:spPr>
          <p:txBody>
            <a:bodyPr wrap="square" lIns="0" tIns="0" rIns="0" bIns="0" rtlCol="0" anchor="ctr"/>
            <a:lstStyle/>
            <a:p>
              <a:pPr marL="0" indent="0">
                <a:buNone/>
              </a:pPr>
              <a:r>
                <a:rPr lang="en-US" sz="2000" b="1" dirty="0">
                  <a:solidFill>
                    <a:srgbClr val="FFFFFF"/>
                  </a:solidFill>
                  <a:ea typeface="Cambria" pitchFamily="34" charset="-122"/>
                  <a:cs typeface="Cambria" pitchFamily="34" charset="-120"/>
                </a:rPr>
                <a:t>Parallel tool calls</a:t>
              </a:r>
              <a:endParaRPr lang="en-US" sz="2000" dirty="0"/>
            </a:p>
          </p:txBody>
        </p:sp>
        <p:sp>
          <p:nvSpPr>
            <p:cNvPr id="16" name="Text 14"/>
            <p:cNvSpPr/>
            <p:nvPr/>
          </p:nvSpPr>
          <p:spPr>
            <a:xfrm>
              <a:off x="3451860" y="2606040"/>
              <a:ext cx="2400300" cy="1051560"/>
            </a:xfrm>
            <a:prstGeom prst="rect">
              <a:avLst/>
            </a:prstGeom>
            <a:noFill/>
            <a:ln/>
          </p:spPr>
          <p:txBody>
            <a:bodyPr wrap="square" lIns="0" tIns="0" rIns="0" bIns="0" rtlCol="0" anchor="t"/>
            <a:lstStyle/>
            <a:p>
              <a:pPr marL="0" indent="0">
                <a:buNone/>
              </a:pPr>
              <a:r>
                <a:rPr lang="en-US" sz="2000" dirty="0">
                  <a:solidFill>
                    <a:srgbClr val="FFFFFF"/>
                  </a:solidFill>
                  <a:ea typeface="Cambria" pitchFamily="34" charset="-122"/>
                  <a:cs typeface="Cambria" pitchFamily="34" charset="-120"/>
                </a:rPr>
                <a:t>Multiple actions per turn — read 5 files, run 3 tests, fetch 4 pages concurrently. </a:t>
              </a:r>
              <a:endParaRPr lang="en-US" sz="2000" dirty="0"/>
            </a:p>
          </p:txBody>
        </p:sp>
        <p:sp>
          <p:nvSpPr>
            <p:cNvPr id="18" name="Shape 16"/>
            <p:cNvSpPr/>
            <p:nvPr/>
          </p:nvSpPr>
          <p:spPr>
            <a:xfrm>
              <a:off x="6172200" y="1965960"/>
              <a:ext cx="2674620" cy="2103120"/>
            </a:xfrm>
            <a:prstGeom prst="rect">
              <a:avLst/>
            </a:prstGeom>
            <a:solidFill>
              <a:srgbClr val="0891B2"/>
            </a:solidFill>
            <a:ln/>
          </p:spPr>
          <p:txBody>
            <a:bodyPr/>
            <a:lstStyle/>
            <a:p>
              <a:endParaRPr lang="en-IN" sz="2000"/>
            </a:p>
          </p:txBody>
        </p:sp>
        <p:sp>
          <p:nvSpPr>
            <p:cNvPr id="19" name="Shape 17"/>
            <p:cNvSpPr/>
            <p:nvPr/>
          </p:nvSpPr>
          <p:spPr>
            <a:xfrm>
              <a:off x="6309360" y="2103120"/>
              <a:ext cx="365760" cy="365760"/>
            </a:xfrm>
            <a:prstGeom prst="roundRect">
              <a:avLst>
                <a:gd name="adj" fmla="val 12500"/>
              </a:avLst>
            </a:prstGeom>
            <a:solidFill>
              <a:srgbClr val="F59E0B"/>
            </a:solidFill>
            <a:ln/>
          </p:spPr>
          <p:txBody>
            <a:bodyPr/>
            <a:lstStyle/>
            <a:p>
              <a:endParaRPr lang="en-IN" sz="2000"/>
            </a:p>
          </p:txBody>
        </p:sp>
        <p:sp>
          <p:nvSpPr>
            <p:cNvPr id="20" name="Text 18"/>
            <p:cNvSpPr/>
            <p:nvPr/>
          </p:nvSpPr>
          <p:spPr>
            <a:xfrm>
              <a:off x="6309360" y="2103120"/>
              <a:ext cx="365760" cy="365760"/>
            </a:xfrm>
            <a:prstGeom prst="rect">
              <a:avLst/>
            </a:prstGeom>
            <a:noFill/>
            <a:ln/>
          </p:spPr>
          <p:txBody>
            <a:bodyPr wrap="square" lIns="0" tIns="0" rIns="0" bIns="0" rtlCol="0" anchor="ctr"/>
            <a:lstStyle/>
            <a:p>
              <a:pPr marL="0" indent="0" algn="ctr">
                <a:buNone/>
              </a:pPr>
              <a:r>
                <a:rPr lang="en-US" sz="2000" b="1" dirty="0">
                  <a:solidFill>
                    <a:srgbClr val="1E2761"/>
                  </a:solidFill>
                  <a:ea typeface="Cambria" pitchFamily="34" charset="-122"/>
                  <a:cs typeface="Cambria" pitchFamily="34" charset="-120"/>
                </a:rPr>
                <a:t>3</a:t>
              </a:r>
              <a:endParaRPr lang="en-US" sz="2000" dirty="0"/>
            </a:p>
          </p:txBody>
        </p:sp>
        <p:sp>
          <p:nvSpPr>
            <p:cNvPr id="21" name="Text 19"/>
            <p:cNvSpPr/>
            <p:nvPr/>
          </p:nvSpPr>
          <p:spPr>
            <a:xfrm>
              <a:off x="6766560" y="2084832"/>
              <a:ext cx="1988820" cy="411480"/>
            </a:xfrm>
            <a:prstGeom prst="rect">
              <a:avLst/>
            </a:prstGeom>
            <a:noFill/>
            <a:ln/>
          </p:spPr>
          <p:txBody>
            <a:bodyPr wrap="square" lIns="0" tIns="0" rIns="0" bIns="0" rtlCol="0" anchor="ctr"/>
            <a:lstStyle/>
            <a:p>
              <a:pPr marL="0" indent="0">
                <a:buNone/>
              </a:pPr>
              <a:r>
                <a:rPr lang="en-US" sz="2000" b="1" dirty="0">
                  <a:solidFill>
                    <a:srgbClr val="FFFFFF"/>
                  </a:solidFill>
                  <a:ea typeface="Cambria" pitchFamily="34" charset="-122"/>
                  <a:cs typeface="Cambria" pitchFamily="34" charset="-120"/>
                </a:rPr>
                <a:t>Explicit planning</a:t>
              </a:r>
              <a:endParaRPr lang="en-US" sz="2000" dirty="0"/>
            </a:p>
          </p:txBody>
        </p:sp>
        <p:sp>
          <p:nvSpPr>
            <p:cNvPr id="22" name="Text 20"/>
            <p:cNvSpPr/>
            <p:nvPr/>
          </p:nvSpPr>
          <p:spPr>
            <a:xfrm>
              <a:off x="6309360" y="2606040"/>
              <a:ext cx="2400300" cy="1051560"/>
            </a:xfrm>
            <a:prstGeom prst="rect">
              <a:avLst/>
            </a:prstGeom>
            <a:noFill/>
            <a:ln/>
          </p:spPr>
          <p:txBody>
            <a:bodyPr wrap="square" lIns="0" tIns="0" rIns="0" bIns="0" rtlCol="0" anchor="t"/>
            <a:lstStyle/>
            <a:p>
              <a:pPr marL="0" indent="0">
                <a:buNone/>
              </a:pPr>
              <a:r>
                <a:rPr lang="en-US" sz="2000" dirty="0">
                  <a:solidFill>
                    <a:srgbClr val="FFFFFF"/>
                  </a:solidFill>
                  <a:ea typeface="Cambria" pitchFamily="34" charset="-122"/>
                  <a:cs typeface="Cambria" pitchFamily="34" charset="-120"/>
                </a:rPr>
                <a:t>A plan phase writes plan.md first. If step 1 is wrong, only step 1 fails.</a:t>
              </a:r>
              <a:endParaRPr lang="en-US" sz="2000" dirty="0"/>
            </a:p>
          </p:txBody>
        </p:sp>
        <p:sp>
          <p:nvSpPr>
            <p:cNvPr id="24" name="Shape 22"/>
            <p:cNvSpPr/>
            <p:nvPr/>
          </p:nvSpPr>
          <p:spPr>
            <a:xfrm>
              <a:off x="9029700" y="1965960"/>
              <a:ext cx="2674620" cy="2103120"/>
            </a:xfrm>
            <a:prstGeom prst="rect">
              <a:avLst/>
            </a:prstGeom>
            <a:solidFill>
              <a:srgbClr val="1E2761"/>
            </a:solidFill>
            <a:ln/>
          </p:spPr>
          <p:txBody>
            <a:bodyPr/>
            <a:lstStyle/>
            <a:p>
              <a:endParaRPr lang="en-IN" sz="2000"/>
            </a:p>
          </p:txBody>
        </p:sp>
        <p:sp>
          <p:nvSpPr>
            <p:cNvPr id="25" name="Shape 23"/>
            <p:cNvSpPr/>
            <p:nvPr/>
          </p:nvSpPr>
          <p:spPr>
            <a:xfrm>
              <a:off x="9166860" y="2103120"/>
              <a:ext cx="365760" cy="365760"/>
            </a:xfrm>
            <a:prstGeom prst="roundRect">
              <a:avLst>
                <a:gd name="adj" fmla="val 12500"/>
              </a:avLst>
            </a:prstGeom>
            <a:solidFill>
              <a:srgbClr val="F59E0B"/>
            </a:solidFill>
            <a:ln/>
          </p:spPr>
          <p:txBody>
            <a:bodyPr/>
            <a:lstStyle/>
            <a:p>
              <a:endParaRPr lang="en-IN" sz="2000"/>
            </a:p>
          </p:txBody>
        </p:sp>
        <p:sp>
          <p:nvSpPr>
            <p:cNvPr id="26" name="Text 24"/>
            <p:cNvSpPr/>
            <p:nvPr/>
          </p:nvSpPr>
          <p:spPr>
            <a:xfrm>
              <a:off x="9166860" y="2103120"/>
              <a:ext cx="365760" cy="365760"/>
            </a:xfrm>
            <a:prstGeom prst="rect">
              <a:avLst/>
            </a:prstGeom>
            <a:noFill/>
            <a:ln/>
          </p:spPr>
          <p:txBody>
            <a:bodyPr wrap="square" lIns="0" tIns="0" rIns="0" bIns="0" rtlCol="0" anchor="ctr"/>
            <a:lstStyle/>
            <a:p>
              <a:pPr marL="0" indent="0" algn="ctr">
                <a:buNone/>
              </a:pPr>
              <a:r>
                <a:rPr lang="en-US" sz="2000" b="1" dirty="0">
                  <a:solidFill>
                    <a:srgbClr val="1E2761"/>
                  </a:solidFill>
                  <a:ea typeface="Cambria" pitchFamily="34" charset="-122"/>
                  <a:cs typeface="Cambria" pitchFamily="34" charset="-120"/>
                </a:rPr>
                <a:t>4</a:t>
              </a:r>
              <a:endParaRPr lang="en-US" sz="2000" dirty="0"/>
            </a:p>
          </p:txBody>
        </p:sp>
        <p:sp>
          <p:nvSpPr>
            <p:cNvPr id="27" name="Text 25"/>
            <p:cNvSpPr/>
            <p:nvPr/>
          </p:nvSpPr>
          <p:spPr>
            <a:xfrm>
              <a:off x="9624060" y="2084832"/>
              <a:ext cx="1988820" cy="411480"/>
            </a:xfrm>
            <a:prstGeom prst="rect">
              <a:avLst/>
            </a:prstGeom>
            <a:noFill/>
            <a:ln/>
          </p:spPr>
          <p:txBody>
            <a:bodyPr wrap="square" lIns="0" tIns="0" rIns="0" bIns="0" rtlCol="0" anchor="ctr"/>
            <a:lstStyle/>
            <a:p>
              <a:pPr marL="0" indent="0">
                <a:buNone/>
              </a:pPr>
              <a:r>
                <a:rPr lang="en-US" sz="2000" b="1" dirty="0">
                  <a:solidFill>
                    <a:srgbClr val="FFFFFF"/>
                  </a:solidFill>
                  <a:ea typeface="Cambria" pitchFamily="34" charset="-122"/>
                  <a:cs typeface="Cambria" pitchFamily="34" charset="-120"/>
                </a:rPr>
                <a:t>Reflection &amp; self-critique</a:t>
              </a:r>
              <a:endParaRPr lang="en-US" sz="2000" dirty="0"/>
            </a:p>
          </p:txBody>
        </p:sp>
        <p:sp>
          <p:nvSpPr>
            <p:cNvPr id="28" name="Text 26"/>
            <p:cNvSpPr/>
            <p:nvPr/>
          </p:nvSpPr>
          <p:spPr>
            <a:xfrm>
              <a:off x="9166860" y="2606040"/>
              <a:ext cx="2400300" cy="1051560"/>
            </a:xfrm>
            <a:prstGeom prst="rect">
              <a:avLst/>
            </a:prstGeom>
            <a:noFill/>
            <a:ln/>
          </p:spPr>
          <p:txBody>
            <a:bodyPr wrap="square" lIns="0" tIns="0" rIns="0" bIns="0" rtlCol="0" anchor="t"/>
            <a:lstStyle/>
            <a:p>
              <a:pPr marL="0" indent="0">
                <a:buNone/>
              </a:pPr>
              <a:r>
                <a:rPr lang="en-US" sz="2000" dirty="0">
                  <a:solidFill>
                    <a:srgbClr val="FFFFFF"/>
                  </a:solidFill>
                  <a:ea typeface="Cambria" pitchFamily="34" charset="-122"/>
                  <a:cs typeface="Cambria" pitchFamily="34" charset="-120"/>
                </a:rPr>
                <a:t>Critic pass after each action. On failure, write the lesson to procedural memory and retry.</a:t>
              </a:r>
              <a:endParaRPr lang="en-US" sz="2000" dirty="0"/>
            </a:p>
          </p:txBody>
        </p:sp>
        <p:sp>
          <p:nvSpPr>
            <p:cNvPr id="30" name="Shape 28"/>
            <p:cNvSpPr/>
            <p:nvPr/>
          </p:nvSpPr>
          <p:spPr>
            <a:xfrm>
              <a:off x="457200" y="4251960"/>
              <a:ext cx="2674620" cy="2103120"/>
            </a:xfrm>
            <a:prstGeom prst="rect">
              <a:avLst/>
            </a:prstGeom>
            <a:solidFill>
              <a:srgbClr val="1E2761"/>
            </a:solidFill>
            <a:ln/>
          </p:spPr>
          <p:txBody>
            <a:bodyPr/>
            <a:lstStyle/>
            <a:p>
              <a:endParaRPr lang="en-IN" sz="2000"/>
            </a:p>
          </p:txBody>
        </p:sp>
        <p:sp>
          <p:nvSpPr>
            <p:cNvPr id="31" name="Shape 29"/>
            <p:cNvSpPr/>
            <p:nvPr/>
          </p:nvSpPr>
          <p:spPr>
            <a:xfrm>
              <a:off x="594360" y="4389120"/>
              <a:ext cx="365760" cy="365760"/>
            </a:xfrm>
            <a:prstGeom prst="roundRect">
              <a:avLst>
                <a:gd name="adj" fmla="val 12500"/>
              </a:avLst>
            </a:prstGeom>
            <a:solidFill>
              <a:srgbClr val="F59E0B"/>
            </a:solidFill>
            <a:ln/>
          </p:spPr>
          <p:txBody>
            <a:bodyPr/>
            <a:lstStyle/>
            <a:p>
              <a:endParaRPr lang="en-IN" sz="2000"/>
            </a:p>
          </p:txBody>
        </p:sp>
        <p:sp>
          <p:nvSpPr>
            <p:cNvPr id="32" name="Text 30"/>
            <p:cNvSpPr/>
            <p:nvPr/>
          </p:nvSpPr>
          <p:spPr>
            <a:xfrm>
              <a:off x="594360" y="4389120"/>
              <a:ext cx="365760" cy="365760"/>
            </a:xfrm>
            <a:prstGeom prst="rect">
              <a:avLst/>
            </a:prstGeom>
            <a:noFill/>
            <a:ln/>
          </p:spPr>
          <p:txBody>
            <a:bodyPr wrap="square" lIns="0" tIns="0" rIns="0" bIns="0" rtlCol="0" anchor="ctr"/>
            <a:lstStyle/>
            <a:p>
              <a:pPr marL="0" indent="0" algn="ctr">
                <a:buNone/>
              </a:pPr>
              <a:r>
                <a:rPr lang="en-US" sz="2000" b="1" dirty="0">
                  <a:solidFill>
                    <a:srgbClr val="1E2761"/>
                  </a:solidFill>
                  <a:ea typeface="Cambria" pitchFamily="34" charset="-122"/>
                  <a:cs typeface="Cambria" pitchFamily="34" charset="-120"/>
                </a:rPr>
                <a:t>5</a:t>
              </a:r>
              <a:endParaRPr lang="en-US" sz="2000" dirty="0"/>
            </a:p>
          </p:txBody>
        </p:sp>
        <p:sp>
          <p:nvSpPr>
            <p:cNvPr id="33" name="Text 31"/>
            <p:cNvSpPr/>
            <p:nvPr/>
          </p:nvSpPr>
          <p:spPr>
            <a:xfrm>
              <a:off x="1051560" y="4370832"/>
              <a:ext cx="1988820" cy="411480"/>
            </a:xfrm>
            <a:prstGeom prst="rect">
              <a:avLst/>
            </a:prstGeom>
            <a:noFill/>
            <a:ln/>
          </p:spPr>
          <p:txBody>
            <a:bodyPr wrap="square" lIns="0" tIns="0" rIns="0" bIns="0" rtlCol="0" anchor="ctr"/>
            <a:lstStyle/>
            <a:p>
              <a:pPr marL="0" indent="0">
                <a:buNone/>
              </a:pPr>
              <a:r>
                <a:rPr lang="en-US" sz="2000" b="1" dirty="0">
                  <a:solidFill>
                    <a:srgbClr val="FFFFFF"/>
                  </a:solidFill>
                  <a:ea typeface="Cambria" pitchFamily="34" charset="-122"/>
                  <a:cs typeface="Cambria" pitchFamily="34" charset="-120"/>
                </a:rPr>
                <a:t>Branching search</a:t>
              </a:r>
              <a:endParaRPr lang="en-US" sz="2000" dirty="0"/>
            </a:p>
          </p:txBody>
        </p:sp>
        <p:sp>
          <p:nvSpPr>
            <p:cNvPr id="34" name="Text 32"/>
            <p:cNvSpPr/>
            <p:nvPr/>
          </p:nvSpPr>
          <p:spPr>
            <a:xfrm>
              <a:off x="594360" y="4892040"/>
              <a:ext cx="2400300" cy="1051560"/>
            </a:xfrm>
            <a:prstGeom prst="rect">
              <a:avLst/>
            </a:prstGeom>
            <a:noFill/>
            <a:ln/>
          </p:spPr>
          <p:txBody>
            <a:bodyPr wrap="square" lIns="0" tIns="0" rIns="0" bIns="0" rtlCol="0" anchor="t"/>
            <a:lstStyle/>
            <a:p>
              <a:pPr marL="0" indent="0">
                <a:buNone/>
              </a:pPr>
              <a:r>
                <a:rPr lang="en-US" sz="2000" dirty="0">
                  <a:solidFill>
                    <a:srgbClr val="FFFFFF"/>
                  </a:solidFill>
                  <a:ea typeface="Cambria" pitchFamily="34" charset="-122"/>
                  <a:cs typeface="Cambria" pitchFamily="34" charset="-120"/>
                </a:rPr>
                <a:t>Multiple candidate thoughts scored; backtrack from dead ends.</a:t>
              </a:r>
              <a:endParaRPr lang="en-US" sz="2000" dirty="0"/>
            </a:p>
          </p:txBody>
        </p:sp>
        <p:sp>
          <p:nvSpPr>
            <p:cNvPr id="36" name="Shape 34"/>
            <p:cNvSpPr/>
            <p:nvPr/>
          </p:nvSpPr>
          <p:spPr>
            <a:xfrm>
              <a:off x="3314700" y="4251960"/>
              <a:ext cx="2674620" cy="2103120"/>
            </a:xfrm>
            <a:prstGeom prst="rect">
              <a:avLst/>
            </a:prstGeom>
            <a:solidFill>
              <a:srgbClr val="0891B2"/>
            </a:solidFill>
            <a:ln/>
          </p:spPr>
          <p:txBody>
            <a:bodyPr/>
            <a:lstStyle/>
            <a:p>
              <a:endParaRPr lang="en-IN" sz="2000"/>
            </a:p>
          </p:txBody>
        </p:sp>
        <p:sp>
          <p:nvSpPr>
            <p:cNvPr id="37" name="Shape 35"/>
            <p:cNvSpPr/>
            <p:nvPr/>
          </p:nvSpPr>
          <p:spPr>
            <a:xfrm>
              <a:off x="3451860" y="4389120"/>
              <a:ext cx="365760" cy="365760"/>
            </a:xfrm>
            <a:prstGeom prst="roundRect">
              <a:avLst>
                <a:gd name="adj" fmla="val 12500"/>
              </a:avLst>
            </a:prstGeom>
            <a:solidFill>
              <a:srgbClr val="F59E0B"/>
            </a:solidFill>
            <a:ln/>
          </p:spPr>
          <p:txBody>
            <a:bodyPr/>
            <a:lstStyle/>
            <a:p>
              <a:endParaRPr lang="en-IN" sz="2000"/>
            </a:p>
          </p:txBody>
        </p:sp>
        <p:sp>
          <p:nvSpPr>
            <p:cNvPr id="38" name="Text 36"/>
            <p:cNvSpPr/>
            <p:nvPr/>
          </p:nvSpPr>
          <p:spPr>
            <a:xfrm>
              <a:off x="3451860" y="4389120"/>
              <a:ext cx="365760" cy="365760"/>
            </a:xfrm>
            <a:prstGeom prst="rect">
              <a:avLst/>
            </a:prstGeom>
            <a:noFill/>
            <a:ln/>
          </p:spPr>
          <p:txBody>
            <a:bodyPr wrap="square" lIns="0" tIns="0" rIns="0" bIns="0" rtlCol="0" anchor="ctr"/>
            <a:lstStyle/>
            <a:p>
              <a:pPr marL="0" indent="0" algn="ctr">
                <a:buNone/>
              </a:pPr>
              <a:r>
                <a:rPr lang="en-US" sz="2000" b="1" dirty="0">
                  <a:solidFill>
                    <a:srgbClr val="1E2761"/>
                  </a:solidFill>
                  <a:ea typeface="Cambria" pitchFamily="34" charset="-122"/>
                  <a:cs typeface="Cambria" pitchFamily="34" charset="-120"/>
                </a:rPr>
                <a:t>6</a:t>
              </a:r>
              <a:endParaRPr lang="en-US" sz="2000" dirty="0"/>
            </a:p>
          </p:txBody>
        </p:sp>
        <p:sp>
          <p:nvSpPr>
            <p:cNvPr id="39" name="Text 37"/>
            <p:cNvSpPr/>
            <p:nvPr/>
          </p:nvSpPr>
          <p:spPr>
            <a:xfrm>
              <a:off x="3909060" y="4370832"/>
              <a:ext cx="1988820" cy="411480"/>
            </a:xfrm>
            <a:prstGeom prst="rect">
              <a:avLst/>
            </a:prstGeom>
            <a:noFill/>
            <a:ln/>
          </p:spPr>
          <p:txBody>
            <a:bodyPr wrap="square" lIns="0" tIns="0" rIns="0" bIns="0" rtlCol="0" anchor="ctr"/>
            <a:lstStyle/>
            <a:p>
              <a:pPr marL="0" indent="0">
                <a:buNone/>
              </a:pPr>
              <a:r>
                <a:rPr lang="en-US" sz="2000" b="1" dirty="0">
                  <a:solidFill>
                    <a:srgbClr val="FFFFFF"/>
                  </a:solidFill>
                  <a:ea typeface="Cambria" pitchFamily="34" charset="-122"/>
                  <a:cs typeface="Cambria" pitchFamily="34" charset="-120"/>
                </a:rPr>
                <a:t>Context management</a:t>
              </a:r>
              <a:endParaRPr lang="en-US" sz="2000" dirty="0"/>
            </a:p>
          </p:txBody>
        </p:sp>
        <p:sp>
          <p:nvSpPr>
            <p:cNvPr id="40" name="Text 38"/>
            <p:cNvSpPr/>
            <p:nvPr/>
          </p:nvSpPr>
          <p:spPr>
            <a:xfrm>
              <a:off x="3451860" y="4892040"/>
              <a:ext cx="2400300" cy="1051560"/>
            </a:xfrm>
            <a:prstGeom prst="rect">
              <a:avLst/>
            </a:prstGeom>
            <a:noFill/>
            <a:ln/>
          </p:spPr>
          <p:txBody>
            <a:bodyPr wrap="square" lIns="0" tIns="0" rIns="0" bIns="0" rtlCol="0" anchor="t"/>
            <a:lstStyle/>
            <a:p>
              <a:pPr marL="0" indent="0">
                <a:buNone/>
              </a:pPr>
              <a:r>
                <a:rPr lang="en-US" sz="2000" dirty="0">
                  <a:solidFill>
                    <a:srgbClr val="FFFFFF"/>
                  </a:solidFill>
                  <a:ea typeface="Cambria" pitchFamily="34" charset="-122"/>
                  <a:cs typeface="Cambria" pitchFamily="34" charset="-120"/>
                </a:rPr>
                <a:t>Compaction of old turns, tool-output offload to filesystem, progressive skill disclosure</a:t>
              </a:r>
              <a:endParaRPr lang="en-US" sz="2000" dirty="0"/>
            </a:p>
          </p:txBody>
        </p:sp>
        <p:sp>
          <p:nvSpPr>
            <p:cNvPr id="42" name="Shape 40"/>
            <p:cNvSpPr/>
            <p:nvPr/>
          </p:nvSpPr>
          <p:spPr>
            <a:xfrm>
              <a:off x="6172200" y="4251960"/>
              <a:ext cx="2674620" cy="2103120"/>
            </a:xfrm>
            <a:prstGeom prst="rect">
              <a:avLst/>
            </a:prstGeom>
            <a:solidFill>
              <a:srgbClr val="1E2761"/>
            </a:solidFill>
            <a:ln/>
          </p:spPr>
          <p:txBody>
            <a:bodyPr/>
            <a:lstStyle/>
            <a:p>
              <a:endParaRPr lang="en-IN" sz="2000"/>
            </a:p>
          </p:txBody>
        </p:sp>
        <p:sp>
          <p:nvSpPr>
            <p:cNvPr id="43" name="Shape 41"/>
            <p:cNvSpPr/>
            <p:nvPr/>
          </p:nvSpPr>
          <p:spPr>
            <a:xfrm>
              <a:off x="6309360" y="4389120"/>
              <a:ext cx="365760" cy="365760"/>
            </a:xfrm>
            <a:prstGeom prst="roundRect">
              <a:avLst>
                <a:gd name="adj" fmla="val 12500"/>
              </a:avLst>
            </a:prstGeom>
            <a:solidFill>
              <a:srgbClr val="F59E0B"/>
            </a:solidFill>
            <a:ln/>
          </p:spPr>
          <p:txBody>
            <a:bodyPr/>
            <a:lstStyle/>
            <a:p>
              <a:endParaRPr lang="en-IN" sz="2000"/>
            </a:p>
          </p:txBody>
        </p:sp>
        <p:sp>
          <p:nvSpPr>
            <p:cNvPr id="44" name="Text 42"/>
            <p:cNvSpPr/>
            <p:nvPr/>
          </p:nvSpPr>
          <p:spPr>
            <a:xfrm>
              <a:off x="6309360" y="4389120"/>
              <a:ext cx="365760" cy="365760"/>
            </a:xfrm>
            <a:prstGeom prst="rect">
              <a:avLst/>
            </a:prstGeom>
            <a:noFill/>
            <a:ln/>
          </p:spPr>
          <p:txBody>
            <a:bodyPr wrap="square" lIns="0" tIns="0" rIns="0" bIns="0" rtlCol="0" anchor="ctr"/>
            <a:lstStyle/>
            <a:p>
              <a:pPr marL="0" indent="0" algn="ctr">
                <a:buNone/>
              </a:pPr>
              <a:r>
                <a:rPr lang="en-US" sz="2000" b="1" dirty="0">
                  <a:solidFill>
                    <a:srgbClr val="1E2761"/>
                  </a:solidFill>
                  <a:ea typeface="Cambria" pitchFamily="34" charset="-122"/>
                  <a:cs typeface="Cambria" pitchFamily="34" charset="-120"/>
                </a:rPr>
                <a:t>7</a:t>
              </a:r>
              <a:endParaRPr lang="en-US" sz="2000" dirty="0"/>
            </a:p>
          </p:txBody>
        </p:sp>
        <p:sp>
          <p:nvSpPr>
            <p:cNvPr id="45" name="Text 43"/>
            <p:cNvSpPr/>
            <p:nvPr/>
          </p:nvSpPr>
          <p:spPr>
            <a:xfrm>
              <a:off x="6766560" y="4370832"/>
              <a:ext cx="1988820" cy="411480"/>
            </a:xfrm>
            <a:prstGeom prst="rect">
              <a:avLst/>
            </a:prstGeom>
            <a:noFill/>
            <a:ln/>
          </p:spPr>
          <p:txBody>
            <a:bodyPr wrap="square" lIns="0" tIns="0" rIns="0" bIns="0" rtlCol="0" anchor="ctr"/>
            <a:lstStyle/>
            <a:p>
              <a:pPr marL="0" indent="0">
                <a:buNone/>
              </a:pPr>
              <a:r>
                <a:rPr lang="en-US" sz="2000" b="1" dirty="0">
                  <a:solidFill>
                    <a:srgbClr val="FFFFFF"/>
                  </a:solidFill>
                  <a:ea typeface="Cambria" pitchFamily="34" charset="-122"/>
                  <a:cs typeface="Cambria" pitchFamily="34" charset="-120"/>
                </a:rPr>
                <a:t>Self-verification</a:t>
              </a:r>
              <a:endParaRPr lang="en-US" sz="2000" dirty="0"/>
            </a:p>
          </p:txBody>
        </p:sp>
        <p:sp>
          <p:nvSpPr>
            <p:cNvPr id="46" name="Text 44"/>
            <p:cNvSpPr/>
            <p:nvPr/>
          </p:nvSpPr>
          <p:spPr>
            <a:xfrm>
              <a:off x="6309360" y="4892040"/>
              <a:ext cx="2400300" cy="1051560"/>
            </a:xfrm>
            <a:prstGeom prst="rect">
              <a:avLst/>
            </a:prstGeom>
            <a:noFill/>
            <a:ln/>
          </p:spPr>
          <p:txBody>
            <a:bodyPr wrap="square" lIns="0" tIns="0" rIns="0" bIns="0" rtlCol="0" anchor="t"/>
            <a:lstStyle/>
            <a:p>
              <a:pPr marL="0" indent="0">
                <a:buNone/>
              </a:pPr>
              <a:r>
                <a:rPr lang="en-US" sz="2000" dirty="0">
                  <a:solidFill>
                    <a:srgbClr val="FFFFFF"/>
                  </a:solidFill>
                  <a:ea typeface="Cambria" pitchFamily="34" charset="-122"/>
                  <a:cs typeface="Cambria" pitchFamily="34" charset="-120"/>
                </a:rPr>
                <a:t>Run the test suite after each action. Grounds solutions in truth; error becomes the next observation.</a:t>
              </a:r>
              <a:endParaRPr lang="en-US" sz="2000" dirty="0"/>
            </a:p>
          </p:txBody>
        </p:sp>
        <p:sp>
          <p:nvSpPr>
            <p:cNvPr id="48" name="Text 46"/>
            <p:cNvSpPr/>
            <p:nvPr/>
          </p:nvSpPr>
          <p:spPr>
            <a:xfrm>
              <a:off x="9029700" y="4251960"/>
              <a:ext cx="2674620" cy="2103120"/>
            </a:xfrm>
            <a:prstGeom prst="rect">
              <a:avLst/>
            </a:prstGeom>
            <a:solidFill>
              <a:srgbClr val="F59E0B"/>
            </a:solidFill>
            <a:ln/>
          </p:spPr>
          <p:txBody>
            <a:bodyPr wrap="square" lIns="1905" tIns="1905" rIns="1905" bIns="1905" rtlCol="0" anchor="t"/>
            <a:lstStyle/>
            <a:p>
              <a:pPr>
                <a:spcAft>
                  <a:spcPts val="600"/>
                </a:spcAft>
              </a:pPr>
              <a:r>
                <a:rPr lang="en-US" sz="2000" b="1" dirty="0">
                  <a:solidFill>
                    <a:srgbClr val="FFFFFF"/>
                  </a:solidFill>
                  <a:ea typeface="Cambria" pitchFamily="34" charset="-122"/>
                </a:rPr>
                <a:t>TAKEAWAY</a:t>
              </a:r>
            </a:p>
            <a:p>
              <a:pPr marL="0" indent="0" algn="l">
                <a:spcAft>
                  <a:spcPts val="300"/>
                </a:spcAft>
                <a:buNone/>
              </a:pPr>
              <a:r>
                <a:rPr lang="en-US" sz="2000" dirty="0">
                  <a:solidFill>
                    <a:srgbClr val="1E2761"/>
                  </a:solidFill>
                  <a:ea typeface="Cambria" pitchFamily="34" charset="-122"/>
                  <a:cs typeface="Cambria" pitchFamily="34" charset="-120"/>
                </a:rPr>
                <a:t>Modern </a:t>
              </a:r>
              <a:r>
                <a:rPr lang="en-US" sz="2000" dirty="0" err="1">
                  <a:solidFill>
                    <a:srgbClr val="1E2761"/>
                  </a:solidFill>
                  <a:ea typeface="Cambria" pitchFamily="34" charset="-122"/>
                  <a:cs typeface="Cambria" pitchFamily="34" charset="-120"/>
                </a:rPr>
                <a:t>ReAct</a:t>
              </a:r>
              <a:r>
                <a:rPr lang="en-US" sz="2000" dirty="0">
                  <a:solidFill>
                    <a:srgbClr val="1E2761"/>
                  </a:solidFill>
                  <a:ea typeface="Cambria" pitchFamily="34" charset="-122"/>
                  <a:cs typeface="Cambria" pitchFamily="34" charset="-120"/>
                </a:rPr>
                <a:t> = plan first, act in parallel, verify with tests, reflect on failure, compact as you go, persist what you learn.</a:t>
              </a:r>
              <a:endParaRPr lang="en-US" sz="2000" dirty="0"/>
            </a:p>
            <a:p>
              <a:pPr marL="0" indent="0" algn="l">
                <a:spcAft>
                  <a:spcPts val="300"/>
                </a:spcAft>
                <a:buNone/>
              </a:pPr>
              <a:endParaRPr lang="en-US" sz="2000" dirty="0"/>
            </a:p>
          </p:txBody>
        </p:sp>
      </p:grpSp>
      <p:sp>
        <p:nvSpPr>
          <p:cNvPr id="4" name="TextBox 3">
            <a:extLst>
              <a:ext uri="{FF2B5EF4-FFF2-40B4-BE49-F238E27FC236}">
                <a16:creationId xmlns:a16="http://schemas.microsoft.com/office/drawing/2014/main" id="{839402C4-E343-D490-324A-E5FE9453D49A}"/>
              </a:ext>
            </a:extLst>
          </p:cNvPr>
          <p:cNvSpPr txBox="1"/>
          <p:nvPr/>
        </p:nvSpPr>
        <p:spPr>
          <a:xfrm>
            <a:off x="1526373" y="863769"/>
            <a:ext cx="6096000" cy="400110"/>
          </a:xfrm>
          <a:prstGeom prst="rect">
            <a:avLst/>
          </a:prstGeom>
          <a:noFill/>
        </p:spPr>
        <p:txBody>
          <a:bodyPr wrap="square">
            <a:spAutoFit/>
          </a:bodyPr>
          <a:lstStyle/>
          <a:p>
            <a:pPr>
              <a:spcAft>
                <a:spcPts val="300"/>
              </a:spcAft>
            </a:pPr>
            <a:r>
              <a:rPr lang="en-US" sz="2000" b="1" dirty="0">
                <a:solidFill>
                  <a:srgbClr val="FF0000"/>
                </a:solidFill>
                <a:highlight>
                  <a:srgbClr val="FFFF00"/>
                </a:highlight>
                <a:latin typeface="Cambria" pitchFamily="34" charset="0"/>
                <a:ea typeface="Cambria" pitchFamily="34" charset="-122"/>
                <a:cs typeface="Cambria" pitchFamily="34" charset="-120"/>
              </a:rPr>
              <a:t>Vanilla </a:t>
            </a:r>
            <a:r>
              <a:rPr lang="en-US" sz="2000" b="1" dirty="0" err="1">
                <a:solidFill>
                  <a:srgbClr val="FF0000"/>
                </a:solidFill>
                <a:highlight>
                  <a:srgbClr val="FFFF00"/>
                </a:highlight>
                <a:latin typeface="Cambria" pitchFamily="34" charset="0"/>
                <a:ea typeface="Cambria" pitchFamily="34" charset="-122"/>
                <a:cs typeface="Cambria" pitchFamily="34" charset="-120"/>
              </a:rPr>
              <a:t>ReAct</a:t>
            </a:r>
            <a:r>
              <a:rPr lang="en-US" sz="2000" b="1" dirty="0">
                <a:solidFill>
                  <a:srgbClr val="FF0000"/>
                </a:solidFill>
                <a:highlight>
                  <a:srgbClr val="FFFF00"/>
                </a:highlight>
                <a:latin typeface="Cambria" pitchFamily="34" charset="0"/>
                <a:ea typeface="Cambria" pitchFamily="34" charset="-122"/>
                <a:cs typeface="Cambria" pitchFamily="34" charset="-120"/>
              </a:rPr>
              <a:t> = one loop, one thought, one action</a:t>
            </a:r>
            <a:endParaRPr lang="en-US" sz="2000" b="1" dirty="0">
              <a:solidFill>
                <a:srgbClr val="FF0000"/>
              </a:solidFill>
              <a:highlight>
                <a:srgbClr val="FFFF00"/>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23444"/>
            <a:ext cx="11064240" cy="685800"/>
          </a:xfrm>
          <a:prstGeom prst="rect">
            <a:avLst/>
          </a:prstGeom>
          <a:noFill/>
          <a:ln/>
        </p:spPr>
        <p:txBody>
          <a:bodyPr wrap="square" lIns="0" tIns="0" rIns="0" bIns="0" rtlCol="0" anchor="ctr"/>
          <a:lstStyle/>
          <a:p>
            <a:r>
              <a:rPr lang="en-US" sz="3600" dirty="0">
                <a:latin typeface="Cambria" panose="02040503050406030204" pitchFamily="18" charset="0"/>
                <a:ea typeface="Cambria" panose="02040503050406030204" pitchFamily="18" charset="0"/>
              </a:rPr>
              <a:t>Multi-Agent Systems:  Why &amp; When</a:t>
            </a:r>
          </a:p>
        </p:txBody>
      </p:sp>
      <p:sp>
        <p:nvSpPr>
          <p:cNvPr id="3" name="Text 1"/>
          <p:cNvSpPr/>
          <p:nvPr/>
        </p:nvSpPr>
        <p:spPr>
          <a:xfrm>
            <a:off x="303313" y="1453896"/>
            <a:ext cx="11064240" cy="621792"/>
          </a:xfrm>
          <a:prstGeom prst="roundRect">
            <a:avLst>
              <a:gd name="adj" fmla="val 11765"/>
            </a:avLst>
          </a:prstGeom>
          <a:solidFill>
            <a:srgbClr val="F5F1E8"/>
          </a:solidFill>
          <a:ln w="6350">
            <a:solidFill>
              <a:srgbClr val="D9D0BE"/>
            </a:solidFill>
          </a:ln>
        </p:spPr>
        <p:txBody>
          <a:bodyPr wrap="square" lIns="0" tIns="0" rIns="0" bIns="0" rtlCol="0" anchor="ctr"/>
          <a:lstStyle/>
          <a:p>
            <a:pPr marL="0" indent="0">
              <a:buNone/>
            </a:pPr>
            <a:r>
              <a:rPr lang="en-US" sz="2000" i="1" dirty="0">
                <a:solidFill>
                  <a:srgbClr val="0D3B3B"/>
                </a:solidFill>
                <a:latin typeface="Cambria" pitchFamily="34" charset="0"/>
                <a:ea typeface="Cambria" pitchFamily="34" charset="-122"/>
                <a:cs typeface="Cambria" pitchFamily="34" charset="-120"/>
              </a:rPr>
              <a:t>So far: one agent. From here on: what you build around it — multiple agents, the harness, and production guardrails.</a:t>
            </a:r>
            <a:endParaRPr lang="en-US" sz="2000" dirty="0"/>
          </a:p>
        </p:txBody>
      </p:sp>
      <p:sp>
        <p:nvSpPr>
          <p:cNvPr id="4" name="Text 2"/>
          <p:cNvSpPr/>
          <p:nvPr/>
        </p:nvSpPr>
        <p:spPr>
          <a:xfrm>
            <a:off x="396240" y="2313432"/>
            <a:ext cx="3657600" cy="2651760"/>
          </a:xfrm>
          <a:prstGeom prst="roundRect">
            <a:avLst>
              <a:gd name="adj" fmla="val 3448"/>
            </a:avLst>
          </a:prstGeom>
          <a:solidFill>
            <a:srgbClr val="F5F1E8"/>
          </a:solidFill>
          <a:ln w="6350">
            <a:solidFill>
              <a:srgbClr val="D9D0BE"/>
            </a:solidFill>
          </a:ln>
        </p:spPr>
        <p:txBody>
          <a:bodyPr wrap="square" lIns="203200" tIns="203200" rIns="203200" bIns="203200" rtlCol="0" anchor="t"/>
          <a:lstStyle/>
          <a:p>
            <a:pPr marL="0" indent="0">
              <a:buNone/>
            </a:pPr>
            <a:r>
              <a:rPr lang="en-US" sz="2000" b="1" dirty="0">
                <a:solidFill>
                  <a:srgbClr val="0D3B3B"/>
                </a:solidFill>
                <a:latin typeface="Cambria" pitchFamily="34" charset="0"/>
                <a:ea typeface="Cambria" pitchFamily="34" charset="-122"/>
                <a:cs typeface="Cambria" pitchFamily="34" charset="-120"/>
              </a:rPr>
              <a:t>Single-agent limit
</a:t>
            </a:r>
            <a:r>
              <a:rPr lang="en-US" sz="2000" dirty="0">
                <a:solidFill>
                  <a:srgbClr val="1F2937"/>
                </a:solidFill>
                <a:latin typeface="Cambria" pitchFamily="34" charset="0"/>
                <a:ea typeface="Cambria" pitchFamily="34" charset="-122"/>
                <a:cs typeface="Cambria" pitchFamily="34" charset="-120"/>
              </a:rPr>
              <a:t>Too many tools cause context bloat, tool confusion, higher token cost, and dropped instructions.</a:t>
            </a:r>
            <a:endParaRPr lang="en-US" sz="2000" dirty="0"/>
          </a:p>
        </p:txBody>
      </p:sp>
      <p:sp>
        <p:nvSpPr>
          <p:cNvPr id="5" name="Text 3"/>
          <p:cNvSpPr/>
          <p:nvPr/>
        </p:nvSpPr>
        <p:spPr>
          <a:xfrm>
            <a:off x="4251960" y="2313432"/>
            <a:ext cx="3657600" cy="2651760"/>
          </a:xfrm>
          <a:prstGeom prst="roundRect">
            <a:avLst>
              <a:gd name="adj" fmla="val 3448"/>
            </a:avLst>
          </a:prstGeom>
          <a:solidFill>
            <a:srgbClr val="0D3B3B"/>
          </a:solidFill>
          <a:ln w="6350">
            <a:solidFill>
              <a:srgbClr val="0D3B3B"/>
            </a:solidFill>
          </a:ln>
        </p:spPr>
        <p:txBody>
          <a:bodyPr wrap="square" lIns="203200" tIns="203200" rIns="203200" bIns="203200" rtlCol="0" anchor="t"/>
          <a:lstStyle/>
          <a:p>
            <a:pPr marL="0" indent="0">
              <a:buNone/>
            </a:pPr>
            <a:r>
              <a:rPr lang="en-US" sz="2000" b="1" dirty="0">
                <a:solidFill>
                  <a:srgbClr val="F5F1E8"/>
                </a:solidFill>
                <a:latin typeface="Cambria" pitchFamily="34" charset="0"/>
                <a:ea typeface="Cambria" pitchFamily="34" charset="-122"/>
                <a:cs typeface="Cambria" pitchFamily="34" charset="-120"/>
              </a:rPr>
              <a:t>Specialization
</a:t>
            </a:r>
            <a:r>
              <a:rPr lang="en-US" sz="2000" dirty="0">
                <a:solidFill>
                  <a:srgbClr val="F5F1E8"/>
                </a:solidFill>
                <a:latin typeface="Cambria" pitchFamily="34" charset="0"/>
                <a:ea typeface="Cambria" pitchFamily="34" charset="-122"/>
                <a:cs typeface="Cambria" pitchFamily="34" charset="-120"/>
              </a:rPr>
              <a:t>Sub-agents get dedicated system prompts, distinct tool subsets, and smaller context windows.</a:t>
            </a:r>
            <a:endParaRPr lang="en-US" sz="2000" dirty="0"/>
          </a:p>
        </p:txBody>
      </p:sp>
      <p:sp>
        <p:nvSpPr>
          <p:cNvPr id="6" name="Text 4"/>
          <p:cNvSpPr/>
          <p:nvPr/>
        </p:nvSpPr>
        <p:spPr>
          <a:xfrm>
            <a:off x="8138160" y="2313432"/>
            <a:ext cx="3657600" cy="2651760"/>
          </a:xfrm>
          <a:prstGeom prst="roundRect">
            <a:avLst>
              <a:gd name="adj" fmla="val 3448"/>
            </a:avLst>
          </a:prstGeom>
          <a:solidFill>
            <a:srgbClr val="F5F1E8"/>
          </a:solidFill>
          <a:ln w="6350">
            <a:solidFill>
              <a:srgbClr val="D9D0BE"/>
            </a:solidFill>
          </a:ln>
        </p:spPr>
        <p:txBody>
          <a:bodyPr wrap="square" lIns="203200" tIns="203200" rIns="203200" bIns="203200" rtlCol="0" anchor="t"/>
          <a:lstStyle/>
          <a:p>
            <a:pPr marL="0" indent="0">
              <a:buNone/>
            </a:pPr>
            <a:r>
              <a:rPr lang="en-US" sz="2000" b="1" dirty="0">
                <a:solidFill>
                  <a:srgbClr val="0D3B3B"/>
                </a:solidFill>
                <a:latin typeface="Cambria" pitchFamily="34" charset="0"/>
                <a:ea typeface="Cambria" pitchFamily="34" charset="-122"/>
                <a:cs typeface="Cambria" pitchFamily="34" charset="-120"/>
              </a:rPr>
              <a:t>Modularity
</a:t>
            </a:r>
            <a:r>
              <a:rPr lang="en-US" sz="2000" dirty="0">
                <a:solidFill>
                  <a:srgbClr val="1F2937"/>
                </a:solidFill>
                <a:latin typeface="Cambria" pitchFamily="34" charset="0"/>
                <a:ea typeface="Cambria" pitchFamily="34" charset="-122"/>
                <a:cs typeface="Cambria" pitchFamily="34" charset="-120"/>
              </a:rPr>
              <a:t>Isolated sub-task testing makes the system significantly easier to evaluate and debug.</a:t>
            </a:r>
            <a:endParaRPr lang="en-US" sz="2000" dirty="0"/>
          </a:p>
        </p:txBody>
      </p:sp>
      <p:sp>
        <p:nvSpPr>
          <p:cNvPr id="7" name="Text 5"/>
          <p:cNvSpPr/>
          <p:nvPr/>
        </p:nvSpPr>
        <p:spPr>
          <a:xfrm>
            <a:off x="396240" y="5138928"/>
            <a:ext cx="11795760" cy="1371600"/>
          </a:xfrm>
          <a:prstGeom prst="rect">
            <a:avLst/>
          </a:prstGeom>
          <a:noFill/>
          <a:ln/>
        </p:spPr>
        <p:txBody>
          <a:bodyPr wrap="square" lIns="0" tIns="0" rIns="0" bIns="0" rtlCol="0" anchor="t"/>
          <a:lstStyle/>
          <a:p>
            <a:pPr marL="0" indent="0">
              <a:spcAft>
                <a:spcPts val="400"/>
              </a:spcAft>
              <a:buNone/>
            </a:pPr>
            <a:r>
              <a:rPr lang="en-US" sz="2000" b="1" dirty="0">
                <a:solidFill>
                  <a:srgbClr val="B8763A"/>
                </a:solidFill>
                <a:latin typeface="Cambria" pitchFamily="34" charset="0"/>
                <a:ea typeface="Cambria" pitchFamily="34" charset="-122"/>
                <a:cs typeface="Cambria" pitchFamily="34" charset="-120"/>
              </a:rPr>
              <a:t>When multi-agent hurts</a:t>
            </a:r>
            <a:endParaRPr lang="en-US" sz="2000" dirty="0"/>
          </a:p>
          <a:p>
            <a:pPr marL="342900" indent="-342900">
              <a:spcAft>
                <a:spcPts val="400"/>
              </a:spcAft>
              <a:buSzPct val="100000"/>
              <a:buChar char="◆"/>
            </a:pPr>
            <a:r>
              <a:rPr lang="en-US" sz="2000" dirty="0">
                <a:solidFill>
                  <a:srgbClr val="1F2937"/>
                </a:solidFill>
                <a:latin typeface="Cambria" pitchFamily="34" charset="0"/>
                <a:ea typeface="Cambria" pitchFamily="34" charset="-122"/>
                <a:cs typeface="Cambria" pitchFamily="34" charset="-120"/>
              </a:rPr>
              <a:t>Coordination overhead, redundant tokens, and blurred error attribution can eat the specialization gain</a:t>
            </a:r>
            <a:endParaRPr lang="en-US" sz="2000" dirty="0"/>
          </a:p>
          <a:p>
            <a:pPr marL="342900" indent="-342900">
              <a:buSzPct val="100000"/>
              <a:buChar char="◆"/>
            </a:pPr>
            <a:r>
              <a:rPr lang="en-US" sz="2000" dirty="0">
                <a:solidFill>
                  <a:srgbClr val="1F2937"/>
                </a:solidFill>
                <a:latin typeface="Cambria" pitchFamily="34" charset="0"/>
                <a:ea typeface="Cambria" pitchFamily="34" charset="-122"/>
                <a:cs typeface="Cambria" pitchFamily="34" charset="-120"/>
              </a:rPr>
              <a:t>Prefer sub-agents when subtasks are independent and outputs are cleanly mergeable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8F655E8-5534-4A99-A541-E68025E30B05}"/>
              </a:ext>
            </a:extLst>
          </p:cNvPr>
          <p:cNvPicPr>
            <a:picLocks noChangeAspect="1"/>
          </p:cNvPicPr>
          <p:nvPr/>
        </p:nvPicPr>
        <p:blipFill>
          <a:blip r:embed="rId3"/>
          <a:stretch>
            <a:fillRect/>
          </a:stretch>
        </p:blipFill>
        <p:spPr>
          <a:xfrm>
            <a:off x="301083" y="1335634"/>
            <a:ext cx="6096695" cy="3914078"/>
          </a:xfrm>
          <a:prstGeom prst="rect">
            <a:avLst/>
          </a:prstGeom>
        </p:spPr>
      </p:pic>
      <p:sp>
        <p:nvSpPr>
          <p:cNvPr id="4" name="TextBox 3">
            <a:extLst>
              <a:ext uri="{FF2B5EF4-FFF2-40B4-BE49-F238E27FC236}">
                <a16:creationId xmlns:a16="http://schemas.microsoft.com/office/drawing/2014/main" id="{5AB5AB68-767E-A6E0-A58D-4D9254B41E6F}"/>
              </a:ext>
            </a:extLst>
          </p:cNvPr>
          <p:cNvSpPr txBox="1"/>
          <p:nvPr/>
        </p:nvSpPr>
        <p:spPr>
          <a:xfrm>
            <a:off x="6294862" y="1443841"/>
            <a:ext cx="5596055" cy="4093428"/>
          </a:xfrm>
          <a:prstGeom prst="rect">
            <a:avLst/>
          </a:prstGeom>
          <a:noFill/>
        </p:spPr>
        <p:txBody>
          <a:bodyPr wrap="square">
            <a:spAutoFit/>
          </a:bodyPr>
          <a:lstStyle/>
          <a:p>
            <a:pPr marL="34290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The main agent maintains conversation context while subagents remain stateless, providing strong context isolation.</a:t>
            </a:r>
          </a:p>
          <a:p>
            <a:pPr marL="34290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How it works: The main agent decides which subagents to invoke, what input to provide, and how to combine results.</a:t>
            </a:r>
          </a:p>
          <a:p>
            <a:pPr marL="34290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 Subagents don't remember past interactions. Adds one extra model call per interaction because results must flow back through the main agent. </a:t>
            </a:r>
          </a:p>
          <a:p>
            <a:pPr marL="34290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This overhead provides centralized control and context isolation, but costs latency and tokens.</a:t>
            </a:r>
          </a:p>
        </p:txBody>
      </p:sp>
      <p:sp>
        <p:nvSpPr>
          <p:cNvPr id="6" name="TextBox 5">
            <a:extLst>
              <a:ext uri="{FF2B5EF4-FFF2-40B4-BE49-F238E27FC236}">
                <a16:creationId xmlns:a16="http://schemas.microsoft.com/office/drawing/2014/main" id="{94CBE692-3486-0676-88CC-603B74C2FF70}"/>
              </a:ext>
            </a:extLst>
          </p:cNvPr>
          <p:cNvSpPr txBox="1"/>
          <p:nvPr/>
        </p:nvSpPr>
        <p:spPr>
          <a:xfrm>
            <a:off x="301083" y="6534834"/>
            <a:ext cx="6768790" cy="261610"/>
          </a:xfrm>
          <a:prstGeom prst="rect">
            <a:avLst/>
          </a:prstGeom>
          <a:noFill/>
        </p:spPr>
        <p:txBody>
          <a:bodyPr wrap="square">
            <a:spAutoFit/>
          </a:bodyPr>
          <a:lstStyle/>
          <a:p>
            <a:r>
              <a:rPr lang="en-IN" sz="1100" dirty="0"/>
              <a:t>https://www.langchain.com/blog/choosing-the-right-multi-agent-architecture</a:t>
            </a:r>
          </a:p>
        </p:txBody>
      </p:sp>
      <p:sp>
        <p:nvSpPr>
          <p:cNvPr id="8" name="TextBox 7">
            <a:extLst>
              <a:ext uri="{FF2B5EF4-FFF2-40B4-BE49-F238E27FC236}">
                <a16:creationId xmlns:a16="http://schemas.microsoft.com/office/drawing/2014/main" id="{820FD92D-4582-B118-1D27-96CCBF101004}"/>
              </a:ext>
            </a:extLst>
          </p:cNvPr>
          <p:cNvSpPr txBox="1"/>
          <p:nvPr/>
        </p:nvSpPr>
        <p:spPr>
          <a:xfrm>
            <a:off x="301083" y="3675924"/>
            <a:ext cx="3300761" cy="1938992"/>
          </a:xfrm>
          <a:prstGeom prst="rect">
            <a:avLst/>
          </a:prstGeom>
          <a:solidFill>
            <a:schemeClr val="bg2">
              <a:lumMod val="90000"/>
            </a:schemeClr>
          </a:solidFill>
        </p:spPr>
        <p:txBody>
          <a:bodyPr wrap="square">
            <a:spAutoFit/>
          </a:bodyPr>
          <a:lstStyle>
            <a:defPPr>
              <a:defRPr lang="en-US"/>
            </a:defPPr>
            <a:lvl1pPr marL="342900" indent="-342900">
              <a:buFont typeface="Arial" panose="020B0604020202020204" pitchFamily="34" charset="0"/>
              <a:buChar char="•"/>
              <a:defRPr sz="2000">
                <a:latin typeface="Cambria" panose="02040503050406030204" pitchFamily="18" charset="0"/>
                <a:ea typeface="Cambria" panose="02040503050406030204" pitchFamily="18" charset="0"/>
              </a:defRPr>
            </a:lvl1pPr>
          </a:lstStyle>
          <a:p>
            <a:pPr marL="0" indent="0">
              <a:buNone/>
            </a:pPr>
            <a:r>
              <a:rPr lang="en-IN" dirty="0"/>
              <a:t>Examples include personal assistants that coordinate calendar, email, and CRM operations, or research systems that delegate to specialized domain experts.</a:t>
            </a:r>
          </a:p>
        </p:txBody>
      </p:sp>
      <p:sp>
        <p:nvSpPr>
          <p:cNvPr id="12" name="TextBox 11">
            <a:extLst>
              <a:ext uri="{FF2B5EF4-FFF2-40B4-BE49-F238E27FC236}">
                <a16:creationId xmlns:a16="http://schemas.microsoft.com/office/drawing/2014/main" id="{F8AE88C7-7E07-E65B-DDF6-94B970C00F83}"/>
              </a:ext>
            </a:extLst>
          </p:cNvPr>
          <p:cNvSpPr txBox="1"/>
          <p:nvPr/>
        </p:nvSpPr>
        <p:spPr>
          <a:xfrm>
            <a:off x="839130" y="471245"/>
            <a:ext cx="9252724" cy="646331"/>
          </a:xfrm>
          <a:prstGeom prst="rect">
            <a:avLst/>
          </a:prstGeom>
          <a:noFill/>
          <a:ln/>
        </p:spPr>
        <p:txBody>
          <a:bodyPr wrap="square" lIns="0" tIns="0" rIns="0" bIns="0" rtlCol="0" anchor="ctr"/>
          <a:lstStyle>
            <a:defPPr>
              <a:defRPr lang="en-US"/>
            </a:defPPr>
            <a:lvl1pPr>
              <a:defRPr sz="3600">
                <a:latin typeface="Cambria" panose="02040503050406030204" pitchFamily="18" charset="0"/>
                <a:ea typeface="Cambria" panose="02040503050406030204" pitchFamily="18" charset="0"/>
              </a:defRPr>
            </a:lvl1pPr>
          </a:lstStyle>
          <a:p>
            <a:r>
              <a:rPr lang="en-US" dirty="0"/>
              <a:t>Multi-Agent Systems pattern 1</a:t>
            </a:r>
            <a:endParaRPr lang="en-IN" dirty="0"/>
          </a:p>
        </p:txBody>
      </p:sp>
    </p:spTree>
    <p:extLst>
      <p:ext uri="{BB962C8B-B14F-4D97-AF65-F5344CB8AC3E}">
        <p14:creationId xmlns:p14="http://schemas.microsoft.com/office/powerpoint/2010/main" val="1916450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ABA01C-9970-0DE3-CDF7-291F4354C4F4}"/>
              </a:ext>
            </a:extLst>
          </p:cNvPr>
          <p:cNvPicPr>
            <a:picLocks noChangeAspect="1"/>
          </p:cNvPicPr>
          <p:nvPr/>
        </p:nvPicPr>
        <p:blipFill>
          <a:blip r:embed="rId3"/>
          <a:stretch>
            <a:fillRect/>
          </a:stretch>
        </p:blipFill>
        <p:spPr>
          <a:xfrm>
            <a:off x="550474" y="1499407"/>
            <a:ext cx="5167358" cy="3083102"/>
          </a:xfrm>
          <a:prstGeom prst="rect">
            <a:avLst/>
          </a:prstGeom>
        </p:spPr>
      </p:pic>
      <p:sp>
        <p:nvSpPr>
          <p:cNvPr id="4" name="TextBox 3">
            <a:extLst>
              <a:ext uri="{FF2B5EF4-FFF2-40B4-BE49-F238E27FC236}">
                <a16:creationId xmlns:a16="http://schemas.microsoft.com/office/drawing/2014/main" id="{F27A8E5E-782F-D0A2-10C8-CCCA81046ECD}"/>
              </a:ext>
            </a:extLst>
          </p:cNvPr>
          <p:cNvSpPr txBox="1"/>
          <p:nvPr/>
        </p:nvSpPr>
        <p:spPr>
          <a:xfrm>
            <a:off x="5923899" y="1720187"/>
            <a:ext cx="5717627" cy="4524315"/>
          </a:xfrm>
          <a:prstGeom prst="rect">
            <a:avLst/>
          </a:prstGeom>
          <a:noFill/>
        </p:spPr>
        <p:txBody>
          <a:bodyPr wrap="square">
            <a:spAutoFit/>
          </a:bodyPr>
          <a:lstStyle>
            <a:defPPr>
              <a:defRPr lang="en-US"/>
            </a:defPPr>
            <a:lvl1pPr marL="342900" indent="-342900">
              <a:buFont typeface="Arial" panose="020B0604020202020204" pitchFamily="34" charset="0"/>
              <a:buChar char="•"/>
              <a:defRPr sz="2000">
                <a:latin typeface="Cambria" panose="02040503050406030204" pitchFamily="18" charset="0"/>
                <a:ea typeface="Cambria" panose="02040503050406030204" pitchFamily="18" charset="0"/>
              </a:defRPr>
            </a:lvl1pPr>
          </a:lstStyle>
          <a:p>
            <a:r>
              <a:rPr lang="en-IN" sz="2400" dirty="0"/>
              <a:t>Skills: Progressive disclosure</a:t>
            </a:r>
          </a:p>
          <a:p>
            <a:r>
              <a:rPr lang="en-IN" sz="2400" dirty="0"/>
              <a:t>In the skills pattern, an agent loads specialized prompts and knowledge on-demand. </a:t>
            </a:r>
          </a:p>
          <a:p>
            <a:r>
              <a:rPr lang="en-IN" sz="2400" dirty="0"/>
              <a:t>How it works: Skills are primarily prompt-driven specializations packaged as directories containing instructions, scripts, and resources. At startup, the agent knows only skill names and descriptions. When a skill becomes relevant, the agent loads its full context. </a:t>
            </a:r>
          </a:p>
        </p:txBody>
      </p:sp>
      <p:sp>
        <p:nvSpPr>
          <p:cNvPr id="6" name="TextBox 5">
            <a:extLst>
              <a:ext uri="{FF2B5EF4-FFF2-40B4-BE49-F238E27FC236}">
                <a16:creationId xmlns:a16="http://schemas.microsoft.com/office/drawing/2014/main" id="{B4FC6626-9609-C1C2-3504-DE9B9CB4B388}"/>
              </a:ext>
            </a:extLst>
          </p:cNvPr>
          <p:cNvSpPr txBox="1"/>
          <p:nvPr/>
        </p:nvSpPr>
        <p:spPr>
          <a:xfrm>
            <a:off x="420414" y="4863572"/>
            <a:ext cx="4487917" cy="1323439"/>
          </a:xfrm>
          <a:prstGeom prst="rect">
            <a:avLst/>
          </a:prstGeom>
          <a:solidFill>
            <a:schemeClr val="bg2">
              <a:lumMod val="90000"/>
            </a:schemeClr>
          </a:solidFill>
        </p:spPr>
        <p:txBody>
          <a:bodyPr wrap="square">
            <a:spAutoFit/>
          </a:bodyPr>
          <a:lstStyle>
            <a:defPPr>
              <a:defRPr lang="en-US"/>
            </a:defPPr>
            <a:lvl1pPr indent="0">
              <a:buFont typeface="Arial" panose="020B0604020202020204" pitchFamily="34" charset="0"/>
              <a:buNone/>
              <a:defRPr sz="2000">
                <a:latin typeface="Cambria" panose="02040503050406030204" pitchFamily="18" charset="0"/>
                <a:ea typeface="Cambria" panose="02040503050406030204" pitchFamily="18" charset="0"/>
              </a:defRPr>
            </a:lvl1pPr>
          </a:lstStyle>
          <a:p>
            <a:r>
              <a:rPr lang="en-IN" dirty="0"/>
              <a:t>Best for: Single agents with many possible specializations</a:t>
            </a:r>
          </a:p>
          <a:p>
            <a:r>
              <a:rPr lang="en-IN" dirty="0"/>
              <a:t> Common examples include coding agents or creative assistants.</a:t>
            </a:r>
          </a:p>
        </p:txBody>
      </p:sp>
      <p:sp>
        <p:nvSpPr>
          <p:cNvPr id="8" name="TextBox 7">
            <a:extLst>
              <a:ext uri="{FF2B5EF4-FFF2-40B4-BE49-F238E27FC236}">
                <a16:creationId xmlns:a16="http://schemas.microsoft.com/office/drawing/2014/main" id="{96E9564C-1747-DC16-CF01-0A6A5830F2D7}"/>
              </a:ext>
            </a:extLst>
          </p:cNvPr>
          <p:cNvSpPr txBox="1"/>
          <p:nvPr/>
        </p:nvSpPr>
        <p:spPr>
          <a:xfrm>
            <a:off x="219020" y="-31531"/>
            <a:ext cx="10554084" cy="1056020"/>
          </a:xfrm>
          <a:prstGeom prst="rect">
            <a:avLst/>
          </a:prstGeom>
          <a:noFill/>
          <a:ln/>
        </p:spPr>
        <p:txBody>
          <a:bodyPr wrap="square" lIns="0" tIns="0" rIns="0" bIns="0" rtlCol="0" anchor="ctr"/>
          <a:lstStyle>
            <a:defPPr>
              <a:defRPr lang="en-US"/>
            </a:defPPr>
            <a:lvl1pPr>
              <a:defRPr sz="3600">
                <a:latin typeface="Cambria" panose="02040503050406030204" pitchFamily="18" charset="0"/>
                <a:ea typeface="Cambria" panose="02040503050406030204" pitchFamily="18" charset="0"/>
              </a:defRPr>
            </a:lvl1pPr>
          </a:lstStyle>
          <a:p>
            <a:r>
              <a:rPr lang="en-US" dirty="0"/>
              <a:t>Multi-Agent Systems pattern 2 (</a:t>
            </a:r>
            <a:r>
              <a:rPr lang="en-IN" dirty="0"/>
              <a:t>Quasi multi-agent (progressive disclosure)</a:t>
            </a:r>
          </a:p>
        </p:txBody>
      </p:sp>
      <p:sp>
        <p:nvSpPr>
          <p:cNvPr id="10" name="TextBox 9">
            <a:extLst>
              <a:ext uri="{FF2B5EF4-FFF2-40B4-BE49-F238E27FC236}">
                <a16:creationId xmlns:a16="http://schemas.microsoft.com/office/drawing/2014/main" id="{AFA3D3AD-B5FB-0013-87C4-A8F40D0A2F35}"/>
              </a:ext>
            </a:extLst>
          </p:cNvPr>
          <p:cNvSpPr txBox="1"/>
          <p:nvPr/>
        </p:nvSpPr>
        <p:spPr>
          <a:xfrm>
            <a:off x="301083" y="6534834"/>
            <a:ext cx="6768790" cy="261610"/>
          </a:xfrm>
          <a:prstGeom prst="rect">
            <a:avLst/>
          </a:prstGeom>
          <a:noFill/>
        </p:spPr>
        <p:txBody>
          <a:bodyPr wrap="square">
            <a:spAutoFit/>
          </a:bodyPr>
          <a:lstStyle/>
          <a:p>
            <a:r>
              <a:rPr lang="en-IN" sz="1100" dirty="0"/>
              <a:t>https://www.langchain.com/blog/choosing-the-right-multi-agent-architecture</a:t>
            </a:r>
          </a:p>
        </p:txBody>
      </p:sp>
    </p:spTree>
    <p:extLst>
      <p:ext uri="{BB962C8B-B14F-4D97-AF65-F5344CB8AC3E}">
        <p14:creationId xmlns:p14="http://schemas.microsoft.com/office/powerpoint/2010/main" val="386950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5DA69E-AFFD-EBFB-F503-B653DFD801AC}"/>
              </a:ext>
            </a:extLst>
          </p:cNvPr>
          <p:cNvSpPr txBox="1"/>
          <p:nvPr/>
        </p:nvSpPr>
        <p:spPr>
          <a:xfrm>
            <a:off x="6415241" y="1583653"/>
            <a:ext cx="5283851" cy="4524315"/>
          </a:xfrm>
          <a:prstGeom prst="rect">
            <a:avLst/>
          </a:prstGeom>
          <a:noFill/>
        </p:spPr>
        <p:txBody>
          <a:bodyPr wrap="square">
            <a:spAutoFit/>
          </a:bodyPr>
          <a:lstStyle>
            <a:defPPr>
              <a:defRPr lang="en-US"/>
            </a:defPPr>
            <a:lvl1pPr marL="342900" indent="-342900">
              <a:buFont typeface="Arial" panose="020B0604020202020204" pitchFamily="34" charset="0"/>
              <a:buChar char="•"/>
              <a:defRPr sz="2000">
                <a:latin typeface="Cambria" panose="02040503050406030204" pitchFamily="18" charset="0"/>
                <a:ea typeface="Cambria" panose="02040503050406030204" pitchFamily="18" charset="0"/>
              </a:defRPr>
            </a:lvl1pPr>
          </a:lstStyle>
          <a:p>
            <a:r>
              <a:rPr lang="en-IN" sz="2400" dirty="0"/>
              <a:t>Handoffs: State-driven transitions</a:t>
            </a:r>
          </a:p>
          <a:p>
            <a:r>
              <a:rPr lang="en-IN" sz="2400" dirty="0"/>
              <a:t>How it works: When an agent calls a handoff tool, it updates state that determines the next agent to activate. </a:t>
            </a:r>
          </a:p>
          <a:p>
            <a:r>
              <a:rPr lang="en-IN" sz="2400" dirty="0"/>
              <a:t>This can mean switching to a different agent or changing the current agent's system prompt and available tools.</a:t>
            </a:r>
          </a:p>
          <a:p>
            <a:r>
              <a:rPr lang="en-IN" sz="2400" dirty="0"/>
              <a:t> The state survives across conversation turns, enabling sequential workflows.</a:t>
            </a:r>
          </a:p>
        </p:txBody>
      </p:sp>
      <p:pic>
        <p:nvPicPr>
          <p:cNvPr id="4" name="Picture 3">
            <a:extLst>
              <a:ext uri="{FF2B5EF4-FFF2-40B4-BE49-F238E27FC236}">
                <a16:creationId xmlns:a16="http://schemas.microsoft.com/office/drawing/2014/main" id="{273AB74C-DD91-25BA-F08E-14DF1443B7AD}"/>
              </a:ext>
            </a:extLst>
          </p:cNvPr>
          <p:cNvPicPr>
            <a:picLocks noChangeAspect="1"/>
          </p:cNvPicPr>
          <p:nvPr/>
        </p:nvPicPr>
        <p:blipFill>
          <a:blip r:embed="rId2"/>
          <a:stretch>
            <a:fillRect/>
          </a:stretch>
        </p:blipFill>
        <p:spPr>
          <a:xfrm>
            <a:off x="492908" y="1311733"/>
            <a:ext cx="5729217" cy="3003391"/>
          </a:xfrm>
          <a:prstGeom prst="rect">
            <a:avLst/>
          </a:prstGeom>
        </p:spPr>
      </p:pic>
      <p:sp>
        <p:nvSpPr>
          <p:cNvPr id="6" name="TextBox 5">
            <a:extLst>
              <a:ext uri="{FF2B5EF4-FFF2-40B4-BE49-F238E27FC236}">
                <a16:creationId xmlns:a16="http://schemas.microsoft.com/office/drawing/2014/main" id="{636CD6CB-9A10-1E5C-6CFE-7B4CBD4F2E6B}"/>
              </a:ext>
            </a:extLst>
          </p:cNvPr>
          <p:cNvSpPr txBox="1"/>
          <p:nvPr/>
        </p:nvSpPr>
        <p:spPr>
          <a:xfrm>
            <a:off x="301083" y="6534834"/>
            <a:ext cx="6768790" cy="261610"/>
          </a:xfrm>
          <a:prstGeom prst="rect">
            <a:avLst/>
          </a:prstGeom>
          <a:noFill/>
        </p:spPr>
        <p:txBody>
          <a:bodyPr wrap="square">
            <a:spAutoFit/>
          </a:bodyPr>
          <a:lstStyle/>
          <a:p>
            <a:r>
              <a:rPr lang="en-IN" sz="1100" dirty="0"/>
              <a:t>https://www.langchain.com/blog/choosing-the-right-multi-agent-architecture</a:t>
            </a:r>
          </a:p>
        </p:txBody>
      </p:sp>
      <p:sp>
        <p:nvSpPr>
          <p:cNvPr id="8" name="TextBox 7">
            <a:extLst>
              <a:ext uri="{FF2B5EF4-FFF2-40B4-BE49-F238E27FC236}">
                <a16:creationId xmlns:a16="http://schemas.microsoft.com/office/drawing/2014/main" id="{76F3B285-46E0-9D59-0F70-03644CB887AF}"/>
              </a:ext>
            </a:extLst>
          </p:cNvPr>
          <p:cNvSpPr txBox="1"/>
          <p:nvPr/>
        </p:nvSpPr>
        <p:spPr>
          <a:xfrm>
            <a:off x="839130" y="471245"/>
            <a:ext cx="9252724" cy="646331"/>
          </a:xfrm>
          <a:prstGeom prst="rect">
            <a:avLst/>
          </a:prstGeom>
          <a:noFill/>
          <a:ln/>
        </p:spPr>
        <p:txBody>
          <a:bodyPr wrap="square" lIns="0" tIns="0" rIns="0" bIns="0" rtlCol="0" anchor="ctr"/>
          <a:lstStyle>
            <a:defPPr>
              <a:defRPr lang="en-US"/>
            </a:defPPr>
            <a:lvl1pPr>
              <a:defRPr sz="3600">
                <a:latin typeface="Cambria" panose="02040503050406030204" pitchFamily="18" charset="0"/>
                <a:ea typeface="Cambria" panose="02040503050406030204" pitchFamily="18" charset="0"/>
              </a:defRPr>
            </a:lvl1pPr>
          </a:lstStyle>
          <a:p>
            <a:r>
              <a:rPr lang="en-US" dirty="0"/>
              <a:t>Multi-Agent Systems pattern 3</a:t>
            </a:r>
            <a:endParaRPr lang="en-IN" dirty="0"/>
          </a:p>
        </p:txBody>
      </p:sp>
      <p:sp>
        <p:nvSpPr>
          <p:cNvPr id="10" name="TextBox 9">
            <a:extLst>
              <a:ext uri="{FF2B5EF4-FFF2-40B4-BE49-F238E27FC236}">
                <a16:creationId xmlns:a16="http://schemas.microsoft.com/office/drawing/2014/main" id="{41D54762-2189-54E2-6DCF-F3084C61D965}"/>
              </a:ext>
            </a:extLst>
          </p:cNvPr>
          <p:cNvSpPr txBox="1"/>
          <p:nvPr/>
        </p:nvSpPr>
        <p:spPr>
          <a:xfrm>
            <a:off x="210208" y="4755539"/>
            <a:ext cx="6011917" cy="1631216"/>
          </a:xfrm>
          <a:prstGeom prst="rect">
            <a:avLst/>
          </a:prstGeom>
          <a:solidFill>
            <a:schemeClr val="bg2">
              <a:lumMod val="90000"/>
            </a:schemeClr>
          </a:solidFill>
        </p:spPr>
        <p:txBody>
          <a:bodyPr wrap="square">
            <a:spAutoFit/>
          </a:bodyPr>
          <a:lstStyle>
            <a:defPPr>
              <a:defRPr lang="en-US"/>
            </a:defPPr>
            <a:lvl1pPr indent="0">
              <a:buFont typeface="Arial" panose="020B0604020202020204" pitchFamily="34" charset="0"/>
              <a:buNone/>
              <a:defRPr sz="2000">
                <a:latin typeface="Cambria" panose="02040503050406030204" pitchFamily="18" charset="0"/>
                <a:ea typeface="Cambria" panose="02040503050406030204" pitchFamily="18" charset="0"/>
              </a:defRPr>
            </a:lvl1pPr>
          </a:lstStyle>
          <a:p>
            <a:r>
              <a:rPr lang="en-IN" dirty="0"/>
              <a:t>Best for: Customer support flows that collect information in stages, multi-stage conversational experiences, or any scenario requiring sequential constraints where capabilities unlock only after preconditions are met.</a:t>
            </a:r>
          </a:p>
        </p:txBody>
      </p:sp>
    </p:spTree>
    <p:extLst>
      <p:ext uri="{BB962C8B-B14F-4D97-AF65-F5344CB8AC3E}">
        <p14:creationId xmlns:p14="http://schemas.microsoft.com/office/powerpoint/2010/main" val="1529848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DD9B0C-8ACB-726C-3425-DAFA2D9B1F39}"/>
              </a:ext>
            </a:extLst>
          </p:cNvPr>
          <p:cNvPicPr>
            <a:picLocks noChangeAspect="1"/>
          </p:cNvPicPr>
          <p:nvPr/>
        </p:nvPicPr>
        <p:blipFill>
          <a:blip r:embed="rId3"/>
          <a:stretch>
            <a:fillRect/>
          </a:stretch>
        </p:blipFill>
        <p:spPr>
          <a:xfrm>
            <a:off x="301083" y="891281"/>
            <a:ext cx="10962290" cy="2653806"/>
          </a:xfrm>
          <a:prstGeom prst="rect">
            <a:avLst/>
          </a:prstGeom>
        </p:spPr>
      </p:pic>
      <p:sp>
        <p:nvSpPr>
          <p:cNvPr id="6" name="TextBox 5">
            <a:extLst>
              <a:ext uri="{FF2B5EF4-FFF2-40B4-BE49-F238E27FC236}">
                <a16:creationId xmlns:a16="http://schemas.microsoft.com/office/drawing/2014/main" id="{E533B509-D2FB-470E-4369-4048D71D5872}"/>
              </a:ext>
            </a:extLst>
          </p:cNvPr>
          <p:cNvSpPr txBox="1"/>
          <p:nvPr/>
        </p:nvSpPr>
        <p:spPr>
          <a:xfrm>
            <a:off x="301083" y="6534834"/>
            <a:ext cx="6768790" cy="261610"/>
          </a:xfrm>
          <a:prstGeom prst="rect">
            <a:avLst/>
          </a:prstGeom>
          <a:noFill/>
        </p:spPr>
        <p:txBody>
          <a:bodyPr wrap="square">
            <a:spAutoFit/>
          </a:bodyPr>
          <a:lstStyle/>
          <a:p>
            <a:r>
              <a:rPr lang="en-IN" sz="1100" dirty="0"/>
              <a:t>https://www.langchain.com/blog/choosing-the-right-multi-agent-architecture</a:t>
            </a:r>
          </a:p>
        </p:txBody>
      </p:sp>
      <p:sp>
        <p:nvSpPr>
          <p:cNvPr id="8" name="TextBox 7">
            <a:extLst>
              <a:ext uri="{FF2B5EF4-FFF2-40B4-BE49-F238E27FC236}">
                <a16:creationId xmlns:a16="http://schemas.microsoft.com/office/drawing/2014/main" id="{98A92EB9-E326-F19C-863A-DA2700A1642E}"/>
              </a:ext>
            </a:extLst>
          </p:cNvPr>
          <p:cNvSpPr txBox="1"/>
          <p:nvPr/>
        </p:nvSpPr>
        <p:spPr>
          <a:xfrm>
            <a:off x="839130" y="471245"/>
            <a:ext cx="9252724" cy="646331"/>
          </a:xfrm>
          <a:prstGeom prst="rect">
            <a:avLst/>
          </a:prstGeom>
          <a:noFill/>
          <a:ln/>
        </p:spPr>
        <p:txBody>
          <a:bodyPr wrap="square" lIns="0" tIns="0" rIns="0" bIns="0" rtlCol="0" anchor="ctr"/>
          <a:lstStyle>
            <a:defPPr>
              <a:defRPr lang="en-US"/>
            </a:defPPr>
            <a:lvl1pPr>
              <a:defRPr sz="3600">
                <a:latin typeface="Cambria" panose="02040503050406030204" pitchFamily="18" charset="0"/>
                <a:ea typeface="Cambria" panose="02040503050406030204" pitchFamily="18" charset="0"/>
              </a:defRPr>
            </a:lvl1pPr>
          </a:lstStyle>
          <a:p>
            <a:r>
              <a:rPr lang="en-US" dirty="0"/>
              <a:t>Multi-Agent Systems pattern 4</a:t>
            </a:r>
            <a:endParaRPr lang="en-IN" dirty="0"/>
          </a:p>
        </p:txBody>
      </p:sp>
      <p:sp>
        <p:nvSpPr>
          <p:cNvPr id="10" name="TextBox 9">
            <a:extLst>
              <a:ext uri="{FF2B5EF4-FFF2-40B4-BE49-F238E27FC236}">
                <a16:creationId xmlns:a16="http://schemas.microsoft.com/office/drawing/2014/main" id="{FA97161A-CB25-2595-AFD7-F91A49D8BC5E}"/>
              </a:ext>
            </a:extLst>
          </p:cNvPr>
          <p:cNvSpPr txBox="1"/>
          <p:nvPr/>
        </p:nvSpPr>
        <p:spPr>
          <a:xfrm>
            <a:off x="186719" y="3346544"/>
            <a:ext cx="4963349" cy="2554545"/>
          </a:xfrm>
          <a:prstGeom prst="rect">
            <a:avLst/>
          </a:prstGeom>
          <a:solidFill>
            <a:schemeClr val="bg2">
              <a:lumMod val="90000"/>
            </a:schemeClr>
          </a:solidFill>
        </p:spPr>
        <p:txBody>
          <a:bodyPr wrap="square">
            <a:spAutoFit/>
          </a:bodyPr>
          <a:lstStyle>
            <a:defPPr>
              <a:defRPr lang="en-US"/>
            </a:defPPr>
            <a:lvl1pPr indent="0">
              <a:buFont typeface="Arial" panose="020B0604020202020204" pitchFamily="34" charset="0"/>
              <a:buNone/>
              <a:defRPr sz="2000">
                <a:latin typeface="Cambria" panose="02040503050406030204" pitchFamily="18" charset="0"/>
                <a:ea typeface="Cambria" panose="02040503050406030204" pitchFamily="18" charset="0"/>
              </a:defRPr>
            </a:lvl1pPr>
          </a:lstStyle>
          <a:p>
            <a:r>
              <a:rPr lang="en-IN" dirty="0"/>
              <a:t>Best for: Applications with distinct verticals (separate knowledge domains), scenarios requiring queries across multiple sources in parallel, or situations where you need to synthesize results from multiple agents. Examples include enterprise knowledge bases and multi-vertical customer support assistants</a:t>
            </a:r>
          </a:p>
        </p:txBody>
      </p:sp>
      <p:sp>
        <p:nvSpPr>
          <p:cNvPr id="12" name="TextBox 11">
            <a:extLst>
              <a:ext uri="{FF2B5EF4-FFF2-40B4-BE49-F238E27FC236}">
                <a16:creationId xmlns:a16="http://schemas.microsoft.com/office/drawing/2014/main" id="{A2234DD0-F3B9-8A4A-DA1C-C828E882912F}"/>
              </a:ext>
            </a:extLst>
          </p:cNvPr>
          <p:cNvSpPr txBox="1"/>
          <p:nvPr/>
        </p:nvSpPr>
        <p:spPr>
          <a:xfrm>
            <a:off x="6013456" y="3495540"/>
            <a:ext cx="6096000" cy="2862322"/>
          </a:xfrm>
          <a:prstGeom prst="rect">
            <a:avLst/>
          </a:prstGeom>
          <a:noFill/>
        </p:spPr>
        <p:txBody>
          <a:bodyPr wrap="square">
            <a:spAutoFit/>
          </a:bodyPr>
          <a:lstStyle>
            <a:defPPr>
              <a:defRPr lang="en-US"/>
            </a:defPPr>
            <a:lvl1pPr marL="342900" indent="-342900">
              <a:buFont typeface="Arial" panose="020B0604020202020204" pitchFamily="34" charset="0"/>
              <a:buChar char="•"/>
              <a:defRPr sz="2000">
                <a:latin typeface="Cambria" panose="02040503050406030204" pitchFamily="18" charset="0"/>
                <a:ea typeface="Cambria" panose="02040503050406030204" pitchFamily="18" charset="0"/>
              </a:defRPr>
            </a:lvl1pPr>
          </a:lstStyle>
          <a:p>
            <a:r>
              <a:rPr lang="en-IN" dirty="0"/>
              <a:t>Router: 1. Parallel dispatch and synthesis </a:t>
            </a:r>
          </a:p>
          <a:p>
            <a:pPr marL="0" indent="0">
              <a:buNone/>
            </a:pPr>
            <a:r>
              <a:rPr lang="en-IN" dirty="0"/>
              <a:t>                       2. Agent selection and no synthesis</a:t>
            </a:r>
          </a:p>
          <a:p>
            <a:r>
              <a:rPr lang="en-IN" dirty="0"/>
              <a:t>"Router" is really a planner: it decides which subset of specialists is relevant to this particular request, dispatches those in parallel, and hands the results to a Synthesizer to merge. </a:t>
            </a:r>
          </a:p>
          <a:p>
            <a:r>
              <a:rPr lang="en-IN" dirty="0"/>
              <a:t>The name "Router" is a </a:t>
            </a:r>
            <a:r>
              <a:rPr lang="en-IN" dirty="0" err="1"/>
              <a:t>LangChain</a:t>
            </a:r>
            <a:r>
              <a:rPr lang="en-IN" dirty="0"/>
              <a:t> convention — it's making a selection decision, but the output is a set of agents to run, not one.</a:t>
            </a:r>
          </a:p>
        </p:txBody>
      </p:sp>
    </p:spTree>
    <p:extLst>
      <p:ext uri="{BB962C8B-B14F-4D97-AF65-F5344CB8AC3E}">
        <p14:creationId xmlns:p14="http://schemas.microsoft.com/office/powerpoint/2010/main" val="3158568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23CCD46-ED62-3D63-67C7-D7FBED68361C}"/>
              </a:ext>
            </a:extLst>
          </p:cNvPr>
          <p:cNvGraphicFramePr>
            <a:graphicFrameLocks noGrp="1"/>
          </p:cNvGraphicFramePr>
          <p:nvPr>
            <p:extLst>
              <p:ext uri="{D42A27DB-BD31-4B8C-83A1-F6EECF244321}">
                <p14:modId xmlns:p14="http://schemas.microsoft.com/office/powerpoint/2010/main" val="773747180"/>
              </p:ext>
            </p:extLst>
          </p:nvPr>
        </p:nvGraphicFramePr>
        <p:xfrm>
          <a:off x="327221" y="2130715"/>
          <a:ext cx="11096124" cy="2400901"/>
        </p:xfrm>
        <a:graphic>
          <a:graphicData uri="http://schemas.openxmlformats.org/drawingml/2006/table">
            <a:tbl>
              <a:tblPr>
                <a:tableStyleId>{3C2FFA5D-87B4-456A-9821-1D502468CF0F}</a:tableStyleId>
              </a:tblPr>
              <a:tblGrid>
                <a:gridCol w="8984945">
                  <a:extLst>
                    <a:ext uri="{9D8B030D-6E8A-4147-A177-3AD203B41FA5}">
                      <a16:colId xmlns:a16="http://schemas.microsoft.com/office/drawing/2014/main" val="1510419573"/>
                    </a:ext>
                  </a:extLst>
                </a:gridCol>
                <a:gridCol w="2111179">
                  <a:extLst>
                    <a:ext uri="{9D8B030D-6E8A-4147-A177-3AD203B41FA5}">
                      <a16:colId xmlns:a16="http://schemas.microsoft.com/office/drawing/2014/main" val="1842338216"/>
                    </a:ext>
                  </a:extLst>
                </a:gridCol>
              </a:tblGrid>
              <a:tr h="422216">
                <a:tc>
                  <a:txBody>
                    <a:bodyPr/>
                    <a:lstStyle/>
                    <a:p>
                      <a:pPr algn="l">
                        <a:buNone/>
                      </a:pPr>
                      <a:r>
                        <a:rPr lang="en-IN" sz="2000" b="0" cap="all" dirty="0">
                          <a:solidFill>
                            <a:schemeClr val="tx1"/>
                          </a:solidFill>
                          <a:effectLst/>
                        </a:rPr>
                        <a:t>our requirements</a:t>
                      </a:r>
                      <a:endParaRPr lang="en-IN" sz="2000" b="0" i="0" cap="all" dirty="0">
                        <a:solidFill>
                          <a:schemeClr val="tx1"/>
                        </a:solidFill>
                        <a:effectLst/>
                        <a:latin typeface="Twklausanne"/>
                      </a:endParaRPr>
                    </a:p>
                  </a:txBody>
                  <a:tcPr marL="110440" marR="110440" marT="77308" marB="77308" anchor="ctr"/>
                </a:tc>
                <a:tc>
                  <a:txBody>
                    <a:bodyPr/>
                    <a:lstStyle/>
                    <a:p>
                      <a:pPr algn="l">
                        <a:buNone/>
                      </a:pPr>
                      <a:r>
                        <a:rPr lang="en-IN" sz="2000" b="0" cap="all">
                          <a:solidFill>
                            <a:schemeClr val="tx1"/>
                          </a:solidFill>
                          <a:effectLst/>
                        </a:rPr>
                        <a:t>Pattern</a:t>
                      </a:r>
                      <a:endParaRPr lang="en-IN" sz="2000" b="0" i="0" cap="all">
                        <a:solidFill>
                          <a:schemeClr val="tx1"/>
                        </a:solidFill>
                        <a:effectLst/>
                        <a:latin typeface="Twklausanne"/>
                      </a:endParaRPr>
                    </a:p>
                  </a:txBody>
                  <a:tcPr marL="110440" marR="110440" marT="77308" marB="77308" anchor="ctr"/>
                </a:tc>
                <a:extLst>
                  <a:ext uri="{0D108BD9-81ED-4DB2-BD59-A6C34878D82A}">
                    <a16:rowId xmlns:a16="http://schemas.microsoft.com/office/drawing/2014/main" val="1160976178"/>
                  </a:ext>
                </a:extLst>
              </a:tr>
              <a:tr h="422216">
                <a:tc>
                  <a:txBody>
                    <a:bodyPr/>
                    <a:lstStyle/>
                    <a:p>
                      <a:pPr algn="l">
                        <a:buNone/>
                      </a:pPr>
                      <a:r>
                        <a:rPr lang="en-IN" sz="2000" b="0" dirty="0">
                          <a:solidFill>
                            <a:schemeClr val="tx1"/>
                          </a:solidFill>
                          <a:effectLst/>
                        </a:rPr>
                        <a:t>Multiple distinct domains (calendar, email, CRM), need parallel execution</a:t>
                      </a:r>
                      <a:endParaRPr lang="en-IN" sz="2000" b="0" i="0" dirty="0">
                        <a:solidFill>
                          <a:schemeClr val="tx1"/>
                        </a:solidFill>
                        <a:effectLst/>
                        <a:latin typeface="Twklausanne"/>
                      </a:endParaRPr>
                    </a:p>
                  </a:txBody>
                  <a:tcPr marL="110440" marR="110440" marT="77308" marB="77308" anchor="ctr"/>
                </a:tc>
                <a:tc>
                  <a:txBody>
                    <a:bodyPr/>
                    <a:lstStyle/>
                    <a:p>
                      <a:pPr algn="l">
                        <a:buNone/>
                      </a:pPr>
                      <a:r>
                        <a:rPr lang="en-IN" sz="2000" b="0">
                          <a:solidFill>
                            <a:schemeClr val="tx1"/>
                          </a:solidFill>
                          <a:effectLst/>
                        </a:rPr>
                        <a:t>Subagents</a:t>
                      </a:r>
                      <a:endParaRPr lang="en-IN" sz="2000" b="0" i="0">
                        <a:solidFill>
                          <a:schemeClr val="tx1"/>
                        </a:solidFill>
                        <a:effectLst/>
                        <a:latin typeface="Twklausanne"/>
                      </a:endParaRPr>
                    </a:p>
                  </a:txBody>
                  <a:tcPr marL="110440" marR="110440" marT="77308" marB="77308" anchor="ctr"/>
                </a:tc>
                <a:extLst>
                  <a:ext uri="{0D108BD9-81ED-4DB2-BD59-A6C34878D82A}">
                    <a16:rowId xmlns:a16="http://schemas.microsoft.com/office/drawing/2014/main" val="1349095589"/>
                  </a:ext>
                </a:extLst>
              </a:tr>
              <a:tr h="422216">
                <a:tc>
                  <a:txBody>
                    <a:bodyPr/>
                    <a:lstStyle/>
                    <a:p>
                      <a:pPr algn="l">
                        <a:buNone/>
                      </a:pPr>
                      <a:r>
                        <a:rPr lang="en-IN" sz="2000" b="0" dirty="0">
                          <a:solidFill>
                            <a:schemeClr val="tx1"/>
                          </a:solidFill>
                          <a:effectLst/>
                        </a:rPr>
                        <a:t>Single agent with many possible specializations, lightweight composition</a:t>
                      </a:r>
                      <a:endParaRPr lang="en-IN" sz="2000" b="0" i="0" dirty="0">
                        <a:solidFill>
                          <a:schemeClr val="tx1"/>
                        </a:solidFill>
                        <a:effectLst/>
                        <a:latin typeface="Twklausanne"/>
                      </a:endParaRPr>
                    </a:p>
                  </a:txBody>
                  <a:tcPr marL="110440" marR="110440" marT="77308" marB="77308" anchor="ctr"/>
                </a:tc>
                <a:tc>
                  <a:txBody>
                    <a:bodyPr/>
                    <a:lstStyle/>
                    <a:p>
                      <a:pPr algn="l">
                        <a:buNone/>
                      </a:pPr>
                      <a:r>
                        <a:rPr lang="en-IN" sz="2000" b="0">
                          <a:solidFill>
                            <a:schemeClr val="tx1"/>
                          </a:solidFill>
                          <a:effectLst/>
                        </a:rPr>
                        <a:t>Skills</a:t>
                      </a:r>
                      <a:endParaRPr lang="en-IN" sz="2000" b="0" i="0">
                        <a:solidFill>
                          <a:schemeClr val="tx1"/>
                        </a:solidFill>
                        <a:effectLst/>
                        <a:latin typeface="Twklausanne"/>
                      </a:endParaRPr>
                    </a:p>
                  </a:txBody>
                  <a:tcPr marL="110440" marR="110440" marT="77308" marB="77308" anchor="ctr"/>
                </a:tc>
                <a:extLst>
                  <a:ext uri="{0D108BD9-81ED-4DB2-BD59-A6C34878D82A}">
                    <a16:rowId xmlns:a16="http://schemas.microsoft.com/office/drawing/2014/main" val="2869605683"/>
                  </a:ext>
                </a:extLst>
              </a:tr>
              <a:tr h="422216">
                <a:tc>
                  <a:txBody>
                    <a:bodyPr/>
                    <a:lstStyle/>
                    <a:p>
                      <a:pPr algn="l">
                        <a:buNone/>
                      </a:pPr>
                      <a:r>
                        <a:rPr lang="en-IN" sz="2000" b="0" dirty="0">
                          <a:solidFill>
                            <a:schemeClr val="tx1"/>
                          </a:solidFill>
                          <a:effectLst/>
                        </a:rPr>
                        <a:t>Sequential workflow with state transitions, agent converses with user throughout</a:t>
                      </a:r>
                      <a:endParaRPr lang="en-IN" sz="2000" b="0" i="0" dirty="0">
                        <a:solidFill>
                          <a:schemeClr val="tx1"/>
                        </a:solidFill>
                        <a:effectLst/>
                        <a:latin typeface="Twklausanne"/>
                      </a:endParaRPr>
                    </a:p>
                  </a:txBody>
                  <a:tcPr marL="110440" marR="110440" marT="77308" marB="77308" anchor="ctr"/>
                </a:tc>
                <a:tc>
                  <a:txBody>
                    <a:bodyPr/>
                    <a:lstStyle/>
                    <a:p>
                      <a:pPr algn="l">
                        <a:buNone/>
                      </a:pPr>
                      <a:r>
                        <a:rPr lang="en-IN" sz="2000" b="0">
                          <a:solidFill>
                            <a:schemeClr val="tx1"/>
                          </a:solidFill>
                          <a:effectLst/>
                        </a:rPr>
                        <a:t>Handoffs</a:t>
                      </a:r>
                      <a:endParaRPr lang="en-IN" sz="2000" b="0" i="0">
                        <a:solidFill>
                          <a:schemeClr val="tx1"/>
                        </a:solidFill>
                        <a:effectLst/>
                        <a:latin typeface="Twklausanne"/>
                      </a:endParaRPr>
                    </a:p>
                  </a:txBody>
                  <a:tcPr marL="110440" marR="110440" marT="77308" marB="77308" anchor="ctr"/>
                </a:tc>
                <a:extLst>
                  <a:ext uri="{0D108BD9-81ED-4DB2-BD59-A6C34878D82A}">
                    <a16:rowId xmlns:a16="http://schemas.microsoft.com/office/drawing/2014/main" val="3236352535"/>
                  </a:ext>
                </a:extLst>
              </a:tr>
              <a:tr h="563237">
                <a:tc>
                  <a:txBody>
                    <a:bodyPr/>
                    <a:lstStyle/>
                    <a:p>
                      <a:pPr algn="l">
                        <a:buNone/>
                      </a:pPr>
                      <a:r>
                        <a:rPr lang="en-IN" sz="2000" b="0" dirty="0">
                          <a:solidFill>
                            <a:schemeClr val="tx1"/>
                          </a:solidFill>
                          <a:effectLst/>
                        </a:rPr>
                        <a:t>Distinct verticals, query multiple sources in parallel and synthesize results</a:t>
                      </a:r>
                      <a:endParaRPr lang="en-IN" sz="2000" b="0" i="0" dirty="0">
                        <a:solidFill>
                          <a:schemeClr val="tx1"/>
                        </a:solidFill>
                        <a:effectLst/>
                        <a:latin typeface="Twklausanne"/>
                      </a:endParaRPr>
                    </a:p>
                  </a:txBody>
                  <a:tcPr marL="110440" marR="110440" marT="77308" marB="77308" anchor="ctr"/>
                </a:tc>
                <a:tc>
                  <a:txBody>
                    <a:bodyPr/>
                    <a:lstStyle/>
                    <a:p>
                      <a:pPr algn="l">
                        <a:buNone/>
                      </a:pPr>
                      <a:r>
                        <a:rPr lang="en-IN" sz="2000" b="0" dirty="0">
                          <a:solidFill>
                            <a:schemeClr val="tx1"/>
                          </a:solidFill>
                          <a:effectLst/>
                        </a:rPr>
                        <a:t>Router</a:t>
                      </a:r>
                      <a:endParaRPr lang="en-IN" sz="2000" b="0" i="0" dirty="0">
                        <a:solidFill>
                          <a:schemeClr val="tx1"/>
                        </a:solidFill>
                        <a:effectLst/>
                        <a:latin typeface="Twklausanne"/>
                      </a:endParaRPr>
                    </a:p>
                  </a:txBody>
                  <a:tcPr marL="110440" marR="110440" marT="77308" marB="77308" anchor="ctr"/>
                </a:tc>
                <a:extLst>
                  <a:ext uri="{0D108BD9-81ED-4DB2-BD59-A6C34878D82A}">
                    <a16:rowId xmlns:a16="http://schemas.microsoft.com/office/drawing/2014/main" val="3302641708"/>
                  </a:ext>
                </a:extLst>
              </a:tr>
            </a:tbl>
          </a:graphicData>
        </a:graphic>
      </p:graphicFrame>
      <p:sp>
        <p:nvSpPr>
          <p:cNvPr id="6" name="Text 0">
            <a:extLst>
              <a:ext uri="{FF2B5EF4-FFF2-40B4-BE49-F238E27FC236}">
                <a16:creationId xmlns:a16="http://schemas.microsoft.com/office/drawing/2014/main" id="{8972F826-04AE-04A7-926D-AB41F7E8FE13}"/>
              </a:ext>
            </a:extLst>
          </p:cNvPr>
          <p:cNvSpPr/>
          <p:nvPr/>
        </p:nvSpPr>
        <p:spPr>
          <a:xfrm>
            <a:off x="548640" y="123444"/>
            <a:ext cx="11064240" cy="685800"/>
          </a:xfrm>
          <a:prstGeom prst="rect">
            <a:avLst/>
          </a:prstGeom>
          <a:noFill/>
          <a:ln/>
        </p:spPr>
        <p:txBody>
          <a:bodyPr wrap="square" lIns="0" tIns="0" rIns="0" bIns="0" rtlCol="0" anchor="ctr"/>
          <a:lstStyle/>
          <a:p>
            <a:r>
              <a:rPr lang="en-US" sz="3600" dirty="0">
                <a:latin typeface="Cambria" panose="02040503050406030204" pitchFamily="18" charset="0"/>
                <a:ea typeface="Cambria" panose="02040503050406030204" pitchFamily="18" charset="0"/>
              </a:rPr>
              <a:t>Multi-Agent Systems</a:t>
            </a:r>
          </a:p>
        </p:txBody>
      </p:sp>
    </p:spTree>
    <p:extLst>
      <p:ext uri="{BB962C8B-B14F-4D97-AF65-F5344CB8AC3E}">
        <p14:creationId xmlns:p14="http://schemas.microsoft.com/office/powerpoint/2010/main" val="701582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063D4B0-6678-CCE7-406C-F0A0E6DB89D9}"/>
              </a:ext>
            </a:extLst>
          </p:cNvPr>
          <p:cNvSpPr txBox="1">
            <a:spLocks/>
          </p:cNvSpPr>
          <p:nvPr/>
        </p:nvSpPr>
        <p:spPr>
          <a:xfrm>
            <a:off x="1700224" y="493764"/>
            <a:ext cx="8446186" cy="505267"/>
          </a:xfrm>
          <a:prstGeom prst="rect">
            <a:avLst/>
          </a:prstGeom>
        </p:spPr>
        <p:txBody>
          <a:bodyPr vert="horz" wrap="square" lIns="0" tIns="12700" rIns="0" bIns="0" rtlCol="0" anchor="ctr">
            <a:spAutoFit/>
          </a:bodyPr>
          <a:lstStyle>
            <a:lvl1pPr>
              <a:defRPr sz="3600">
                <a:latin typeface="Cambria" panose="02040503050406030204" pitchFamily="18" charset="0"/>
                <a:ea typeface="Cambria" panose="02040503050406030204" pitchFamily="18" charset="0"/>
                <a:cs typeface="+mj-cs"/>
              </a:defRPr>
            </a:lvl1pPr>
          </a:lstStyle>
          <a:p>
            <a:pPr marL="12700">
              <a:spcBef>
                <a:spcPts val="100"/>
              </a:spcBef>
            </a:pPr>
            <a:r>
              <a:rPr lang="en-US" sz="3200" kern="0" spc="70">
                <a:solidFill>
                  <a:schemeClr val="tx1"/>
                </a:solidFill>
              </a:rPr>
              <a:t>How</a:t>
            </a:r>
            <a:r>
              <a:rPr lang="en-US" sz="3200" kern="0" spc="-100">
                <a:solidFill>
                  <a:schemeClr val="tx1"/>
                </a:solidFill>
              </a:rPr>
              <a:t> </a:t>
            </a:r>
            <a:r>
              <a:rPr lang="en-US" sz="3200" kern="0">
                <a:solidFill>
                  <a:schemeClr val="tx1"/>
                </a:solidFill>
              </a:rPr>
              <a:t>can</a:t>
            </a:r>
            <a:r>
              <a:rPr lang="en-US" sz="3200" kern="0" spc="-100">
                <a:solidFill>
                  <a:schemeClr val="tx1"/>
                </a:solidFill>
              </a:rPr>
              <a:t> </a:t>
            </a:r>
            <a:r>
              <a:rPr lang="en-US" sz="3200" kern="0">
                <a:solidFill>
                  <a:schemeClr val="tx1"/>
                </a:solidFill>
              </a:rPr>
              <a:t>agents</a:t>
            </a:r>
            <a:r>
              <a:rPr lang="en-US" sz="3200" kern="0" spc="-100">
                <a:solidFill>
                  <a:schemeClr val="tx1"/>
                </a:solidFill>
              </a:rPr>
              <a:t> </a:t>
            </a:r>
            <a:r>
              <a:rPr lang="en-US" sz="3200" kern="0" spc="-45">
                <a:solidFill>
                  <a:schemeClr val="tx1"/>
                </a:solidFill>
              </a:rPr>
              <a:t>communicate</a:t>
            </a:r>
            <a:r>
              <a:rPr lang="en-US" sz="3200" kern="0" spc="-95">
                <a:solidFill>
                  <a:schemeClr val="tx1"/>
                </a:solidFill>
              </a:rPr>
              <a:t> </a:t>
            </a:r>
            <a:r>
              <a:rPr lang="en-US" sz="3200" kern="0" spc="-130">
                <a:solidFill>
                  <a:schemeClr val="tx1"/>
                </a:solidFill>
              </a:rPr>
              <a:t>with</a:t>
            </a:r>
            <a:r>
              <a:rPr lang="en-US" sz="3200" kern="0" spc="-100">
                <a:solidFill>
                  <a:schemeClr val="tx1"/>
                </a:solidFill>
              </a:rPr>
              <a:t> </a:t>
            </a:r>
            <a:r>
              <a:rPr lang="en-US" sz="3200" kern="0">
                <a:solidFill>
                  <a:schemeClr val="tx1"/>
                </a:solidFill>
              </a:rPr>
              <a:t>each</a:t>
            </a:r>
            <a:r>
              <a:rPr lang="en-US" sz="3200" kern="0" spc="-100">
                <a:solidFill>
                  <a:schemeClr val="tx1"/>
                </a:solidFill>
              </a:rPr>
              <a:t> </a:t>
            </a:r>
            <a:r>
              <a:rPr lang="en-US" sz="3200" kern="0" spc="-10">
                <a:solidFill>
                  <a:schemeClr val="tx1"/>
                </a:solidFill>
              </a:rPr>
              <a:t>other?</a:t>
            </a:r>
            <a:endParaRPr lang="en-US" sz="3200" kern="0" spc="-10" dirty="0">
              <a:solidFill>
                <a:schemeClr val="tx1"/>
              </a:solidFill>
            </a:endParaRPr>
          </a:p>
        </p:txBody>
      </p:sp>
      <p:grpSp>
        <p:nvGrpSpPr>
          <p:cNvPr id="3" name="Group 2">
            <a:extLst>
              <a:ext uri="{FF2B5EF4-FFF2-40B4-BE49-F238E27FC236}">
                <a16:creationId xmlns:a16="http://schemas.microsoft.com/office/drawing/2014/main" id="{E1022481-06C0-96B5-3902-D81BAFB77481}"/>
              </a:ext>
            </a:extLst>
          </p:cNvPr>
          <p:cNvGrpSpPr/>
          <p:nvPr/>
        </p:nvGrpSpPr>
        <p:grpSpPr>
          <a:xfrm>
            <a:off x="1700224" y="1869627"/>
            <a:ext cx="8297460" cy="3835412"/>
            <a:chOff x="1700224" y="1869627"/>
            <a:chExt cx="8297460" cy="3835412"/>
          </a:xfrm>
        </p:grpSpPr>
        <p:sp>
          <p:nvSpPr>
            <p:cNvPr id="4" name="object 3">
              <a:extLst>
                <a:ext uri="{FF2B5EF4-FFF2-40B4-BE49-F238E27FC236}">
                  <a16:creationId xmlns:a16="http://schemas.microsoft.com/office/drawing/2014/main" id="{5F5565D1-21E1-8999-D341-F83429798745}"/>
                </a:ext>
              </a:extLst>
            </p:cNvPr>
            <p:cNvSpPr txBox="1"/>
            <p:nvPr/>
          </p:nvSpPr>
          <p:spPr>
            <a:xfrm>
              <a:off x="4995824" y="3111651"/>
              <a:ext cx="1290320" cy="800219"/>
            </a:xfrm>
            <a:prstGeom prst="rect">
              <a:avLst/>
            </a:prstGeom>
            <a:solidFill>
              <a:srgbClr val="F4CCCC"/>
            </a:solidFill>
            <a:ln w="9524">
              <a:solidFill>
                <a:srgbClr val="000000"/>
              </a:solidFill>
            </a:ln>
          </p:spPr>
          <p:txBody>
            <a:bodyPr vert="horz" wrap="square" lIns="0" tIns="147320" rIns="0" bIns="0" rtlCol="0">
              <a:spAutoFit/>
            </a:bodyPr>
            <a:lstStyle/>
            <a:p>
              <a:pPr>
                <a:spcBef>
                  <a:spcPts val="1160"/>
                </a:spcBef>
              </a:pPr>
              <a:endParaRPr sz="1400">
                <a:latin typeface="Times New Roman"/>
                <a:cs typeface="Times New Roman"/>
              </a:endParaRPr>
            </a:p>
            <a:p>
              <a:pPr marL="421640" marR="194310" indent="-219710">
                <a:lnSpc>
                  <a:spcPts val="1650"/>
                </a:lnSpc>
              </a:pPr>
              <a:r>
                <a:rPr sz="1400" spc="-35" dirty="0">
                  <a:latin typeface="Trebuchet MS"/>
                  <a:cs typeface="Trebuchet MS"/>
                </a:rPr>
                <a:t>Thermostat </a:t>
              </a:r>
              <a:r>
                <a:rPr sz="1400" spc="-10" dirty="0">
                  <a:latin typeface="Trebuchet MS"/>
                  <a:cs typeface="Trebuchet MS"/>
                </a:rPr>
                <a:t>agent</a:t>
              </a:r>
              <a:endParaRPr sz="1400">
                <a:latin typeface="Trebuchet MS"/>
                <a:cs typeface="Trebuchet MS"/>
              </a:endParaRPr>
            </a:p>
          </p:txBody>
        </p:sp>
        <p:sp>
          <p:nvSpPr>
            <p:cNvPr id="5" name="object 4">
              <a:extLst>
                <a:ext uri="{FF2B5EF4-FFF2-40B4-BE49-F238E27FC236}">
                  <a16:creationId xmlns:a16="http://schemas.microsoft.com/office/drawing/2014/main" id="{69060A15-89EE-5202-1F21-4AAD33FCBF5B}"/>
                </a:ext>
              </a:extLst>
            </p:cNvPr>
            <p:cNvSpPr txBox="1"/>
            <p:nvPr/>
          </p:nvSpPr>
          <p:spPr>
            <a:xfrm>
              <a:off x="8393424" y="1869627"/>
              <a:ext cx="1290320" cy="800219"/>
            </a:xfrm>
            <a:prstGeom prst="rect">
              <a:avLst/>
            </a:prstGeom>
            <a:solidFill>
              <a:srgbClr val="F4CCCC"/>
            </a:solidFill>
            <a:ln w="9524">
              <a:solidFill>
                <a:srgbClr val="000000"/>
              </a:solidFill>
            </a:ln>
          </p:spPr>
          <p:txBody>
            <a:bodyPr vert="horz" wrap="square" lIns="0" tIns="147320" rIns="0" bIns="0" rtlCol="0">
              <a:spAutoFit/>
            </a:bodyPr>
            <a:lstStyle/>
            <a:p>
              <a:pPr>
                <a:spcBef>
                  <a:spcPts val="1160"/>
                </a:spcBef>
              </a:pPr>
              <a:endParaRPr sz="1400">
                <a:latin typeface="Times New Roman"/>
                <a:cs typeface="Times New Roman"/>
              </a:endParaRPr>
            </a:p>
            <a:p>
              <a:pPr marL="421640" marR="197485" indent="-216535">
                <a:lnSpc>
                  <a:spcPts val="1650"/>
                </a:lnSpc>
              </a:pPr>
              <a:r>
                <a:rPr sz="1400" spc="-10" dirty="0">
                  <a:latin typeface="Trebuchet MS"/>
                  <a:cs typeface="Trebuchet MS"/>
                </a:rPr>
                <a:t>Occupancy agent</a:t>
              </a:r>
              <a:endParaRPr sz="1400">
                <a:latin typeface="Trebuchet MS"/>
                <a:cs typeface="Trebuchet MS"/>
              </a:endParaRPr>
            </a:p>
          </p:txBody>
        </p:sp>
        <p:grpSp>
          <p:nvGrpSpPr>
            <p:cNvPr id="6" name="object 5">
              <a:extLst>
                <a:ext uri="{FF2B5EF4-FFF2-40B4-BE49-F238E27FC236}">
                  <a16:creationId xmlns:a16="http://schemas.microsoft.com/office/drawing/2014/main" id="{DBCE16C1-FB05-16FD-8DC0-5BBBDD3F1005}"/>
                </a:ext>
              </a:extLst>
            </p:cNvPr>
            <p:cNvGrpSpPr/>
            <p:nvPr/>
          </p:nvGrpSpPr>
          <p:grpSpPr>
            <a:xfrm>
              <a:off x="8697839" y="4577914"/>
              <a:ext cx="1299845" cy="1127125"/>
              <a:chOff x="7173837" y="3720662"/>
              <a:chExt cx="1299845" cy="1127125"/>
            </a:xfrm>
          </p:grpSpPr>
          <p:sp>
            <p:nvSpPr>
              <p:cNvPr id="26" name="object 6">
                <a:extLst>
                  <a:ext uri="{FF2B5EF4-FFF2-40B4-BE49-F238E27FC236}">
                    <a16:creationId xmlns:a16="http://schemas.microsoft.com/office/drawing/2014/main" id="{D9AB7FF6-5F67-F0FE-3487-378ACCEEFB37}"/>
                  </a:ext>
                </a:extLst>
              </p:cNvPr>
              <p:cNvSpPr/>
              <p:nvPr/>
            </p:nvSpPr>
            <p:spPr>
              <a:xfrm>
                <a:off x="7178599" y="3725424"/>
                <a:ext cx="1290320" cy="1117600"/>
              </a:xfrm>
              <a:custGeom>
                <a:avLst/>
                <a:gdLst/>
                <a:ahLst/>
                <a:cxnLst/>
                <a:rect l="l" t="t" r="r" b="b"/>
                <a:pathLst>
                  <a:path w="1290320" h="1117600">
                    <a:moveTo>
                      <a:pt x="1289699" y="1117499"/>
                    </a:moveTo>
                    <a:lnTo>
                      <a:pt x="0" y="1117499"/>
                    </a:lnTo>
                    <a:lnTo>
                      <a:pt x="0" y="0"/>
                    </a:lnTo>
                    <a:lnTo>
                      <a:pt x="1289699" y="0"/>
                    </a:lnTo>
                    <a:lnTo>
                      <a:pt x="1289699" y="1117499"/>
                    </a:lnTo>
                    <a:close/>
                  </a:path>
                </a:pathLst>
              </a:custGeom>
              <a:solidFill>
                <a:srgbClr val="F4CCCC"/>
              </a:solidFill>
            </p:spPr>
            <p:txBody>
              <a:bodyPr wrap="square" lIns="0" tIns="0" rIns="0" bIns="0" rtlCol="0"/>
              <a:lstStyle/>
              <a:p>
                <a:endParaRPr/>
              </a:p>
            </p:txBody>
          </p:sp>
          <p:sp>
            <p:nvSpPr>
              <p:cNvPr id="27" name="object 7">
                <a:extLst>
                  <a:ext uri="{FF2B5EF4-FFF2-40B4-BE49-F238E27FC236}">
                    <a16:creationId xmlns:a16="http://schemas.microsoft.com/office/drawing/2014/main" id="{4CB93383-ED21-AEC8-863F-40C5A53ED0FA}"/>
                  </a:ext>
                </a:extLst>
              </p:cNvPr>
              <p:cNvSpPr/>
              <p:nvPr/>
            </p:nvSpPr>
            <p:spPr>
              <a:xfrm>
                <a:off x="7178599" y="3725424"/>
                <a:ext cx="1290320" cy="1117600"/>
              </a:xfrm>
              <a:custGeom>
                <a:avLst/>
                <a:gdLst/>
                <a:ahLst/>
                <a:cxnLst/>
                <a:rect l="l" t="t" r="r" b="b"/>
                <a:pathLst>
                  <a:path w="1290320" h="1117600">
                    <a:moveTo>
                      <a:pt x="0" y="0"/>
                    </a:moveTo>
                    <a:lnTo>
                      <a:pt x="1289699" y="0"/>
                    </a:lnTo>
                    <a:lnTo>
                      <a:pt x="1289699" y="1117499"/>
                    </a:lnTo>
                    <a:lnTo>
                      <a:pt x="0" y="1117499"/>
                    </a:lnTo>
                    <a:lnTo>
                      <a:pt x="0" y="0"/>
                    </a:lnTo>
                    <a:close/>
                  </a:path>
                </a:pathLst>
              </a:custGeom>
              <a:ln w="9524">
                <a:solidFill>
                  <a:srgbClr val="000000"/>
                </a:solidFill>
              </a:ln>
            </p:spPr>
            <p:txBody>
              <a:bodyPr wrap="square" lIns="0" tIns="0" rIns="0" bIns="0" rtlCol="0"/>
              <a:lstStyle/>
              <a:p>
                <a:endParaRPr/>
              </a:p>
            </p:txBody>
          </p:sp>
        </p:grpSp>
        <p:grpSp>
          <p:nvGrpSpPr>
            <p:cNvPr id="7" name="object 8">
              <a:extLst>
                <a:ext uri="{FF2B5EF4-FFF2-40B4-BE49-F238E27FC236}">
                  <a16:creationId xmlns:a16="http://schemas.microsoft.com/office/drawing/2014/main" id="{866D10CE-2984-527B-7AF2-D98E719CCFAD}"/>
                </a:ext>
              </a:extLst>
            </p:cNvPr>
            <p:cNvGrpSpPr/>
            <p:nvPr/>
          </p:nvGrpSpPr>
          <p:grpSpPr>
            <a:xfrm>
              <a:off x="6419459" y="4296800"/>
              <a:ext cx="2208530" cy="1049020"/>
              <a:chOff x="4895459" y="3439550"/>
              <a:chExt cx="2208530" cy="1049020"/>
            </a:xfrm>
          </p:grpSpPr>
          <p:sp>
            <p:nvSpPr>
              <p:cNvPr id="23" name="object 9">
                <a:extLst>
                  <a:ext uri="{FF2B5EF4-FFF2-40B4-BE49-F238E27FC236}">
                    <a16:creationId xmlns:a16="http://schemas.microsoft.com/office/drawing/2014/main" id="{A580B0A0-88DC-D68A-4E63-7E600D9D9F89}"/>
                  </a:ext>
                </a:extLst>
              </p:cNvPr>
              <p:cNvSpPr/>
              <p:nvPr/>
            </p:nvSpPr>
            <p:spPr>
              <a:xfrm>
                <a:off x="4983240" y="3488122"/>
                <a:ext cx="2111375" cy="991235"/>
              </a:xfrm>
              <a:custGeom>
                <a:avLst/>
                <a:gdLst/>
                <a:ahLst/>
                <a:cxnLst/>
                <a:rect l="l" t="t" r="r" b="b"/>
                <a:pathLst>
                  <a:path w="2111375" h="991235">
                    <a:moveTo>
                      <a:pt x="2110833" y="990927"/>
                    </a:moveTo>
                    <a:lnTo>
                      <a:pt x="0" y="0"/>
                    </a:lnTo>
                  </a:path>
                </a:pathLst>
              </a:custGeom>
              <a:ln w="19049">
                <a:solidFill>
                  <a:srgbClr val="000000"/>
                </a:solidFill>
              </a:ln>
            </p:spPr>
            <p:txBody>
              <a:bodyPr wrap="square" lIns="0" tIns="0" rIns="0" bIns="0" rtlCol="0"/>
              <a:lstStyle/>
              <a:p>
                <a:endParaRPr/>
              </a:p>
            </p:txBody>
          </p:sp>
          <p:pic>
            <p:nvPicPr>
              <p:cNvPr id="24" name="object 10">
                <a:extLst>
                  <a:ext uri="{FF2B5EF4-FFF2-40B4-BE49-F238E27FC236}">
                    <a16:creationId xmlns:a16="http://schemas.microsoft.com/office/drawing/2014/main" id="{589D5325-8A2C-2F5A-59F0-64B283E0A0A7}"/>
                  </a:ext>
                </a:extLst>
              </p:cNvPr>
              <p:cNvPicPr/>
              <p:nvPr/>
            </p:nvPicPr>
            <p:blipFill>
              <a:blip r:embed="rId2" cstate="print"/>
              <a:stretch>
                <a:fillRect/>
              </a:stretch>
            </p:blipFill>
            <p:spPr>
              <a:xfrm>
                <a:off x="4895459" y="3441859"/>
                <a:ext cx="110677" cy="84270"/>
              </a:xfrm>
              <a:prstGeom prst="rect">
                <a:avLst/>
              </a:prstGeom>
            </p:spPr>
          </p:pic>
          <p:sp>
            <p:nvSpPr>
              <p:cNvPr id="25" name="object 11">
                <a:extLst>
                  <a:ext uri="{FF2B5EF4-FFF2-40B4-BE49-F238E27FC236}">
                    <a16:creationId xmlns:a16="http://schemas.microsoft.com/office/drawing/2014/main" id="{5F018A1C-3ECB-4674-AA77-517EDF5064CD}"/>
                  </a:ext>
                </a:extLst>
              </p:cNvPr>
              <p:cNvSpPr/>
              <p:nvPr/>
            </p:nvSpPr>
            <p:spPr>
              <a:xfrm>
                <a:off x="5682724" y="3439550"/>
                <a:ext cx="608965" cy="845185"/>
              </a:xfrm>
              <a:custGeom>
                <a:avLst/>
                <a:gdLst/>
                <a:ahLst/>
                <a:cxnLst/>
                <a:rect l="l" t="t" r="r" b="b"/>
                <a:pathLst>
                  <a:path w="608964" h="845185">
                    <a:moveTo>
                      <a:pt x="608399" y="845099"/>
                    </a:moveTo>
                    <a:lnTo>
                      <a:pt x="0" y="845099"/>
                    </a:lnTo>
                    <a:lnTo>
                      <a:pt x="0" y="0"/>
                    </a:lnTo>
                    <a:lnTo>
                      <a:pt x="608399" y="0"/>
                    </a:lnTo>
                    <a:lnTo>
                      <a:pt x="608399" y="845099"/>
                    </a:lnTo>
                    <a:close/>
                  </a:path>
                </a:pathLst>
              </a:custGeom>
              <a:solidFill>
                <a:srgbClr val="FFFFFF"/>
              </a:solidFill>
            </p:spPr>
            <p:txBody>
              <a:bodyPr wrap="square" lIns="0" tIns="0" rIns="0" bIns="0" rtlCol="0"/>
              <a:lstStyle/>
              <a:p>
                <a:endParaRPr/>
              </a:p>
            </p:txBody>
          </p:sp>
        </p:grpSp>
        <p:grpSp>
          <p:nvGrpSpPr>
            <p:cNvPr id="8" name="object 12">
              <a:extLst>
                <a:ext uri="{FF2B5EF4-FFF2-40B4-BE49-F238E27FC236}">
                  <a16:creationId xmlns:a16="http://schemas.microsoft.com/office/drawing/2014/main" id="{0C723D1C-9CC0-A549-ABAF-BC46F545D7A8}"/>
                </a:ext>
              </a:extLst>
            </p:cNvPr>
            <p:cNvGrpSpPr/>
            <p:nvPr/>
          </p:nvGrpSpPr>
          <p:grpSpPr>
            <a:xfrm>
              <a:off x="6513081" y="2266550"/>
              <a:ext cx="1751964" cy="854710"/>
              <a:chOff x="4989081" y="1409300"/>
              <a:chExt cx="1751964" cy="854710"/>
            </a:xfrm>
          </p:grpSpPr>
          <p:sp>
            <p:nvSpPr>
              <p:cNvPr id="20" name="object 13">
                <a:extLst>
                  <a:ext uri="{FF2B5EF4-FFF2-40B4-BE49-F238E27FC236}">
                    <a16:creationId xmlns:a16="http://schemas.microsoft.com/office/drawing/2014/main" id="{7048673C-CAB6-F01C-F058-7D770E1D872F}"/>
                  </a:ext>
                </a:extLst>
              </p:cNvPr>
              <p:cNvSpPr/>
              <p:nvPr/>
            </p:nvSpPr>
            <p:spPr>
              <a:xfrm>
                <a:off x="5078250" y="1522737"/>
                <a:ext cx="1652905" cy="697865"/>
              </a:xfrm>
              <a:custGeom>
                <a:avLst/>
                <a:gdLst/>
                <a:ahLst/>
                <a:cxnLst/>
                <a:rect l="l" t="t" r="r" b="b"/>
                <a:pathLst>
                  <a:path w="1652904" h="697864">
                    <a:moveTo>
                      <a:pt x="1652699" y="0"/>
                    </a:moveTo>
                    <a:lnTo>
                      <a:pt x="0" y="697743"/>
                    </a:lnTo>
                  </a:path>
                </a:pathLst>
              </a:custGeom>
              <a:ln w="19049">
                <a:solidFill>
                  <a:srgbClr val="000000"/>
                </a:solidFill>
              </a:ln>
            </p:spPr>
            <p:txBody>
              <a:bodyPr wrap="square" lIns="0" tIns="0" rIns="0" bIns="0" rtlCol="0"/>
              <a:lstStyle/>
              <a:p>
                <a:endParaRPr/>
              </a:p>
            </p:txBody>
          </p:sp>
          <p:pic>
            <p:nvPicPr>
              <p:cNvPr id="21" name="object 14">
                <a:extLst>
                  <a:ext uri="{FF2B5EF4-FFF2-40B4-BE49-F238E27FC236}">
                    <a16:creationId xmlns:a16="http://schemas.microsoft.com/office/drawing/2014/main" id="{A197D5A0-2FAC-ACF7-B6D7-BC46B345256C}"/>
                  </a:ext>
                </a:extLst>
              </p:cNvPr>
              <p:cNvPicPr/>
              <p:nvPr/>
            </p:nvPicPr>
            <p:blipFill>
              <a:blip r:embed="rId3" cstate="print"/>
              <a:stretch>
                <a:fillRect/>
              </a:stretch>
            </p:blipFill>
            <p:spPr>
              <a:xfrm>
                <a:off x="4989081" y="2181968"/>
                <a:ext cx="110931" cy="81662"/>
              </a:xfrm>
              <a:prstGeom prst="rect">
                <a:avLst/>
              </a:prstGeom>
            </p:spPr>
          </p:pic>
          <p:sp>
            <p:nvSpPr>
              <p:cNvPr id="22" name="object 15">
                <a:extLst>
                  <a:ext uri="{FF2B5EF4-FFF2-40B4-BE49-F238E27FC236}">
                    <a16:creationId xmlns:a16="http://schemas.microsoft.com/office/drawing/2014/main" id="{7080EE51-71BB-452B-A6E0-E9AF7D093C72}"/>
                  </a:ext>
                </a:extLst>
              </p:cNvPr>
              <p:cNvSpPr/>
              <p:nvPr/>
            </p:nvSpPr>
            <p:spPr>
              <a:xfrm>
                <a:off x="5547750" y="1409300"/>
                <a:ext cx="608965" cy="845185"/>
              </a:xfrm>
              <a:custGeom>
                <a:avLst/>
                <a:gdLst/>
                <a:ahLst/>
                <a:cxnLst/>
                <a:rect l="l" t="t" r="r" b="b"/>
                <a:pathLst>
                  <a:path w="608964" h="845185">
                    <a:moveTo>
                      <a:pt x="608399" y="845099"/>
                    </a:moveTo>
                    <a:lnTo>
                      <a:pt x="0" y="845099"/>
                    </a:lnTo>
                    <a:lnTo>
                      <a:pt x="0" y="0"/>
                    </a:lnTo>
                    <a:lnTo>
                      <a:pt x="608399" y="0"/>
                    </a:lnTo>
                    <a:lnTo>
                      <a:pt x="608399" y="845099"/>
                    </a:lnTo>
                    <a:close/>
                  </a:path>
                </a:pathLst>
              </a:custGeom>
              <a:solidFill>
                <a:srgbClr val="FFFFFF"/>
              </a:solidFill>
            </p:spPr>
            <p:txBody>
              <a:bodyPr wrap="square" lIns="0" tIns="0" rIns="0" bIns="0" rtlCol="0"/>
              <a:lstStyle/>
              <a:p>
                <a:endParaRPr/>
              </a:p>
            </p:txBody>
          </p:sp>
        </p:grpSp>
        <p:sp>
          <p:nvSpPr>
            <p:cNvPr id="9" name="object 16">
              <a:extLst>
                <a:ext uri="{FF2B5EF4-FFF2-40B4-BE49-F238E27FC236}">
                  <a16:creationId xmlns:a16="http://schemas.microsoft.com/office/drawing/2014/main" id="{BCEF5083-37C4-910B-9694-916145124D4F}"/>
                </a:ext>
              </a:extLst>
            </p:cNvPr>
            <p:cNvSpPr txBox="1"/>
            <p:nvPr/>
          </p:nvSpPr>
          <p:spPr>
            <a:xfrm>
              <a:off x="1700224" y="3111651"/>
              <a:ext cx="1290320" cy="912429"/>
            </a:xfrm>
            <a:prstGeom prst="rect">
              <a:avLst/>
            </a:prstGeom>
            <a:solidFill>
              <a:srgbClr val="F4CCCC"/>
            </a:solidFill>
            <a:ln w="9524">
              <a:solidFill>
                <a:srgbClr val="000000"/>
              </a:solidFill>
            </a:ln>
          </p:spPr>
          <p:txBody>
            <a:bodyPr vert="horz" wrap="square" lIns="0" tIns="42545" rIns="0" bIns="0" rtlCol="0">
              <a:spAutoFit/>
            </a:bodyPr>
            <a:lstStyle/>
            <a:p>
              <a:pPr>
                <a:spcBef>
                  <a:spcPts val="335"/>
                </a:spcBef>
              </a:pPr>
              <a:endParaRPr sz="1400" dirty="0">
                <a:latin typeface="Times New Roman"/>
                <a:cs typeface="Times New Roman"/>
              </a:endParaRPr>
            </a:p>
            <a:p>
              <a:pPr marL="132080" marR="123825" indent="-635" algn="ctr">
                <a:lnSpc>
                  <a:spcPts val="1650"/>
                </a:lnSpc>
              </a:pPr>
              <a:r>
                <a:rPr sz="1400" spc="-10" dirty="0">
                  <a:latin typeface="Trebuchet MS"/>
                  <a:cs typeface="Trebuchet MS"/>
                </a:rPr>
                <a:t>Energy management agent</a:t>
              </a:r>
              <a:endParaRPr sz="1400" dirty="0">
                <a:latin typeface="Trebuchet MS"/>
                <a:cs typeface="Trebuchet MS"/>
              </a:endParaRPr>
            </a:p>
          </p:txBody>
        </p:sp>
        <p:grpSp>
          <p:nvGrpSpPr>
            <p:cNvPr id="10" name="object 17">
              <a:extLst>
                <a:ext uri="{FF2B5EF4-FFF2-40B4-BE49-F238E27FC236}">
                  <a16:creationId xmlns:a16="http://schemas.microsoft.com/office/drawing/2014/main" id="{46B492FB-EEBC-24A1-6BA0-D14101DC21B9}"/>
                </a:ext>
              </a:extLst>
            </p:cNvPr>
            <p:cNvGrpSpPr/>
            <p:nvPr/>
          </p:nvGrpSpPr>
          <p:grpSpPr>
            <a:xfrm>
              <a:off x="3181824" y="3647359"/>
              <a:ext cx="488950" cy="82550"/>
              <a:chOff x="1657824" y="2790109"/>
              <a:chExt cx="488950" cy="82550"/>
            </a:xfrm>
          </p:grpSpPr>
          <p:sp>
            <p:nvSpPr>
              <p:cNvPr id="18" name="object 18">
                <a:extLst>
                  <a:ext uri="{FF2B5EF4-FFF2-40B4-BE49-F238E27FC236}">
                    <a16:creationId xmlns:a16="http://schemas.microsoft.com/office/drawing/2014/main" id="{F4CEF3FE-BA60-8069-A7B3-93ADCE910A9B}"/>
                  </a:ext>
                </a:extLst>
              </p:cNvPr>
              <p:cNvSpPr/>
              <p:nvPr/>
            </p:nvSpPr>
            <p:spPr>
              <a:xfrm>
                <a:off x="1753799" y="2831100"/>
                <a:ext cx="393065" cy="0"/>
              </a:xfrm>
              <a:custGeom>
                <a:avLst/>
                <a:gdLst/>
                <a:ahLst/>
                <a:cxnLst/>
                <a:rect l="l" t="t" r="r" b="b"/>
                <a:pathLst>
                  <a:path w="393064">
                    <a:moveTo>
                      <a:pt x="0" y="0"/>
                    </a:moveTo>
                    <a:lnTo>
                      <a:pt x="392849" y="0"/>
                    </a:lnTo>
                  </a:path>
                </a:pathLst>
              </a:custGeom>
              <a:ln w="19049">
                <a:solidFill>
                  <a:srgbClr val="000000"/>
                </a:solidFill>
              </a:ln>
            </p:spPr>
            <p:txBody>
              <a:bodyPr wrap="square" lIns="0" tIns="0" rIns="0" bIns="0" rtlCol="0"/>
              <a:lstStyle/>
              <a:p>
                <a:endParaRPr/>
              </a:p>
            </p:txBody>
          </p:sp>
          <p:pic>
            <p:nvPicPr>
              <p:cNvPr id="19" name="object 19">
                <a:extLst>
                  <a:ext uri="{FF2B5EF4-FFF2-40B4-BE49-F238E27FC236}">
                    <a16:creationId xmlns:a16="http://schemas.microsoft.com/office/drawing/2014/main" id="{E588CBDD-949C-1B54-FC97-6C5439DD26B7}"/>
                  </a:ext>
                </a:extLst>
              </p:cNvPr>
              <p:cNvPicPr/>
              <p:nvPr/>
            </p:nvPicPr>
            <p:blipFill>
              <a:blip r:embed="rId4" cstate="print"/>
              <a:stretch>
                <a:fillRect/>
              </a:stretch>
            </p:blipFill>
            <p:spPr>
              <a:xfrm>
                <a:off x="1657824" y="2790109"/>
                <a:ext cx="105500" cy="81980"/>
              </a:xfrm>
              <a:prstGeom prst="rect">
                <a:avLst/>
              </a:prstGeom>
            </p:spPr>
          </p:pic>
        </p:grpSp>
        <p:grpSp>
          <p:nvGrpSpPr>
            <p:cNvPr id="11" name="object 20">
              <a:extLst>
                <a:ext uri="{FF2B5EF4-FFF2-40B4-BE49-F238E27FC236}">
                  <a16:creationId xmlns:a16="http://schemas.microsoft.com/office/drawing/2014/main" id="{3244A2EB-D43C-D94B-4AF2-F34A8A0D319C}"/>
                </a:ext>
              </a:extLst>
            </p:cNvPr>
            <p:cNvGrpSpPr/>
            <p:nvPr/>
          </p:nvGrpSpPr>
          <p:grpSpPr>
            <a:xfrm>
              <a:off x="4279050" y="3647359"/>
              <a:ext cx="488950" cy="82550"/>
              <a:chOff x="2755050" y="2790109"/>
              <a:chExt cx="488950" cy="82550"/>
            </a:xfrm>
          </p:grpSpPr>
          <p:sp>
            <p:nvSpPr>
              <p:cNvPr id="16" name="object 21">
                <a:extLst>
                  <a:ext uri="{FF2B5EF4-FFF2-40B4-BE49-F238E27FC236}">
                    <a16:creationId xmlns:a16="http://schemas.microsoft.com/office/drawing/2014/main" id="{D1ADCD7E-BBB8-CB37-1A87-72280CB441CF}"/>
                  </a:ext>
                </a:extLst>
              </p:cNvPr>
              <p:cNvSpPr/>
              <p:nvPr/>
            </p:nvSpPr>
            <p:spPr>
              <a:xfrm>
                <a:off x="2755050" y="2831100"/>
                <a:ext cx="393065" cy="0"/>
              </a:xfrm>
              <a:custGeom>
                <a:avLst/>
                <a:gdLst/>
                <a:ahLst/>
                <a:cxnLst/>
                <a:rect l="l" t="t" r="r" b="b"/>
                <a:pathLst>
                  <a:path w="393064">
                    <a:moveTo>
                      <a:pt x="0" y="0"/>
                    </a:moveTo>
                    <a:lnTo>
                      <a:pt x="392849" y="0"/>
                    </a:lnTo>
                  </a:path>
                </a:pathLst>
              </a:custGeom>
              <a:ln w="19049">
                <a:solidFill>
                  <a:srgbClr val="000000"/>
                </a:solidFill>
              </a:ln>
            </p:spPr>
            <p:txBody>
              <a:bodyPr wrap="square" lIns="0" tIns="0" rIns="0" bIns="0" rtlCol="0"/>
              <a:lstStyle/>
              <a:p>
                <a:endParaRPr/>
              </a:p>
            </p:txBody>
          </p:sp>
          <p:pic>
            <p:nvPicPr>
              <p:cNvPr id="17" name="object 22">
                <a:extLst>
                  <a:ext uri="{FF2B5EF4-FFF2-40B4-BE49-F238E27FC236}">
                    <a16:creationId xmlns:a16="http://schemas.microsoft.com/office/drawing/2014/main" id="{F356234E-7A6F-AE3D-207A-0F71D086471F}"/>
                  </a:ext>
                </a:extLst>
              </p:cNvPr>
              <p:cNvPicPr/>
              <p:nvPr/>
            </p:nvPicPr>
            <p:blipFill>
              <a:blip r:embed="rId5" cstate="print"/>
              <a:stretch>
                <a:fillRect/>
              </a:stretch>
            </p:blipFill>
            <p:spPr>
              <a:xfrm>
                <a:off x="3138375" y="2790109"/>
                <a:ext cx="105500" cy="81980"/>
              </a:xfrm>
              <a:prstGeom prst="rect">
                <a:avLst/>
              </a:prstGeom>
            </p:spPr>
          </p:pic>
        </p:grpSp>
        <p:sp>
          <p:nvSpPr>
            <p:cNvPr id="12" name="object 23">
              <a:extLst>
                <a:ext uri="{FF2B5EF4-FFF2-40B4-BE49-F238E27FC236}">
                  <a16:creationId xmlns:a16="http://schemas.microsoft.com/office/drawing/2014/main" id="{DD126D12-7181-AAFF-7267-57C1431D76ED}"/>
                </a:ext>
              </a:extLst>
            </p:cNvPr>
            <p:cNvSpPr txBox="1"/>
            <p:nvPr/>
          </p:nvSpPr>
          <p:spPr>
            <a:xfrm>
              <a:off x="3909345" y="3528393"/>
              <a:ext cx="131445" cy="299720"/>
            </a:xfrm>
            <a:prstGeom prst="rect">
              <a:avLst/>
            </a:prstGeom>
          </p:spPr>
          <p:txBody>
            <a:bodyPr vert="horz" wrap="square" lIns="0" tIns="12700" rIns="0" bIns="0" rtlCol="0">
              <a:spAutoFit/>
            </a:bodyPr>
            <a:lstStyle/>
            <a:p>
              <a:pPr marL="12700">
                <a:spcBef>
                  <a:spcPts val="100"/>
                </a:spcBef>
              </a:pPr>
              <a:r>
                <a:rPr spc="114" dirty="0">
                  <a:latin typeface="Trebuchet MS"/>
                  <a:cs typeface="Trebuchet MS"/>
                </a:rPr>
                <a:t>?</a:t>
              </a:r>
              <a:endParaRPr>
                <a:latin typeface="Trebuchet MS"/>
                <a:cs typeface="Trebuchet MS"/>
              </a:endParaRPr>
            </a:p>
          </p:txBody>
        </p:sp>
        <p:sp>
          <p:nvSpPr>
            <p:cNvPr id="13" name="object 26">
              <a:extLst>
                <a:ext uri="{FF2B5EF4-FFF2-40B4-BE49-F238E27FC236}">
                  <a16:creationId xmlns:a16="http://schemas.microsoft.com/office/drawing/2014/main" id="{2C54DE63-96E8-4C4C-50D3-229A69D61A38}"/>
                </a:ext>
              </a:extLst>
            </p:cNvPr>
            <p:cNvSpPr txBox="1"/>
            <p:nvPr/>
          </p:nvSpPr>
          <p:spPr>
            <a:xfrm>
              <a:off x="8947806" y="4926286"/>
              <a:ext cx="800100" cy="431080"/>
            </a:xfrm>
            <a:prstGeom prst="rect">
              <a:avLst/>
            </a:prstGeom>
          </p:spPr>
          <p:txBody>
            <a:bodyPr vert="horz" wrap="square" lIns="0" tIns="8255" rIns="0" bIns="0" rtlCol="0">
              <a:spAutoFit/>
            </a:bodyPr>
            <a:lstStyle/>
            <a:p>
              <a:pPr marL="176530" marR="5080" indent="-164465">
                <a:lnSpc>
                  <a:spcPts val="1650"/>
                </a:lnSpc>
                <a:spcBef>
                  <a:spcPts val="65"/>
                </a:spcBef>
              </a:pPr>
              <a:r>
                <a:rPr sz="1400" spc="-25" dirty="0">
                  <a:latin typeface="Trebuchet MS"/>
                  <a:cs typeface="Trebuchet MS"/>
                </a:rPr>
                <a:t>Air</a:t>
              </a:r>
              <a:r>
                <a:rPr sz="1400" spc="-80" dirty="0">
                  <a:latin typeface="Trebuchet MS"/>
                  <a:cs typeface="Trebuchet MS"/>
                </a:rPr>
                <a:t> </a:t>
              </a:r>
              <a:r>
                <a:rPr sz="1400" spc="-50" dirty="0">
                  <a:latin typeface="Trebuchet MS"/>
                  <a:cs typeface="Trebuchet MS"/>
                </a:rPr>
                <a:t>quality </a:t>
              </a:r>
              <a:r>
                <a:rPr sz="1400" spc="-10" dirty="0">
                  <a:latin typeface="Trebuchet MS"/>
                  <a:cs typeface="Trebuchet MS"/>
                </a:rPr>
                <a:t>agent</a:t>
              </a:r>
              <a:endParaRPr sz="1400">
                <a:latin typeface="Trebuchet MS"/>
                <a:cs typeface="Trebuchet MS"/>
              </a:endParaRPr>
            </a:p>
          </p:txBody>
        </p:sp>
        <p:sp>
          <p:nvSpPr>
            <p:cNvPr id="14" name="object 24">
              <a:extLst>
                <a:ext uri="{FF2B5EF4-FFF2-40B4-BE49-F238E27FC236}">
                  <a16:creationId xmlns:a16="http://schemas.microsoft.com/office/drawing/2014/main" id="{380B964F-DCD3-F7F4-9B15-B9D2683F684B}"/>
                </a:ext>
              </a:extLst>
            </p:cNvPr>
            <p:cNvSpPr txBox="1"/>
            <p:nvPr/>
          </p:nvSpPr>
          <p:spPr>
            <a:xfrm>
              <a:off x="7310445" y="2529143"/>
              <a:ext cx="131445" cy="299720"/>
            </a:xfrm>
            <a:prstGeom prst="rect">
              <a:avLst/>
            </a:prstGeom>
          </p:spPr>
          <p:txBody>
            <a:bodyPr vert="horz" wrap="square" lIns="0" tIns="12700" rIns="0" bIns="0" rtlCol="0">
              <a:spAutoFit/>
            </a:bodyPr>
            <a:lstStyle/>
            <a:p>
              <a:pPr marL="12700">
                <a:spcBef>
                  <a:spcPts val="100"/>
                </a:spcBef>
              </a:pPr>
              <a:r>
                <a:rPr spc="114" dirty="0">
                  <a:latin typeface="Trebuchet MS"/>
                  <a:cs typeface="Trebuchet MS"/>
                </a:rPr>
                <a:t>?</a:t>
              </a:r>
              <a:endParaRPr>
                <a:latin typeface="Trebuchet MS"/>
                <a:cs typeface="Trebuchet MS"/>
              </a:endParaRPr>
            </a:p>
          </p:txBody>
        </p:sp>
        <p:sp>
          <p:nvSpPr>
            <p:cNvPr id="15" name="object 25">
              <a:extLst>
                <a:ext uri="{FF2B5EF4-FFF2-40B4-BE49-F238E27FC236}">
                  <a16:creationId xmlns:a16="http://schemas.microsoft.com/office/drawing/2014/main" id="{9A839323-917F-DD79-3BD2-8B6DAA30AC8A}"/>
                </a:ext>
              </a:extLst>
            </p:cNvPr>
            <p:cNvSpPr txBox="1"/>
            <p:nvPr/>
          </p:nvSpPr>
          <p:spPr>
            <a:xfrm>
              <a:off x="7445421" y="4559393"/>
              <a:ext cx="131445" cy="299720"/>
            </a:xfrm>
            <a:prstGeom prst="rect">
              <a:avLst/>
            </a:prstGeom>
          </p:spPr>
          <p:txBody>
            <a:bodyPr vert="horz" wrap="square" lIns="0" tIns="12700" rIns="0" bIns="0" rtlCol="0">
              <a:spAutoFit/>
            </a:bodyPr>
            <a:lstStyle/>
            <a:p>
              <a:pPr marL="12700">
                <a:spcBef>
                  <a:spcPts val="100"/>
                </a:spcBef>
              </a:pPr>
              <a:r>
                <a:rPr spc="114" dirty="0">
                  <a:latin typeface="Trebuchet MS"/>
                  <a:cs typeface="Trebuchet MS"/>
                </a:rPr>
                <a:t>?</a:t>
              </a:r>
              <a:endParaRPr>
                <a:latin typeface="Trebuchet MS"/>
                <a:cs typeface="Trebuchet MS"/>
              </a:endParaRPr>
            </a:p>
          </p:txBody>
        </p:sp>
      </p:grpSp>
    </p:spTree>
    <p:extLst>
      <p:ext uri="{BB962C8B-B14F-4D97-AF65-F5344CB8AC3E}">
        <p14:creationId xmlns:p14="http://schemas.microsoft.com/office/powerpoint/2010/main" val="4282798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D8000D41-5800-A259-694F-C041B436AD61}"/>
              </a:ext>
            </a:extLst>
          </p:cNvPr>
          <p:cNvSpPr txBox="1">
            <a:spLocks/>
          </p:cNvSpPr>
          <p:nvPr/>
        </p:nvSpPr>
        <p:spPr>
          <a:xfrm>
            <a:off x="1524000" y="404028"/>
            <a:ext cx="7886700" cy="566822"/>
          </a:xfrm>
          <a:prstGeom prst="rect">
            <a:avLst/>
          </a:prstGeom>
        </p:spPr>
        <p:txBody>
          <a:bodyPr vert="horz" wrap="square" lIns="0" tIns="12700" rIns="0" bIns="0" rtlCol="0" anchor="ctr">
            <a:spAutoFit/>
          </a:bodyPr>
          <a:lstStyle>
            <a:lvl1pPr>
              <a:defRPr sz="3600">
                <a:latin typeface="Cambria" panose="02040503050406030204" pitchFamily="18" charset="0"/>
                <a:ea typeface="Cambria" panose="02040503050406030204" pitchFamily="18" charset="0"/>
                <a:cs typeface="+mj-cs"/>
              </a:defRPr>
            </a:lvl1pPr>
          </a:lstStyle>
          <a:p>
            <a:pPr marL="12700">
              <a:spcBef>
                <a:spcPts val="100"/>
              </a:spcBef>
            </a:pPr>
            <a:r>
              <a:rPr lang="en-IN" kern="0" spc="-70">
                <a:solidFill>
                  <a:schemeClr val="tx1"/>
                </a:solidFill>
              </a:rPr>
              <a:t>Standardization:</a:t>
            </a:r>
            <a:r>
              <a:rPr lang="en-IN" kern="0" spc="-130">
                <a:solidFill>
                  <a:schemeClr val="tx1"/>
                </a:solidFill>
              </a:rPr>
              <a:t> </a:t>
            </a:r>
            <a:r>
              <a:rPr lang="en-IN" kern="0" spc="145">
                <a:solidFill>
                  <a:schemeClr val="tx1"/>
                </a:solidFill>
              </a:rPr>
              <a:t>A2A</a:t>
            </a:r>
            <a:endParaRPr lang="en-IN" kern="0" spc="145" dirty="0">
              <a:solidFill>
                <a:schemeClr val="tx1"/>
              </a:solidFill>
            </a:endParaRPr>
          </a:p>
        </p:txBody>
      </p:sp>
      <p:grpSp>
        <p:nvGrpSpPr>
          <p:cNvPr id="3" name="Group 2">
            <a:extLst>
              <a:ext uri="{FF2B5EF4-FFF2-40B4-BE49-F238E27FC236}">
                <a16:creationId xmlns:a16="http://schemas.microsoft.com/office/drawing/2014/main" id="{9AABE882-88D5-A22A-CB5C-5444D523EEEF}"/>
              </a:ext>
            </a:extLst>
          </p:cNvPr>
          <p:cNvGrpSpPr/>
          <p:nvPr/>
        </p:nvGrpSpPr>
        <p:grpSpPr>
          <a:xfrm>
            <a:off x="1700224" y="1814917"/>
            <a:ext cx="8292695" cy="4100797"/>
            <a:chOff x="1700224" y="1814917"/>
            <a:chExt cx="8292695" cy="4100797"/>
          </a:xfrm>
        </p:grpSpPr>
        <p:sp>
          <p:nvSpPr>
            <p:cNvPr id="4" name="object 3">
              <a:extLst>
                <a:ext uri="{FF2B5EF4-FFF2-40B4-BE49-F238E27FC236}">
                  <a16:creationId xmlns:a16="http://schemas.microsoft.com/office/drawing/2014/main" id="{E7CD2A49-39B6-78F4-7C4E-8569F4C04158}"/>
                </a:ext>
              </a:extLst>
            </p:cNvPr>
            <p:cNvSpPr txBox="1"/>
            <p:nvPr/>
          </p:nvSpPr>
          <p:spPr>
            <a:xfrm>
              <a:off x="1808302" y="1814917"/>
              <a:ext cx="2968625" cy="421640"/>
            </a:xfrm>
            <a:prstGeom prst="rect">
              <a:avLst/>
            </a:prstGeom>
          </p:spPr>
          <p:txBody>
            <a:bodyPr vert="horz" wrap="square" lIns="0" tIns="12700" rIns="0" bIns="0" rtlCol="0">
              <a:spAutoFit/>
            </a:bodyPr>
            <a:lstStyle/>
            <a:p>
              <a:pPr marL="12700">
                <a:spcBef>
                  <a:spcPts val="100"/>
                </a:spcBef>
              </a:pPr>
              <a:r>
                <a:rPr sz="2600" b="1" spc="95" dirty="0">
                  <a:latin typeface="Trebuchet MS"/>
                  <a:cs typeface="Trebuchet MS"/>
                </a:rPr>
                <a:t>A2A</a:t>
              </a:r>
              <a:r>
                <a:rPr sz="2600" b="1" spc="-150" dirty="0">
                  <a:latin typeface="Trebuchet MS"/>
                  <a:cs typeface="Trebuchet MS"/>
                </a:rPr>
                <a:t> </a:t>
              </a:r>
              <a:r>
                <a:rPr sz="2600" dirty="0">
                  <a:latin typeface="Trebuchet MS"/>
                  <a:cs typeface="Trebuchet MS"/>
                </a:rPr>
                <a:t>=</a:t>
              </a:r>
              <a:r>
                <a:rPr sz="2600" spc="-145" dirty="0">
                  <a:latin typeface="Trebuchet MS"/>
                  <a:cs typeface="Trebuchet MS"/>
                </a:rPr>
                <a:t> </a:t>
              </a:r>
              <a:r>
                <a:rPr sz="2600" b="1" spc="-10" dirty="0">
                  <a:latin typeface="Trebuchet MS"/>
                  <a:cs typeface="Trebuchet MS"/>
                </a:rPr>
                <a:t>A</a:t>
              </a:r>
              <a:r>
                <a:rPr sz="2600" spc="-10" dirty="0">
                  <a:latin typeface="Trebuchet MS"/>
                  <a:cs typeface="Trebuchet MS"/>
                </a:rPr>
                <a:t>gent</a:t>
              </a:r>
              <a:r>
                <a:rPr sz="2600" b="1" spc="-10" dirty="0">
                  <a:latin typeface="Trebuchet MS"/>
                  <a:cs typeface="Trebuchet MS"/>
                </a:rPr>
                <a:t>2A</a:t>
              </a:r>
              <a:r>
                <a:rPr sz="2600" spc="-10" dirty="0">
                  <a:latin typeface="Trebuchet MS"/>
                  <a:cs typeface="Trebuchet MS"/>
                </a:rPr>
                <a:t>gent</a:t>
              </a:r>
              <a:endParaRPr sz="2600" dirty="0">
                <a:latin typeface="Trebuchet MS"/>
                <a:cs typeface="Trebuchet MS"/>
              </a:endParaRPr>
            </a:p>
          </p:txBody>
        </p:sp>
        <p:sp>
          <p:nvSpPr>
            <p:cNvPr id="5" name="object 4">
              <a:extLst>
                <a:ext uri="{FF2B5EF4-FFF2-40B4-BE49-F238E27FC236}">
                  <a16:creationId xmlns:a16="http://schemas.microsoft.com/office/drawing/2014/main" id="{33D51573-E130-7944-8F23-60FC1E3EAD51}"/>
                </a:ext>
              </a:extLst>
            </p:cNvPr>
            <p:cNvSpPr txBox="1"/>
            <p:nvPr/>
          </p:nvSpPr>
          <p:spPr>
            <a:xfrm>
              <a:off x="4995824" y="3111651"/>
              <a:ext cx="1290320" cy="800219"/>
            </a:xfrm>
            <a:prstGeom prst="rect">
              <a:avLst/>
            </a:prstGeom>
            <a:solidFill>
              <a:srgbClr val="F4CCCC"/>
            </a:solidFill>
            <a:ln w="9524">
              <a:solidFill>
                <a:srgbClr val="000000"/>
              </a:solidFill>
            </a:ln>
          </p:spPr>
          <p:txBody>
            <a:bodyPr vert="horz" wrap="square" lIns="0" tIns="147320" rIns="0" bIns="0" rtlCol="0">
              <a:spAutoFit/>
            </a:bodyPr>
            <a:lstStyle/>
            <a:p>
              <a:pPr>
                <a:spcBef>
                  <a:spcPts val="1160"/>
                </a:spcBef>
              </a:pPr>
              <a:endParaRPr sz="1400">
                <a:latin typeface="Times New Roman"/>
                <a:cs typeface="Times New Roman"/>
              </a:endParaRPr>
            </a:p>
            <a:p>
              <a:pPr marL="421640" marR="194310" indent="-219710">
                <a:lnSpc>
                  <a:spcPts val="1650"/>
                </a:lnSpc>
              </a:pPr>
              <a:r>
                <a:rPr sz="1400" spc="-35" dirty="0">
                  <a:latin typeface="Trebuchet MS"/>
                  <a:cs typeface="Trebuchet MS"/>
                </a:rPr>
                <a:t>Thermostat </a:t>
              </a:r>
              <a:r>
                <a:rPr sz="1400" spc="-10" dirty="0">
                  <a:latin typeface="Trebuchet MS"/>
                  <a:cs typeface="Trebuchet MS"/>
                </a:rPr>
                <a:t>agent</a:t>
              </a:r>
              <a:endParaRPr sz="1400">
                <a:latin typeface="Trebuchet MS"/>
                <a:cs typeface="Trebuchet MS"/>
              </a:endParaRPr>
            </a:p>
          </p:txBody>
        </p:sp>
        <p:sp>
          <p:nvSpPr>
            <p:cNvPr id="6" name="object 5">
              <a:extLst>
                <a:ext uri="{FF2B5EF4-FFF2-40B4-BE49-F238E27FC236}">
                  <a16:creationId xmlns:a16="http://schemas.microsoft.com/office/drawing/2014/main" id="{2F27A4A5-87F8-CDF3-1163-0E8BAFB56302}"/>
                </a:ext>
              </a:extLst>
            </p:cNvPr>
            <p:cNvSpPr txBox="1"/>
            <p:nvPr/>
          </p:nvSpPr>
          <p:spPr>
            <a:xfrm>
              <a:off x="8393424" y="1869627"/>
              <a:ext cx="1290320" cy="800219"/>
            </a:xfrm>
            <a:prstGeom prst="rect">
              <a:avLst/>
            </a:prstGeom>
            <a:solidFill>
              <a:srgbClr val="F4CCCC"/>
            </a:solidFill>
            <a:ln w="9524">
              <a:solidFill>
                <a:srgbClr val="000000"/>
              </a:solidFill>
            </a:ln>
          </p:spPr>
          <p:txBody>
            <a:bodyPr vert="horz" wrap="square" lIns="0" tIns="147320" rIns="0" bIns="0" rtlCol="0">
              <a:spAutoFit/>
            </a:bodyPr>
            <a:lstStyle/>
            <a:p>
              <a:pPr>
                <a:spcBef>
                  <a:spcPts val="1160"/>
                </a:spcBef>
              </a:pPr>
              <a:endParaRPr sz="1400">
                <a:latin typeface="Times New Roman"/>
                <a:cs typeface="Times New Roman"/>
              </a:endParaRPr>
            </a:p>
            <a:p>
              <a:pPr marL="421640" marR="197485" indent="-216535">
                <a:lnSpc>
                  <a:spcPts val="1650"/>
                </a:lnSpc>
              </a:pPr>
              <a:r>
                <a:rPr sz="1400" spc="-10" dirty="0">
                  <a:latin typeface="Trebuchet MS"/>
                  <a:cs typeface="Trebuchet MS"/>
                </a:rPr>
                <a:t>Occupancy agent</a:t>
              </a:r>
              <a:endParaRPr sz="1400">
                <a:latin typeface="Trebuchet MS"/>
                <a:cs typeface="Trebuchet MS"/>
              </a:endParaRPr>
            </a:p>
          </p:txBody>
        </p:sp>
        <p:sp>
          <p:nvSpPr>
            <p:cNvPr id="7" name="object 6">
              <a:extLst>
                <a:ext uri="{FF2B5EF4-FFF2-40B4-BE49-F238E27FC236}">
                  <a16:creationId xmlns:a16="http://schemas.microsoft.com/office/drawing/2014/main" id="{D896A93F-3715-418F-6207-7E5F11B15506}"/>
                </a:ext>
              </a:extLst>
            </p:cNvPr>
            <p:cNvSpPr txBox="1"/>
            <p:nvPr/>
          </p:nvSpPr>
          <p:spPr>
            <a:xfrm>
              <a:off x="8702599" y="4582676"/>
              <a:ext cx="1290320" cy="800219"/>
            </a:xfrm>
            <a:prstGeom prst="rect">
              <a:avLst/>
            </a:prstGeom>
            <a:solidFill>
              <a:srgbClr val="F4CCCC"/>
            </a:solidFill>
            <a:ln w="9524">
              <a:solidFill>
                <a:srgbClr val="000000"/>
              </a:solidFill>
            </a:ln>
          </p:spPr>
          <p:txBody>
            <a:bodyPr vert="horz" wrap="square" lIns="0" tIns="147320" rIns="0" bIns="0" rtlCol="0">
              <a:spAutoFit/>
            </a:bodyPr>
            <a:lstStyle/>
            <a:p>
              <a:pPr>
                <a:spcBef>
                  <a:spcPts val="1160"/>
                </a:spcBef>
              </a:pPr>
              <a:endParaRPr sz="1400">
                <a:latin typeface="Times New Roman"/>
                <a:cs typeface="Times New Roman"/>
              </a:endParaRPr>
            </a:p>
            <a:p>
              <a:pPr marL="421640" marR="249554" indent="-164465">
                <a:lnSpc>
                  <a:spcPts val="1650"/>
                </a:lnSpc>
              </a:pPr>
              <a:r>
                <a:rPr sz="1400" spc="-25" dirty="0">
                  <a:latin typeface="Trebuchet MS"/>
                  <a:cs typeface="Trebuchet MS"/>
                </a:rPr>
                <a:t>Air</a:t>
              </a:r>
              <a:r>
                <a:rPr sz="1400" spc="-80" dirty="0">
                  <a:latin typeface="Trebuchet MS"/>
                  <a:cs typeface="Trebuchet MS"/>
                </a:rPr>
                <a:t> </a:t>
              </a:r>
              <a:r>
                <a:rPr sz="1400" spc="-50" dirty="0">
                  <a:latin typeface="Trebuchet MS"/>
                  <a:cs typeface="Trebuchet MS"/>
                </a:rPr>
                <a:t>quality </a:t>
              </a:r>
              <a:r>
                <a:rPr sz="1400" spc="-10" dirty="0">
                  <a:latin typeface="Trebuchet MS"/>
                  <a:cs typeface="Trebuchet MS"/>
                </a:rPr>
                <a:t>agent</a:t>
              </a:r>
              <a:endParaRPr sz="1400">
                <a:latin typeface="Trebuchet MS"/>
                <a:cs typeface="Trebuchet MS"/>
              </a:endParaRPr>
            </a:p>
          </p:txBody>
        </p:sp>
        <p:grpSp>
          <p:nvGrpSpPr>
            <p:cNvPr id="8" name="object 7">
              <a:extLst>
                <a:ext uri="{FF2B5EF4-FFF2-40B4-BE49-F238E27FC236}">
                  <a16:creationId xmlns:a16="http://schemas.microsoft.com/office/drawing/2014/main" id="{3C98CA4E-DE74-8EA4-3CB7-E49F45A5ADF9}"/>
                </a:ext>
              </a:extLst>
            </p:cNvPr>
            <p:cNvGrpSpPr/>
            <p:nvPr/>
          </p:nvGrpSpPr>
          <p:grpSpPr>
            <a:xfrm>
              <a:off x="6419459" y="4296800"/>
              <a:ext cx="2208530" cy="1049020"/>
              <a:chOff x="4895459" y="3439550"/>
              <a:chExt cx="2208530" cy="1049020"/>
            </a:xfrm>
          </p:grpSpPr>
          <p:sp>
            <p:nvSpPr>
              <p:cNvPr id="24" name="object 8">
                <a:extLst>
                  <a:ext uri="{FF2B5EF4-FFF2-40B4-BE49-F238E27FC236}">
                    <a16:creationId xmlns:a16="http://schemas.microsoft.com/office/drawing/2014/main" id="{5E74AB46-0893-162D-B7B1-50A342BFB596}"/>
                  </a:ext>
                </a:extLst>
              </p:cNvPr>
              <p:cNvSpPr/>
              <p:nvPr/>
            </p:nvSpPr>
            <p:spPr>
              <a:xfrm>
                <a:off x="4983240" y="3488122"/>
                <a:ext cx="2111375" cy="991235"/>
              </a:xfrm>
              <a:custGeom>
                <a:avLst/>
                <a:gdLst/>
                <a:ahLst/>
                <a:cxnLst/>
                <a:rect l="l" t="t" r="r" b="b"/>
                <a:pathLst>
                  <a:path w="2111375" h="991235">
                    <a:moveTo>
                      <a:pt x="2110833" y="990927"/>
                    </a:moveTo>
                    <a:lnTo>
                      <a:pt x="0" y="0"/>
                    </a:lnTo>
                  </a:path>
                </a:pathLst>
              </a:custGeom>
              <a:ln w="19049">
                <a:solidFill>
                  <a:srgbClr val="000000"/>
                </a:solidFill>
              </a:ln>
            </p:spPr>
            <p:txBody>
              <a:bodyPr wrap="square" lIns="0" tIns="0" rIns="0" bIns="0" rtlCol="0"/>
              <a:lstStyle/>
              <a:p>
                <a:endParaRPr/>
              </a:p>
            </p:txBody>
          </p:sp>
          <p:pic>
            <p:nvPicPr>
              <p:cNvPr id="25" name="object 9">
                <a:extLst>
                  <a:ext uri="{FF2B5EF4-FFF2-40B4-BE49-F238E27FC236}">
                    <a16:creationId xmlns:a16="http://schemas.microsoft.com/office/drawing/2014/main" id="{DDF2CD26-B9CB-462E-30B8-A3C1180E2BD4}"/>
                  </a:ext>
                </a:extLst>
              </p:cNvPr>
              <p:cNvPicPr/>
              <p:nvPr/>
            </p:nvPicPr>
            <p:blipFill>
              <a:blip r:embed="rId2" cstate="print"/>
              <a:stretch>
                <a:fillRect/>
              </a:stretch>
            </p:blipFill>
            <p:spPr>
              <a:xfrm>
                <a:off x="4895459" y="3441859"/>
                <a:ext cx="110677" cy="84270"/>
              </a:xfrm>
              <a:prstGeom prst="rect">
                <a:avLst/>
              </a:prstGeom>
            </p:spPr>
          </p:pic>
          <p:sp>
            <p:nvSpPr>
              <p:cNvPr id="26" name="object 10">
                <a:extLst>
                  <a:ext uri="{FF2B5EF4-FFF2-40B4-BE49-F238E27FC236}">
                    <a16:creationId xmlns:a16="http://schemas.microsoft.com/office/drawing/2014/main" id="{725445F2-D8C2-D94F-AA83-3371EE22B912}"/>
                  </a:ext>
                </a:extLst>
              </p:cNvPr>
              <p:cNvSpPr/>
              <p:nvPr/>
            </p:nvSpPr>
            <p:spPr>
              <a:xfrm>
                <a:off x="5605474" y="3439550"/>
                <a:ext cx="763270" cy="845185"/>
              </a:xfrm>
              <a:custGeom>
                <a:avLst/>
                <a:gdLst/>
                <a:ahLst/>
                <a:cxnLst/>
                <a:rect l="l" t="t" r="r" b="b"/>
                <a:pathLst>
                  <a:path w="763270" h="845185">
                    <a:moveTo>
                      <a:pt x="762899" y="845099"/>
                    </a:moveTo>
                    <a:lnTo>
                      <a:pt x="0" y="845099"/>
                    </a:lnTo>
                    <a:lnTo>
                      <a:pt x="0" y="0"/>
                    </a:lnTo>
                    <a:lnTo>
                      <a:pt x="762899" y="0"/>
                    </a:lnTo>
                    <a:lnTo>
                      <a:pt x="762899" y="845099"/>
                    </a:lnTo>
                    <a:close/>
                  </a:path>
                </a:pathLst>
              </a:custGeom>
              <a:solidFill>
                <a:srgbClr val="FFFFFF"/>
              </a:solidFill>
            </p:spPr>
            <p:txBody>
              <a:bodyPr wrap="square" lIns="0" tIns="0" rIns="0" bIns="0" rtlCol="0"/>
              <a:lstStyle/>
              <a:p>
                <a:endParaRPr/>
              </a:p>
            </p:txBody>
          </p:sp>
        </p:grpSp>
        <p:grpSp>
          <p:nvGrpSpPr>
            <p:cNvPr id="9" name="object 11">
              <a:extLst>
                <a:ext uri="{FF2B5EF4-FFF2-40B4-BE49-F238E27FC236}">
                  <a16:creationId xmlns:a16="http://schemas.microsoft.com/office/drawing/2014/main" id="{0544E615-5263-DD84-BBDA-9EA73EC20C5C}"/>
                </a:ext>
              </a:extLst>
            </p:cNvPr>
            <p:cNvGrpSpPr/>
            <p:nvPr/>
          </p:nvGrpSpPr>
          <p:grpSpPr>
            <a:xfrm>
              <a:off x="6513081" y="2266550"/>
              <a:ext cx="1751964" cy="854710"/>
              <a:chOff x="4989081" y="1409300"/>
              <a:chExt cx="1751964" cy="854710"/>
            </a:xfrm>
          </p:grpSpPr>
          <p:sp>
            <p:nvSpPr>
              <p:cNvPr id="21" name="object 12">
                <a:extLst>
                  <a:ext uri="{FF2B5EF4-FFF2-40B4-BE49-F238E27FC236}">
                    <a16:creationId xmlns:a16="http://schemas.microsoft.com/office/drawing/2014/main" id="{02B8CF74-0343-572A-BF6F-4A051E8FED4E}"/>
                  </a:ext>
                </a:extLst>
              </p:cNvPr>
              <p:cNvSpPr/>
              <p:nvPr/>
            </p:nvSpPr>
            <p:spPr>
              <a:xfrm>
                <a:off x="5078250" y="1522737"/>
                <a:ext cx="1652905" cy="697865"/>
              </a:xfrm>
              <a:custGeom>
                <a:avLst/>
                <a:gdLst/>
                <a:ahLst/>
                <a:cxnLst/>
                <a:rect l="l" t="t" r="r" b="b"/>
                <a:pathLst>
                  <a:path w="1652904" h="697864">
                    <a:moveTo>
                      <a:pt x="1652699" y="0"/>
                    </a:moveTo>
                    <a:lnTo>
                      <a:pt x="0" y="697743"/>
                    </a:lnTo>
                  </a:path>
                </a:pathLst>
              </a:custGeom>
              <a:ln w="19049">
                <a:solidFill>
                  <a:srgbClr val="000000"/>
                </a:solidFill>
              </a:ln>
            </p:spPr>
            <p:txBody>
              <a:bodyPr wrap="square" lIns="0" tIns="0" rIns="0" bIns="0" rtlCol="0"/>
              <a:lstStyle/>
              <a:p>
                <a:endParaRPr/>
              </a:p>
            </p:txBody>
          </p:sp>
          <p:pic>
            <p:nvPicPr>
              <p:cNvPr id="22" name="object 13">
                <a:extLst>
                  <a:ext uri="{FF2B5EF4-FFF2-40B4-BE49-F238E27FC236}">
                    <a16:creationId xmlns:a16="http://schemas.microsoft.com/office/drawing/2014/main" id="{111073D4-F794-B18F-FF5A-F269583C6792}"/>
                  </a:ext>
                </a:extLst>
              </p:cNvPr>
              <p:cNvPicPr/>
              <p:nvPr/>
            </p:nvPicPr>
            <p:blipFill>
              <a:blip r:embed="rId3" cstate="print"/>
              <a:stretch>
                <a:fillRect/>
              </a:stretch>
            </p:blipFill>
            <p:spPr>
              <a:xfrm>
                <a:off x="4989081" y="2181968"/>
                <a:ext cx="110931" cy="81662"/>
              </a:xfrm>
              <a:prstGeom prst="rect">
                <a:avLst/>
              </a:prstGeom>
            </p:spPr>
          </p:pic>
          <p:sp>
            <p:nvSpPr>
              <p:cNvPr id="23" name="object 14">
                <a:extLst>
                  <a:ext uri="{FF2B5EF4-FFF2-40B4-BE49-F238E27FC236}">
                    <a16:creationId xmlns:a16="http://schemas.microsoft.com/office/drawing/2014/main" id="{027710CB-DE18-9BF8-60FE-E36DED3CA2D4}"/>
                  </a:ext>
                </a:extLst>
              </p:cNvPr>
              <p:cNvSpPr/>
              <p:nvPr/>
            </p:nvSpPr>
            <p:spPr>
              <a:xfrm>
                <a:off x="5470500" y="1409300"/>
                <a:ext cx="763270" cy="845185"/>
              </a:xfrm>
              <a:custGeom>
                <a:avLst/>
                <a:gdLst/>
                <a:ahLst/>
                <a:cxnLst/>
                <a:rect l="l" t="t" r="r" b="b"/>
                <a:pathLst>
                  <a:path w="763270" h="845185">
                    <a:moveTo>
                      <a:pt x="762899" y="845099"/>
                    </a:moveTo>
                    <a:lnTo>
                      <a:pt x="0" y="845099"/>
                    </a:lnTo>
                    <a:lnTo>
                      <a:pt x="0" y="0"/>
                    </a:lnTo>
                    <a:lnTo>
                      <a:pt x="762899" y="0"/>
                    </a:lnTo>
                    <a:lnTo>
                      <a:pt x="762899" y="845099"/>
                    </a:lnTo>
                    <a:close/>
                  </a:path>
                </a:pathLst>
              </a:custGeom>
              <a:solidFill>
                <a:srgbClr val="FFFFFF"/>
              </a:solidFill>
            </p:spPr>
            <p:txBody>
              <a:bodyPr wrap="square" lIns="0" tIns="0" rIns="0" bIns="0" rtlCol="0"/>
              <a:lstStyle/>
              <a:p>
                <a:endParaRPr/>
              </a:p>
            </p:txBody>
          </p:sp>
        </p:grpSp>
        <p:sp>
          <p:nvSpPr>
            <p:cNvPr id="10" name="object 15">
              <a:extLst>
                <a:ext uri="{FF2B5EF4-FFF2-40B4-BE49-F238E27FC236}">
                  <a16:creationId xmlns:a16="http://schemas.microsoft.com/office/drawing/2014/main" id="{222F10C1-AE59-FFCB-9E46-1E4C0C1C80D1}"/>
                </a:ext>
              </a:extLst>
            </p:cNvPr>
            <p:cNvSpPr txBox="1"/>
            <p:nvPr/>
          </p:nvSpPr>
          <p:spPr>
            <a:xfrm>
              <a:off x="1700224" y="3111651"/>
              <a:ext cx="1290320" cy="912429"/>
            </a:xfrm>
            <a:prstGeom prst="rect">
              <a:avLst/>
            </a:prstGeom>
            <a:solidFill>
              <a:srgbClr val="F4CCCC"/>
            </a:solidFill>
            <a:ln w="9524">
              <a:solidFill>
                <a:srgbClr val="000000"/>
              </a:solidFill>
            </a:ln>
          </p:spPr>
          <p:txBody>
            <a:bodyPr vert="horz" wrap="square" lIns="0" tIns="42545" rIns="0" bIns="0" rtlCol="0">
              <a:spAutoFit/>
            </a:bodyPr>
            <a:lstStyle/>
            <a:p>
              <a:pPr>
                <a:spcBef>
                  <a:spcPts val="335"/>
                </a:spcBef>
              </a:pPr>
              <a:endParaRPr sz="1400">
                <a:latin typeface="Times New Roman"/>
                <a:cs typeface="Times New Roman"/>
              </a:endParaRPr>
            </a:p>
            <a:p>
              <a:pPr marL="132080" marR="123825" indent="-635" algn="ctr">
                <a:lnSpc>
                  <a:spcPts val="1650"/>
                </a:lnSpc>
              </a:pPr>
              <a:r>
                <a:rPr sz="1400" spc="-10" dirty="0">
                  <a:latin typeface="Trebuchet MS"/>
                  <a:cs typeface="Trebuchet MS"/>
                </a:rPr>
                <a:t>Energy management agent</a:t>
              </a:r>
              <a:endParaRPr sz="1400">
                <a:latin typeface="Trebuchet MS"/>
                <a:cs typeface="Trebuchet MS"/>
              </a:endParaRPr>
            </a:p>
          </p:txBody>
        </p:sp>
        <p:grpSp>
          <p:nvGrpSpPr>
            <p:cNvPr id="11" name="object 16">
              <a:extLst>
                <a:ext uri="{FF2B5EF4-FFF2-40B4-BE49-F238E27FC236}">
                  <a16:creationId xmlns:a16="http://schemas.microsoft.com/office/drawing/2014/main" id="{1E28F767-BF06-FBB1-4263-63E5CA427D60}"/>
                </a:ext>
              </a:extLst>
            </p:cNvPr>
            <p:cNvGrpSpPr/>
            <p:nvPr/>
          </p:nvGrpSpPr>
          <p:grpSpPr>
            <a:xfrm>
              <a:off x="3181826" y="3647359"/>
              <a:ext cx="412115" cy="82550"/>
              <a:chOff x="1657824" y="2790109"/>
              <a:chExt cx="412115" cy="82550"/>
            </a:xfrm>
          </p:grpSpPr>
          <p:sp>
            <p:nvSpPr>
              <p:cNvPr id="19" name="object 17">
                <a:extLst>
                  <a:ext uri="{FF2B5EF4-FFF2-40B4-BE49-F238E27FC236}">
                    <a16:creationId xmlns:a16="http://schemas.microsoft.com/office/drawing/2014/main" id="{F5F7DD63-59A8-60D5-8A84-8F4DD29BF6FC}"/>
                  </a:ext>
                </a:extLst>
              </p:cNvPr>
              <p:cNvSpPr/>
              <p:nvPr/>
            </p:nvSpPr>
            <p:spPr>
              <a:xfrm>
                <a:off x="1753799" y="2831100"/>
                <a:ext cx="316230" cy="0"/>
              </a:xfrm>
              <a:custGeom>
                <a:avLst/>
                <a:gdLst/>
                <a:ahLst/>
                <a:cxnLst/>
                <a:rect l="l" t="t" r="r" b="b"/>
                <a:pathLst>
                  <a:path w="316230">
                    <a:moveTo>
                      <a:pt x="0" y="0"/>
                    </a:moveTo>
                    <a:lnTo>
                      <a:pt x="315674" y="0"/>
                    </a:lnTo>
                  </a:path>
                </a:pathLst>
              </a:custGeom>
              <a:ln w="19049">
                <a:solidFill>
                  <a:srgbClr val="000000"/>
                </a:solidFill>
              </a:ln>
            </p:spPr>
            <p:txBody>
              <a:bodyPr wrap="square" lIns="0" tIns="0" rIns="0" bIns="0" rtlCol="0"/>
              <a:lstStyle/>
              <a:p>
                <a:endParaRPr/>
              </a:p>
            </p:txBody>
          </p:sp>
          <p:pic>
            <p:nvPicPr>
              <p:cNvPr id="20" name="object 18">
                <a:extLst>
                  <a:ext uri="{FF2B5EF4-FFF2-40B4-BE49-F238E27FC236}">
                    <a16:creationId xmlns:a16="http://schemas.microsoft.com/office/drawing/2014/main" id="{851BBCE3-1549-A447-AA45-199686FBC30B}"/>
                  </a:ext>
                </a:extLst>
              </p:cNvPr>
              <p:cNvPicPr/>
              <p:nvPr/>
            </p:nvPicPr>
            <p:blipFill>
              <a:blip r:embed="rId4" cstate="print"/>
              <a:stretch>
                <a:fillRect/>
              </a:stretch>
            </p:blipFill>
            <p:spPr>
              <a:xfrm>
                <a:off x="1657824" y="2790109"/>
                <a:ext cx="105500" cy="81980"/>
              </a:xfrm>
              <a:prstGeom prst="rect">
                <a:avLst/>
              </a:prstGeom>
            </p:spPr>
          </p:pic>
        </p:grpSp>
        <p:grpSp>
          <p:nvGrpSpPr>
            <p:cNvPr id="12" name="object 19">
              <a:extLst>
                <a:ext uri="{FF2B5EF4-FFF2-40B4-BE49-F238E27FC236}">
                  <a16:creationId xmlns:a16="http://schemas.microsoft.com/office/drawing/2014/main" id="{3CAE6E60-3AFB-18C9-1AE5-3B8F67800F08}"/>
                </a:ext>
              </a:extLst>
            </p:cNvPr>
            <p:cNvGrpSpPr/>
            <p:nvPr/>
          </p:nvGrpSpPr>
          <p:grpSpPr>
            <a:xfrm>
              <a:off x="4356376" y="3647359"/>
              <a:ext cx="412115" cy="82550"/>
              <a:chOff x="2832374" y="2790109"/>
              <a:chExt cx="412115" cy="82550"/>
            </a:xfrm>
          </p:grpSpPr>
          <p:sp>
            <p:nvSpPr>
              <p:cNvPr id="17" name="object 20">
                <a:extLst>
                  <a:ext uri="{FF2B5EF4-FFF2-40B4-BE49-F238E27FC236}">
                    <a16:creationId xmlns:a16="http://schemas.microsoft.com/office/drawing/2014/main" id="{3B9B0B64-C9BB-7D93-0511-39A9B3F59096}"/>
                  </a:ext>
                </a:extLst>
              </p:cNvPr>
              <p:cNvSpPr/>
              <p:nvPr/>
            </p:nvSpPr>
            <p:spPr>
              <a:xfrm>
                <a:off x="2832374" y="2831100"/>
                <a:ext cx="315595" cy="0"/>
              </a:xfrm>
              <a:custGeom>
                <a:avLst/>
                <a:gdLst/>
                <a:ahLst/>
                <a:cxnLst/>
                <a:rect l="l" t="t" r="r" b="b"/>
                <a:pathLst>
                  <a:path w="315594">
                    <a:moveTo>
                      <a:pt x="0" y="0"/>
                    </a:moveTo>
                    <a:lnTo>
                      <a:pt x="315524" y="0"/>
                    </a:lnTo>
                  </a:path>
                </a:pathLst>
              </a:custGeom>
              <a:ln w="19049">
                <a:solidFill>
                  <a:srgbClr val="000000"/>
                </a:solidFill>
              </a:ln>
            </p:spPr>
            <p:txBody>
              <a:bodyPr wrap="square" lIns="0" tIns="0" rIns="0" bIns="0" rtlCol="0"/>
              <a:lstStyle/>
              <a:p>
                <a:endParaRPr/>
              </a:p>
            </p:txBody>
          </p:sp>
          <p:pic>
            <p:nvPicPr>
              <p:cNvPr id="18" name="object 21">
                <a:extLst>
                  <a:ext uri="{FF2B5EF4-FFF2-40B4-BE49-F238E27FC236}">
                    <a16:creationId xmlns:a16="http://schemas.microsoft.com/office/drawing/2014/main" id="{5317D9D3-C25E-AC22-05CC-6E95693CD557}"/>
                  </a:ext>
                </a:extLst>
              </p:cNvPr>
              <p:cNvPicPr/>
              <p:nvPr/>
            </p:nvPicPr>
            <p:blipFill>
              <a:blip r:embed="rId5" cstate="print"/>
              <a:stretch>
                <a:fillRect/>
              </a:stretch>
            </p:blipFill>
            <p:spPr>
              <a:xfrm>
                <a:off x="3138374" y="2790109"/>
                <a:ext cx="105500" cy="81980"/>
              </a:xfrm>
              <a:prstGeom prst="rect">
                <a:avLst/>
              </a:prstGeom>
            </p:spPr>
          </p:pic>
        </p:grpSp>
        <p:sp>
          <p:nvSpPr>
            <p:cNvPr id="13" name="object 22">
              <a:extLst>
                <a:ext uri="{FF2B5EF4-FFF2-40B4-BE49-F238E27FC236}">
                  <a16:creationId xmlns:a16="http://schemas.microsoft.com/office/drawing/2014/main" id="{AB13CA0D-077B-5564-9C89-771EF914D2BA}"/>
                </a:ext>
              </a:extLst>
            </p:cNvPr>
            <p:cNvSpPr txBox="1"/>
            <p:nvPr/>
          </p:nvSpPr>
          <p:spPr>
            <a:xfrm>
              <a:off x="3744600" y="3528393"/>
              <a:ext cx="461009" cy="299720"/>
            </a:xfrm>
            <a:prstGeom prst="rect">
              <a:avLst/>
            </a:prstGeom>
          </p:spPr>
          <p:txBody>
            <a:bodyPr vert="horz" wrap="square" lIns="0" tIns="12700" rIns="0" bIns="0" rtlCol="0">
              <a:spAutoFit/>
            </a:bodyPr>
            <a:lstStyle/>
            <a:p>
              <a:pPr marL="12700">
                <a:spcBef>
                  <a:spcPts val="100"/>
                </a:spcBef>
              </a:pPr>
              <a:r>
                <a:rPr spc="85" dirty="0">
                  <a:latin typeface="Trebuchet MS"/>
                  <a:cs typeface="Trebuchet MS"/>
                </a:rPr>
                <a:t>A2A</a:t>
              </a:r>
              <a:endParaRPr>
                <a:latin typeface="Trebuchet MS"/>
                <a:cs typeface="Trebuchet MS"/>
              </a:endParaRPr>
            </a:p>
          </p:txBody>
        </p:sp>
        <p:sp>
          <p:nvSpPr>
            <p:cNvPr id="14" name="object 23">
              <a:extLst>
                <a:ext uri="{FF2B5EF4-FFF2-40B4-BE49-F238E27FC236}">
                  <a16:creationId xmlns:a16="http://schemas.microsoft.com/office/drawing/2014/main" id="{B89C2122-C6B2-A3FE-DE0D-0DC9121A9520}"/>
                </a:ext>
              </a:extLst>
            </p:cNvPr>
            <p:cNvSpPr txBox="1"/>
            <p:nvPr/>
          </p:nvSpPr>
          <p:spPr>
            <a:xfrm>
              <a:off x="7145625" y="2529143"/>
              <a:ext cx="461009" cy="299720"/>
            </a:xfrm>
            <a:prstGeom prst="rect">
              <a:avLst/>
            </a:prstGeom>
          </p:spPr>
          <p:txBody>
            <a:bodyPr vert="horz" wrap="square" lIns="0" tIns="12700" rIns="0" bIns="0" rtlCol="0">
              <a:spAutoFit/>
            </a:bodyPr>
            <a:lstStyle/>
            <a:p>
              <a:pPr marL="12700">
                <a:spcBef>
                  <a:spcPts val="100"/>
                </a:spcBef>
              </a:pPr>
              <a:r>
                <a:rPr spc="85" dirty="0">
                  <a:latin typeface="Trebuchet MS"/>
                  <a:cs typeface="Trebuchet MS"/>
                </a:rPr>
                <a:t>A2A</a:t>
              </a:r>
              <a:endParaRPr>
                <a:latin typeface="Trebuchet MS"/>
                <a:cs typeface="Trebuchet MS"/>
              </a:endParaRPr>
            </a:p>
          </p:txBody>
        </p:sp>
        <p:sp>
          <p:nvSpPr>
            <p:cNvPr id="15" name="object 24">
              <a:extLst>
                <a:ext uri="{FF2B5EF4-FFF2-40B4-BE49-F238E27FC236}">
                  <a16:creationId xmlns:a16="http://schemas.microsoft.com/office/drawing/2014/main" id="{02A5DCD9-DA94-C5F3-B359-8AFCE3DF050B}"/>
                </a:ext>
              </a:extLst>
            </p:cNvPr>
            <p:cNvSpPr txBox="1"/>
            <p:nvPr/>
          </p:nvSpPr>
          <p:spPr>
            <a:xfrm>
              <a:off x="7280601" y="4559393"/>
              <a:ext cx="461009" cy="299720"/>
            </a:xfrm>
            <a:prstGeom prst="rect">
              <a:avLst/>
            </a:prstGeom>
          </p:spPr>
          <p:txBody>
            <a:bodyPr vert="horz" wrap="square" lIns="0" tIns="12700" rIns="0" bIns="0" rtlCol="0">
              <a:spAutoFit/>
            </a:bodyPr>
            <a:lstStyle/>
            <a:p>
              <a:pPr marL="12700">
                <a:spcBef>
                  <a:spcPts val="100"/>
                </a:spcBef>
              </a:pPr>
              <a:r>
                <a:rPr spc="85" dirty="0">
                  <a:latin typeface="Trebuchet MS"/>
                  <a:cs typeface="Trebuchet MS"/>
                </a:rPr>
                <a:t>A2A</a:t>
              </a:r>
              <a:endParaRPr>
                <a:latin typeface="Trebuchet MS"/>
                <a:cs typeface="Trebuchet MS"/>
              </a:endParaRPr>
            </a:p>
          </p:txBody>
        </p:sp>
        <p:sp>
          <p:nvSpPr>
            <p:cNvPr id="16" name="object 25">
              <a:extLst>
                <a:ext uri="{FF2B5EF4-FFF2-40B4-BE49-F238E27FC236}">
                  <a16:creationId xmlns:a16="http://schemas.microsoft.com/office/drawing/2014/main" id="{46BE8312-968F-D212-B2D8-A0FDB4BCEA39}"/>
                </a:ext>
              </a:extLst>
            </p:cNvPr>
            <p:cNvSpPr txBox="1"/>
            <p:nvPr/>
          </p:nvSpPr>
          <p:spPr>
            <a:xfrm>
              <a:off x="3017025" y="5779779"/>
              <a:ext cx="2771140" cy="135935"/>
            </a:xfrm>
            <a:prstGeom prst="rect">
              <a:avLst/>
            </a:prstGeom>
          </p:spPr>
          <p:txBody>
            <a:bodyPr vert="horz" wrap="square" lIns="0" tIns="12700" rIns="0" bIns="0" rtlCol="0">
              <a:spAutoFit/>
            </a:bodyPr>
            <a:lstStyle/>
            <a:p>
              <a:pPr marL="12700">
                <a:spcBef>
                  <a:spcPts val="100"/>
                </a:spcBef>
              </a:pPr>
              <a:r>
                <a:rPr sz="800" i="1" dirty="0">
                  <a:latin typeface="Trebuchet MS"/>
                  <a:cs typeface="Trebuchet MS"/>
                </a:rPr>
                <a:t>"</a:t>
              </a:r>
              <a:r>
                <a:rPr sz="800" i="1" dirty="0">
                  <a:solidFill>
                    <a:srgbClr val="FF5252"/>
                  </a:solidFill>
                  <a:latin typeface="Trebuchet MS"/>
                  <a:cs typeface="Trebuchet MS"/>
                  <a:hlinkClick r:id="rId6"/>
                </a:rPr>
                <a:t>Announcing</a:t>
              </a:r>
              <a:r>
                <a:rPr sz="800" i="1" spc="5" dirty="0">
                  <a:solidFill>
                    <a:srgbClr val="FF5252"/>
                  </a:solidFill>
                  <a:latin typeface="Trebuchet MS"/>
                  <a:cs typeface="Trebuchet MS"/>
                  <a:hlinkClick r:id="rId6"/>
                </a:rPr>
                <a:t> </a:t>
              </a:r>
              <a:r>
                <a:rPr sz="800" i="1" spc="-40" dirty="0">
                  <a:solidFill>
                    <a:srgbClr val="FF5252"/>
                  </a:solidFill>
                  <a:latin typeface="Trebuchet MS"/>
                  <a:cs typeface="Trebuchet MS"/>
                  <a:hlinkClick r:id="rId6"/>
                </a:rPr>
                <a:t>the</a:t>
              </a:r>
              <a:r>
                <a:rPr sz="800" i="1" spc="10" dirty="0">
                  <a:solidFill>
                    <a:srgbClr val="FF5252"/>
                  </a:solidFill>
                  <a:latin typeface="Trebuchet MS"/>
                  <a:cs typeface="Trebuchet MS"/>
                  <a:hlinkClick r:id="rId6"/>
                </a:rPr>
                <a:t> </a:t>
              </a:r>
              <a:r>
                <a:rPr sz="800" i="1" dirty="0">
                  <a:solidFill>
                    <a:srgbClr val="FF5252"/>
                  </a:solidFill>
                  <a:latin typeface="Trebuchet MS"/>
                  <a:cs typeface="Trebuchet MS"/>
                  <a:hlinkClick r:id="rId6"/>
                </a:rPr>
                <a:t>Agent2Agent</a:t>
              </a:r>
              <a:r>
                <a:rPr sz="800" i="1" spc="10" dirty="0">
                  <a:solidFill>
                    <a:srgbClr val="FF5252"/>
                  </a:solidFill>
                  <a:latin typeface="Trebuchet MS"/>
                  <a:cs typeface="Trebuchet MS"/>
                  <a:hlinkClick r:id="rId6"/>
                </a:rPr>
                <a:t> </a:t>
              </a:r>
              <a:r>
                <a:rPr sz="800" i="1" spc="-20" dirty="0">
                  <a:solidFill>
                    <a:srgbClr val="FF5252"/>
                  </a:solidFill>
                  <a:latin typeface="Trebuchet MS"/>
                  <a:cs typeface="Trebuchet MS"/>
                  <a:hlinkClick r:id="rId6"/>
                </a:rPr>
                <a:t>Protocol</a:t>
              </a:r>
              <a:r>
                <a:rPr sz="800" i="1" spc="10" dirty="0">
                  <a:solidFill>
                    <a:srgbClr val="FF5252"/>
                  </a:solidFill>
                  <a:latin typeface="Trebuchet MS"/>
                  <a:cs typeface="Trebuchet MS"/>
                  <a:hlinkClick r:id="rId6"/>
                </a:rPr>
                <a:t> </a:t>
              </a:r>
              <a:r>
                <a:rPr sz="800" i="1" spc="-45" dirty="0">
                  <a:solidFill>
                    <a:srgbClr val="FF5252"/>
                  </a:solidFill>
                  <a:latin typeface="Trebuchet MS"/>
                  <a:cs typeface="Trebuchet MS"/>
                  <a:hlinkClick r:id="rId6"/>
                </a:rPr>
                <a:t>(A2A)</a:t>
              </a:r>
              <a:r>
                <a:rPr sz="800" i="1" spc="-45" dirty="0">
                  <a:latin typeface="Trebuchet MS"/>
                  <a:cs typeface="Trebuchet MS"/>
                </a:rPr>
                <a:t>",</a:t>
              </a:r>
              <a:r>
                <a:rPr sz="800" i="1" spc="5" dirty="0">
                  <a:latin typeface="Trebuchet MS"/>
                  <a:cs typeface="Trebuchet MS"/>
                </a:rPr>
                <a:t> </a:t>
              </a:r>
              <a:r>
                <a:rPr sz="800" i="1" dirty="0">
                  <a:latin typeface="Trebuchet MS"/>
                  <a:cs typeface="Trebuchet MS"/>
                </a:rPr>
                <a:t>Google,</a:t>
              </a:r>
              <a:r>
                <a:rPr sz="800" i="1" spc="10" dirty="0">
                  <a:latin typeface="Trebuchet MS"/>
                  <a:cs typeface="Trebuchet MS"/>
                </a:rPr>
                <a:t> </a:t>
              </a:r>
              <a:r>
                <a:rPr sz="800" i="1" spc="-10" dirty="0">
                  <a:latin typeface="Trebuchet MS"/>
                  <a:cs typeface="Trebuchet MS"/>
                </a:rPr>
                <a:t>2025.</a:t>
              </a:r>
              <a:endParaRPr sz="800">
                <a:latin typeface="Trebuchet MS"/>
                <a:cs typeface="Trebuchet MS"/>
              </a:endParaRPr>
            </a:p>
          </p:txBody>
        </p:sp>
      </p:grpSp>
    </p:spTree>
    <p:extLst>
      <p:ext uri="{BB962C8B-B14F-4D97-AF65-F5344CB8AC3E}">
        <p14:creationId xmlns:p14="http://schemas.microsoft.com/office/powerpoint/2010/main" val="2329347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58EC944-E7D4-29BB-4685-8DA77B379F82}"/>
              </a:ext>
            </a:extLst>
          </p:cNvPr>
          <p:cNvSpPr txBox="1">
            <a:spLocks/>
          </p:cNvSpPr>
          <p:nvPr/>
        </p:nvSpPr>
        <p:spPr>
          <a:xfrm>
            <a:off x="1794457" y="483779"/>
            <a:ext cx="7886700" cy="566822"/>
          </a:xfrm>
          <a:prstGeom prst="rect">
            <a:avLst/>
          </a:prstGeom>
        </p:spPr>
        <p:txBody>
          <a:bodyPr vert="horz" wrap="square" lIns="0" tIns="12700" rIns="0" bIns="0" rtlCol="0" anchor="ctr">
            <a:spAutoFit/>
          </a:bodyPr>
          <a:lstStyle>
            <a:lvl1pPr>
              <a:defRPr sz="3600">
                <a:latin typeface="Cambria" panose="02040503050406030204" pitchFamily="18" charset="0"/>
                <a:ea typeface="Cambria" panose="02040503050406030204" pitchFamily="18" charset="0"/>
                <a:cs typeface="+mj-cs"/>
              </a:defRPr>
            </a:lvl1pPr>
          </a:lstStyle>
          <a:p>
            <a:pPr marL="12700">
              <a:spcBef>
                <a:spcPts val="100"/>
              </a:spcBef>
            </a:pPr>
            <a:r>
              <a:rPr lang="en-IN" kern="0" spc="-70">
                <a:solidFill>
                  <a:schemeClr val="tx1"/>
                </a:solidFill>
              </a:rPr>
              <a:t>Standardization:</a:t>
            </a:r>
            <a:r>
              <a:rPr lang="en-IN" kern="0" spc="-130">
                <a:solidFill>
                  <a:schemeClr val="tx1"/>
                </a:solidFill>
              </a:rPr>
              <a:t> </a:t>
            </a:r>
            <a:r>
              <a:rPr lang="en-IN" kern="0" spc="145">
                <a:solidFill>
                  <a:schemeClr val="tx1"/>
                </a:solidFill>
              </a:rPr>
              <a:t>A2A</a:t>
            </a:r>
            <a:endParaRPr lang="en-IN" kern="0" spc="145" dirty="0">
              <a:solidFill>
                <a:schemeClr val="tx1"/>
              </a:solidFill>
            </a:endParaRPr>
          </a:p>
        </p:txBody>
      </p:sp>
      <p:pic>
        <p:nvPicPr>
          <p:cNvPr id="3" name="Picture 2">
            <a:extLst>
              <a:ext uri="{FF2B5EF4-FFF2-40B4-BE49-F238E27FC236}">
                <a16:creationId xmlns:a16="http://schemas.microsoft.com/office/drawing/2014/main" id="{286B8DA8-488F-B52B-7E9D-90B13F8EFBDC}"/>
              </a:ext>
            </a:extLst>
          </p:cNvPr>
          <p:cNvPicPr>
            <a:picLocks noChangeAspect="1"/>
          </p:cNvPicPr>
          <p:nvPr/>
        </p:nvPicPr>
        <p:blipFill>
          <a:blip r:embed="rId2"/>
          <a:stretch>
            <a:fillRect/>
          </a:stretch>
        </p:blipFill>
        <p:spPr>
          <a:xfrm>
            <a:off x="452320" y="1385259"/>
            <a:ext cx="10570973" cy="4340115"/>
          </a:xfrm>
          <a:prstGeom prst="rect">
            <a:avLst/>
          </a:prstGeom>
        </p:spPr>
      </p:pic>
      <p:sp>
        <p:nvSpPr>
          <p:cNvPr id="5" name="object 9">
            <a:extLst>
              <a:ext uri="{FF2B5EF4-FFF2-40B4-BE49-F238E27FC236}">
                <a16:creationId xmlns:a16="http://schemas.microsoft.com/office/drawing/2014/main" id="{BB12EC00-8F42-450E-4CA4-F087477AEACE}"/>
              </a:ext>
            </a:extLst>
          </p:cNvPr>
          <p:cNvSpPr txBox="1"/>
          <p:nvPr/>
        </p:nvSpPr>
        <p:spPr>
          <a:xfrm>
            <a:off x="130502" y="6060032"/>
            <a:ext cx="4216467" cy="628377"/>
          </a:xfrm>
          <a:prstGeom prst="rect">
            <a:avLst/>
          </a:prstGeom>
        </p:spPr>
        <p:txBody>
          <a:bodyPr vert="horz" wrap="square" lIns="0" tIns="12700" rIns="0" bIns="0" rtlCol="0">
            <a:spAutoFit/>
          </a:bodyPr>
          <a:lstStyle/>
          <a:p>
            <a:pPr marL="12700">
              <a:spcBef>
                <a:spcPts val="100"/>
              </a:spcBef>
            </a:pPr>
            <a:r>
              <a:rPr sz="2000" i="1" dirty="0">
                <a:latin typeface="Trebuchet MS"/>
                <a:cs typeface="Trebuchet MS"/>
              </a:rPr>
              <a:t>"</a:t>
            </a:r>
            <a:r>
              <a:rPr sz="2000" i="1" dirty="0">
                <a:solidFill>
                  <a:srgbClr val="FF5252"/>
                </a:solidFill>
                <a:latin typeface="Trebuchet MS"/>
                <a:cs typeface="Trebuchet MS"/>
                <a:hlinkClick r:id="rId3"/>
              </a:rPr>
              <a:t>Agent2Agent</a:t>
            </a:r>
            <a:r>
              <a:rPr sz="2000" i="1" spc="5" dirty="0">
                <a:solidFill>
                  <a:srgbClr val="FF5252"/>
                </a:solidFill>
                <a:latin typeface="Trebuchet MS"/>
                <a:cs typeface="Trebuchet MS"/>
                <a:hlinkClick r:id="rId3"/>
              </a:rPr>
              <a:t> </a:t>
            </a:r>
            <a:r>
              <a:rPr sz="2000" i="1" spc="-20" dirty="0">
                <a:solidFill>
                  <a:srgbClr val="FF5252"/>
                </a:solidFill>
                <a:latin typeface="Trebuchet MS"/>
                <a:cs typeface="Trebuchet MS"/>
                <a:hlinkClick r:id="rId3"/>
              </a:rPr>
              <a:t>(A2A)</a:t>
            </a:r>
            <a:r>
              <a:rPr sz="2000" i="1" spc="5" dirty="0">
                <a:solidFill>
                  <a:srgbClr val="FF5252"/>
                </a:solidFill>
                <a:latin typeface="Trebuchet MS"/>
                <a:cs typeface="Trebuchet MS"/>
                <a:hlinkClick r:id="rId3"/>
              </a:rPr>
              <a:t> </a:t>
            </a:r>
            <a:r>
              <a:rPr sz="2000" i="1" spc="-20" dirty="0">
                <a:solidFill>
                  <a:srgbClr val="FF5252"/>
                </a:solidFill>
                <a:latin typeface="Trebuchet MS"/>
                <a:cs typeface="Trebuchet MS"/>
                <a:hlinkClick r:id="rId3"/>
              </a:rPr>
              <a:t>Protocol</a:t>
            </a:r>
            <a:r>
              <a:rPr sz="2000" i="1" spc="5" dirty="0">
                <a:solidFill>
                  <a:srgbClr val="FF5252"/>
                </a:solidFill>
                <a:latin typeface="Trebuchet MS"/>
                <a:cs typeface="Trebuchet MS"/>
                <a:hlinkClick r:id="rId3"/>
              </a:rPr>
              <a:t> </a:t>
            </a:r>
            <a:r>
              <a:rPr sz="2000" i="1" spc="-20" dirty="0">
                <a:solidFill>
                  <a:srgbClr val="FF5252"/>
                </a:solidFill>
                <a:latin typeface="Trebuchet MS"/>
                <a:cs typeface="Trebuchet MS"/>
                <a:hlinkClick r:id="rId3"/>
              </a:rPr>
              <a:t>Oﬃcial</a:t>
            </a:r>
            <a:r>
              <a:rPr sz="2000" i="1" spc="10" dirty="0">
                <a:solidFill>
                  <a:srgbClr val="FF5252"/>
                </a:solidFill>
                <a:latin typeface="Trebuchet MS"/>
                <a:cs typeface="Trebuchet MS"/>
                <a:hlinkClick r:id="rId3"/>
              </a:rPr>
              <a:t> </a:t>
            </a:r>
            <a:r>
              <a:rPr sz="2000" i="1" spc="-30" dirty="0">
                <a:solidFill>
                  <a:srgbClr val="FF5252"/>
                </a:solidFill>
                <a:latin typeface="Trebuchet MS"/>
                <a:cs typeface="Trebuchet MS"/>
                <a:hlinkClick r:id="rId3"/>
              </a:rPr>
              <a:t>Specification</a:t>
            </a:r>
            <a:r>
              <a:rPr sz="2000" i="1" spc="-30" dirty="0">
                <a:latin typeface="Trebuchet MS"/>
                <a:cs typeface="Trebuchet MS"/>
              </a:rPr>
              <a:t>",</a:t>
            </a:r>
            <a:r>
              <a:rPr sz="2000" i="1" spc="5" dirty="0">
                <a:latin typeface="Trebuchet MS"/>
                <a:cs typeface="Trebuchet MS"/>
              </a:rPr>
              <a:t> </a:t>
            </a:r>
            <a:r>
              <a:rPr sz="2000" i="1" dirty="0">
                <a:latin typeface="Trebuchet MS"/>
                <a:cs typeface="Trebuchet MS"/>
              </a:rPr>
              <a:t>Google,</a:t>
            </a:r>
            <a:r>
              <a:rPr sz="2000" i="1" spc="5" dirty="0">
                <a:latin typeface="Trebuchet MS"/>
                <a:cs typeface="Trebuchet MS"/>
              </a:rPr>
              <a:t> </a:t>
            </a:r>
            <a:r>
              <a:rPr sz="2000" i="1" spc="-10" dirty="0">
                <a:latin typeface="Trebuchet MS"/>
                <a:cs typeface="Trebuchet MS"/>
              </a:rPr>
              <a:t>2025.</a:t>
            </a:r>
            <a:endParaRPr sz="2000" dirty="0">
              <a:latin typeface="Trebuchet MS"/>
              <a:cs typeface="Trebuchet MS"/>
            </a:endParaRPr>
          </a:p>
        </p:txBody>
      </p:sp>
    </p:spTree>
    <p:extLst>
      <p:ext uri="{BB962C8B-B14F-4D97-AF65-F5344CB8AC3E}">
        <p14:creationId xmlns:p14="http://schemas.microsoft.com/office/powerpoint/2010/main" val="377175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CE1E12-4858-EB66-E143-0B98F564E078}"/>
              </a:ext>
            </a:extLst>
          </p:cNvPr>
          <p:cNvPicPr>
            <a:picLocks noChangeAspect="1"/>
          </p:cNvPicPr>
          <p:nvPr/>
        </p:nvPicPr>
        <p:blipFill>
          <a:blip r:embed="rId3"/>
          <a:stretch>
            <a:fillRect/>
          </a:stretch>
        </p:blipFill>
        <p:spPr>
          <a:xfrm>
            <a:off x="-115229" y="1507550"/>
            <a:ext cx="6211229" cy="4361708"/>
          </a:xfrm>
          <a:prstGeom prst="rect">
            <a:avLst/>
          </a:prstGeom>
        </p:spPr>
      </p:pic>
      <p:sp>
        <p:nvSpPr>
          <p:cNvPr id="9" name="TextBox 8">
            <a:extLst>
              <a:ext uri="{FF2B5EF4-FFF2-40B4-BE49-F238E27FC236}">
                <a16:creationId xmlns:a16="http://schemas.microsoft.com/office/drawing/2014/main" id="{2C7FC606-619D-A767-1CD0-E4517EA6CEA0}"/>
              </a:ext>
            </a:extLst>
          </p:cNvPr>
          <p:cNvSpPr txBox="1"/>
          <p:nvPr/>
        </p:nvSpPr>
        <p:spPr>
          <a:xfrm>
            <a:off x="6096000" y="1405053"/>
            <a:ext cx="5925015" cy="5016758"/>
          </a:xfrm>
          <a:prstGeom prst="rect">
            <a:avLst/>
          </a:prstGeom>
          <a:noFill/>
        </p:spPr>
        <p:txBody>
          <a:bodyPr wrap="square">
            <a:spAutoFit/>
          </a:bodyPr>
          <a:lstStyle/>
          <a:p>
            <a:pPr marL="34290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An agent without an augmented memory is merely a reflex agent, reacting only to the current input without learning from the previous iterations or sessions.</a:t>
            </a:r>
          </a:p>
          <a:p>
            <a:pPr marL="342900" indent="-342900">
              <a:buFont typeface="Arial" panose="020B0604020202020204" pitchFamily="34" charset="0"/>
              <a:buChar char="•"/>
            </a:pPr>
            <a:endParaRPr lang="en-IN" sz="20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A memory unit can be understood as a structured container that holds not just information, but also the metadata and relationships that make that information useful for agent reasoning.</a:t>
            </a:r>
          </a:p>
          <a:p>
            <a:pPr marL="342900" indent="-342900">
              <a:buFont typeface="Arial" panose="020B0604020202020204" pitchFamily="34" charset="0"/>
              <a:buChar char="•"/>
            </a:pPr>
            <a:endParaRPr lang="en-IN" sz="20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Short-term memory (STM) - Information retained for immediate use during active processing. </a:t>
            </a:r>
          </a:p>
          <a:p>
            <a:pPr marL="342900" indent="-342900">
              <a:buFont typeface="Arial" panose="020B0604020202020204" pitchFamily="34" charset="0"/>
              <a:buChar char="•"/>
            </a:pPr>
            <a:endParaRPr lang="en-IN" sz="20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Long-term memory (LTM) - Information persistently stored for extended periods and future retrieval. </a:t>
            </a:r>
          </a:p>
        </p:txBody>
      </p:sp>
      <p:sp>
        <p:nvSpPr>
          <p:cNvPr id="12" name="Title 2">
            <a:extLst>
              <a:ext uri="{FF2B5EF4-FFF2-40B4-BE49-F238E27FC236}">
                <a16:creationId xmlns:a16="http://schemas.microsoft.com/office/drawing/2014/main" id="{E86282DE-0AE5-0CED-66F0-40807B7DD891}"/>
              </a:ext>
            </a:extLst>
          </p:cNvPr>
          <p:cNvSpPr txBox="1">
            <a:spLocks/>
          </p:cNvSpPr>
          <p:nvPr/>
        </p:nvSpPr>
        <p:spPr>
          <a:xfrm>
            <a:off x="304801" y="0"/>
            <a:ext cx="10881209" cy="1219200"/>
          </a:xfrm>
          <a:prstGeom prst="rect">
            <a:avLst/>
          </a:prstGeom>
        </p:spPr>
        <p:txBody>
          <a:bodyPr/>
          <a:lstStyle>
            <a:lvl1pPr>
              <a:defRPr sz="3600">
                <a:latin typeface="Cambria" panose="02040503050406030204" pitchFamily="18" charset="0"/>
                <a:ea typeface="Cambria" panose="02040503050406030204" pitchFamily="18" charset="0"/>
                <a:cs typeface="+mj-cs"/>
              </a:defRPr>
            </a:lvl1pPr>
          </a:lstStyle>
          <a:p>
            <a:r>
              <a:rPr lang="en-IN" kern="0" dirty="0">
                <a:solidFill>
                  <a:sysClr val="windowText" lastClr="000000"/>
                </a:solidFill>
              </a:rPr>
              <a:t>Agent memory </a:t>
            </a:r>
          </a:p>
          <a:p>
            <a:r>
              <a:rPr lang="en-IN" sz="2400" kern="0" dirty="0">
                <a:solidFill>
                  <a:sysClr val="windowText" lastClr="000000"/>
                </a:solidFill>
              </a:rPr>
              <a:t>C</a:t>
            </a:r>
            <a:r>
              <a:rPr lang="en-IN" sz="2400" dirty="0"/>
              <a:t>ognitive architecture transforming reactive systems into intelligent agents</a:t>
            </a:r>
          </a:p>
          <a:p>
            <a:endParaRPr lang="en-IN" kern="0" dirty="0">
              <a:solidFill>
                <a:sysClr val="windowText" lastClr="000000"/>
              </a:solidFill>
            </a:endParaRPr>
          </a:p>
        </p:txBody>
      </p:sp>
    </p:spTree>
    <p:extLst>
      <p:ext uri="{BB962C8B-B14F-4D97-AF65-F5344CB8AC3E}">
        <p14:creationId xmlns:p14="http://schemas.microsoft.com/office/powerpoint/2010/main" val="3601352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496471-50B9-4008-521F-83A3C61A6D33}"/>
              </a:ext>
            </a:extLst>
          </p:cNvPr>
          <p:cNvSpPr>
            <a:spLocks noGrp="1"/>
          </p:cNvSpPr>
          <p:nvPr>
            <p:ph idx="10"/>
          </p:nvPr>
        </p:nvSpPr>
        <p:spPr>
          <a:xfrm>
            <a:off x="304799" y="1545224"/>
            <a:ext cx="11627005" cy="4525963"/>
          </a:xfrm>
        </p:spPr>
        <p:txBody>
          <a:bodyPr>
            <a:normAutofit/>
          </a:bodyPr>
          <a:lstStyle/>
          <a:p>
            <a:pPr marL="342900" indent="-342900">
              <a:buFont typeface="Arial" panose="020B0604020202020204" pitchFamily="34" charset="0"/>
              <a:buChar char="•"/>
            </a:pPr>
            <a:r>
              <a:rPr lang="en-IN" sz="2000" dirty="0"/>
              <a:t>Working memory </a:t>
            </a:r>
          </a:p>
          <a:p>
            <a:pPr marL="800100" lvl="1" indent="-342900">
              <a:buFont typeface="Arial" panose="020B0604020202020204" pitchFamily="34" charset="0"/>
              <a:buChar char="•"/>
            </a:pPr>
            <a:r>
              <a:rPr lang="en-IN" sz="2000" dirty="0"/>
              <a:t>Agent's "scratchpad" for active information manipulation during a task</a:t>
            </a:r>
          </a:p>
          <a:p>
            <a:pPr marL="800100" lvl="1" indent="-342900">
              <a:buFont typeface="Arial" panose="020B0604020202020204" pitchFamily="34" charset="0"/>
              <a:buChar char="•"/>
            </a:pPr>
            <a:r>
              <a:rPr lang="en-IN" sz="2000" dirty="0"/>
              <a:t>It's a partitioned area in the LLM's context window or a temporary file that exists only for the duration of a session</a:t>
            </a:r>
          </a:p>
          <a:p>
            <a:pPr marL="342900" indent="-342900">
              <a:buFont typeface="Arial" panose="020B0604020202020204" pitchFamily="34" charset="0"/>
              <a:buChar char="•"/>
            </a:pPr>
            <a:r>
              <a:rPr lang="en-IN" sz="2100" dirty="0"/>
              <a:t>Semantic cache </a:t>
            </a:r>
          </a:p>
          <a:p>
            <a:pPr marL="800100" lvl="1" indent="-342900">
              <a:buFont typeface="Arial" panose="020B0604020202020204" pitchFamily="34" charset="0"/>
              <a:buChar char="•"/>
            </a:pPr>
            <a:r>
              <a:rPr lang="en-IN" sz="2100" dirty="0"/>
              <a:t>Stores recent prompts and their corresponding LLM responses. </a:t>
            </a:r>
          </a:p>
          <a:p>
            <a:pPr marL="800100" lvl="1" indent="-342900">
              <a:buFont typeface="Arial" panose="020B0604020202020204" pitchFamily="34" charset="0"/>
              <a:buChar char="•"/>
            </a:pPr>
            <a:r>
              <a:rPr lang="en-IN" sz="2100" dirty="0"/>
              <a:t>When a similar query arrives, the system retrieves the cached response</a:t>
            </a:r>
          </a:p>
          <a:p>
            <a:pPr marL="800100" lvl="1" indent="-342900">
              <a:buFont typeface="Arial" panose="020B0604020202020204" pitchFamily="34" charset="0"/>
              <a:buChar char="•"/>
            </a:pPr>
            <a:r>
              <a:rPr lang="en-IN" sz="2100" dirty="0"/>
              <a:t>It uses vector similarity to match the semantic meaning of queries, </a:t>
            </a:r>
          </a:p>
          <a:p>
            <a:pPr marL="800100" lvl="1" indent="-342900">
              <a:buFont typeface="Arial" panose="020B0604020202020204" pitchFamily="34" charset="0"/>
              <a:buChar char="•"/>
            </a:pPr>
            <a:r>
              <a:rPr lang="en-IN" sz="2100" dirty="0" err="1"/>
              <a:t>E.g</a:t>
            </a:r>
            <a:r>
              <a:rPr lang="en-IN" sz="2100" dirty="0"/>
              <a:t> Customer support bot handling password resets would use a semantic cache to instantly answer the same question phrased in dozens of different ways—"I forgot my password," "Can't remember my login," or "Need to reset my account access"—all triggering the same cached response. </a:t>
            </a:r>
          </a:p>
          <a:p>
            <a:pPr marL="342900" indent="-342900">
              <a:buFont typeface="Arial" panose="020B0604020202020204" pitchFamily="34" charset="0"/>
              <a:buChar char="•"/>
            </a:pPr>
            <a:endParaRPr lang="en-IN" sz="2100" dirty="0"/>
          </a:p>
          <a:p>
            <a:pPr marL="342900" indent="-342900">
              <a:buFont typeface="Arial" panose="020B0604020202020204" pitchFamily="34" charset="0"/>
              <a:buChar char="•"/>
            </a:pPr>
            <a:endParaRPr lang="en-IN" sz="2000" dirty="0"/>
          </a:p>
        </p:txBody>
      </p:sp>
      <p:sp>
        <p:nvSpPr>
          <p:cNvPr id="3" name="Title 2">
            <a:extLst>
              <a:ext uri="{FF2B5EF4-FFF2-40B4-BE49-F238E27FC236}">
                <a16:creationId xmlns:a16="http://schemas.microsoft.com/office/drawing/2014/main" id="{86B7E097-E217-89BB-1C82-03B1BEDF44A0}"/>
              </a:ext>
            </a:extLst>
          </p:cNvPr>
          <p:cNvSpPr>
            <a:spLocks noGrp="1"/>
          </p:cNvSpPr>
          <p:nvPr>
            <p:ph type="title"/>
          </p:nvPr>
        </p:nvSpPr>
        <p:spPr/>
        <p:txBody>
          <a:bodyPr/>
          <a:lstStyle/>
          <a:p>
            <a:r>
              <a:rPr lang="en-IN" dirty="0"/>
              <a:t>Agent memory – Short term</a:t>
            </a:r>
          </a:p>
        </p:txBody>
      </p:sp>
    </p:spTree>
    <p:extLst>
      <p:ext uri="{BB962C8B-B14F-4D97-AF65-F5344CB8AC3E}">
        <p14:creationId xmlns:p14="http://schemas.microsoft.com/office/powerpoint/2010/main" val="655328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808FE4-14F6-D36F-AAB1-8FB1CFA6962A}"/>
              </a:ext>
            </a:extLst>
          </p:cNvPr>
          <p:cNvSpPr>
            <a:spLocks noGrp="1"/>
          </p:cNvSpPr>
          <p:nvPr>
            <p:ph idx="10"/>
          </p:nvPr>
        </p:nvSpPr>
        <p:spPr>
          <a:xfrm>
            <a:off x="304800" y="1393902"/>
            <a:ext cx="11805424" cy="5084957"/>
          </a:xfrm>
        </p:spPr>
        <p:txBody>
          <a:bodyPr>
            <a:noAutofit/>
          </a:bodyPr>
          <a:lstStyle/>
          <a:p>
            <a:pPr marL="342900" indent="-342900">
              <a:buFont typeface="Arial" panose="020B0604020202020204" pitchFamily="34" charset="0"/>
              <a:buChar char="•"/>
            </a:pPr>
            <a:r>
              <a:rPr lang="en-IN" sz="2000" dirty="0"/>
              <a:t>Procedural Memory</a:t>
            </a:r>
          </a:p>
          <a:p>
            <a:pPr marL="800100" lvl="1" indent="-342900">
              <a:buFont typeface="Arial" panose="020B0604020202020204" pitchFamily="34" charset="0"/>
              <a:buChar char="•"/>
            </a:pPr>
            <a:r>
              <a:rPr lang="en-IN" sz="2000" dirty="0"/>
              <a:t>Agent's repository of learned skills, routines, decision trees, workflows, and multi-step processes. It stores the sequences of actions required to complete complex, multi-step tasks without explicit instructions.</a:t>
            </a:r>
          </a:p>
          <a:p>
            <a:pPr marL="800100" lvl="1" indent="-342900">
              <a:buFont typeface="Arial" panose="020B0604020202020204" pitchFamily="34" charset="0"/>
              <a:buChar char="•"/>
            </a:pPr>
            <a:r>
              <a:rPr lang="en-IN" sz="2000" b="1" dirty="0" err="1"/>
              <a:t>E.g</a:t>
            </a:r>
            <a:r>
              <a:rPr lang="en-IN" sz="2000" b="1" dirty="0"/>
              <a:t>  Software deployment agent uses procedural memory to follow release protocols automatically.</a:t>
            </a:r>
          </a:p>
          <a:p>
            <a:pPr marL="342900" indent="-342900">
              <a:buFont typeface="Arial" panose="020B0604020202020204" pitchFamily="34" charset="0"/>
              <a:buChar char="•"/>
            </a:pPr>
            <a:r>
              <a:rPr lang="en-IN" sz="2000" dirty="0"/>
              <a:t>Episodic Memory (autobiographical )</a:t>
            </a:r>
          </a:p>
          <a:p>
            <a:pPr marL="800100" lvl="1" indent="-342900">
              <a:buFont typeface="Arial" panose="020B0604020202020204" pitchFamily="34" charset="0"/>
              <a:buChar char="•"/>
            </a:pPr>
            <a:r>
              <a:rPr lang="en-IN" sz="2000" dirty="0"/>
              <a:t>Agent's record of specific events and interactions</a:t>
            </a:r>
          </a:p>
          <a:p>
            <a:pPr marL="800100" lvl="1" indent="-342900">
              <a:buFont typeface="Arial" panose="020B0604020202020204" pitchFamily="34" charset="0"/>
              <a:buChar char="•"/>
            </a:pPr>
            <a:r>
              <a:rPr lang="en-IN" sz="2000" dirty="0"/>
              <a:t>Common types of episodic memories include conversational and summary types, also referred to as observations.</a:t>
            </a:r>
          </a:p>
          <a:p>
            <a:pPr marL="342900" indent="-342900">
              <a:buFont typeface="Arial" panose="020B0604020202020204" pitchFamily="34" charset="0"/>
              <a:buChar char="•"/>
            </a:pPr>
            <a:r>
              <a:rPr lang="en-IN" sz="2000" dirty="0"/>
              <a:t>Semantic memory </a:t>
            </a:r>
          </a:p>
          <a:p>
            <a:pPr marL="800100" lvl="1" indent="-342900">
              <a:buFont typeface="Arial" panose="020B0604020202020204" pitchFamily="34" charset="0"/>
              <a:buChar char="•"/>
            </a:pPr>
            <a:r>
              <a:rPr lang="en-IN" sz="2000" dirty="0"/>
              <a:t>Structured "world knowledge" that allows an agent to reason consistently. </a:t>
            </a:r>
          </a:p>
          <a:p>
            <a:pPr marL="800100" lvl="1" indent="-342900">
              <a:buFont typeface="Arial" panose="020B0604020202020204" pitchFamily="34" charset="0"/>
              <a:buChar char="•"/>
            </a:pPr>
            <a:r>
              <a:rPr lang="en-IN" sz="2000" dirty="0"/>
              <a:t>The most common implementation we see is for RAG systems, where vector embeddings of factual documents are stored and retrieved in a structured format.</a:t>
            </a:r>
          </a:p>
          <a:p>
            <a:pPr marL="342900" indent="-342900">
              <a:buFont typeface="Arial" panose="020B0604020202020204" pitchFamily="34" charset="0"/>
              <a:buChar char="•"/>
            </a:pPr>
            <a:endParaRPr lang="en-IN" sz="2000" dirty="0"/>
          </a:p>
          <a:p>
            <a:r>
              <a:rPr lang="en-IN" sz="2000" dirty="0"/>
              <a:t> </a:t>
            </a:r>
          </a:p>
        </p:txBody>
      </p:sp>
      <p:sp>
        <p:nvSpPr>
          <p:cNvPr id="3" name="Title 2">
            <a:extLst>
              <a:ext uri="{FF2B5EF4-FFF2-40B4-BE49-F238E27FC236}">
                <a16:creationId xmlns:a16="http://schemas.microsoft.com/office/drawing/2014/main" id="{195F40D3-32CF-9228-B09C-B17FE11642FC}"/>
              </a:ext>
            </a:extLst>
          </p:cNvPr>
          <p:cNvSpPr>
            <a:spLocks noGrp="1"/>
          </p:cNvSpPr>
          <p:nvPr>
            <p:ph type="title"/>
          </p:nvPr>
        </p:nvSpPr>
        <p:spPr/>
        <p:txBody>
          <a:bodyPr/>
          <a:lstStyle/>
          <a:p>
            <a:r>
              <a:rPr lang="en-IN" dirty="0"/>
              <a:t>Agent memory – Long Term</a:t>
            </a:r>
          </a:p>
        </p:txBody>
      </p:sp>
    </p:spTree>
    <p:extLst>
      <p:ext uri="{BB962C8B-B14F-4D97-AF65-F5344CB8AC3E}">
        <p14:creationId xmlns:p14="http://schemas.microsoft.com/office/powerpoint/2010/main" val="704707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C940BA-2F5C-4085-70A0-592B6DE74765}"/>
              </a:ext>
            </a:extLst>
          </p:cNvPr>
          <p:cNvSpPr>
            <a:spLocks noGrp="1"/>
          </p:cNvSpPr>
          <p:nvPr>
            <p:ph idx="10"/>
          </p:nvPr>
        </p:nvSpPr>
        <p:spPr>
          <a:xfrm>
            <a:off x="304800" y="1433712"/>
            <a:ext cx="11887199" cy="5067449"/>
          </a:xfrm>
        </p:spPr>
        <p:txBody>
          <a:bodyPr>
            <a:normAutofit/>
          </a:bodyPr>
          <a:lstStyle/>
          <a:p>
            <a:pPr marL="342900" indent="-342900">
              <a:buFont typeface="Arial" panose="020B0604020202020204" pitchFamily="34" charset="0"/>
              <a:buChar char="•"/>
            </a:pPr>
            <a:r>
              <a:rPr lang="en-IN" dirty="0"/>
              <a:t>Shared memory</a:t>
            </a:r>
          </a:p>
          <a:p>
            <a:pPr marL="800100" lvl="1" indent="-342900">
              <a:buFont typeface="Arial" panose="020B0604020202020204" pitchFamily="34" charset="0"/>
              <a:buChar char="•"/>
            </a:pPr>
            <a:r>
              <a:rPr lang="en-IN" dirty="0"/>
              <a:t>Commonly found in multi-agent systems, enables coordination by providing a collaborative space accessible to multiple agents simultaneously. </a:t>
            </a:r>
          </a:p>
          <a:p>
            <a:pPr marL="800100" lvl="1" indent="-342900">
              <a:buFont typeface="Arial" panose="020B0604020202020204" pitchFamily="34" charset="0"/>
              <a:buChar char="•"/>
            </a:pPr>
            <a:r>
              <a:rPr lang="en-IN" dirty="0"/>
              <a:t>ACID compliance (Atomicity, Consistency, Isolation, Durability) at the database level becomes critical to prevent race conditions and ensure data integrity as multiple agents simultaneously read from and write to the shared memory space</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p:txBody>
      </p:sp>
      <p:sp>
        <p:nvSpPr>
          <p:cNvPr id="3" name="Title 2">
            <a:extLst>
              <a:ext uri="{FF2B5EF4-FFF2-40B4-BE49-F238E27FC236}">
                <a16:creationId xmlns:a16="http://schemas.microsoft.com/office/drawing/2014/main" id="{44D0625E-2934-1091-90F9-2382D8E63210}"/>
              </a:ext>
            </a:extLst>
          </p:cNvPr>
          <p:cNvSpPr>
            <a:spLocks noGrp="1"/>
          </p:cNvSpPr>
          <p:nvPr>
            <p:ph type="title"/>
          </p:nvPr>
        </p:nvSpPr>
        <p:spPr/>
        <p:txBody>
          <a:bodyPr/>
          <a:lstStyle/>
          <a:p>
            <a:r>
              <a:rPr lang="en-IN" dirty="0"/>
              <a:t>Agent memory – Coordination</a:t>
            </a:r>
          </a:p>
        </p:txBody>
      </p:sp>
    </p:spTree>
    <p:extLst>
      <p:ext uri="{BB962C8B-B14F-4D97-AF65-F5344CB8AC3E}">
        <p14:creationId xmlns:p14="http://schemas.microsoft.com/office/powerpoint/2010/main" val="2564507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0B1BD-023B-21D7-62D3-794F83D9FF9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D7F347F-3768-419F-A792-69EE15FF014D}"/>
              </a:ext>
            </a:extLst>
          </p:cNvPr>
          <p:cNvPicPr>
            <a:picLocks noChangeAspect="1"/>
          </p:cNvPicPr>
          <p:nvPr/>
        </p:nvPicPr>
        <p:blipFill>
          <a:blip r:embed="rId2"/>
          <a:stretch>
            <a:fillRect/>
          </a:stretch>
        </p:blipFill>
        <p:spPr>
          <a:xfrm>
            <a:off x="892098" y="0"/>
            <a:ext cx="8452623" cy="6449793"/>
          </a:xfrm>
          <a:prstGeom prst="rect">
            <a:avLst/>
          </a:prstGeom>
        </p:spPr>
      </p:pic>
    </p:spTree>
    <p:extLst>
      <p:ext uri="{BB962C8B-B14F-4D97-AF65-F5344CB8AC3E}">
        <p14:creationId xmlns:p14="http://schemas.microsoft.com/office/powerpoint/2010/main" val="552464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marL="0" indent="0" algn="l">
              <a:buNone/>
            </a:pPr>
            <a:r>
              <a:rPr lang="en-US" sz="2800" b="1" dirty="0">
                <a:solidFill>
                  <a:srgbClr val="0D3B3B"/>
                </a:solidFill>
                <a:latin typeface="Cambria" pitchFamily="34" charset="0"/>
                <a:ea typeface="Cambria" pitchFamily="34" charset="-122"/>
                <a:cs typeface="Cambria" pitchFamily="34" charset="-120"/>
              </a:rPr>
              <a:t>Two Mental Models of an Agent</a:t>
            </a:r>
            <a:endParaRPr lang="en-US" sz="2800" dirty="0"/>
          </a:p>
        </p:txBody>
      </p:sp>
      <p:sp>
        <p:nvSpPr>
          <p:cNvPr id="3" name="Shape 1"/>
          <p:cNvSpPr/>
          <p:nvPr/>
        </p:nvSpPr>
        <p:spPr>
          <a:xfrm>
            <a:off x="548640" y="1280160"/>
            <a:ext cx="5394960" cy="4480560"/>
          </a:xfrm>
          <a:prstGeom prst="rect">
            <a:avLst/>
          </a:prstGeom>
          <a:solidFill>
            <a:srgbClr val="F5F1E8"/>
          </a:solidFill>
          <a:ln w="6350">
            <a:solidFill>
              <a:srgbClr val="D9D0BE"/>
            </a:solidFill>
            <a:prstDash val="solid"/>
          </a:ln>
        </p:spPr>
        <p:txBody>
          <a:bodyPr/>
          <a:lstStyle/>
          <a:p>
            <a:endParaRPr lang="en-IN"/>
          </a:p>
        </p:txBody>
      </p:sp>
      <p:sp>
        <p:nvSpPr>
          <p:cNvPr id="4" name="Text 2"/>
          <p:cNvSpPr/>
          <p:nvPr/>
        </p:nvSpPr>
        <p:spPr>
          <a:xfrm>
            <a:off x="777240" y="1463040"/>
            <a:ext cx="4937760" cy="4114800"/>
          </a:xfrm>
          <a:prstGeom prst="rect">
            <a:avLst/>
          </a:prstGeom>
          <a:noFill/>
          <a:ln/>
        </p:spPr>
        <p:txBody>
          <a:bodyPr wrap="square" lIns="0" tIns="0" rIns="0" bIns="0" rtlCol="0" anchor="t"/>
          <a:lstStyle/>
          <a:p>
            <a:pPr marL="0" indent="0">
              <a:buNone/>
            </a:pPr>
            <a:r>
              <a:rPr lang="en-US" sz="2200" b="1" dirty="0">
                <a:solidFill>
                  <a:srgbClr val="0D3B3B"/>
                </a:solidFill>
                <a:latin typeface="Cambria" pitchFamily="34" charset="0"/>
                <a:ea typeface="Cambria" pitchFamily="34" charset="-122"/>
                <a:cs typeface="Cambria" pitchFamily="34" charset="-120"/>
              </a:rPr>
              <a:t>Classic view  (Weng 2023)
</a:t>
            </a:r>
            <a:r>
              <a:rPr lang="en-US" sz="2000" b="1" i="1" dirty="0">
                <a:solidFill>
                  <a:srgbClr val="B8763A"/>
                </a:solidFill>
                <a:latin typeface="Cambria" pitchFamily="34" charset="0"/>
                <a:ea typeface="Cambria" pitchFamily="34" charset="-122"/>
                <a:cs typeface="Cambria" pitchFamily="34" charset="-120"/>
              </a:rPr>
              <a:t>Agent = LLM + Planning + Memory + Tools
</a:t>
            </a:r>
            <a:r>
              <a:rPr lang="en-US" sz="1800" dirty="0">
                <a:solidFill>
                  <a:srgbClr val="1F2937"/>
                </a:solidFill>
                <a:latin typeface="Cambria" pitchFamily="34" charset="0"/>
                <a:ea typeface="Cambria" pitchFamily="34" charset="-122"/>
                <a:cs typeface="Cambria" pitchFamily="34" charset="-120"/>
              </a:rPr>
              <a:t>LLM as the brain; wrapped with modules for planning (CoT, ReAct), memory (short/long-term), and tool APIs.
</a:t>
            </a:r>
            <a:r>
              <a:rPr lang="en-US" sz="1600" i="1" dirty="0">
                <a:solidFill>
                  <a:srgbClr val="6B7280"/>
                </a:solidFill>
                <a:latin typeface="Cambria" pitchFamily="34" charset="0"/>
                <a:ea typeface="Cambria" pitchFamily="34" charset="-122"/>
                <a:cs typeface="Cambria" pitchFamily="34" charset="-120"/>
              </a:rPr>
              <a:t>Framing that shaped AutoGPT, BabyAGI, HuggingGPT, and the first generation of agent frameworks.</a:t>
            </a:r>
            <a:endParaRPr lang="en-US" sz="2200" dirty="0"/>
          </a:p>
        </p:txBody>
      </p:sp>
      <p:sp>
        <p:nvSpPr>
          <p:cNvPr id="5" name="Shape 3"/>
          <p:cNvSpPr/>
          <p:nvPr/>
        </p:nvSpPr>
        <p:spPr>
          <a:xfrm>
            <a:off x="6217920" y="1280160"/>
            <a:ext cx="5394960" cy="4480560"/>
          </a:xfrm>
          <a:prstGeom prst="rect">
            <a:avLst/>
          </a:prstGeom>
          <a:solidFill>
            <a:srgbClr val="0D3B3B"/>
          </a:solidFill>
          <a:ln w="12700">
            <a:solidFill>
              <a:srgbClr val="0D3B3B"/>
            </a:solidFill>
            <a:prstDash val="solid"/>
          </a:ln>
        </p:spPr>
        <p:txBody>
          <a:bodyPr/>
          <a:lstStyle/>
          <a:p>
            <a:endParaRPr lang="en-IN"/>
          </a:p>
        </p:txBody>
      </p:sp>
      <p:sp>
        <p:nvSpPr>
          <p:cNvPr id="6" name="Text 4"/>
          <p:cNvSpPr/>
          <p:nvPr/>
        </p:nvSpPr>
        <p:spPr>
          <a:xfrm>
            <a:off x="6446520" y="1463040"/>
            <a:ext cx="4937760" cy="4114800"/>
          </a:xfrm>
          <a:prstGeom prst="rect">
            <a:avLst/>
          </a:prstGeom>
          <a:noFill/>
          <a:ln/>
        </p:spPr>
        <p:txBody>
          <a:bodyPr wrap="square" lIns="0" tIns="0" rIns="0" bIns="0" rtlCol="0" anchor="t"/>
          <a:lstStyle/>
          <a:p>
            <a:r>
              <a:rPr lang="en-IN" sz="2200" b="1" dirty="0">
                <a:solidFill>
                  <a:srgbClr val="FFFFFF"/>
                </a:solidFill>
                <a:latin typeface="Cambria" pitchFamily="34" charset="0"/>
                <a:ea typeface="Cambria" pitchFamily="34" charset="-122"/>
              </a:rPr>
              <a:t>Harness view — the term is older; the framing was formalised in 2026 </a:t>
            </a:r>
            <a:r>
              <a:rPr lang="en-US" sz="2200" b="1" dirty="0">
                <a:solidFill>
                  <a:srgbClr val="FFFFFF"/>
                </a:solidFill>
                <a:latin typeface="Cambria" pitchFamily="34" charset="0"/>
                <a:ea typeface="Cambria" pitchFamily="34" charset="-122"/>
                <a:cs typeface="Cambria" pitchFamily="34" charset="-120"/>
              </a:rPr>
              <a:t>
</a:t>
            </a:r>
            <a:r>
              <a:rPr lang="en-US" sz="2000" b="1" i="1" dirty="0">
                <a:solidFill>
                  <a:srgbClr val="F5C784"/>
                </a:solidFill>
                <a:latin typeface="Cambria" pitchFamily="34" charset="0"/>
                <a:ea typeface="Cambria" pitchFamily="34" charset="-122"/>
                <a:cs typeface="Cambria" pitchFamily="34" charset="-120"/>
              </a:rPr>
              <a:t>Agent = Model + Harness
</a:t>
            </a:r>
            <a:r>
              <a:rPr lang="en-US" sz="1800" dirty="0">
                <a:solidFill>
                  <a:srgbClr val="F5F1E8"/>
                </a:solidFill>
                <a:latin typeface="Cambria" pitchFamily="34" charset="0"/>
                <a:ea typeface="Cambria" pitchFamily="34" charset="-122"/>
                <a:cs typeface="Cambria" pitchFamily="34" charset="-120"/>
              </a:rPr>
              <a:t>If you are not the model, you are the harness — system prompts, tools, sandbox, filesystem, orchestration, hooks.
</a:t>
            </a:r>
            <a:r>
              <a:rPr lang="en-US" sz="1600" i="1" dirty="0">
                <a:solidFill>
                  <a:srgbClr val="D9D0BE"/>
                </a:solidFill>
                <a:latin typeface="Cambria" pitchFamily="34" charset="0"/>
                <a:ea typeface="Cambria" pitchFamily="34" charset="-122"/>
                <a:cs typeface="Cambria" pitchFamily="34" charset="-120"/>
              </a:rPr>
              <a:t>Views planning, memory, and tools as harness features, not separate boxes. Reflects Claude Code / Codex era.</a:t>
            </a:r>
            <a:endParaRPr lang="en-US" sz="2200" dirty="0"/>
          </a:p>
        </p:txBody>
      </p:sp>
      <p:sp>
        <p:nvSpPr>
          <p:cNvPr id="7" name="Text 5"/>
          <p:cNvSpPr/>
          <p:nvPr/>
        </p:nvSpPr>
        <p:spPr>
          <a:xfrm>
            <a:off x="548640" y="5806440"/>
            <a:ext cx="11064240" cy="365760"/>
          </a:xfrm>
          <a:prstGeom prst="rect">
            <a:avLst/>
          </a:prstGeom>
          <a:noFill/>
          <a:ln/>
        </p:spPr>
        <p:txBody>
          <a:bodyPr wrap="square" lIns="0" tIns="0" rIns="0" bIns="0" rtlCol="0" anchor="ctr"/>
          <a:lstStyle/>
          <a:p>
            <a:pPr marL="0" indent="0" algn="ctr">
              <a:buNone/>
            </a:pPr>
            <a:r>
              <a:rPr lang="en-US" sz="1600" i="1" dirty="0">
                <a:solidFill>
                  <a:srgbClr val="B8763A"/>
                </a:solidFill>
                <a:latin typeface="Cambria" pitchFamily="34" charset="0"/>
                <a:ea typeface="Cambria" pitchFamily="34" charset="-122"/>
                <a:cs typeface="Cambria" pitchFamily="34" charset="-120"/>
              </a:rPr>
              <a:t>Both compatible — the harness is how you deliver planning, memory, and tool mechanics.</a:t>
            </a:r>
            <a:endParaRPr lang="en-US" sz="1600" dirty="0"/>
          </a:p>
        </p:txBody>
      </p:sp>
      <p:sp>
        <p:nvSpPr>
          <p:cNvPr id="9" name="Text 7"/>
          <p:cNvSpPr/>
          <p:nvPr/>
        </p:nvSpPr>
        <p:spPr>
          <a:xfrm>
            <a:off x="457200" y="6327648"/>
            <a:ext cx="8686800" cy="502920"/>
          </a:xfrm>
          <a:prstGeom prst="rect">
            <a:avLst/>
          </a:prstGeom>
          <a:noFill/>
          <a:ln/>
        </p:spPr>
        <p:txBody>
          <a:bodyPr wrap="square" lIns="0" tIns="0" rIns="0" bIns="0" rtlCol="0" anchor="ctr"/>
          <a:lstStyle/>
          <a:p>
            <a:pPr marL="0" indent="0" algn="l">
              <a:buNone/>
            </a:pPr>
            <a:r>
              <a:rPr lang="en-US" sz="1200" dirty="0">
                <a:solidFill>
                  <a:srgbClr val="FFFFFF"/>
                </a:solidFill>
                <a:latin typeface="Cambria" pitchFamily="34" charset="0"/>
                <a:ea typeface="Cambria" pitchFamily="34" charset="-122"/>
                <a:cs typeface="Cambria" pitchFamily="34" charset="-120"/>
              </a:rPr>
              <a:t>Module 1  ·  The Agentic Shift</a:t>
            </a:r>
            <a:endParaRPr lang="en-US" sz="1200" dirty="0"/>
          </a:p>
        </p:txBody>
      </p:sp>
    </p:spTree>
    <p:extLst>
      <p:ext uri="{BB962C8B-B14F-4D97-AF65-F5344CB8AC3E}">
        <p14:creationId xmlns:p14="http://schemas.microsoft.com/office/powerpoint/2010/main" val="1345375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gent diagram showing Harness, Scaffold, and Model as components inside Agent, with Sub-agent below">
            <a:extLst>
              <a:ext uri="{FF2B5EF4-FFF2-40B4-BE49-F238E27FC236}">
                <a16:creationId xmlns:a16="http://schemas.microsoft.com/office/drawing/2014/main" id="{84FC3A5D-7613-C902-BAB1-2E363ED9B43C}"/>
              </a:ext>
            </a:extLst>
          </p:cNvPr>
          <p:cNvPicPr>
            <a:picLocks noChangeAspect="1"/>
          </p:cNvPicPr>
          <p:nvPr/>
        </p:nvPicPr>
        <p:blipFill>
          <a:blip r:embed="rId3"/>
          <a:stretch>
            <a:fillRect/>
          </a:stretch>
        </p:blipFill>
        <p:spPr>
          <a:xfrm>
            <a:off x="100362" y="1430141"/>
            <a:ext cx="5995638" cy="2743370"/>
          </a:xfrm>
          <a:prstGeom prst="rect">
            <a:avLst/>
          </a:prstGeom>
        </p:spPr>
      </p:pic>
      <p:sp>
        <p:nvSpPr>
          <p:cNvPr id="6" name="TextBox 5">
            <a:extLst>
              <a:ext uri="{FF2B5EF4-FFF2-40B4-BE49-F238E27FC236}">
                <a16:creationId xmlns:a16="http://schemas.microsoft.com/office/drawing/2014/main" id="{A0CF1D3E-C1D3-DFD4-FE64-3533224ECCE2}"/>
              </a:ext>
            </a:extLst>
          </p:cNvPr>
          <p:cNvSpPr txBox="1"/>
          <p:nvPr/>
        </p:nvSpPr>
        <p:spPr>
          <a:xfrm>
            <a:off x="0" y="4207705"/>
            <a:ext cx="11931805" cy="1938992"/>
          </a:xfrm>
          <a:prstGeom prst="rect">
            <a:avLst/>
          </a:prstGeom>
          <a:noFill/>
        </p:spPr>
        <p:txBody>
          <a:bodyPr wrap="square">
            <a:spAutoFit/>
          </a:bodyPr>
          <a:lstStyle>
            <a:defPPr>
              <a:defRPr lang="en-US"/>
            </a:defPPr>
            <a:lvl1pPr marR="0" indent="0">
              <a:buNone/>
              <a:defRPr sz="2000" b="1" i="0">
                <a:effectLst/>
                <a:latin typeface="Charter"/>
              </a:defRPr>
            </a:lvl1pPr>
          </a:lstStyle>
          <a:p>
            <a:pPr marL="342900" indent="-342900">
              <a:buFont typeface="Arial" panose="020B0604020202020204" pitchFamily="34" charset="0"/>
              <a:buChar char="•"/>
            </a:pPr>
            <a:r>
              <a:rPr lang="en-IN" b="0" dirty="0">
                <a:latin typeface="Cambria" panose="02040503050406030204" pitchFamily="18" charset="0"/>
                <a:ea typeface="Cambria" panose="02040503050406030204" pitchFamily="18" charset="0"/>
              </a:rPr>
              <a:t>Harness : Execution layer inside the agent: it calls the model, handles its tool calls, decides when to stop. The harness is what makes the agent run. Scaffolding what the model works from: its instructions, its tools, its format.</a:t>
            </a:r>
          </a:p>
          <a:p>
            <a:pPr marL="342900" indent="-342900">
              <a:buFont typeface="Arial" panose="020B0604020202020204" pitchFamily="34" charset="0"/>
              <a:buChar char="•"/>
            </a:pPr>
            <a:r>
              <a:rPr lang="en-IN" b="0" dirty="0">
                <a:latin typeface="Cambria" panose="02040503050406030204" pitchFamily="18" charset="0"/>
                <a:ea typeface="Cambria" panose="02040503050406030204" pitchFamily="18" charset="0"/>
              </a:rPr>
              <a:t>Harness engineering is the discipline of designing this layer well: deciding when the agent should stop, how errors get handled, and what guardrails keep it on track. It applies at both training and inference.</a:t>
            </a:r>
          </a:p>
          <a:p>
            <a:pPr marL="342900" indent="-342900">
              <a:buFont typeface="Arial" panose="020B0604020202020204" pitchFamily="34" charset="0"/>
              <a:buChar char="•"/>
            </a:pPr>
            <a:endParaRPr lang="en-IN" b="0" dirty="0">
              <a:latin typeface="Cambria" panose="02040503050406030204" pitchFamily="18" charset="0"/>
              <a:ea typeface="Cambria" panose="02040503050406030204" pitchFamily="18" charset="0"/>
            </a:endParaRPr>
          </a:p>
        </p:txBody>
      </p:sp>
      <p:sp>
        <p:nvSpPr>
          <p:cNvPr id="8" name="TextBox 7">
            <a:extLst>
              <a:ext uri="{FF2B5EF4-FFF2-40B4-BE49-F238E27FC236}">
                <a16:creationId xmlns:a16="http://schemas.microsoft.com/office/drawing/2014/main" id="{218AEF6A-0DDD-F210-2998-8C1F667E8EA3}"/>
              </a:ext>
            </a:extLst>
          </p:cNvPr>
          <p:cNvSpPr txBox="1"/>
          <p:nvPr/>
        </p:nvSpPr>
        <p:spPr>
          <a:xfrm>
            <a:off x="6662854" y="1466371"/>
            <a:ext cx="5369312" cy="2246769"/>
          </a:xfrm>
          <a:prstGeom prst="rect">
            <a:avLst/>
          </a:prstGeom>
          <a:noFill/>
        </p:spPr>
        <p:txBody>
          <a:bodyPr wrap="square">
            <a:spAutoFit/>
          </a:bodyPr>
          <a:lstStyle>
            <a:defPPr>
              <a:defRPr lang="en-US"/>
            </a:defPPr>
            <a:lvl1pPr marR="0" indent="0">
              <a:buNone/>
              <a:defRPr sz="2000" b="0" i="0">
                <a:effectLst/>
                <a:latin typeface="Cambria" panose="02040503050406030204" pitchFamily="18" charset="0"/>
                <a:ea typeface="Cambria" panose="02040503050406030204" pitchFamily="18" charset="0"/>
              </a:defRPr>
            </a:lvl1pPr>
          </a:lstStyle>
          <a:p>
            <a:r>
              <a:rPr lang="en-IN" dirty="0"/>
              <a:t>Scaffolding: </a:t>
            </a:r>
            <a:r>
              <a:rPr lang="en-IN" dirty="0" err="1"/>
              <a:t>Behavior</a:t>
            </a:r>
            <a:r>
              <a:rPr lang="en-IN" dirty="0"/>
              <a:t>-defining layer around the model- system prompt, tool descriptions, how the model's responses get parsed, what it remembers across steps (context management). It shapes how the model sees the world and acts in it, whether during training or at inference.</a:t>
            </a:r>
          </a:p>
        </p:txBody>
      </p:sp>
      <p:sp>
        <p:nvSpPr>
          <p:cNvPr id="10" name="TextBox 9">
            <a:extLst>
              <a:ext uri="{FF2B5EF4-FFF2-40B4-BE49-F238E27FC236}">
                <a16:creationId xmlns:a16="http://schemas.microsoft.com/office/drawing/2014/main" id="{79C96A3D-4781-C1AC-6B12-8350D83FD2C6}"/>
              </a:ext>
            </a:extLst>
          </p:cNvPr>
          <p:cNvSpPr txBox="1"/>
          <p:nvPr/>
        </p:nvSpPr>
        <p:spPr>
          <a:xfrm>
            <a:off x="150541" y="6488668"/>
            <a:ext cx="6122018" cy="369332"/>
          </a:xfrm>
          <a:prstGeom prst="rect">
            <a:avLst/>
          </a:prstGeom>
          <a:noFill/>
        </p:spPr>
        <p:txBody>
          <a:bodyPr wrap="square">
            <a:spAutoFit/>
          </a:bodyPr>
          <a:lstStyle/>
          <a:p>
            <a:r>
              <a:rPr lang="en-IN" dirty="0"/>
              <a:t>https://huggingface.co/blog/agent-glossary</a:t>
            </a:r>
          </a:p>
        </p:txBody>
      </p:sp>
      <p:sp>
        <p:nvSpPr>
          <p:cNvPr id="12" name="Text 0">
            <a:extLst>
              <a:ext uri="{FF2B5EF4-FFF2-40B4-BE49-F238E27FC236}">
                <a16:creationId xmlns:a16="http://schemas.microsoft.com/office/drawing/2014/main" id="{E4222F4E-AC54-BA40-F65D-A862A5B16D0A}"/>
              </a:ext>
            </a:extLst>
          </p:cNvPr>
          <p:cNvSpPr/>
          <p:nvPr/>
        </p:nvSpPr>
        <p:spPr>
          <a:xfrm>
            <a:off x="548640" y="320040"/>
            <a:ext cx="11064240" cy="685800"/>
          </a:xfrm>
          <a:prstGeom prst="rect">
            <a:avLst/>
          </a:prstGeom>
          <a:noFill/>
          <a:ln/>
        </p:spPr>
        <p:txBody>
          <a:bodyPr wrap="square" lIns="0" tIns="0" rIns="0" bIns="0" rtlCol="0" anchor="ctr"/>
          <a:lstStyle/>
          <a:p>
            <a:pPr>
              <a:buNone/>
            </a:pPr>
            <a:r>
              <a:rPr lang="en-IN" sz="2800" dirty="0">
                <a:latin typeface="Cambria" panose="02040503050406030204" pitchFamily="18" charset="0"/>
                <a:ea typeface="Cambria" panose="02040503050406030204" pitchFamily="18" charset="0"/>
              </a:rPr>
              <a:t>Harness engineering</a:t>
            </a:r>
          </a:p>
        </p:txBody>
      </p:sp>
    </p:spTree>
    <p:extLst>
      <p:ext uri="{BB962C8B-B14F-4D97-AF65-F5344CB8AC3E}">
        <p14:creationId xmlns:p14="http://schemas.microsoft.com/office/powerpoint/2010/main" val="465314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Every harness feature is a bridge across a specific thing the model can't do on its own">
            <a:extLst>
              <a:ext uri="{FF2B5EF4-FFF2-40B4-BE49-F238E27FC236}">
                <a16:creationId xmlns:a16="http://schemas.microsoft.com/office/drawing/2014/main" id="{EC46AAA5-C88E-7FE3-294C-C33CD7F02A69}"/>
              </a:ext>
            </a:extLst>
          </p:cNvPr>
          <p:cNvPicPr>
            <a:picLocks noChangeAspect="1"/>
          </p:cNvPicPr>
          <p:nvPr/>
        </p:nvPicPr>
        <p:blipFill>
          <a:blip r:embed="rId2"/>
          <a:stretch>
            <a:fillRect/>
          </a:stretch>
        </p:blipFill>
        <p:spPr>
          <a:xfrm>
            <a:off x="0" y="1386596"/>
            <a:ext cx="9141212" cy="5102072"/>
          </a:xfrm>
          <a:prstGeom prst="rect">
            <a:avLst/>
          </a:prstGeom>
        </p:spPr>
      </p:pic>
      <p:sp>
        <p:nvSpPr>
          <p:cNvPr id="6" name="TextBox 5">
            <a:extLst>
              <a:ext uri="{FF2B5EF4-FFF2-40B4-BE49-F238E27FC236}">
                <a16:creationId xmlns:a16="http://schemas.microsoft.com/office/drawing/2014/main" id="{B4E94FD1-C17C-DA2D-9F5F-3EB15BCC0D68}"/>
              </a:ext>
            </a:extLst>
          </p:cNvPr>
          <p:cNvSpPr txBox="1"/>
          <p:nvPr/>
        </p:nvSpPr>
        <p:spPr>
          <a:xfrm>
            <a:off x="89210" y="6488668"/>
            <a:ext cx="6094140" cy="276999"/>
          </a:xfrm>
          <a:prstGeom prst="rect">
            <a:avLst/>
          </a:prstGeom>
          <a:noFill/>
        </p:spPr>
        <p:txBody>
          <a:bodyPr wrap="square">
            <a:spAutoFit/>
          </a:bodyPr>
          <a:lstStyle/>
          <a:p>
            <a:r>
              <a:rPr lang="en-IN" sz="1200" dirty="0"/>
              <a:t>https://www.oreilly.com/radar/agent-harness-engineering/</a:t>
            </a:r>
          </a:p>
        </p:txBody>
      </p:sp>
      <p:sp>
        <p:nvSpPr>
          <p:cNvPr id="3" name="Text 0">
            <a:extLst>
              <a:ext uri="{FF2B5EF4-FFF2-40B4-BE49-F238E27FC236}">
                <a16:creationId xmlns:a16="http://schemas.microsoft.com/office/drawing/2014/main" id="{ACFE5B6E-7A24-D935-FC99-00949E0D7253}"/>
              </a:ext>
            </a:extLst>
          </p:cNvPr>
          <p:cNvSpPr/>
          <p:nvPr/>
        </p:nvSpPr>
        <p:spPr>
          <a:xfrm>
            <a:off x="548640" y="320040"/>
            <a:ext cx="11064240" cy="685800"/>
          </a:xfrm>
          <a:prstGeom prst="rect">
            <a:avLst/>
          </a:prstGeom>
          <a:noFill/>
          <a:ln/>
        </p:spPr>
        <p:txBody>
          <a:bodyPr wrap="square" lIns="0" tIns="0" rIns="0" bIns="0" rtlCol="0" anchor="ctr"/>
          <a:lstStyle/>
          <a:p>
            <a:pPr>
              <a:buNone/>
            </a:pPr>
            <a:r>
              <a:rPr lang="en-IN" sz="3600" dirty="0">
                <a:latin typeface="Cambria" panose="02040503050406030204" pitchFamily="18" charset="0"/>
                <a:ea typeface="Cambria" panose="02040503050406030204" pitchFamily="18" charset="0"/>
              </a:rPr>
              <a:t>Harness engineering</a:t>
            </a:r>
          </a:p>
        </p:txBody>
      </p:sp>
    </p:spTree>
    <p:extLst>
      <p:ext uri="{BB962C8B-B14F-4D97-AF65-F5344CB8AC3E}">
        <p14:creationId xmlns:p14="http://schemas.microsoft.com/office/powerpoint/2010/main" val="7964402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11B11B-0A77-0903-EBB9-74D202F000FA}"/>
              </a:ext>
            </a:extLst>
          </p:cNvPr>
          <p:cNvPicPr>
            <a:picLocks noChangeAspect="1"/>
          </p:cNvPicPr>
          <p:nvPr/>
        </p:nvPicPr>
        <p:blipFill>
          <a:blip r:embed="rId2"/>
          <a:stretch>
            <a:fillRect/>
          </a:stretch>
        </p:blipFill>
        <p:spPr>
          <a:xfrm>
            <a:off x="1565452" y="337567"/>
            <a:ext cx="9061095" cy="6182865"/>
          </a:xfrm>
          <a:prstGeom prst="rect">
            <a:avLst/>
          </a:prstGeom>
        </p:spPr>
      </p:pic>
      <p:sp>
        <p:nvSpPr>
          <p:cNvPr id="6" name="TextBox 5">
            <a:extLst>
              <a:ext uri="{FF2B5EF4-FFF2-40B4-BE49-F238E27FC236}">
                <a16:creationId xmlns:a16="http://schemas.microsoft.com/office/drawing/2014/main" id="{F7679CA8-8C13-B0D5-8477-0C915E072CA1}"/>
              </a:ext>
            </a:extLst>
          </p:cNvPr>
          <p:cNvSpPr txBox="1"/>
          <p:nvPr/>
        </p:nvSpPr>
        <p:spPr>
          <a:xfrm>
            <a:off x="0" y="6574833"/>
            <a:ext cx="6096000" cy="276999"/>
          </a:xfrm>
          <a:prstGeom prst="rect">
            <a:avLst/>
          </a:prstGeom>
          <a:noFill/>
        </p:spPr>
        <p:txBody>
          <a:bodyPr wrap="square">
            <a:spAutoFit/>
          </a:bodyPr>
          <a:lstStyle/>
          <a:p>
            <a:r>
              <a:rPr lang="en-IN" sz="1200" dirty="0"/>
              <a:t>https://www.langchain.com/blog/the-anatomy-of-an-agent-harness</a:t>
            </a:r>
          </a:p>
        </p:txBody>
      </p:sp>
    </p:spTree>
    <p:extLst>
      <p:ext uri="{BB962C8B-B14F-4D97-AF65-F5344CB8AC3E}">
        <p14:creationId xmlns:p14="http://schemas.microsoft.com/office/powerpoint/2010/main" val="2934697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7D87A71-E760-5C5A-CD3D-9972FC3B0CDF}"/>
              </a:ext>
            </a:extLst>
          </p:cNvPr>
          <p:cNvGraphicFramePr>
            <a:graphicFrameLocks noGrp="1"/>
          </p:cNvGraphicFramePr>
          <p:nvPr/>
        </p:nvGraphicFramePr>
        <p:xfrm>
          <a:off x="78057" y="1537241"/>
          <a:ext cx="12035885" cy="4702323"/>
        </p:xfrm>
        <a:graphic>
          <a:graphicData uri="http://schemas.openxmlformats.org/drawingml/2006/table">
            <a:tbl>
              <a:tblPr>
                <a:tableStyleId>{3C2FFA5D-87B4-456A-9821-1D502468CF0F}</a:tableStyleId>
              </a:tblPr>
              <a:tblGrid>
                <a:gridCol w="1672683">
                  <a:extLst>
                    <a:ext uri="{9D8B030D-6E8A-4147-A177-3AD203B41FA5}">
                      <a16:colId xmlns:a16="http://schemas.microsoft.com/office/drawing/2014/main" val="3134626085"/>
                    </a:ext>
                  </a:extLst>
                </a:gridCol>
                <a:gridCol w="2129883">
                  <a:extLst>
                    <a:ext uri="{9D8B030D-6E8A-4147-A177-3AD203B41FA5}">
                      <a16:colId xmlns:a16="http://schemas.microsoft.com/office/drawing/2014/main" val="1879624781"/>
                    </a:ext>
                  </a:extLst>
                </a:gridCol>
                <a:gridCol w="1984917">
                  <a:extLst>
                    <a:ext uri="{9D8B030D-6E8A-4147-A177-3AD203B41FA5}">
                      <a16:colId xmlns:a16="http://schemas.microsoft.com/office/drawing/2014/main" val="2450848895"/>
                    </a:ext>
                  </a:extLst>
                </a:gridCol>
                <a:gridCol w="3021980">
                  <a:extLst>
                    <a:ext uri="{9D8B030D-6E8A-4147-A177-3AD203B41FA5}">
                      <a16:colId xmlns:a16="http://schemas.microsoft.com/office/drawing/2014/main" val="456310823"/>
                    </a:ext>
                  </a:extLst>
                </a:gridCol>
                <a:gridCol w="3226422">
                  <a:extLst>
                    <a:ext uri="{9D8B030D-6E8A-4147-A177-3AD203B41FA5}">
                      <a16:colId xmlns:a16="http://schemas.microsoft.com/office/drawing/2014/main" val="2849399058"/>
                    </a:ext>
                  </a:extLst>
                </a:gridCol>
              </a:tblGrid>
              <a:tr h="574705">
                <a:tc>
                  <a:txBody>
                    <a:bodyPr/>
                    <a:lstStyle/>
                    <a:p>
                      <a:pPr>
                        <a:buNone/>
                      </a:pPr>
                      <a:r>
                        <a:rPr lang="en-IN" sz="2000">
                          <a:latin typeface="Cambria" panose="02040503050406030204" pitchFamily="18" charset="0"/>
                          <a:ea typeface="Cambria" panose="02040503050406030204" pitchFamily="18" charset="0"/>
                        </a:rPr>
                        <a:t>Layer</a:t>
                      </a: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Core question</a:t>
                      </a: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Analogy</a:t>
                      </a: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Common failure modes</a:t>
                      </a: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Example techniques</a:t>
                      </a:r>
                    </a:p>
                  </a:txBody>
                  <a:tcPr marL="82101" marR="82101" marT="41050" marB="41050" anchor="ctr"/>
                </a:tc>
                <a:extLst>
                  <a:ext uri="{0D108BD9-81ED-4DB2-BD59-A6C34878D82A}">
                    <a16:rowId xmlns:a16="http://schemas.microsoft.com/office/drawing/2014/main" val="3033503124"/>
                  </a:ext>
                </a:extLst>
              </a:tr>
              <a:tr h="821007">
                <a:tc>
                  <a:txBody>
                    <a:bodyPr/>
                    <a:lstStyle/>
                    <a:p>
                      <a:pPr>
                        <a:buNone/>
                      </a:pPr>
                      <a:r>
                        <a:rPr lang="en-IN" sz="2000" b="1">
                          <a:latin typeface="Cambria" panose="02040503050406030204" pitchFamily="18" charset="0"/>
                          <a:ea typeface="Cambria" panose="02040503050406030204" pitchFamily="18" charset="0"/>
                        </a:rPr>
                        <a:t>Prompt engineering</a:t>
                      </a:r>
                      <a:endParaRPr lang="en-IN" sz="2000">
                        <a:latin typeface="Cambria" panose="02040503050406030204" pitchFamily="18" charset="0"/>
                        <a:ea typeface="Cambria" panose="02040503050406030204" pitchFamily="18" charset="0"/>
                      </a:endParaRPr>
                    </a:p>
                  </a:txBody>
                  <a:tcPr marL="82101" marR="82101" marT="41050" marB="41050" anchor="ctr"/>
                </a:tc>
                <a:tc>
                  <a:txBody>
                    <a:bodyPr/>
                    <a:lstStyle/>
                    <a:p>
                      <a:pPr>
                        <a:buNone/>
                      </a:pPr>
                      <a:r>
                        <a:rPr lang="en-IN" sz="2000" dirty="0">
                          <a:latin typeface="Cambria" panose="02040503050406030204" pitchFamily="18" charset="0"/>
                          <a:ea typeface="Cambria" panose="02040503050406030204" pitchFamily="18" charset="0"/>
                        </a:rPr>
                        <a:t>What do we say to the model?</a:t>
                      </a: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Instruction manual</a:t>
                      </a: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Ambiguous instructions, format drift, hallucination</a:t>
                      </a: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Few-shot, chain-of-thought, structured output</a:t>
                      </a:r>
                    </a:p>
                  </a:txBody>
                  <a:tcPr marL="82101" marR="82101" marT="41050" marB="41050" anchor="ctr"/>
                </a:tc>
                <a:extLst>
                  <a:ext uri="{0D108BD9-81ED-4DB2-BD59-A6C34878D82A}">
                    <a16:rowId xmlns:a16="http://schemas.microsoft.com/office/drawing/2014/main" val="1563502779"/>
                  </a:ext>
                </a:extLst>
              </a:tr>
              <a:tr h="821007">
                <a:tc>
                  <a:txBody>
                    <a:bodyPr/>
                    <a:lstStyle/>
                    <a:p>
                      <a:pPr>
                        <a:buNone/>
                      </a:pPr>
                      <a:r>
                        <a:rPr lang="en-IN" sz="2000" b="1">
                          <a:latin typeface="Cambria" panose="02040503050406030204" pitchFamily="18" charset="0"/>
                          <a:ea typeface="Cambria" panose="02040503050406030204" pitchFamily="18" charset="0"/>
                        </a:rPr>
                        <a:t>Context engineering</a:t>
                      </a:r>
                      <a:endParaRPr lang="en-IN" sz="2000">
                        <a:latin typeface="Cambria" panose="02040503050406030204" pitchFamily="18" charset="0"/>
                        <a:ea typeface="Cambria" panose="02040503050406030204" pitchFamily="18" charset="0"/>
                      </a:endParaRPr>
                    </a:p>
                  </a:txBody>
                  <a:tcPr marL="82101" marR="82101" marT="41050" marB="41050" anchor="ctr"/>
                </a:tc>
                <a:tc>
                  <a:txBody>
                    <a:bodyPr/>
                    <a:lstStyle/>
                    <a:p>
                      <a:pPr>
                        <a:buNone/>
                      </a:pPr>
                      <a:r>
                        <a:rPr lang="en-IN" sz="2000" dirty="0">
                          <a:latin typeface="Cambria" panose="02040503050406030204" pitchFamily="18" charset="0"/>
                          <a:ea typeface="Cambria" panose="02040503050406030204" pitchFamily="18" charset="0"/>
                        </a:rPr>
                        <a:t>What should the model see right now?</a:t>
                      </a:r>
                    </a:p>
                  </a:txBody>
                  <a:tcPr marL="82101" marR="82101" marT="41050" marB="41050" anchor="ctr"/>
                </a:tc>
                <a:tc>
                  <a:txBody>
                    <a:bodyPr/>
                    <a:lstStyle/>
                    <a:p>
                      <a:pPr>
                        <a:buNone/>
                      </a:pPr>
                      <a:r>
                        <a:rPr lang="en-IN" sz="2000" dirty="0">
                          <a:latin typeface="Cambria" panose="02040503050406030204" pitchFamily="18" charset="0"/>
                          <a:ea typeface="Cambria" panose="02040503050406030204" pitchFamily="18" charset="0"/>
                        </a:rPr>
                        <a:t>Working memory / RAM</a:t>
                      </a: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Poisoning, distraction, confusion, clash</a:t>
                      </a: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RAG, history compression, tool descriptions</a:t>
                      </a:r>
                    </a:p>
                  </a:txBody>
                  <a:tcPr marL="82101" marR="82101" marT="41050" marB="41050" anchor="ctr"/>
                </a:tc>
                <a:extLst>
                  <a:ext uri="{0D108BD9-81ED-4DB2-BD59-A6C34878D82A}">
                    <a16:rowId xmlns:a16="http://schemas.microsoft.com/office/drawing/2014/main" val="2120786344"/>
                  </a:ext>
                </a:extLst>
              </a:tr>
              <a:tr h="821007">
                <a:tc>
                  <a:txBody>
                    <a:bodyPr/>
                    <a:lstStyle/>
                    <a:p>
                      <a:pPr>
                        <a:buNone/>
                      </a:pPr>
                      <a:r>
                        <a:rPr lang="en-IN" sz="2000" b="1">
                          <a:latin typeface="Cambria" panose="02040503050406030204" pitchFamily="18" charset="0"/>
                          <a:ea typeface="Cambria" panose="02040503050406030204" pitchFamily="18" charset="0"/>
                        </a:rPr>
                        <a:t>Memory engineering</a:t>
                      </a:r>
                      <a:endParaRPr lang="en-IN" sz="2000">
                        <a:latin typeface="Cambria" panose="02040503050406030204" pitchFamily="18" charset="0"/>
                        <a:ea typeface="Cambria" panose="02040503050406030204" pitchFamily="18" charset="0"/>
                      </a:endParaRP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What should persist across sessions?</a:t>
                      </a: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Long-term memory / disk</a:t>
                      </a: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Irrelevant retrieval, stale memories, privacy leaks</a:t>
                      </a: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AGENTS.md, vector stores, knowledge graphs</a:t>
                      </a:r>
                    </a:p>
                  </a:txBody>
                  <a:tcPr marL="82101" marR="82101" marT="41050" marB="41050" anchor="ctr"/>
                </a:tc>
                <a:extLst>
                  <a:ext uri="{0D108BD9-81ED-4DB2-BD59-A6C34878D82A}">
                    <a16:rowId xmlns:a16="http://schemas.microsoft.com/office/drawing/2014/main" val="4267918819"/>
                  </a:ext>
                </a:extLst>
              </a:tr>
              <a:tr h="1313611">
                <a:tc>
                  <a:txBody>
                    <a:bodyPr/>
                    <a:lstStyle/>
                    <a:p>
                      <a:pPr>
                        <a:buNone/>
                      </a:pPr>
                      <a:r>
                        <a:rPr lang="en-IN" sz="2000" b="1" dirty="0">
                          <a:latin typeface="Cambria" panose="02040503050406030204" pitchFamily="18" charset="0"/>
                          <a:ea typeface="Cambria" panose="02040503050406030204" pitchFamily="18" charset="0"/>
                        </a:rPr>
                        <a:t>Harness engineering</a:t>
                      </a:r>
                      <a:endParaRPr lang="en-IN" sz="2000" dirty="0">
                        <a:latin typeface="Cambria" panose="02040503050406030204" pitchFamily="18" charset="0"/>
                        <a:ea typeface="Cambria" panose="02040503050406030204" pitchFamily="18" charset="0"/>
                      </a:endParaRP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How should the agent operate?</a:t>
                      </a:r>
                    </a:p>
                  </a:txBody>
                  <a:tcPr marL="82101" marR="82101" marT="41050" marB="41050" anchor="ctr"/>
                </a:tc>
                <a:tc>
                  <a:txBody>
                    <a:bodyPr/>
                    <a:lstStyle/>
                    <a:p>
                      <a:pPr>
                        <a:buNone/>
                      </a:pPr>
                      <a:r>
                        <a:rPr lang="en-IN" sz="2000">
                          <a:latin typeface="Cambria" panose="02040503050406030204" pitchFamily="18" charset="0"/>
                          <a:ea typeface="Cambria" panose="02040503050406030204" pitchFamily="18" charset="0"/>
                        </a:rPr>
                        <a:t>Operating system / kernel</a:t>
                      </a:r>
                    </a:p>
                  </a:txBody>
                  <a:tcPr marL="82101" marR="82101" marT="41050" marB="41050" anchor="ctr"/>
                </a:tc>
                <a:tc>
                  <a:txBody>
                    <a:bodyPr/>
                    <a:lstStyle/>
                    <a:p>
                      <a:pPr>
                        <a:buNone/>
                      </a:pPr>
                      <a:r>
                        <a:rPr lang="en-IN" sz="2000" dirty="0">
                          <a:latin typeface="Cambria" panose="02040503050406030204" pitchFamily="18" charset="0"/>
                          <a:ea typeface="Cambria" panose="02040503050406030204" pitchFamily="18" charset="0"/>
                        </a:rPr>
                        <a:t>premature completion, cascading errors, poor self-evaluation</a:t>
                      </a:r>
                    </a:p>
                  </a:txBody>
                  <a:tcPr marL="82101" marR="82101" marT="41050" marB="41050" anchor="ctr"/>
                </a:tc>
                <a:tc>
                  <a:txBody>
                    <a:bodyPr/>
                    <a:lstStyle/>
                    <a:p>
                      <a:pPr>
                        <a:buNone/>
                      </a:pPr>
                      <a:r>
                        <a:rPr lang="en-IN" sz="2000" dirty="0">
                          <a:latin typeface="Cambria" panose="02040503050406030204" pitchFamily="18" charset="0"/>
                          <a:ea typeface="Cambria" panose="02040503050406030204" pitchFamily="18" charset="0"/>
                        </a:rPr>
                        <a:t>Tools, sandbox, planning,</a:t>
                      </a:r>
                    </a:p>
                  </a:txBody>
                  <a:tcPr marL="82101" marR="82101" marT="41050" marB="41050" anchor="ctr"/>
                </a:tc>
                <a:extLst>
                  <a:ext uri="{0D108BD9-81ED-4DB2-BD59-A6C34878D82A}">
                    <a16:rowId xmlns:a16="http://schemas.microsoft.com/office/drawing/2014/main" val="1104960370"/>
                  </a:ext>
                </a:extLst>
              </a:tr>
            </a:tbl>
          </a:graphicData>
        </a:graphic>
      </p:graphicFrame>
      <p:sp>
        <p:nvSpPr>
          <p:cNvPr id="4" name="TextBox 3">
            <a:extLst>
              <a:ext uri="{FF2B5EF4-FFF2-40B4-BE49-F238E27FC236}">
                <a16:creationId xmlns:a16="http://schemas.microsoft.com/office/drawing/2014/main" id="{92A8D476-C5E1-9BFF-18F8-F318787BFA21}"/>
              </a:ext>
            </a:extLst>
          </p:cNvPr>
          <p:cNvSpPr txBox="1"/>
          <p:nvPr/>
        </p:nvSpPr>
        <p:spPr>
          <a:xfrm>
            <a:off x="922145" y="336912"/>
            <a:ext cx="9381582" cy="1200329"/>
          </a:xfrm>
          <a:prstGeom prst="rect">
            <a:avLst/>
          </a:prstGeom>
          <a:noFill/>
          <a:ln/>
        </p:spPr>
        <p:txBody>
          <a:bodyPr wrap="square" lIns="0" tIns="0" rIns="0" bIns="0" rtlCol="0" anchor="ctr"/>
          <a:lstStyle>
            <a:defPPr>
              <a:defRPr lang="en-US"/>
            </a:defPPr>
            <a:lvl1pPr indent="0">
              <a:buNone/>
              <a:defRPr sz="3600">
                <a:latin typeface="Cambria" pitchFamily="34" charset="0"/>
                <a:ea typeface="Cambria" pitchFamily="34" charset="-122"/>
              </a:defRPr>
            </a:lvl1pPr>
          </a:lstStyle>
          <a:p>
            <a:r>
              <a:rPr lang="en-IN" dirty="0"/>
              <a:t>Four layers of engineering around an LLM</a:t>
            </a:r>
          </a:p>
        </p:txBody>
      </p:sp>
    </p:spTree>
    <p:extLst>
      <p:ext uri="{BB962C8B-B14F-4D97-AF65-F5344CB8AC3E}">
        <p14:creationId xmlns:p14="http://schemas.microsoft.com/office/powerpoint/2010/main" val="3432911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0">
            <a:extLst>
              <a:ext uri="{FF2B5EF4-FFF2-40B4-BE49-F238E27FC236}">
                <a16:creationId xmlns:a16="http://schemas.microsoft.com/office/drawing/2014/main" id="{688EB08F-3680-FCAD-32F0-D4749D75C797}"/>
              </a:ext>
            </a:extLst>
          </p:cNvPr>
          <p:cNvSpPr txBox="1">
            <a:spLocks/>
          </p:cNvSpPr>
          <p:nvPr/>
        </p:nvSpPr>
        <p:spPr>
          <a:xfrm>
            <a:off x="406400" y="152400"/>
            <a:ext cx="8432800" cy="1143000"/>
          </a:xfrm>
          <a:prstGeom prst="rect">
            <a:avLst/>
          </a:prstGeom>
        </p:spPr>
        <p:txBody>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kern="0">
                <a:solidFill>
                  <a:schemeClr val="tx1"/>
                </a:solidFill>
              </a:rPr>
              <a:t>LLM</a:t>
            </a:r>
            <a:r>
              <a:rPr lang="en-US" kern="0" spc="-75">
                <a:solidFill>
                  <a:schemeClr val="tx1"/>
                </a:solidFill>
              </a:rPr>
              <a:t> </a:t>
            </a:r>
            <a:r>
              <a:rPr lang="en-US" kern="0">
                <a:solidFill>
                  <a:schemeClr val="tx1"/>
                </a:solidFill>
              </a:rPr>
              <a:t>Agent</a:t>
            </a:r>
            <a:r>
              <a:rPr lang="en-US" kern="0" spc="-70">
                <a:solidFill>
                  <a:schemeClr val="tx1"/>
                </a:solidFill>
              </a:rPr>
              <a:t> </a:t>
            </a:r>
            <a:r>
              <a:rPr lang="en-US" kern="0">
                <a:solidFill>
                  <a:schemeClr val="tx1"/>
                </a:solidFill>
              </a:rPr>
              <a:t>are</a:t>
            </a:r>
            <a:r>
              <a:rPr lang="en-US" kern="0" spc="-70">
                <a:solidFill>
                  <a:schemeClr val="tx1"/>
                </a:solidFill>
              </a:rPr>
              <a:t> </a:t>
            </a:r>
            <a:r>
              <a:rPr lang="en-US" kern="0">
                <a:solidFill>
                  <a:schemeClr val="tx1"/>
                </a:solidFill>
              </a:rPr>
              <a:t>evolving</a:t>
            </a:r>
            <a:r>
              <a:rPr lang="en-US" kern="0" spc="-70">
                <a:solidFill>
                  <a:schemeClr val="tx1"/>
                </a:solidFill>
              </a:rPr>
              <a:t> </a:t>
            </a:r>
            <a:r>
              <a:rPr lang="en-US" kern="0" spc="-20">
                <a:solidFill>
                  <a:schemeClr val="tx1"/>
                </a:solidFill>
              </a:rPr>
              <a:t>fast</a:t>
            </a:r>
            <a:endParaRPr lang="en-IN" kern="0" dirty="0">
              <a:solidFill>
                <a:sysClr val="windowText" lastClr="000000"/>
              </a:solidFill>
            </a:endParaRPr>
          </a:p>
        </p:txBody>
      </p:sp>
      <p:sp>
        <p:nvSpPr>
          <p:cNvPr id="3" name="object 7">
            <a:extLst>
              <a:ext uri="{FF2B5EF4-FFF2-40B4-BE49-F238E27FC236}">
                <a16:creationId xmlns:a16="http://schemas.microsoft.com/office/drawing/2014/main" id="{60C239E4-E3FD-3C61-944E-56751F31CD12}"/>
              </a:ext>
            </a:extLst>
          </p:cNvPr>
          <p:cNvSpPr txBox="1"/>
          <p:nvPr/>
        </p:nvSpPr>
        <p:spPr>
          <a:xfrm>
            <a:off x="1626391" y="1503131"/>
            <a:ext cx="7811770" cy="1968500"/>
          </a:xfrm>
          <a:prstGeom prst="rect">
            <a:avLst/>
          </a:prstGeom>
        </p:spPr>
        <p:txBody>
          <a:bodyPr vert="horz" wrap="square" lIns="0" tIns="50800" rIns="0" bIns="0" rtlCol="0">
            <a:spAutoFit/>
          </a:bodyPr>
          <a:lstStyle/>
          <a:p>
            <a:pPr marL="342265" indent="-329565">
              <a:spcBef>
                <a:spcPts val="400"/>
              </a:spcBef>
              <a:buFont typeface="Times New Roman"/>
              <a:buChar char="-"/>
              <a:tabLst>
                <a:tab pos="342265" algn="l"/>
              </a:tabLst>
            </a:pPr>
            <a:r>
              <a:rPr sz="2400" dirty="0"/>
              <a:t>Many</a:t>
            </a:r>
            <a:r>
              <a:rPr sz="2400" spc="-100" dirty="0"/>
              <a:t> </a:t>
            </a:r>
            <a:r>
              <a:rPr sz="2400" b="1" dirty="0"/>
              <a:t>agentic</a:t>
            </a:r>
            <a:r>
              <a:rPr sz="2400" b="1" spc="-105" dirty="0"/>
              <a:t> </a:t>
            </a:r>
            <a:r>
              <a:rPr sz="2400" b="1" dirty="0"/>
              <a:t>libraries</a:t>
            </a:r>
            <a:r>
              <a:rPr sz="2400" dirty="0"/>
              <a:t>,</a:t>
            </a:r>
            <a:r>
              <a:rPr sz="2400" spc="-100" dirty="0"/>
              <a:t> </a:t>
            </a:r>
            <a:r>
              <a:rPr sz="2400" dirty="0"/>
              <a:t>packages,</a:t>
            </a:r>
            <a:r>
              <a:rPr sz="2400" spc="-100" dirty="0"/>
              <a:t> </a:t>
            </a:r>
            <a:r>
              <a:rPr sz="2400" dirty="0"/>
              <a:t>and</a:t>
            </a:r>
            <a:r>
              <a:rPr sz="2400" spc="-105" dirty="0"/>
              <a:t> </a:t>
            </a:r>
            <a:r>
              <a:rPr sz="2400" spc="-10" dirty="0"/>
              <a:t>products</a:t>
            </a:r>
            <a:endParaRPr sz="2400" dirty="0"/>
          </a:p>
          <a:p>
            <a:pPr marL="342265" marR="5080" indent="-330200">
              <a:spcBef>
                <a:spcPts val="300"/>
              </a:spcBef>
              <a:buFont typeface="Times New Roman"/>
              <a:buChar char="-"/>
              <a:tabLst>
                <a:tab pos="342265" algn="l"/>
              </a:tabLst>
            </a:pPr>
            <a:r>
              <a:rPr sz="2400" dirty="0"/>
              <a:t>Open</a:t>
            </a:r>
            <a:r>
              <a:rPr sz="2400" spc="-55" dirty="0"/>
              <a:t> </a:t>
            </a:r>
            <a:r>
              <a:rPr sz="2400" dirty="0"/>
              <a:t>agent</a:t>
            </a:r>
            <a:r>
              <a:rPr sz="2400" spc="-55" dirty="0"/>
              <a:t> </a:t>
            </a:r>
            <a:r>
              <a:rPr sz="2400" spc="-10" dirty="0"/>
              <a:t>standards</a:t>
            </a:r>
            <a:r>
              <a:rPr sz="2400" spc="-55" dirty="0"/>
              <a:t> </a:t>
            </a:r>
            <a:r>
              <a:rPr sz="2400" dirty="0"/>
              <a:t>such</a:t>
            </a:r>
            <a:r>
              <a:rPr sz="2400" spc="-55" dirty="0"/>
              <a:t> </a:t>
            </a:r>
            <a:r>
              <a:rPr sz="2400" dirty="0"/>
              <a:t>as</a:t>
            </a:r>
            <a:r>
              <a:rPr sz="2400" spc="-35" dirty="0"/>
              <a:t> </a:t>
            </a:r>
            <a:r>
              <a:rPr sz="2400" b="1" dirty="0"/>
              <a:t>MCP</a:t>
            </a:r>
            <a:r>
              <a:rPr sz="2400" b="1" spc="-50" dirty="0"/>
              <a:t> </a:t>
            </a:r>
            <a:r>
              <a:rPr sz="2400" dirty="0"/>
              <a:t>for</a:t>
            </a:r>
            <a:r>
              <a:rPr sz="2400" spc="-55" dirty="0"/>
              <a:t> </a:t>
            </a:r>
            <a:r>
              <a:rPr sz="2400" dirty="0"/>
              <a:t>tool</a:t>
            </a:r>
            <a:r>
              <a:rPr sz="2400" spc="-55" dirty="0"/>
              <a:t> </a:t>
            </a:r>
            <a:r>
              <a:rPr sz="2400" dirty="0"/>
              <a:t>use,</a:t>
            </a:r>
            <a:r>
              <a:rPr sz="2400" spc="-55" dirty="0"/>
              <a:t> </a:t>
            </a:r>
            <a:r>
              <a:rPr sz="2400" dirty="0"/>
              <a:t>and</a:t>
            </a:r>
            <a:r>
              <a:rPr sz="2400" spc="-40" dirty="0"/>
              <a:t> </a:t>
            </a:r>
            <a:r>
              <a:rPr sz="2400" b="1" dirty="0"/>
              <a:t>A2A</a:t>
            </a:r>
            <a:r>
              <a:rPr sz="2400" b="1" spc="-50" dirty="0"/>
              <a:t> </a:t>
            </a:r>
            <a:r>
              <a:rPr sz="2400" spc="-25" dirty="0"/>
              <a:t>for </a:t>
            </a:r>
            <a:r>
              <a:rPr sz="2400" dirty="0"/>
              <a:t>task</a:t>
            </a:r>
            <a:r>
              <a:rPr sz="2400" spc="-50" dirty="0"/>
              <a:t> </a:t>
            </a:r>
            <a:r>
              <a:rPr sz="2400" spc="-20" dirty="0"/>
              <a:t>comm</a:t>
            </a:r>
            <a:endParaRPr sz="2400" dirty="0"/>
          </a:p>
          <a:p>
            <a:pPr marL="342265" marR="865505" indent="-330200">
              <a:spcBef>
                <a:spcPts val="300"/>
              </a:spcBef>
              <a:buFont typeface="Times New Roman"/>
              <a:buChar char="-"/>
              <a:tabLst>
                <a:tab pos="342265" algn="l"/>
              </a:tabLst>
            </a:pPr>
            <a:r>
              <a:rPr sz="2400" dirty="0"/>
              <a:t>Many</a:t>
            </a:r>
            <a:r>
              <a:rPr sz="2400" spc="-85" dirty="0"/>
              <a:t> </a:t>
            </a:r>
            <a:r>
              <a:rPr sz="2400" spc="-10" dirty="0"/>
              <a:t>proposed</a:t>
            </a:r>
            <a:r>
              <a:rPr sz="2400" spc="-85" dirty="0"/>
              <a:t> </a:t>
            </a:r>
            <a:r>
              <a:rPr sz="2400" spc="-10" dirty="0"/>
              <a:t>evaluations:</a:t>
            </a:r>
            <a:r>
              <a:rPr sz="2400" spc="-80" dirty="0"/>
              <a:t> </a:t>
            </a:r>
            <a:r>
              <a:rPr sz="2400" dirty="0"/>
              <a:t>AgentBench,</a:t>
            </a:r>
            <a:r>
              <a:rPr sz="2400" spc="-85" dirty="0"/>
              <a:t> </a:t>
            </a:r>
            <a:r>
              <a:rPr sz="2400" spc="-10" dirty="0"/>
              <a:t>WebArena, AgentDojo,</a:t>
            </a:r>
            <a:r>
              <a:rPr sz="2400" spc="-55" dirty="0"/>
              <a:t> </a:t>
            </a:r>
            <a:r>
              <a:rPr sz="2400" spc="-60" dirty="0">
                <a:latin typeface="Arial MT"/>
                <a:cs typeface="Arial MT"/>
              </a:rPr>
              <a:t>…</a:t>
            </a:r>
            <a:endParaRPr sz="2400" dirty="0">
              <a:latin typeface="Arial MT"/>
              <a:cs typeface="Arial MT"/>
            </a:endParaRPr>
          </a:p>
        </p:txBody>
      </p:sp>
      <p:pic>
        <p:nvPicPr>
          <p:cNvPr id="4" name="object 8">
            <a:extLst>
              <a:ext uri="{FF2B5EF4-FFF2-40B4-BE49-F238E27FC236}">
                <a16:creationId xmlns:a16="http://schemas.microsoft.com/office/drawing/2014/main" id="{A309CDDF-722B-101B-1A68-FC2FC1A5BC65}"/>
              </a:ext>
            </a:extLst>
          </p:cNvPr>
          <p:cNvPicPr/>
          <p:nvPr/>
        </p:nvPicPr>
        <p:blipFill>
          <a:blip r:embed="rId2" cstate="print"/>
          <a:stretch>
            <a:fillRect/>
          </a:stretch>
        </p:blipFill>
        <p:spPr>
          <a:xfrm>
            <a:off x="1986534" y="4002302"/>
            <a:ext cx="2537988" cy="1979178"/>
          </a:xfrm>
          <a:prstGeom prst="rect">
            <a:avLst/>
          </a:prstGeom>
        </p:spPr>
      </p:pic>
      <p:pic>
        <p:nvPicPr>
          <p:cNvPr id="5" name="object 9">
            <a:extLst>
              <a:ext uri="{FF2B5EF4-FFF2-40B4-BE49-F238E27FC236}">
                <a16:creationId xmlns:a16="http://schemas.microsoft.com/office/drawing/2014/main" id="{A3084441-D480-1327-9D1C-84AB7BA62DE8}"/>
              </a:ext>
            </a:extLst>
          </p:cNvPr>
          <p:cNvPicPr/>
          <p:nvPr/>
        </p:nvPicPr>
        <p:blipFill>
          <a:blip r:embed="rId3" cstate="print"/>
          <a:stretch>
            <a:fillRect/>
          </a:stretch>
        </p:blipFill>
        <p:spPr>
          <a:xfrm>
            <a:off x="4876830" y="4029426"/>
            <a:ext cx="2426498" cy="1903973"/>
          </a:xfrm>
          <a:prstGeom prst="rect">
            <a:avLst/>
          </a:prstGeom>
        </p:spPr>
      </p:pic>
      <p:pic>
        <p:nvPicPr>
          <p:cNvPr id="6" name="object 10">
            <a:extLst>
              <a:ext uri="{FF2B5EF4-FFF2-40B4-BE49-F238E27FC236}">
                <a16:creationId xmlns:a16="http://schemas.microsoft.com/office/drawing/2014/main" id="{1B4A9BD9-0DD0-BB2B-9957-16D42E0B9899}"/>
              </a:ext>
            </a:extLst>
          </p:cNvPr>
          <p:cNvPicPr/>
          <p:nvPr/>
        </p:nvPicPr>
        <p:blipFill>
          <a:blip r:embed="rId4" cstate="print"/>
          <a:stretch>
            <a:fillRect/>
          </a:stretch>
        </p:blipFill>
        <p:spPr>
          <a:xfrm>
            <a:off x="7546700" y="3967365"/>
            <a:ext cx="2714952" cy="1898299"/>
          </a:xfrm>
          <a:prstGeom prst="rect">
            <a:avLst/>
          </a:prstGeom>
        </p:spPr>
      </p:pic>
    </p:spTree>
    <p:extLst>
      <p:ext uri="{BB962C8B-B14F-4D97-AF65-F5344CB8AC3E}">
        <p14:creationId xmlns:p14="http://schemas.microsoft.com/office/powerpoint/2010/main" val="2382250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AD3808F-BCEA-BF4F-2F0B-8E1A366825CE}"/>
              </a:ext>
            </a:extLst>
          </p:cNvPr>
          <p:cNvSpPr txBox="1">
            <a:spLocks/>
          </p:cNvSpPr>
          <p:nvPr/>
        </p:nvSpPr>
        <p:spPr>
          <a:xfrm>
            <a:off x="472967" y="3279228"/>
            <a:ext cx="10881209" cy="1219200"/>
          </a:xfrm>
          <a:prstGeom prst="rect">
            <a:avLst/>
          </a:prstGeom>
        </p:spPr>
        <p:txBody>
          <a:bodyPr/>
          <a:lstStyle>
            <a:lvl1pPr>
              <a:defRPr sz="3600">
                <a:latin typeface="Cambria" panose="02040503050406030204" pitchFamily="18" charset="0"/>
                <a:ea typeface="Cambria" panose="02040503050406030204" pitchFamily="18" charset="0"/>
                <a:cs typeface="+mj-cs"/>
              </a:defRPr>
            </a:lvl1pPr>
          </a:lstStyle>
          <a:p>
            <a:r>
              <a:rPr lang="en-IN" kern="0" dirty="0">
                <a:solidFill>
                  <a:sysClr val="windowText" lastClr="000000"/>
                </a:solidFill>
              </a:rPr>
              <a:t>Sample case study questions</a:t>
            </a:r>
          </a:p>
        </p:txBody>
      </p:sp>
    </p:spTree>
    <p:extLst>
      <p:ext uri="{BB962C8B-B14F-4D97-AF65-F5344CB8AC3E}">
        <p14:creationId xmlns:p14="http://schemas.microsoft.com/office/powerpoint/2010/main" val="3818116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209049-B061-1B60-95EF-F9400FD7828A}"/>
              </a:ext>
            </a:extLst>
          </p:cNvPr>
          <p:cNvSpPr>
            <a:spLocks noGrp="1"/>
          </p:cNvSpPr>
          <p:nvPr>
            <p:ph idx="10"/>
          </p:nvPr>
        </p:nvSpPr>
        <p:spPr>
          <a:xfrm>
            <a:off x="168164" y="1440120"/>
            <a:ext cx="12023835" cy="5181397"/>
          </a:xfrm>
        </p:spPr>
        <p:txBody>
          <a:bodyPr>
            <a:normAutofit fontScale="85000" lnSpcReduction="10000"/>
          </a:bodyPr>
          <a:lstStyle/>
          <a:p>
            <a:pPr rtl="0">
              <a:buNone/>
            </a:pPr>
            <a:r>
              <a:rPr lang="en-IN" dirty="0" err="1"/>
              <a:t>HorizonBank</a:t>
            </a:r>
            <a:r>
              <a:rPr lang="en-IN" dirty="0"/>
              <a:t> is a mid-sized retail bank rolling out an AI-powered "Customer Operations Assistant" that its branch staff can use during customer calls. Different parts of the assistant serve different needs, and the architecture team must pick the right pattern for each.</a:t>
            </a:r>
          </a:p>
          <a:p>
            <a:pPr rtl="0">
              <a:buNone/>
            </a:pPr>
            <a:r>
              <a:rPr lang="en-IN" dirty="0"/>
              <a:t>The team has narrowed each need to one of four multi-agent patterns from the </a:t>
            </a:r>
            <a:r>
              <a:rPr lang="en-IN" dirty="0" err="1"/>
              <a:t>LangChain</a:t>
            </a:r>
            <a:r>
              <a:rPr lang="en-IN" dirty="0"/>
              <a:t> framework: </a:t>
            </a:r>
            <a:r>
              <a:rPr lang="en-IN" b="1" dirty="0"/>
              <a:t>Subagents, Skills, Handoffs, Router(with &amp;without synthesis)</a:t>
            </a:r>
            <a:r>
              <a:rPr lang="en-IN" dirty="0"/>
              <a:t>. For each of the problems below, Which pattern fits, and why?</a:t>
            </a:r>
          </a:p>
          <a:p>
            <a:pPr rtl="0">
              <a:buNone/>
            </a:pPr>
            <a:endParaRPr lang="en-IN" dirty="0"/>
          </a:p>
          <a:p>
            <a:pPr rtl="0"/>
            <a:r>
              <a:rPr lang="en-IN" b="1" dirty="0"/>
              <a:t>A. Daily branch briefing </a:t>
            </a:r>
            <a:endParaRPr lang="en-IN" dirty="0"/>
          </a:p>
          <a:p>
            <a:pPr rtl="0"/>
            <a:r>
              <a:rPr lang="en-IN" dirty="0"/>
              <a:t>Every morning at 8:00 AM, each branch manager needs a one-page briefing that combines: (</a:t>
            </a:r>
            <a:r>
              <a:rPr lang="en-IN" dirty="0" err="1"/>
              <a:t>i</a:t>
            </a:r>
            <a:r>
              <a:rPr lang="en-IN" dirty="0"/>
              <a:t>) overnight transaction alerts from the fraud system, (ii) today's scheduled customer appointments from the calendar system, (iii) pending loan approvals from the CRM, and (iv) market news from an external feed. These four sources are independent, must be queried in parallel to meet the 8:00 AM deadline, and each has its own domain vocabulary and API. </a:t>
            </a:r>
            <a:r>
              <a:rPr lang="en-IN" b="1" dirty="0"/>
              <a:t>The briefing template is fixed — all four sources appear every morning regardless of content — so no per-request selection is needed.</a:t>
            </a:r>
            <a:endParaRPr lang="en-IN" dirty="0"/>
          </a:p>
          <a:p>
            <a:pPr rtl="0"/>
            <a:r>
              <a:rPr lang="en-IN" b="1" dirty="0"/>
              <a:t>Ans: Subagents</a:t>
            </a:r>
          </a:p>
          <a:p>
            <a:pPr rtl="0"/>
            <a:r>
              <a:rPr lang="en-IN" dirty="0"/>
              <a:t>Fixed template — all four domains every morning, parallel, aggregated. No per-request selection.</a:t>
            </a:r>
          </a:p>
          <a:p>
            <a:pPr rtl="0"/>
            <a:r>
              <a:rPr lang="en-IN"/>
              <a:t>"Rules out Router because the set of sub-systems is static and deterministic, not dynamically selected per request."</a:t>
            </a:r>
            <a:endParaRPr lang="en-IN" dirty="0"/>
          </a:p>
        </p:txBody>
      </p:sp>
      <p:sp>
        <p:nvSpPr>
          <p:cNvPr id="3" name="Title 2">
            <a:extLst>
              <a:ext uri="{FF2B5EF4-FFF2-40B4-BE49-F238E27FC236}">
                <a16:creationId xmlns:a16="http://schemas.microsoft.com/office/drawing/2014/main" id="{6CD9B3E5-0F99-9686-472C-E95B81098CD6}"/>
              </a:ext>
            </a:extLst>
          </p:cNvPr>
          <p:cNvSpPr>
            <a:spLocks noGrp="1"/>
          </p:cNvSpPr>
          <p:nvPr>
            <p:ph type="title"/>
          </p:nvPr>
        </p:nvSpPr>
        <p:spPr/>
        <p:txBody>
          <a:bodyPr/>
          <a:lstStyle/>
          <a:p>
            <a:r>
              <a:rPr lang="en-IN" dirty="0"/>
              <a:t>Case Study 1: </a:t>
            </a:r>
            <a:r>
              <a:rPr lang="en-IN" b="1" dirty="0"/>
              <a:t>Customer Operations Assistant</a:t>
            </a:r>
            <a:endParaRPr lang="en-IN" dirty="0"/>
          </a:p>
        </p:txBody>
      </p:sp>
    </p:spTree>
    <p:extLst>
      <p:ext uri="{BB962C8B-B14F-4D97-AF65-F5344CB8AC3E}">
        <p14:creationId xmlns:p14="http://schemas.microsoft.com/office/powerpoint/2010/main" val="716915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E0F58D-C09D-ACF3-9E64-0D4A8DF08A9D}"/>
              </a:ext>
            </a:extLst>
          </p:cNvPr>
          <p:cNvSpPr>
            <a:spLocks noGrp="1"/>
          </p:cNvSpPr>
          <p:nvPr>
            <p:ph idx="10"/>
          </p:nvPr>
        </p:nvSpPr>
        <p:spPr>
          <a:xfrm>
            <a:off x="178676" y="1356037"/>
            <a:ext cx="12013324" cy="5412625"/>
          </a:xfrm>
        </p:spPr>
        <p:txBody>
          <a:bodyPr>
            <a:normAutofit/>
          </a:bodyPr>
          <a:lstStyle/>
          <a:p>
            <a:pPr rtl="0"/>
            <a:r>
              <a:rPr lang="en-IN" sz="2000" b="1" dirty="0"/>
              <a:t>B. New customer onboarding </a:t>
            </a:r>
          </a:p>
          <a:p>
            <a:pPr rtl="0"/>
            <a:r>
              <a:rPr lang="en-IN" sz="2000" dirty="0"/>
              <a:t>Opening an account requires a strictly sequential workflow — KYC document collection → identity verification → risk profiling → product recommendation → account activation. The customer is on the phone throughout, and each step's outcome determines the specifics of the next. The customer must experience it as one continuous conversation.</a:t>
            </a:r>
          </a:p>
          <a:p>
            <a:pPr rtl="0"/>
            <a:r>
              <a:rPr lang="en-IN" sz="2000" b="1" dirty="0"/>
              <a:t>Ans: Handoffs </a:t>
            </a:r>
          </a:p>
          <a:p>
            <a:pPr rtl="0"/>
            <a:r>
              <a:rPr lang="en-IN" sz="2000" dirty="0"/>
              <a:t>Sequential state transitions, one continuous user conversation, each step's output drives the next</a:t>
            </a:r>
          </a:p>
          <a:p>
            <a:pPr rtl="0"/>
            <a:endParaRPr lang="en-IN" sz="2000" dirty="0"/>
          </a:p>
          <a:p>
            <a:pPr rtl="0"/>
            <a:r>
              <a:rPr lang="en-IN" sz="2000" b="1" dirty="0"/>
              <a:t>C. Complaint intake and routing (1 mark)</a:t>
            </a:r>
            <a:endParaRPr lang="en-IN" sz="2000" dirty="0"/>
          </a:p>
          <a:p>
            <a:pPr rtl="0"/>
            <a:r>
              <a:rPr lang="en-IN" sz="2000" dirty="0"/>
              <a:t>Customer complaints arrive through a single chat channel but must reach the right specialist: card fraud, loan servicing, mortgage, or general banking. Only one specialist handles any given complaint, and the choice depends on classifying the complaint from the first message. There is no need to consult all four in parallel — one call, one destination.</a:t>
            </a:r>
          </a:p>
          <a:p>
            <a:pPr rtl="0"/>
            <a:r>
              <a:rPr lang="en-IN" sz="2000" b="1" dirty="0"/>
              <a:t>Ans: Router</a:t>
            </a:r>
          </a:p>
          <a:p>
            <a:pPr rtl="0"/>
            <a:r>
              <a:rPr lang="en-IN" sz="2000" dirty="0"/>
              <a:t>Classify once, dispatch to exactly one specialist, no parallelism, no synthesis</a:t>
            </a:r>
          </a:p>
          <a:p>
            <a:pPr rtl="0"/>
            <a:endParaRPr lang="en-IN" sz="2000" dirty="0"/>
          </a:p>
          <a:p>
            <a:pPr rtl="0"/>
            <a:endParaRPr lang="en-IN" sz="2000" dirty="0"/>
          </a:p>
          <a:p>
            <a:endParaRPr lang="en-IN" sz="2000" dirty="0"/>
          </a:p>
        </p:txBody>
      </p:sp>
      <p:sp>
        <p:nvSpPr>
          <p:cNvPr id="4" name="Title 2">
            <a:extLst>
              <a:ext uri="{FF2B5EF4-FFF2-40B4-BE49-F238E27FC236}">
                <a16:creationId xmlns:a16="http://schemas.microsoft.com/office/drawing/2014/main" id="{0C09142E-F932-CE12-E721-3F316F119337}"/>
              </a:ext>
            </a:extLst>
          </p:cNvPr>
          <p:cNvSpPr>
            <a:spLocks noGrp="1"/>
          </p:cNvSpPr>
          <p:nvPr>
            <p:ph type="title"/>
          </p:nvPr>
        </p:nvSpPr>
        <p:spPr>
          <a:xfrm>
            <a:off x="304800" y="0"/>
            <a:ext cx="10880725" cy="1219200"/>
          </a:xfrm>
        </p:spPr>
        <p:txBody>
          <a:bodyPr/>
          <a:lstStyle/>
          <a:p>
            <a:r>
              <a:rPr lang="en-IN" dirty="0"/>
              <a:t>Case Study 1: </a:t>
            </a:r>
            <a:r>
              <a:rPr lang="en-IN" b="1" dirty="0"/>
              <a:t>Customer Operations Assistant</a:t>
            </a:r>
            <a:endParaRPr lang="en-IN" dirty="0"/>
          </a:p>
        </p:txBody>
      </p:sp>
    </p:spTree>
    <p:extLst>
      <p:ext uri="{BB962C8B-B14F-4D97-AF65-F5344CB8AC3E}">
        <p14:creationId xmlns:p14="http://schemas.microsoft.com/office/powerpoint/2010/main" val="2629036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9A8323-0B97-2F61-E6C7-0A738EBDF563}"/>
              </a:ext>
            </a:extLst>
          </p:cNvPr>
          <p:cNvSpPr>
            <a:spLocks noGrp="1"/>
          </p:cNvSpPr>
          <p:nvPr>
            <p:ph idx="10"/>
          </p:nvPr>
        </p:nvSpPr>
        <p:spPr/>
        <p:txBody>
          <a:bodyPr>
            <a:normAutofit fontScale="85000" lnSpcReduction="20000"/>
          </a:bodyPr>
          <a:lstStyle/>
          <a:p>
            <a:pPr rtl="0"/>
            <a:r>
              <a:rPr lang="en-IN" b="1" dirty="0"/>
              <a:t>D. Personal banker for high-net-worth clients </a:t>
            </a:r>
            <a:endParaRPr lang="en-IN" dirty="0"/>
          </a:p>
          <a:p>
            <a:pPr rtl="0"/>
            <a:r>
              <a:rPr lang="en-IN" dirty="0"/>
              <a:t>The bank wants one virtual "personal banker" agent that can help with dozens of niche tasks — from explaining a specific structured product, to walking through an NRI remittance form, to filing a portfolio rebalancing request. Loading all of that expertise upfront would blow the context window, and most requests only touch one or two areas. Each expertise area is a self-contained procedure with its own instructions.</a:t>
            </a:r>
          </a:p>
          <a:p>
            <a:r>
              <a:rPr lang="en-IN" b="1" dirty="0"/>
              <a:t>Ans: Skills</a:t>
            </a:r>
          </a:p>
          <a:p>
            <a:r>
              <a:rPr lang="en-IN" dirty="0"/>
              <a:t>One agent, many possible specializations, progressive disclosure to protect the context window</a:t>
            </a:r>
          </a:p>
          <a:p>
            <a:pPr rtl="0"/>
            <a:r>
              <a:rPr lang="en-IN" b="1" dirty="0"/>
              <a:t>E. Wealth-management research assistant</a:t>
            </a:r>
            <a:endParaRPr lang="en-IN" dirty="0"/>
          </a:p>
          <a:p>
            <a:pPr rtl="0"/>
            <a:r>
              <a:rPr lang="en-IN" dirty="0" err="1"/>
              <a:t>HorizonBank's</a:t>
            </a:r>
            <a:r>
              <a:rPr lang="en-IN" dirty="0"/>
              <a:t> private-banking arm wants an assistant for its relationship managers. Client questions can touch tax rules, mutual-fund performance, real-estate trends, or currency markets — often two or three of these at once, sometimes only one. The bank has a dedicated specialist agent for each of the four verticals. Loading all four experts on every question would be wasteful; picking exactly one would miss cross-domain questions like </a:t>
            </a:r>
            <a:r>
              <a:rPr lang="en-IN" i="1" dirty="0"/>
              <a:t>"how would selling my flat and moving the proceeds into equity funds change my tax position?"</a:t>
            </a:r>
            <a:r>
              <a:rPr lang="en-IN" dirty="0"/>
              <a:t> The assistant must decide </a:t>
            </a:r>
            <a:r>
              <a:rPr lang="en-IN" b="1" dirty="0"/>
              <a:t>per question</a:t>
            </a:r>
            <a:r>
              <a:rPr lang="en-IN" dirty="0"/>
              <a:t> which subset of specialists to consult, run them in parallel, and give the relationship manager one merged answer.</a:t>
            </a:r>
          </a:p>
          <a:p>
            <a:pPr rtl="0"/>
            <a:r>
              <a:rPr lang="en-IN" dirty="0"/>
              <a:t>And: </a:t>
            </a:r>
            <a:r>
              <a:rPr lang="en-IN" b="1" dirty="0"/>
              <a:t>Router with Synthesis </a:t>
            </a:r>
          </a:p>
          <a:p>
            <a:pPr rtl="0"/>
            <a:r>
              <a:rPr lang="en-IN" dirty="0"/>
              <a:t>Dynamic subset selection per request, selected experts run in parallel, results synthesised.</a:t>
            </a:r>
          </a:p>
        </p:txBody>
      </p:sp>
      <p:sp>
        <p:nvSpPr>
          <p:cNvPr id="4" name="Title 2">
            <a:extLst>
              <a:ext uri="{FF2B5EF4-FFF2-40B4-BE49-F238E27FC236}">
                <a16:creationId xmlns:a16="http://schemas.microsoft.com/office/drawing/2014/main" id="{3FA38342-A69D-C174-9B42-FB02C1EE9BE7}"/>
              </a:ext>
            </a:extLst>
          </p:cNvPr>
          <p:cNvSpPr>
            <a:spLocks noGrp="1"/>
          </p:cNvSpPr>
          <p:nvPr>
            <p:ph type="title"/>
          </p:nvPr>
        </p:nvSpPr>
        <p:spPr>
          <a:xfrm>
            <a:off x="304800" y="0"/>
            <a:ext cx="10880725" cy="1219200"/>
          </a:xfrm>
        </p:spPr>
        <p:txBody>
          <a:bodyPr/>
          <a:lstStyle/>
          <a:p>
            <a:r>
              <a:rPr lang="en-IN" dirty="0"/>
              <a:t>Case Study 1: </a:t>
            </a:r>
            <a:r>
              <a:rPr lang="en-IN" b="1" dirty="0"/>
              <a:t>Customer Operations Assistant</a:t>
            </a:r>
            <a:endParaRPr lang="en-IN" dirty="0"/>
          </a:p>
        </p:txBody>
      </p:sp>
    </p:spTree>
    <p:extLst>
      <p:ext uri="{BB962C8B-B14F-4D97-AF65-F5344CB8AC3E}">
        <p14:creationId xmlns:p14="http://schemas.microsoft.com/office/powerpoint/2010/main" val="3996077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1641AB-FABF-5E92-B767-B5616894492C}"/>
              </a:ext>
            </a:extLst>
          </p:cNvPr>
          <p:cNvSpPr>
            <a:spLocks noGrp="1"/>
          </p:cNvSpPr>
          <p:nvPr>
            <p:ph idx="10"/>
          </p:nvPr>
        </p:nvSpPr>
        <p:spPr>
          <a:xfrm>
            <a:off x="44605" y="1411409"/>
            <a:ext cx="12102790" cy="5067449"/>
          </a:xfrm>
        </p:spPr>
        <p:txBody>
          <a:bodyPr>
            <a:normAutofit lnSpcReduction="10000"/>
          </a:bodyPr>
          <a:lstStyle/>
          <a:p>
            <a:pPr marL="342900" indent="-342900" rtl="0">
              <a:buFont typeface="Arial" panose="020B0604020202020204" pitchFamily="34" charset="0"/>
              <a:buChar char="•"/>
            </a:pPr>
            <a:r>
              <a:rPr lang="en-IN" sz="2000" dirty="0" err="1"/>
              <a:t>SupportBot</a:t>
            </a:r>
            <a:r>
              <a:rPr lang="en-IN" sz="2000" dirty="0"/>
              <a:t> is the AI agent that answers customer questions on </a:t>
            </a:r>
            <a:r>
              <a:rPr lang="en-IN" sz="2000" dirty="0" err="1"/>
              <a:t>ShopKart's</a:t>
            </a:r>
            <a:r>
              <a:rPr lang="en-IN" sz="2000" dirty="0"/>
              <a:t> website — an e-commerce store selling clothes and electronics. When a customer clicks the chat bubble in the corner, they're talking to </a:t>
            </a:r>
            <a:r>
              <a:rPr lang="en-IN" sz="2000" dirty="0" err="1"/>
              <a:t>SupportBot</a:t>
            </a:r>
            <a:r>
              <a:rPr lang="en-IN" sz="2000" dirty="0"/>
              <a:t>.</a:t>
            </a:r>
          </a:p>
          <a:p>
            <a:pPr marL="342900" indent="-342900" rtl="0">
              <a:buFont typeface="Arial" panose="020B0604020202020204" pitchFamily="34" charset="0"/>
              <a:buChar char="•"/>
            </a:pPr>
            <a:r>
              <a:rPr lang="en-IN" sz="2000" b="1" dirty="0"/>
              <a:t>Who it works with - </a:t>
            </a:r>
            <a:r>
              <a:rPr lang="en-IN" sz="2000" dirty="0"/>
              <a:t>Two other bots on the same team:</a:t>
            </a:r>
          </a:p>
          <a:p>
            <a:pPr lvl="2" rtl="0"/>
            <a:r>
              <a:rPr lang="en-IN" sz="2000" b="1" dirty="0"/>
              <a:t>order-bot</a:t>
            </a:r>
            <a:r>
              <a:rPr lang="en-IN" sz="2000" dirty="0"/>
              <a:t> — looks up order status and delivery info in the orders database</a:t>
            </a:r>
          </a:p>
          <a:p>
            <a:pPr lvl="2" rtl="0"/>
            <a:r>
              <a:rPr lang="en-IN" sz="2000" b="1" dirty="0"/>
              <a:t>refund-bot</a:t>
            </a:r>
            <a:r>
              <a:rPr lang="en-IN" sz="2000" dirty="0"/>
              <a:t> — handles refund requests, checks eligibility, and issues them</a:t>
            </a:r>
          </a:p>
          <a:p>
            <a:pPr lvl="2" rtl="0"/>
            <a:r>
              <a:rPr lang="en-IN" sz="2000" dirty="0" err="1"/>
              <a:t>SupportBot</a:t>
            </a:r>
            <a:r>
              <a:rPr lang="en-IN" sz="2000" dirty="0"/>
              <a:t> is the front-facing coordinator. It talks to the customer, decides who should help, hands off to the specialist bot when needed, and reports back.</a:t>
            </a:r>
          </a:p>
          <a:p>
            <a:pPr marL="342900" indent="-342900" rtl="0">
              <a:buFont typeface="Arial" panose="020B0604020202020204" pitchFamily="34" charset="0"/>
              <a:buChar char="•"/>
            </a:pPr>
            <a:r>
              <a:rPr lang="en-IN" sz="2000" b="1" dirty="0"/>
              <a:t>What </a:t>
            </a:r>
            <a:r>
              <a:rPr lang="en-IN" sz="2000" b="1" dirty="0" err="1"/>
              <a:t>SupportBot</a:t>
            </a:r>
            <a:r>
              <a:rPr lang="en-IN" sz="2000" b="1" dirty="0"/>
              <a:t> does day-to-day -</a:t>
            </a:r>
            <a:r>
              <a:rPr lang="en-IN" sz="2000" dirty="0"/>
              <a:t>Three jobs:</a:t>
            </a:r>
          </a:p>
          <a:p>
            <a:pPr lvl="2" rtl="0"/>
            <a:r>
              <a:rPr lang="en-IN" sz="2000" b="1" dirty="0"/>
              <a:t>Answers product questions</a:t>
            </a:r>
            <a:r>
              <a:rPr lang="en-IN" sz="2000" dirty="0"/>
              <a:t> — "Is this shirt machine washable?", "Does this laptop come with a charger?"</a:t>
            </a:r>
          </a:p>
          <a:p>
            <a:pPr lvl="2" rtl="0"/>
            <a:r>
              <a:rPr lang="en-IN" sz="2000" b="1" dirty="0"/>
              <a:t>Helps with orders</a:t>
            </a:r>
            <a:r>
              <a:rPr lang="en-IN" sz="2000" dirty="0"/>
              <a:t> — "Where is my order?", "I want to cancel my order", "I need a refund"</a:t>
            </a:r>
          </a:p>
          <a:p>
            <a:pPr lvl="2" rtl="0"/>
            <a:r>
              <a:rPr lang="en-IN" sz="2000" b="1" dirty="0"/>
              <a:t>Handles complaints</a:t>
            </a:r>
            <a:r>
              <a:rPr lang="en-IN" sz="2000" dirty="0"/>
              <a:t> — "The product arrived damaged", "The size doesn't fit“</a:t>
            </a:r>
          </a:p>
          <a:p>
            <a:pPr marL="342900" indent="-342900" rtl="0">
              <a:buFont typeface="Arial" panose="020B0604020202020204" pitchFamily="34" charset="0"/>
              <a:buChar char="•"/>
            </a:pPr>
            <a:endParaRPr lang="en-IN" sz="2000" dirty="0"/>
          </a:p>
          <a:p>
            <a:pPr marL="342900" indent="-342900" rtl="0">
              <a:buFont typeface="Arial" panose="020B0604020202020204" pitchFamily="34" charset="0"/>
              <a:buChar char="•"/>
            </a:pPr>
            <a:r>
              <a:rPr lang="en-IN" sz="2000" b="1" dirty="0"/>
              <a:t>A concrete scenario — Priya's conversation</a:t>
            </a:r>
            <a:endParaRPr lang="en-IN" sz="2000" dirty="0"/>
          </a:p>
          <a:p>
            <a:pPr lvl="2" rtl="0"/>
            <a:r>
              <a:rPr lang="en-IN" sz="2000" dirty="0">
                <a:highlight>
                  <a:srgbClr val="FFFF00"/>
                </a:highlight>
              </a:rPr>
              <a:t>Priya messages </a:t>
            </a:r>
            <a:r>
              <a:rPr lang="en-IN" sz="2000" dirty="0" err="1">
                <a:highlight>
                  <a:srgbClr val="FFFF00"/>
                </a:highlight>
              </a:rPr>
              <a:t>SupportBot</a:t>
            </a:r>
            <a:r>
              <a:rPr lang="en-IN" sz="2000" dirty="0">
                <a:highlight>
                  <a:srgbClr val="FFFF00"/>
                </a:highlight>
              </a:rPr>
              <a:t> at 3 pm: </a:t>
            </a:r>
            <a:r>
              <a:rPr lang="en-IN" sz="2000" i="1" dirty="0">
                <a:highlight>
                  <a:srgbClr val="FFFF00"/>
                </a:highlight>
              </a:rPr>
              <a:t>"Hi, I ordered a blue shirt last week and it hasn't arrived yet. Also I wanted to know your return policy."</a:t>
            </a:r>
            <a:endParaRPr lang="en-IN" sz="2000" dirty="0">
              <a:highlight>
                <a:srgbClr val="FFFF00"/>
              </a:highlight>
            </a:endParaRPr>
          </a:p>
          <a:p>
            <a:pPr marL="342900" indent="-342900" rtl="0">
              <a:buFont typeface="Arial" panose="020B0604020202020204" pitchFamily="34" charset="0"/>
              <a:buChar char="•"/>
            </a:pPr>
            <a:endParaRPr lang="en-IN" sz="2000" dirty="0"/>
          </a:p>
          <a:p>
            <a:pPr marL="342900" indent="-342900">
              <a:buFont typeface="Arial" panose="020B0604020202020204" pitchFamily="34" charset="0"/>
              <a:buChar char="•"/>
            </a:pPr>
            <a:endParaRPr lang="en-IN" sz="2000" dirty="0"/>
          </a:p>
        </p:txBody>
      </p:sp>
      <p:sp>
        <p:nvSpPr>
          <p:cNvPr id="3" name="Title 2">
            <a:extLst>
              <a:ext uri="{FF2B5EF4-FFF2-40B4-BE49-F238E27FC236}">
                <a16:creationId xmlns:a16="http://schemas.microsoft.com/office/drawing/2014/main" id="{3632EC5D-8EA3-6F12-D591-A3661CBF591E}"/>
              </a:ext>
            </a:extLst>
          </p:cNvPr>
          <p:cNvSpPr>
            <a:spLocks noGrp="1"/>
          </p:cNvSpPr>
          <p:nvPr>
            <p:ph type="title"/>
          </p:nvPr>
        </p:nvSpPr>
        <p:spPr/>
        <p:txBody>
          <a:bodyPr/>
          <a:lstStyle/>
          <a:p>
            <a:r>
              <a:rPr lang="en-IN" dirty="0"/>
              <a:t> Case study 2: </a:t>
            </a:r>
            <a:r>
              <a:rPr lang="en-IN" dirty="0" err="1"/>
              <a:t>SupportBot</a:t>
            </a:r>
            <a:endParaRPr lang="en-IN" dirty="0"/>
          </a:p>
        </p:txBody>
      </p:sp>
    </p:spTree>
    <p:extLst>
      <p:ext uri="{BB962C8B-B14F-4D97-AF65-F5344CB8AC3E}">
        <p14:creationId xmlns:p14="http://schemas.microsoft.com/office/powerpoint/2010/main" val="32357255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B059697-67DE-38F7-8AF2-3866BF5334FE}"/>
              </a:ext>
            </a:extLst>
          </p:cNvPr>
          <p:cNvGraphicFramePr>
            <a:graphicFrameLocks noGrp="1"/>
          </p:cNvGraphicFramePr>
          <p:nvPr>
            <p:ph idx="10"/>
          </p:nvPr>
        </p:nvGraphicFramePr>
        <p:xfrm>
          <a:off x="193289" y="1651256"/>
          <a:ext cx="11887200" cy="4639524"/>
        </p:xfrm>
        <a:graphic>
          <a:graphicData uri="http://schemas.openxmlformats.org/drawingml/2006/table">
            <a:tbl>
              <a:tblPr>
                <a:tableStyleId>{3C2FFA5D-87B4-456A-9821-1D502468CF0F}</a:tableStyleId>
              </a:tblPr>
              <a:tblGrid>
                <a:gridCol w="698810">
                  <a:extLst>
                    <a:ext uri="{9D8B030D-6E8A-4147-A177-3AD203B41FA5}">
                      <a16:colId xmlns:a16="http://schemas.microsoft.com/office/drawing/2014/main" val="1192043186"/>
                    </a:ext>
                  </a:extLst>
                </a:gridCol>
                <a:gridCol w="8396868">
                  <a:extLst>
                    <a:ext uri="{9D8B030D-6E8A-4147-A177-3AD203B41FA5}">
                      <a16:colId xmlns:a16="http://schemas.microsoft.com/office/drawing/2014/main" val="2280639325"/>
                    </a:ext>
                  </a:extLst>
                </a:gridCol>
                <a:gridCol w="2791522">
                  <a:extLst>
                    <a:ext uri="{9D8B030D-6E8A-4147-A177-3AD203B41FA5}">
                      <a16:colId xmlns:a16="http://schemas.microsoft.com/office/drawing/2014/main" val="2920806306"/>
                    </a:ext>
                  </a:extLst>
                </a:gridCol>
              </a:tblGrid>
              <a:tr h="254984">
                <a:tc>
                  <a:txBody>
                    <a:bodyPr/>
                    <a:lstStyle/>
                    <a:p>
                      <a:pPr>
                        <a:buNone/>
                      </a:pPr>
                      <a:r>
                        <a:rPr lang="en-IN" sz="2000" dirty="0"/>
                        <a:t>Step</a:t>
                      </a:r>
                    </a:p>
                  </a:txBody>
                  <a:tcPr marL="63746" marR="63746" marT="31873" marB="31873" anchor="ctr"/>
                </a:tc>
                <a:tc>
                  <a:txBody>
                    <a:bodyPr/>
                    <a:lstStyle/>
                    <a:p>
                      <a:pPr>
                        <a:buNone/>
                      </a:pPr>
                      <a:r>
                        <a:rPr lang="en-IN" sz="2000" dirty="0"/>
                        <a:t>What happens</a:t>
                      </a:r>
                    </a:p>
                  </a:txBody>
                  <a:tcPr marL="63746" marR="63746" marT="31873" marB="31873" anchor="ctr"/>
                </a:tc>
                <a:tc>
                  <a:txBody>
                    <a:bodyPr/>
                    <a:lstStyle/>
                    <a:p>
                      <a:pPr>
                        <a:buNone/>
                      </a:pPr>
                      <a:r>
                        <a:rPr lang="en-IN" sz="2000"/>
                        <a:t>Memory type in play</a:t>
                      </a:r>
                    </a:p>
                  </a:txBody>
                  <a:tcPr marL="63746" marR="63746" marT="31873" marB="31873" anchor="ctr"/>
                </a:tc>
                <a:extLst>
                  <a:ext uri="{0D108BD9-81ED-4DB2-BD59-A6C34878D82A}">
                    <a16:rowId xmlns:a16="http://schemas.microsoft.com/office/drawing/2014/main" val="1991284069"/>
                  </a:ext>
                </a:extLst>
              </a:tr>
              <a:tr h="1211173">
                <a:tc>
                  <a:txBody>
                    <a:bodyPr/>
                    <a:lstStyle/>
                    <a:p>
                      <a:pPr>
                        <a:buNone/>
                      </a:pPr>
                      <a:r>
                        <a:rPr lang="en-IN" sz="2000"/>
                        <a:t>1</a:t>
                      </a:r>
                    </a:p>
                  </a:txBody>
                  <a:tcPr marL="63746" marR="63746" marT="31873" marB="31873" anchor="ctr"/>
                </a:tc>
                <a:tc>
                  <a:txBody>
                    <a:bodyPr/>
                    <a:lstStyle/>
                    <a:p>
                      <a:pPr>
                        <a:buNone/>
                      </a:pPr>
                      <a:r>
                        <a:rPr lang="en-IN" sz="2000" dirty="0" err="1"/>
                        <a:t>SupportBot</a:t>
                      </a:r>
                      <a:r>
                        <a:rPr lang="en-IN" sz="2000" dirty="0"/>
                        <a:t> starts the conversation. It loads its rulebook: "always greet by name if known", "escalate to human after 3 failed attempts", "never promise a refund without checking eligibility".</a:t>
                      </a:r>
                    </a:p>
                  </a:txBody>
                  <a:tcPr marL="63746" marR="63746" marT="31873" marB="31873" anchor="ctr"/>
                </a:tc>
                <a:tc>
                  <a:txBody>
                    <a:bodyPr/>
                    <a:lstStyle/>
                    <a:p>
                      <a:pPr>
                        <a:buNone/>
                      </a:pPr>
                      <a:r>
                        <a:rPr lang="en-IN" sz="2000" b="1"/>
                        <a:t>Procedural</a:t>
                      </a:r>
                      <a:r>
                        <a:rPr lang="en-IN" sz="2000"/>
                        <a:t> (long-term)</a:t>
                      </a:r>
                    </a:p>
                  </a:txBody>
                  <a:tcPr marL="63746" marR="63746" marT="31873" marB="31873" anchor="ctr"/>
                </a:tc>
                <a:extLst>
                  <a:ext uri="{0D108BD9-81ED-4DB2-BD59-A6C34878D82A}">
                    <a16:rowId xmlns:a16="http://schemas.microsoft.com/office/drawing/2014/main" val="3732024081"/>
                  </a:ext>
                </a:extLst>
              </a:tr>
              <a:tr h="828697">
                <a:tc>
                  <a:txBody>
                    <a:bodyPr/>
                    <a:lstStyle/>
                    <a:p>
                      <a:pPr>
                        <a:buNone/>
                      </a:pPr>
                      <a:r>
                        <a:rPr lang="en-IN" sz="2000" dirty="0"/>
                        <a:t>2</a:t>
                      </a:r>
                    </a:p>
                  </a:txBody>
                  <a:tcPr marL="63746" marR="63746" marT="31873" marB="31873" anchor="ctr"/>
                </a:tc>
                <a:tc>
                  <a:txBody>
                    <a:bodyPr/>
                    <a:lstStyle/>
                    <a:p>
                      <a:pPr>
                        <a:buNone/>
                      </a:pPr>
                      <a:r>
                        <a:rPr lang="en-IN" sz="2000" dirty="0" err="1"/>
                        <a:t>SupportBot</a:t>
                      </a:r>
                      <a:r>
                        <a:rPr lang="en-IN" sz="2000" dirty="0"/>
                        <a:t> holds Priya's message in its scratchpad along with what it plans to do: (a) check order, (b) answer return policy.</a:t>
                      </a:r>
                    </a:p>
                  </a:txBody>
                  <a:tcPr marL="63746" marR="63746" marT="31873" marB="31873" anchor="ctr"/>
                </a:tc>
                <a:tc>
                  <a:txBody>
                    <a:bodyPr/>
                    <a:lstStyle/>
                    <a:p>
                      <a:pPr>
                        <a:buNone/>
                      </a:pPr>
                      <a:r>
                        <a:rPr lang="en-IN" sz="2000" b="1" dirty="0"/>
                        <a:t>Working</a:t>
                      </a:r>
                      <a:r>
                        <a:rPr lang="en-IN" sz="2000" dirty="0"/>
                        <a:t> (short-term)</a:t>
                      </a:r>
                    </a:p>
                  </a:txBody>
                  <a:tcPr marL="63746" marR="63746" marT="31873" marB="31873" anchor="ctr"/>
                </a:tc>
                <a:extLst>
                  <a:ext uri="{0D108BD9-81ED-4DB2-BD59-A6C34878D82A}">
                    <a16:rowId xmlns:a16="http://schemas.microsoft.com/office/drawing/2014/main" val="2736579235"/>
                  </a:ext>
                </a:extLst>
              </a:tr>
              <a:tr h="1402411">
                <a:tc>
                  <a:txBody>
                    <a:bodyPr/>
                    <a:lstStyle/>
                    <a:p>
                      <a:pPr>
                        <a:buNone/>
                      </a:pPr>
                      <a:r>
                        <a:rPr lang="en-IN" sz="2000"/>
                        <a:t>3</a:t>
                      </a:r>
                    </a:p>
                  </a:txBody>
                  <a:tcPr marL="63746" marR="63746" marT="31873" marB="31873" anchor="ctr"/>
                </a:tc>
                <a:tc>
                  <a:txBody>
                    <a:bodyPr/>
                    <a:lstStyle/>
                    <a:p>
                      <a:pPr>
                        <a:buNone/>
                      </a:pPr>
                      <a:r>
                        <a:rPr lang="en-IN" sz="2000" dirty="0"/>
                        <a:t>Priya asked "what is your return policy?" — thousands of customers ask this in slightly different wording every day ("how do I return?", "can I get a refund?"). </a:t>
                      </a:r>
                      <a:r>
                        <a:rPr lang="en-IN" sz="2000" dirty="0" err="1"/>
                        <a:t>SupportBot</a:t>
                      </a:r>
                      <a:r>
                        <a:rPr lang="en-IN" sz="2000" dirty="0"/>
                        <a:t> already has this cached — instant answer, no LLM call needed.</a:t>
                      </a:r>
                    </a:p>
                  </a:txBody>
                  <a:tcPr marL="63746" marR="63746" marT="31873" marB="31873" anchor="ctr"/>
                </a:tc>
                <a:tc>
                  <a:txBody>
                    <a:bodyPr/>
                    <a:lstStyle/>
                    <a:p>
                      <a:pPr>
                        <a:buNone/>
                      </a:pPr>
                      <a:r>
                        <a:rPr lang="en-IN" sz="2000" b="1" dirty="0"/>
                        <a:t>Semantic cache</a:t>
                      </a:r>
                      <a:r>
                        <a:rPr lang="en-IN" sz="2000" dirty="0"/>
                        <a:t> (short-term)</a:t>
                      </a:r>
                    </a:p>
                  </a:txBody>
                  <a:tcPr marL="63746" marR="63746" marT="31873" marB="31873" anchor="ctr"/>
                </a:tc>
                <a:extLst>
                  <a:ext uri="{0D108BD9-81ED-4DB2-BD59-A6C34878D82A}">
                    <a16:rowId xmlns:a16="http://schemas.microsoft.com/office/drawing/2014/main" val="2730598661"/>
                  </a:ext>
                </a:extLst>
              </a:tr>
              <a:tr h="828697">
                <a:tc>
                  <a:txBody>
                    <a:bodyPr/>
                    <a:lstStyle/>
                    <a:p>
                      <a:pPr>
                        <a:buNone/>
                      </a:pPr>
                      <a:r>
                        <a:rPr lang="en-IN" sz="2000"/>
                        <a:t>4</a:t>
                      </a:r>
                    </a:p>
                  </a:txBody>
                  <a:tcPr marL="63746" marR="63746" marT="31873" marB="31873" anchor="ctr"/>
                </a:tc>
                <a:tc>
                  <a:txBody>
                    <a:bodyPr/>
                    <a:lstStyle/>
                    <a:p>
                      <a:pPr>
                        <a:buNone/>
                      </a:pPr>
                      <a:r>
                        <a:rPr lang="en-IN" sz="2000"/>
                        <a:t>For the return policy answer itself, SupportBot pulls the current policy text from its indexed knowledge base of ShopKart's help docs.</a:t>
                      </a:r>
                    </a:p>
                  </a:txBody>
                  <a:tcPr marL="63746" marR="63746" marT="31873" marB="31873" anchor="ctr"/>
                </a:tc>
                <a:tc>
                  <a:txBody>
                    <a:bodyPr/>
                    <a:lstStyle/>
                    <a:p>
                      <a:pPr>
                        <a:buNone/>
                      </a:pPr>
                      <a:r>
                        <a:rPr lang="en-IN" sz="2000" b="1" dirty="0"/>
                        <a:t>Semantic</a:t>
                      </a:r>
                      <a:r>
                        <a:rPr lang="en-IN" sz="2000" dirty="0"/>
                        <a:t> long-term (knowledge base)</a:t>
                      </a:r>
                    </a:p>
                  </a:txBody>
                  <a:tcPr marL="63746" marR="63746" marT="31873" marB="31873" anchor="ctr"/>
                </a:tc>
                <a:extLst>
                  <a:ext uri="{0D108BD9-81ED-4DB2-BD59-A6C34878D82A}">
                    <a16:rowId xmlns:a16="http://schemas.microsoft.com/office/drawing/2014/main" val="1325897187"/>
                  </a:ext>
                </a:extLst>
              </a:tr>
            </a:tbl>
          </a:graphicData>
        </a:graphic>
      </p:graphicFrame>
      <p:sp>
        <p:nvSpPr>
          <p:cNvPr id="3" name="Title 2">
            <a:extLst>
              <a:ext uri="{FF2B5EF4-FFF2-40B4-BE49-F238E27FC236}">
                <a16:creationId xmlns:a16="http://schemas.microsoft.com/office/drawing/2014/main" id="{200C84CD-5F09-DD88-9EF4-0116496A72C2}"/>
              </a:ext>
            </a:extLst>
          </p:cNvPr>
          <p:cNvSpPr>
            <a:spLocks noGrp="1"/>
          </p:cNvSpPr>
          <p:nvPr>
            <p:ph type="title"/>
          </p:nvPr>
        </p:nvSpPr>
        <p:spPr>
          <a:xfrm>
            <a:off x="193289" y="0"/>
            <a:ext cx="10881209" cy="1219200"/>
          </a:xfrm>
        </p:spPr>
        <p:txBody>
          <a:bodyPr/>
          <a:lstStyle/>
          <a:p>
            <a:r>
              <a:rPr lang="en-IN" dirty="0"/>
              <a:t>Case study 2: </a:t>
            </a:r>
            <a:r>
              <a:rPr lang="en-IN" dirty="0" err="1"/>
              <a:t>SupportBot</a:t>
            </a:r>
            <a:endParaRPr lang="en-IN" dirty="0"/>
          </a:p>
        </p:txBody>
      </p:sp>
    </p:spTree>
    <p:extLst>
      <p:ext uri="{BB962C8B-B14F-4D97-AF65-F5344CB8AC3E}">
        <p14:creationId xmlns:p14="http://schemas.microsoft.com/office/powerpoint/2010/main" val="20860107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832A4CA-9F47-B532-4D0B-879499C4A1AE}"/>
              </a:ext>
            </a:extLst>
          </p:cNvPr>
          <p:cNvGraphicFramePr>
            <a:graphicFrameLocks noGrp="1"/>
          </p:cNvGraphicFramePr>
          <p:nvPr>
            <p:ph idx="10"/>
          </p:nvPr>
        </p:nvGraphicFramePr>
        <p:xfrm>
          <a:off x="122664" y="1427355"/>
          <a:ext cx="12069338" cy="5163017"/>
        </p:xfrm>
        <a:graphic>
          <a:graphicData uri="http://schemas.openxmlformats.org/drawingml/2006/table">
            <a:tbl>
              <a:tblPr>
                <a:tableStyleId>{3C2FFA5D-87B4-456A-9821-1D502468CF0F}</a:tableStyleId>
              </a:tblPr>
              <a:tblGrid>
                <a:gridCol w="932040">
                  <a:extLst>
                    <a:ext uri="{9D8B030D-6E8A-4147-A177-3AD203B41FA5}">
                      <a16:colId xmlns:a16="http://schemas.microsoft.com/office/drawing/2014/main" val="3212620681"/>
                    </a:ext>
                  </a:extLst>
                </a:gridCol>
                <a:gridCol w="7114185">
                  <a:extLst>
                    <a:ext uri="{9D8B030D-6E8A-4147-A177-3AD203B41FA5}">
                      <a16:colId xmlns:a16="http://schemas.microsoft.com/office/drawing/2014/main" val="390361100"/>
                    </a:ext>
                  </a:extLst>
                </a:gridCol>
                <a:gridCol w="4023113">
                  <a:extLst>
                    <a:ext uri="{9D8B030D-6E8A-4147-A177-3AD203B41FA5}">
                      <a16:colId xmlns:a16="http://schemas.microsoft.com/office/drawing/2014/main" val="3253543019"/>
                    </a:ext>
                  </a:extLst>
                </a:gridCol>
              </a:tblGrid>
              <a:tr h="1102217">
                <a:tc>
                  <a:txBody>
                    <a:bodyPr/>
                    <a:lstStyle/>
                    <a:p>
                      <a:pPr>
                        <a:buNone/>
                      </a:pPr>
                      <a:r>
                        <a:rPr lang="en-IN" sz="2000" dirty="0"/>
                        <a:t>5</a:t>
                      </a:r>
                      <a:endParaRPr lang="en-IN" sz="2000" dirty="0">
                        <a:latin typeface="Cambria" panose="02040503050406030204" pitchFamily="18" charset="0"/>
                        <a:ea typeface="Cambria" panose="02040503050406030204" pitchFamily="18" charset="0"/>
                      </a:endParaRPr>
                    </a:p>
                  </a:txBody>
                  <a:tcPr marL="50854" marR="50854" marT="25427" marB="25427" anchor="ctr"/>
                </a:tc>
                <a:tc>
                  <a:txBody>
                    <a:bodyPr/>
                    <a:lstStyle/>
                    <a:p>
                      <a:pPr>
                        <a:buNone/>
                      </a:pPr>
                      <a:r>
                        <a:rPr lang="en-IN" sz="2000" dirty="0" err="1">
                          <a:solidFill>
                            <a:schemeClr val="dk1"/>
                          </a:solidFill>
                        </a:rPr>
                        <a:t>SupportBot</a:t>
                      </a:r>
                      <a:r>
                        <a:rPr lang="en-IN" sz="2000" dirty="0"/>
                        <a:t> recognises Priya — she's a returning customer. It looks up her profile: "prefers Hindi, prefers concise answers, VIP tier (fast shipping)." Adjusts tone accordingly.</a:t>
                      </a:r>
                      <a:endParaRPr lang="en-IN" sz="2000" dirty="0">
                        <a:latin typeface="Cambria" panose="02040503050406030204" pitchFamily="18" charset="0"/>
                        <a:ea typeface="Cambria" panose="02040503050406030204" pitchFamily="18" charset="0"/>
                      </a:endParaRPr>
                    </a:p>
                  </a:txBody>
                  <a:tcPr marL="50854" marR="50854" marT="25427" marB="25427" anchor="ctr"/>
                </a:tc>
                <a:tc>
                  <a:txBody>
                    <a:bodyPr/>
                    <a:lstStyle/>
                    <a:p>
                      <a:pPr>
                        <a:buNone/>
                      </a:pPr>
                      <a:r>
                        <a:rPr lang="en-IN" sz="2000" b="1"/>
                        <a:t>Semantic</a:t>
                      </a:r>
                      <a:r>
                        <a:rPr lang="en-IN" sz="2000"/>
                        <a:t> long-term (persona memory)</a:t>
                      </a:r>
                      <a:endParaRPr lang="en-IN" sz="2000">
                        <a:latin typeface="Cambria" panose="02040503050406030204" pitchFamily="18" charset="0"/>
                        <a:ea typeface="Cambria" panose="02040503050406030204" pitchFamily="18" charset="0"/>
                      </a:endParaRPr>
                    </a:p>
                  </a:txBody>
                  <a:tcPr marL="50854" marR="50854" marT="25427" marB="25427" anchor="ctr"/>
                </a:tc>
                <a:extLst>
                  <a:ext uri="{0D108BD9-81ED-4DB2-BD59-A6C34878D82A}">
                    <a16:rowId xmlns:a16="http://schemas.microsoft.com/office/drawing/2014/main" val="1985372941"/>
                  </a:ext>
                </a:extLst>
              </a:tr>
              <a:tr h="754149">
                <a:tc>
                  <a:txBody>
                    <a:bodyPr/>
                    <a:lstStyle/>
                    <a:p>
                      <a:pPr>
                        <a:buNone/>
                      </a:pPr>
                      <a:r>
                        <a:rPr lang="en-IN" sz="2000"/>
                        <a:t>6</a:t>
                      </a:r>
                      <a:endParaRPr lang="en-IN" sz="2000">
                        <a:latin typeface="Cambria" panose="02040503050406030204" pitchFamily="18" charset="0"/>
                        <a:ea typeface="Cambria" panose="02040503050406030204" pitchFamily="18" charset="0"/>
                      </a:endParaRPr>
                    </a:p>
                  </a:txBody>
                  <a:tcPr marL="50854" marR="50854" marT="25427" marB="25427" anchor="ctr"/>
                </a:tc>
                <a:tc>
                  <a:txBody>
                    <a:bodyPr/>
                    <a:lstStyle/>
                    <a:p>
                      <a:pPr>
                        <a:buNone/>
                      </a:pPr>
                      <a:r>
                        <a:rPr lang="en-IN" sz="2000"/>
                        <a:t>SupportBot also knows the shirt she's asking about — "SKU 8842, blue cotton shirt, ships from Bengaluru warehouse."</a:t>
                      </a:r>
                      <a:endParaRPr lang="en-IN" sz="2000">
                        <a:latin typeface="Cambria" panose="02040503050406030204" pitchFamily="18" charset="0"/>
                        <a:ea typeface="Cambria" panose="02040503050406030204" pitchFamily="18" charset="0"/>
                      </a:endParaRPr>
                    </a:p>
                  </a:txBody>
                  <a:tcPr marL="50854" marR="50854" marT="25427" marB="25427" anchor="ctr"/>
                </a:tc>
                <a:tc>
                  <a:txBody>
                    <a:bodyPr/>
                    <a:lstStyle/>
                    <a:p>
                      <a:pPr>
                        <a:buNone/>
                      </a:pPr>
                      <a:r>
                        <a:rPr lang="en-IN" sz="2000" b="1"/>
                        <a:t>Semantic</a:t>
                      </a:r>
                      <a:r>
                        <a:rPr lang="en-IN" sz="2000"/>
                        <a:t> long-term (entity memory)</a:t>
                      </a:r>
                      <a:endParaRPr lang="en-IN" sz="2000">
                        <a:latin typeface="Cambria" panose="02040503050406030204" pitchFamily="18" charset="0"/>
                        <a:ea typeface="Cambria" panose="02040503050406030204" pitchFamily="18" charset="0"/>
                      </a:endParaRPr>
                    </a:p>
                  </a:txBody>
                  <a:tcPr marL="50854" marR="50854" marT="25427" marB="25427" anchor="ctr"/>
                </a:tc>
                <a:extLst>
                  <a:ext uri="{0D108BD9-81ED-4DB2-BD59-A6C34878D82A}">
                    <a16:rowId xmlns:a16="http://schemas.microsoft.com/office/drawing/2014/main" val="1998690144"/>
                  </a:ext>
                </a:extLst>
              </a:tr>
              <a:tr h="1102217">
                <a:tc>
                  <a:txBody>
                    <a:bodyPr/>
                    <a:lstStyle/>
                    <a:p>
                      <a:pPr>
                        <a:buNone/>
                      </a:pPr>
                      <a:r>
                        <a:rPr lang="en-IN" sz="2000" dirty="0"/>
                        <a:t>7</a:t>
                      </a:r>
                      <a:endParaRPr lang="en-IN" sz="2000" dirty="0">
                        <a:latin typeface="Cambria" panose="02040503050406030204" pitchFamily="18" charset="0"/>
                        <a:ea typeface="Cambria" panose="02040503050406030204" pitchFamily="18" charset="0"/>
                      </a:endParaRPr>
                    </a:p>
                  </a:txBody>
                  <a:tcPr marL="50854" marR="50854" marT="25427" marB="25427" anchor="ctr"/>
                </a:tc>
                <a:tc>
                  <a:txBody>
                    <a:bodyPr/>
                    <a:lstStyle/>
                    <a:p>
                      <a:pPr>
                        <a:buNone/>
                      </a:pPr>
                      <a:r>
                        <a:rPr lang="en-IN" sz="2000" dirty="0" err="1"/>
                        <a:t>SupportBot</a:t>
                      </a:r>
                      <a:r>
                        <a:rPr lang="en-IN" sz="2000" dirty="0"/>
                        <a:t> recalls: "Priya messaged us three weeks ago about a delayed order; she was frustrated, we sent her a ₹200 voucher." Handles her carefully this time.</a:t>
                      </a:r>
                      <a:endParaRPr lang="en-IN" sz="2000" dirty="0">
                        <a:latin typeface="Cambria" panose="02040503050406030204" pitchFamily="18" charset="0"/>
                        <a:ea typeface="Cambria" panose="02040503050406030204" pitchFamily="18" charset="0"/>
                      </a:endParaRPr>
                    </a:p>
                  </a:txBody>
                  <a:tcPr marL="50854" marR="50854" marT="25427" marB="25427" anchor="ctr"/>
                </a:tc>
                <a:tc>
                  <a:txBody>
                    <a:bodyPr/>
                    <a:lstStyle/>
                    <a:p>
                      <a:pPr>
                        <a:buNone/>
                      </a:pPr>
                      <a:r>
                        <a:rPr lang="en-IN" sz="2000" b="1"/>
                        <a:t>Episodic</a:t>
                      </a:r>
                      <a:r>
                        <a:rPr lang="en-IN" sz="2000"/>
                        <a:t> (long-term)</a:t>
                      </a:r>
                      <a:endParaRPr lang="en-IN" sz="2000">
                        <a:latin typeface="Cambria" panose="02040503050406030204" pitchFamily="18" charset="0"/>
                        <a:ea typeface="Cambria" panose="02040503050406030204" pitchFamily="18" charset="0"/>
                      </a:endParaRPr>
                    </a:p>
                  </a:txBody>
                  <a:tcPr marL="50854" marR="50854" marT="25427" marB="25427" anchor="ctr"/>
                </a:tc>
                <a:extLst>
                  <a:ext uri="{0D108BD9-81ED-4DB2-BD59-A6C34878D82A}">
                    <a16:rowId xmlns:a16="http://schemas.microsoft.com/office/drawing/2014/main" val="706285576"/>
                  </a:ext>
                </a:extLst>
              </a:tr>
              <a:tr h="1102217">
                <a:tc>
                  <a:txBody>
                    <a:bodyPr/>
                    <a:lstStyle/>
                    <a:p>
                      <a:pPr>
                        <a:buNone/>
                      </a:pPr>
                      <a:r>
                        <a:rPr lang="en-IN" sz="2000"/>
                        <a:t>8</a:t>
                      </a:r>
                      <a:endParaRPr lang="en-IN" sz="2000">
                        <a:latin typeface="Cambria" panose="02040503050406030204" pitchFamily="18" charset="0"/>
                        <a:ea typeface="Cambria" panose="02040503050406030204" pitchFamily="18" charset="0"/>
                      </a:endParaRPr>
                    </a:p>
                  </a:txBody>
                  <a:tcPr marL="50854" marR="50854" marT="25427" marB="25427" anchor="ctr"/>
                </a:tc>
                <a:tc>
                  <a:txBody>
                    <a:bodyPr/>
                    <a:lstStyle/>
                    <a:p>
                      <a:pPr>
                        <a:buNone/>
                      </a:pPr>
                      <a:r>
                        <a:rPr lang="en-IN" sz="2000"/>
                        <a:t>SupportBot needs order details. It writes to a shared row: case[9931] = {customer: Priya, order: #4482, needs: order_status}. order-bot picks it up.</a:t>
                      </a:r>
                      <a:endParaRPr lang="en-IN" sz="2000">
                        <a:latin typeface="Cambria" panose="02040503050406030204" pitchFamily="18" charset="0"/>
                        <a:ea typeface="Cambria" panose="02040503050406030204" pitchFamily="18" charset="0"/>
                      </a:endParaRPr>
                    </a:p>
                  </a:txBody>
                  <a:tcPr marL="50854" marR="50854" marT="25427" marB="25427" anchor="ctr"/>
                </a:tc>
                <a:tc>
                  <a:txBody>
                    <a:bodyPr/>
                    <a:lstStyle/>
                    <a:p>
                      <a:pPr>
                        <a:buNone/>
                      </a:pPr>
                      <a:r>
                        <a:rPr lang="en-IN" sz="2000" b="1"/>
                        <a:t>Shared</a:t>
                      </a:r>
                      <a:r>
                        <a:rPr lang="en-IN" sz="2000"/>
                        <a:t> memory (coordination)</a:t>
                      </a:r>
                      <a:endParaRPr lang="en-IN" sz="2000">
                        <a:latin typeface="Cambria" panose="02040503050406030204" pitchFamily="18" charset="0"/>
                        <a:ea typeface="Cambria" panose="02040503050406030204" pitchFamily="18" charset="0"/>
                      </a:endParaRPr>
                    </a:p>
                  </a:txBody>
                  <a:tcPr marL="50854" marR="50854" marT="25427" marB="25427" anchor="ctr"/>
                </a:tc>
                <a:extLst>
                  <a:ext uri="{0D108BD9-81ED-4DB2-BD59-A6C34878D82A}">
                    <a16:rowId xmlns:a16="http://schemas.microsoft.com/office/drawing/2014/main" val="341029382"/>
                  </a:ext>
                </a:extLst>
              </a:tr>
              <a:tr h="1102217">
                <a:tc>
                  <a:txBody>
                    <a:bodyPr/>
                    <a:lstStyle/>
                    <a:p>
                      <a:pPr>
                        <a:buNone/>
                      </a:pPr>
                      <a:r>
                        <a:rPr lang="en-IN" sz="2000"/>
                        <a:t>9</a:t>
                      </a:r>
                      <a:endParaRPr lang="en-IN" sz="2000">
                        <a:latin typeface="Cambria" panose="02040503050406030204" pitchFamily="18" charset="0"/>
                        <a:ea typeface="Cambria" panose="02040503050406030204" pitchFamily="18" charset="0"/>
                      </a:endParaRPr>
                    </a:p>
                  </a:txBody>
                  <a:tcPr marL="50854" marR="50854" marT="25427" marB="25427" anchor="ctr"/>
                </a:tc>
                <a:tc>
                  <a:txBody>
                    <a:bodyPr/>
                    <a:lstStyle/>
                    <a:p>
                      <a:pPr>
                        <a:buNone/>
                      </a:pPr>
                      <a:r>
                        <a:rPr lang="en-IN" sz="2000"/>
                        <a:t>order-bot writes back to the same row: order_status: delayed, new_ETA: tomorrow, reason: warehouse_delay. SupportBot reads it and tells Priya.</a:t>
                      </a:r>
                      <a:endParaRPr lang="en-IN" sz="2000">
                        <a:latin typeface="Cambria" panose="02040503050406030204" pitchFamily="18" charset="0"/>
                        <a:ea typeface="Cambria" panose="02040503050406030204" pitchFamily="18" charset="0"/>
                      </a:endParaRPr>
                    </a:p>
                  </a:txBody>
                  <a:tcPr marL="50854" marR="50854" marT="25427" marB="25427" anchor="ctr"/>
                </a:tc>
                <a:tc>
                  <a:txBody>
                    <a:bodyPr/>
                    <a:lstStyle/>
                    <a:p>
                      <a:pPr>
                        <a:buNone/>
                      </a:pPr>
                      <a:r>
                        <a:rPr lang="en-IN" sz="2000" b="1" dirty="0"/>
                        <a:t>Shared</a:t>
                      </a:r>
                      <a:r>
                        <a:rPr lang="en-IN" sz="2000" dirty="0"/>
                        <a:t> memory (coordination)</a:t>
                      </a:r>
                      <a:endParaRPr lang="en-IN" sz="2000" dirty="0">
                        <a:latin typeface="Cambria" panose="02040503050406030204" pitchFamily="18" charset="0"/>
                        <a:ea typeface="Cambria" panose="02040503050406030204" pitchFamily="18" charset="0"/>
                      </a:endParaRPr>
                    </a:p>
                  </a:txBody>
                  <a:tcPr marL="50854" marR="50854" marT="25427" marB="25427" anchor="ctr"/>
                </a:tc>
                <a:extLst>
                  <a:ext uri="{0D108BD9-81ED-4DB2-BD59-A6C34878D82A}">
                    <a16:rowId xmlns:a16="http://schemas.microsoft.com/office/drawing/2014/main" val="834128662"/>
                  </a:ext>
                </a:extLst>
              </a:tr>
            </a:tbl>
          </a:graphicData>
        </a:graphic>
      </p:graphicFrame>
      <p:sp>
        <p:nvSpPr>
          <p:cNvPr id="3" name="Title 2">
            <a:extLst>
              <a:ext uri="{FF2B5EF4-FFF2-40B4-BE49-F238E27FC236}">
                <a16:creationId xmlns:a16="http://schemas.microsoft.com/office/drawing/2014/main" id="{EEC6E483-0908-B331-3312-494F6B521D72}"/>
              </a:ext>
            </a:extLst>
          </p:cNvPr>
          <p:cNvSpPr>
            <a:spLocks noGrp="1"/>
          </p:cNvSpPr>
          <p:nvPr>
            <p:ph type="title"/>
          </p:nvPr>
        </p:nvSpPr>
        <p:spPr/>
        <p:txBody>
          <a:bodyPr/>
          <a:lstStyle/>
          <a:p>
            <a:r>
              <a:rPr lang="en-IN" dirty="0"/>
              <a:t>Case study 2: </a:t>
            </a:r>
            <a:r>
              <a:rPr lang="en-IN" dirty="0" err="1"/>
              <a:t>SupportBot</a:t>
            </a:r>
            <a:endParaRPr lang="en-IN" dirty="0"/>
          </a:p>
        </p:txBody>
      </p:sp>
    </p:spTree>
    <p:extLst>
      <p:ext uri="{BB962C8B-B14F-4D97-AF65-F5344CB8AC3E}">
        <p14:creationId xmlns:p14="http://schemas.microsoft.com/office/powerpoint/2010/main" val="37924939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E71E7F7-F65C-42C9-9977-C4341421DAAD}"/>
              </a:ext>
            </a:extLst>
          </p:cNvPr>
          <p:cNvGraphicFramePr>
            <a:graphicFrameLocks noGrp="1"/>
          </p:cNvGraphicFramePr>
          <p:nvPr>
            <p:ph idx="10"/>
          </p:nvPr>
        </p:nvGraphicFramePr>
        <p:xfrm>
          <a:off x="169126" y="1366170"/>
          <a:ext cx="11853747" cy="5310977"/>
        </p:xfrm>
        <a:graphic>
          <a:graphicData uri="http://schemas.openxmlformats.org/drawingml/2006/table">
            <a:tbl>
              <a:tblPr>
                <a:tableStyleId>{775DCB02-9BB8-47FD-8907-85C794F793BA}</a:tableStyleId>
              </a:tblPr>
              <a:tblGrid>
                <a:gridCol w="2828693">
                  <a:extLst>
                    <a:ext uri="{9D8B030D-6E8A-4147-A177-3AD203B41FA5}">
                      <a16:colId xmlns:a16="http://schemas.microsoft.com/office/drawing/2014/main" val="3640190140"/>
                    </a:ext>
                  </a:extLst>
                </a:gridCol>
                <a:gridCol w="3568391">
                  <a:extLst>
                    <a:ext uri="{9D8B030D-6E8A-4147-A177-3AD203B41FA5}">
                      <a16:colId xmlns:a16="http://schemas.microsoft.com/office/drawing/2014/main" val="3430280526"/>
                    </a:ext>
                  </a:extLst>
                </a:gridCol>
                <a:gridCol w="5456663">
                  <a:extLst>
                    <a:ext uri="{9D8B030D-6E8A-4147-A177-3AD203B41FA5}">
                      <a16:colId xmlns:a16="http://schemas.microsoft.com/office/drawing/2014/main" val="450949900"/>
                    </a:ext>
                  </a:extLst>
                </a:gridCol>
              </a:tblGrid>
              <a:tr h="301731">
                <a:tc>
                  <a:txBody>
                    <a:bodyPr/>
                    <a:lstStyle/>
                    <a:p>
                      <a:pPr>
                        <a:buNone/>
                      </a:pPr>
                      <a:r>
                        <a:rPr lang="en-IN" sz="2000">
                          <a:latin typeface="Cambria" panose="02040503050406030204" pitchFamily="18" charset="0"/>
                          <a:ea typeface="Cambria" panose="02040503050406030204" pitchFamily="18" charset="0"/>
                        </a:rPr>
                        <a:t>Memory type</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Technology</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What it stores in SupportBot</a:t>
                      </a:r>
                    </a:p>
                  </a:txBody>
                  <a:tcPr marL="75433" marR="75433" marT="37716" marB="37716" anchor="ctr"/>
                </a:tc>
                <a:extLst>
                  <a:ext uri="{0D108BD9-81ED-4DB2-BD59-A6C34878D82A}">
                    <a16:rowId xmlns:a16="http://schemas.microsoft.com/office/drawing/2014/main" val="4191470953"/>
                  </a:ext>
                </a:extLst>
              </a:tr>
              <a:tr h="528029">
                <a:tc>
                  <a:txBody>
                    <a:bodyPr/>
                    <a:lstStyle/>
                    <a:p>
                      <a:pPr>
                        <a:buNone/>
                      </a:pPr>
                      <a:r>
                        <a:rPr lang="en-IN" sz="2000">
                          <a:latin typeface="Cambria" panose="02040503050406030204" pitchFamily="18" charset="0"/>
                          <a:ea typeface="Cambria" panose="02040503050406030204" pitchFamily="18" charset="0"/>
                        </a:rPr>
                        <a:t>Working</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LangGraph state / Redis</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Priya's current message, SupportBot's plan for this turn</a:t>
                      </a:r>
                    </a:p>
                  </a:txBody>
                  <a:tcPr marL="75433" marR="75433" marT="37716" marB="37716" anchor="ctr"/>
                </a:tc>
                <a:extLst>
                  <a:ext uri="{0D108BD9-81ED-4DB2-BD59-A6C34878D82A}">
                    <a16:rowId xmlns:a16="http://schemas.microsoft.com/office/drawing/2014/main" val="1172533445"/>
                  </a:ext>
                </a:extLst>
              </a:tr>
              <a:tr h="528029">
                <a:tc>
                  <a:txBody>
                    <a:bodyPr/>
                    <a:lstStyle/>
                    <a:p>
                      <a:pPr>
                        <a:buNone/>
                      </a:pPr>
                      <a:r>
                        <a:rPr lang="en-IN" sz="2000" dirty="0">
                          <a:latin typeface="Cambria" panose="02040503050406030204" pitchFamily="18" charset="0"/>
                          <a:ea typeface="Cambria" panose="02040503050406030204" pitchFamily="18" charset="0"/>
                        </a:rPr>
                        <a:t>Semantic cache</a:t>
                      </a:r>
                    </a:p>
                  </a:txBody>
                  <a:tcPr marL="75433" marR="75433" marT="37716" marB="37716" anchor="ctr"/>
                </a:tc>
                <a:tc>
                  <a:txBody>
                    <a:bodyPr/>
                    <a:lstStyle/>
                    <a:p>
                      <a:pPr>
                        <a:buNone/>
                      </a:pPr>
                      <a:r>
                        <a:rPr lang="en-IN" sz="2000" dirty="0" err="1">
                          <a:latin typeface="Cambria" panose="02040503050406030204" pitchFamily="18" charset="0"/>
                          <a:ea typeface="Cambria" panose="02040503050406030204" pitchFamily="18" charset="0"/>
                        </a:rPr>
                        <a:t>GPTCache</a:t>
                      </a:r>
                      <a:r>
                        <a:rPr lang="en-IN" sz="2000" dirty="0">
                          <a:latin typeface="Cambria" panose="02040503050406030204" pitchFamily="18" charset="0"/>
                          <a:ea typeface="Cambria" panose="02040503050406030204" pitchFamily="18" charset="0"/>
                        </a:rPr>
                        <a:t> / Redis + vector search</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"return policy?" and its 50 rewordings → one cached answer</a:t>
                      </a:r>
                    </a:p>
                  </a:txBody>
                  <a:tcPr marL="75433" marR="75433" marT="37716" marB="37716" anchor="ctr"/>
                </a:tc>
                <a:extLst>
                  <a:ext uri="{0D108BD9-81ED-4DB2-BD59-A6C34878D82A}">
                    <a16:rowId xmlns:a16="http://schemas.microsoft.com/office/drawing/2014/main" val="1473016864"/>
                  </a:ext>
                </a:extLst>
              </a:tr>
              <a:tr h="528029">
                <a:tc>
                  <a:txBody>
                    <a:bodyPr/>
                    <a:lstStyle/>
                    <a:p>
                      <a:pPr>
                        <a:buNone/>
                      </a:pPr>
                      <a:r>
                        <a:rPr lang="en-IN" sz="2000">
                          <a:latin typeface="Cambria" panose="02040503050406030204" pitchFamily="18" charset="0"/>
                          <a:ea typeface="Cambria" panose="02040503050406030204" pitchFamily="18" charset="0"/>
                        </a:rPr>
                        <a:t>Procedural</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AGENTS.md file on disk</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Rulebook: greet by name, escalate after 3 tries, never promise refunds</a:t>
                      </a:r>
                    </a:p>
                  </a:txBody>
                  <a:tcPr marL="75433" marR="75433" marT="37716" marB="37716" anchor="ctr"/>
                </a:tc>
                <a:extLst>
                  <a:ext uri="{0D108BD9-81ED-4DB2-BD59-A6C34878D82A}">
                    <a16:rowId xmlns:a16="http://schemas.microsoft.com/office/drawing/2014/main" val="3881242905"/>
                  </a:ext>
                </a:extLst>
              </a:tr>
              <a:tr h="528029">
                <a:tc>
                  <a:txBody>
                    <a:bodyPr/>
                    <a:lstStyle/>
                    <a:p>
                      <a:pPr>
                        <a:buNone/>
                      </a:pPr>
                      <a:r>
                        <a:rPr lang="en-IN" sz="2000">
                          <a:latin typeface="Cambria" panose="02040503050406030204" pitchFamily="18" charset="0"/>
                          <a:ea typeface="Cambria" panose="02040503050406030204" pitchFamily="18" charset="0"/>
                        </a:rPr>
                        <a:t>Episodic</a:t>
                      </a:r>
                    </a:p>
                  </a:txBody>
                  <a:tcPr marL="75433" marR="75433" marT="37716" marB="37716" anchor="ctr"/>
                </a:tc>
                <a:tc>
                  <a:txBody>
                    <a:bodyPr/>
                    <a:lstStyle/>
                    <a:p>
                      <a:pPr>
                        <a:buNone/>
                      </a:pPr>
                      <a:r>
                        <a:rPr lang="en-IN" sz="2000" dirty="0" err="1">
                          <a:latin typeface="Cambria" panose="02040503050406030204" pitchFamily="18" charset="0"/>
                          <a:ea typeface="Cambria" panose="02040503050406030204" pitchFamily="18" charset="0"/>
                        </a:rPr>
                        <a:t>pgvector</a:t>
                      </a:r>
                      <a:endParaRPr lang="en-IN" sz="2000" dirty="0">
                        <a:latin typeface="Cambria" panose="02040503050406030204" pitchFamily="18" charset="0"/>
                        <a:ea typeface="Cambria" panose="02040503050406030204" pitchFamily="18" charset="0"/>
                      </a:endParaRP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Priya's past conversations, tagged with date and sentiment</a:t>
                      </a:r>
                    </a:p>
                  </a:txBody>
                  <a:tcPr marL="75433" marR="75433" marT="37716" marB="37716" anchor="ctr"/>
                </a:tc>
                <a:extLst>
                  <a:ext uri="{0D108BD9-81ED-4DB2-BD59-A6C34878D82A}">
                    <a16:rowId xmlns:a16="http://schemas.microsoft.com/office/drawing/2014/main" val="2982976212"/>
                  </a:ext>
                </a:extLst>
              </a:tr>
              <a:tr h="528029">
                <a:tc>
                  <a:txBody>
                    <a:bodyPr/>
                    <a:lstStyle/>
                    <a:p>
                      <a:pPr>
                        <a:buNone/>
                      </a:pPr>
                      <a:r>
                        <a:rPr lang="en-IN" sz="2000">
                          <a:latin typeface="Cambria" panose="02040503050406030204" pitchFamily="18" charset="0"/>
                          <a:ea typeface="Cambria" panose="02040503050406030204" pitchFamily="18" charset="0"/>
                        </a:rPr>
                        <a:t>Semantic — knowledge</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Qdrant / Pinecone</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Help docs, FAQs, policies, product manuals</a:t>
                      </a:r>
                    </a:p>
                  </a:txBody>
                  <a:tcPr marL="75433" marR="75433" marT="37716" marB="37716" anchor="ctr"/>
                </a:tc>
                <a:extLst>
                  <a:ext uri="{0D108BD9-81ED-4DB2-BD59-A6C34878D82A}">
                    <a16:rowId xmlns:a16="http://schemas.microsoft.com/office/drawing/2014/main" val="1876329555"/>
                  </a:ext>
                </a:extLst>
              </a:tr>
              <a:tr h="528029">
                <a:tc>
                  <a:txBody>
                    <a:bodyPr/>
                    <a:lstStyle/>
                    <a:p>
                      <a:pPr>
                        <a:buNone/>
                      </a:pPr>
                      <a:r>
                        <a:rPr lang="en-IN" sz="2000">
                          <a:latin typeface="Cambria" panose="02040503050406030204" pitchFamily="18" charset="0"/>
                          <a:ea typeface="Cambria" panose="02040503050406030204" pitchFamily="18" charset="0"/>
                        </a:rPr>
                        <a:t>Semantic — entity</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JSON / SQLite</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Product catalogue: SKU, description, warehouse</a:t>
                      </a:r>
                    </a:p>
                  </a:txBody>
                  <a:tcPr marL="75433" marR="75433" marT="37716" marB="37716" anchor="ctr"/>
                </a:tc>
                <a:extLst>
                  <a:ext uri="{0D108BD9-81ED-4DB2-BD59-A6C34878D82A}">
                    <a16:rowId xmlns:a16="http://schemas.microsoft.com/office/drawing/2014/main" val="3186358627"/>
                  </a:ext>
                </a:extLst>
              </a:tr>
              <a:tr h="301731">
                <a:tc>
                  <a:txBody>
                    <a:bodyPr/>
                    <a:lstStyle/>
                    <a:p>
                      <a:pPr>
                        <a:buNone/>
                      </a:pPr>
                      <a:r>
                        <a:rPr lang="en-IN" sz="2000">
                          <a:latin typeface="Cambria" panose="02040503050406030204" pitchFamily="18" charset="0"/>
                          <a:ea typeface="Cambria" panose="02040503050406030204" pitchFamily="18" charset="0"/>
                        </a:rPr>
                        <a:t>Semantic — persona</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JSON per customer</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Priya: Hindi, concise, VIP tier</a:t>
                      </a:r>
                    </a:p>
                  </a:txBody>
                  <a:tcPr marL="75433" marR="75433" marT="37716" marB="37716" anchor="ctr"/>
                </a:tc>
                <a:extLst>
                  <a:ext uri="{0D108BD9-81ED-4DB2-BD59-A6C34878D82A}">
                    <a16:rowId xmlns:a16="http://schemas.microsoft.com/office/drawing/2014/main" val="1230499165"/>
                  </a:ext>
                </a:extLst>
              </a:tr>
              <a:tr h="754327">
                <a:tc>
                  <a:txBody>
                    <a:bodyPr/>
                    <a:lstStyle/>
                    <a:p>
                      <a:pPr>
                        <a:buNone/>
                      </a:pPr>
                      <a:r>
                        <a:rPr lang="en-IN" sz="2000" dirty="0">
                          <a:latin typeface="Cambria" panose="02040503050406030204" pitchFamily="18" charset="0"/>
                          <a:ea typeface="Cambria" panose="02040503050406030204" pitchFamily="18" charset="0"/>
                        </a:rPr>
                        <a:t>Shared</a:t>
                      </a:r>
                    </a:p>
                  </a:txBody>
                  <a:tcPr marL="75433" marR="75433" marT="37716" marB="37716" anchor="ctr"/>
                </a:tc>
                <a:tc>
                  <a:txBody>
                    <a:bodyPr/>
                    <a:lstStyle/>
                    <a:p>
                      <a:pPr>
                        <a:buNone/>
                      </a:pPr>
                      <a:r>
                        <a:rPr lang="en-IN" sz="2000">
                          <a:latin typeface="Cambria" panose="02040503050406030204" pitchFamily="18" charset="0"/>
                          <a:ea typeface="Cambria" panose="02040503050406030204" pitchFamily="18" charset="0"/>
                        </a:rPr>
                        <a:t>PostgreSQL</a:t>
                      </a:r>
                    </a:p>
                  </a:txBody>
                  <a:tcPr marL="75433" marR="75433" marT="37716" marB="37716" anchor="ctr"/>
                </a:tc>
                <a:tc>
                  <a:txBody>
                    <a:bodyPr/>
                    <a:lstStyle/>
                    <a:p>
                      <a:pPr>
                        <a:buNone/>
                      </a:pPr>
                      <a:r>
                        <a:rPr lang="en-IN" sz="2000" dirty="0">
                          <a:latin typeface="Cambria" panose="02040503050406030204" pitchFamily="18" charset="0"/>
                          <a:ea typeface="Cambria" panose="02040503050406030204" pitchFamily="18" charset="0"/>
                        </a:rPr>
                        <a:t>The case row that </a:t>
                      </a:r>
                      <a:r>
                        <a:rPr lang="en-IN" sz="2000" dirty="0" err="1">
                          <a:latin typeface="Cambria" panose="02040503050406030204" pitchFamily="18" charset="0"/>
                          <a:ea typeface="Cambria" panose="02040503050406030204" pitchFamily="18" charset="0"/>
                        </a:rPr>
                        <a:t>SupportBot</a:t>
                      </a:r>
                      <a:r>
                        <a:rPr lang="en-IN" sz="2000" dirty="0">
                          <a:latin typeface="Cambria" panose="02040503050406030204" pitchFamily="18" charset="0"/>
                          <a:ea typeface="Cambria" panose="02040503050406030204" pitchFamily="18" charset="0"/>
                        </a:rPr>
                        <a:t>, order-bot, refund-bot all read/write</a:t>
                      </a:r>
                    </a:p>
                  </a:txBody>
                  <a:tcPr marL="75433" marR="75433" marT="37716" marB="37716" anchor="ctr"/>
                </a:tc>
                <a:extLst>
                  <a:ext uri="{0D108BD9-81ED-4DB2-BD59-A6C34878D82A}">
                    <a16:rowId xmlns:a16="http://schemas.microsoft.com/office/drawing/2014/main" val="3516006645"/>
                  </a:ext>
                </a:extLst>
              </a:tr>
            </a:tbl>
          </a:graphicData>
        </a:graphic>
      </p:graphicFrame>
      <p:sp>
        <p:nvSpPr>
          <p:cNvPr id="3" name="Title 2">
            <a:extLst>
              <a:ext uri="{FF2B5EF4-FFF2-40B4-BE49-F238E27FC236}">
                <a16:creationId xmlns:a16="http://schemas.microsoft.com/office/drawing/2014/main" id="{2A67E2E2-0943-3A4C-A4B1-317A60B4D690}"/>
              </a:ext>
            </a:extLst>
          </p:cNvPr>
          <p:cNvSpPr>
            <a:spLocks noGrp="1"/>
          </p:cNvSpPr>
          <p:nvPr>
            <p:ph type="title"/>
          </p:nvPr>
        </p:nvSpPr>
        <p:spPr/>
        <p:txBody>
          <a:bodyPr/>
          <a:lstStyle/>
          <a:p>
            <a:r>
              <a:rPr lang="en-IN" dirty="0"/>
              <a:t>Case study 2: </a:t>
            </a:r>
            <a:r>
              <a:rPr lang="en-IN" dirty="0" err="1"/>
              <a:t>SupportBot</a:t>
            </a:r>
            <a:endParaRPr lang="en-IN" dirty="0"/>
          </a:p>
        </p:txBody>
      </p:sp>
    </p:spTree>
    <p:extLst>
      <p:ext uri="{BB962C8B-B14F-4D97-AF65-F5344CB8AC3E}">
        <p14:creationId xmlns:p14="http://schemas.microsoft.com/office/powerpoint/2010/main" val="4425289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E37508-2461-87CF-ED4D-FA1757B57305}"/>
              </a:ext>
            </a:extLst>
          </p:cNvPr>
          <p:cNvSpPr>
            <a:spLocks noGrp="1"/>
          </p:cNvSpPr>
          <p:nvPr>
            <p:ph idx="10"/>
          </p:nvPr>
        </p:nvSpPr>
        <p:spPr/>
        <p:txBody>
          <a:bodyPr>
            <a:normAutofit fontScale="92500" lnSpcReduction="10000"/>
          </a:bodyPr>
          <a:lstStyle/>
          <a:p>
            <a:pPr marL="342900" indent="-342900">
              <a:buFont typeface="Arial" panose="020B0604020202020204" pitchFamily="34" charset="0"/>
              <a:buChar char="•"/>
            </a:pPr>
            <a:r>
              <a:rPr lang="en-IN" dirty="0">
                <a:hlinkClick r:id="rId2"/>
              </a:rPr>
              <a:t>https://www.mongodb.com/resources/basics/artificial-intelligence/</a:t>
            </a:r>
            <a:endParaRPr lang="en-US" dirty="0"/>
          </a:p>
          <a:p>
            <a:pPr marL="342900" indent="-342900">
              <a:buFont typeface="Arial" panose="020B0604020202020204" pitchFamily="34" charset="0"/>
              <a:buChar char="•"/>
            </a:pPr>
            <a:r>
              <a:rPr lang="en-IN" dirty="0">
                <a:hlinkClick r:id="rId3"/>
              </a:rPr>
              <a:t>https://milvus.io/blog/harness-engineering-ai-agents.md</a:t>
            </a:r>
            <a:endParaRPr lang="en-IN" dirty="0"/>
          </a:p>
          <a:p>
            <a:pPr marL="342900" indent="-342900">
              <a:buFont typeface="Arial" panose="020B0604020202020204" pitchFamily="34" charset="0"/>
              <a:buChar char="•"/>
            </a:pPr>
            <a:r>
              <a:rPr lang="en-IN" dirty="0">
                <a:hlinkClick r:id="rId4"/>
              </a:rPr>
              <a:t>https://www.mongodb.com/resources/basics/artificial-intelligence/agent-memory</a:t>
            </a:r>
            <a:endParaRPr lang="en-IN" dirty="0"/>
          </a:p>
          <a:p>
            <a:pPr marL="342900" indent="-342900">
              <a:buFont typeface="Arial" panose="020B0604020202020204" pitchFamily="34" charset="0"/>
              <a:buChar char="•"/>
            </a:pPr>
            <a:r>
              <a:rPr lang="en-IN" dirty="0">
                <a:hlinkClick r:id="rId5"/>
              </a:rPr>
              <a:t>https://huggingface.co/blog/agent-glossary</a:t>
            </a:r>
            <a:endParaRPr lang="en-IN" dirty="0"/>
          </a:p>
          <a:p>
            <a:pPr marL="342900" indent="-342900">
              <a:buFont typeface="Arial" panose="020B0604020202020204" pitchFamily="34" charset="0"/>
              <a:buChar char="•"/>
            </a:pPr>
            <a:r>
              <a:rPr lang="en-IN" dirty="0">
                <a:hlinkClick r:id="rId6"/>
              </a:rPr>
              <a:t>https://www.langchain.com/blog/the-anatomy-of-an-agent-harness</a:t>
            </a:r>
            <a:endParaRPr lang="en-IN" dirty="0"/>
          </a:p>
          <a:p>
            <a:pPr marL="342900" indent="-342900">
              <a:buFont typeface="Arial" panose="020B0604020202020204" pitchFamily="34" charset="0"/>
              <a:buChar char="•"/>
            </a:pPr>
            <a:r>
              <a:rPr lang="en-IN" dirty="0">
                <a:hlinkClick r:id="rId7"/>
              </a:rPr>
              <a:t>https://www.langchain.com/blog/choosing-the-right-multi-agent-architecture</a:t>
            </a:r>
            <a:endParaRPr lang="en-IN" dirty="0"/>
          </a:p>
          <a:p>
            <a:pPr marL="285750" indent="-285750">
              <a:buFont typeface="Arial" panose="020B0604020202020204" pitchFamily="34" charset="0"/>
              <a:buChar char="•"/>
            </a:pPr>
            <a:r>
              <a:rPr lang="en-IN" dirty="0"/>
              <a:t>https://rdi.berkeley.edu/agentic-ai/f26</a:t>
            </a:r>
          </a:p>
          <a:p>
            <a:pPr marL="285750" indent="-285750">
              <a:buFont typeface="Arial" panose="020B0604020202020204" pitchFamily="34" charset="0"/>
              <a:buChar char="•"/>
            </a:pPr>
            <a:r>
              <a:rPr lang="en-IN" dirty="0"/>
              <a:t>https://rdi.berkeley.edu/llm-agents/f25</a:t>
            </a:r>
          </a:p>
          <a:p>
            <a:pPr marL="285750" indent="-285750">
              <a:buFont typeface="Arial" panose="020B0604020202020204" pitchFamily="34" charset="0"/>
              <a:buChar char="•"/>
            </a:pPr>
            <a:r>
              <a:rPr lang="en-IN" dirty="0"/>
              <a:t>https://cme295.stanford.edu/</a:t>
            </a:r>
          </a:p>
          <a:p>
            <a:pPr marL="342900" indent="-342900">
              <a:buFont typeface="Arial" panose="020B0604020202020204" pitchFamily="34" charset="0"/>
              <a:buChar char="•"/>
            </a:pPr>
            <a:endParaRPr lang="en-IN" dirty="0"/>
          </a:p>
          <a:p>
            <a:r>
              <a:rPr lang="en-US" dirty="0"/>
              <a:t>Research Papers</a:t>
            </a:r>
          </a:p>
          <a:p>
            <a:pPr marL="342900" lvl="2" indent="-342900" hangingPunct="1">
              <a:buSzPct val="100000"/>
              <a:buFont typeface="Arial" panose="020B0604020202020204" pitchFamily="34" charset="0"/>
              <a:buChar char="•"/>
            </a:pPr>
            <a:r>
              <a:rPr lang="en-IN" dirty="0">
                <a:sym typeface="Arial"/>
              </a:rPr>
              <a:t>Cognitive Architectures for Language Agents</a:t>
            </a:r>
          </a:p>
          <a:p>
            <a:pPr marL="342900" lvl="2" indent="-342900" hangingPunct="1">
              <a:buSzPct val="100000"/>
              <a:buFont typeface="Arial" panose="020B0604020202020204" pitchFamily="34" charset="0"/>
              <a:buChar char="•"/>
            </a:pPr>
            <a:r>
              <a:rPr lang="en-US" dirty="0" err="1">
                <a:sym typeface="Arial"/>
              </a:rPr>
              <a:t>FireAct</a:t>
            </a:r>
            <a:r>
              <a:rPr lang="en-US" dirty="0">
                <a:sym typeface="Arial"/>
              </a:rPr>
              <a:t>: Toward Language Agent Fine-tuning</a:t>
            </a:r>
            <a:endParaRPr lang="en-IN" dirty="0">
              <a:sym typeface="Arial"/>
            </a:endParaRPr>
          </a:p>
          <a:p>
            <a:pPr marL="342900" indent="-342900">
              <a:buFont typeface="Arial" panose="020B0604020202020204" pitchFamily="34" charset="0"/>
              <a:buChar char="•"/>
            </a:pPr>
            <a:r>
              <a:rPr lang="en-US" dirty="0"/>
              <a:t>Meta-Harness: End-to-End Optimization of Model Harnesses</a:t>
            </a:r>
          </a:p>
          <a:p>
            <a:pPr marL="342900" indent="-342900">
              <a:buFont typeface="Arial" panose="020B0604020202020204" pitchFamily="34" charset="0"/>
              <a:buChar char="•"/>
            </a:pPr>
            <a:endParaRPr lang="en-IN" dirty="0"/>
          </a:p>
        </p:txBody>
      </p:sp>
      <p:sp>
        <p:nvSpPr>
          <p:cNvPr id="3" name="Title 2">
            <a:extLst>
              <a:ext uri="{FF2B5EF4-FFF2-40B4-BE49-F238E27FC236}">
                <a16:creationId xmlns:a16="http://schemas.microsoft.com/office/drawing/2014/main" id="{D62F4469-7B93-495E-FCC2-F31EF55D0689}"/>
              </a:ext>
            </a:extLst>
          </p:cNvPr>
          <p:cNvSpPr>
            <a:spLocks noGrp="1"/>
          </p:cNvSpPr>
          <p:nvPr>
            <p:ph type="title"/>
          </p:nvPr>
        </p:nvSpPr>
        <p:spPr/>
        <p:txBody>
          <a:bodyPr/>
          <a:lstStyle/>
          <a:p>
            <a:r>
              <a:rPr lang="en-US" dirty="0"/>
              <a:t>References</a:t>
            </a:r>
            <a:endParaRPr lang="en-IN" dirty="0"/>
          </a:p>
        </p:txBody>
      </p:sp>
    </p:spTree>
    <p:extLst>
      <p:ext uri="{BB962C8B-B14F-4D97-AF65-F5344CB8AC3E}">
        <p14:creationId xmlns:p14="http://schemas.microsoft.com/office/powerpoint/2010/main" val="32131633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3837</Words>
  <Application>Microsoft Office PowerPoint</Application>
  <PresentationFormat>Widescreen</PresentationFormat>
  <Paragraphs>374</Paragraphs>
  <Slides>37</Slides>
  <Notes>15</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37</vt:i4>
      </vt:variant>
    </vt:vector>
  </HeadingPairs>
  <TitlesOfParts>
    <vt:vector size="52" baseType="lpstr">
      <vt:lpstr>Aptos</vt:lpstr>
      <vt:lpstr>Aptos Display</vt:lpstr>
      <vt:lpstr>Arial</vt:lpstr>
      <vt:lpstr>Arial MT</vt:lpstr>
      <vt:lpstr>Calibri</vt:lpstr>
      <vt:lpstr>Cambria</vt:lpstr>
      <vt:lpstr>Courier New</vt:lpstr>
      <vt:lpstr>Montserrat</vt:lpstr>
      <vt:lpstr>Tahoma</vt:lpstr>
      <vt:lpstr>Times New Roman</vt:lpstr>
      <vt:lpstr>Trebuchet MS</vt:lpstr>
      <vt:lpstr>Twklausanne</vt:lpstr>
      <vt:lpstr>Wingdings</vt:lpstr>
      <vt:lpstr>Office Theme</vt:lpstr>
      <vt:lpstr>1_Office Theme</vt:lpstr>
      <vt:lpstr> LLM for Gen AI</vt:lpstr>
      <vt:lpstr>PowerPoint Presentation</vt:lpstr>
      <vt:lpstr>PowerPoint Presentation</vt:lpstr>
      <vt:lpstr>Designing systems around model intelligence </vt:lpstr>
      <vt:lpstr>Agentic AI</vt:lpstr>
      <vt:lpstr>LLM-powered autonomous agent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Agent memory – Short term</vt:lpstr>
      <vt:lpstr>Agent memory – Long Term</vt:lpstr>
      <vt:lpstr>Agent memory – Coordination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Study 1: Customer Operations Assistant</vt:lpstr>
      <vt:lpstr>Case Study 1: Customer Operations Assistant</vt:lpstr>
      <vt:lpstr>Case Study 1: Customer Operations Assistant</vt:lpstr>
      <vt:lpstr> Case study 2: SupportBot</vt:lpstr>
      <vt:lpstr>Case study 2: SupportBot</vt:lpstr>
      <vt:lpstr>Case study 2: SupportBot</vt:lpstr>
      <vt:lpstr>Case study 2: SupportBot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2026-07-30T10:37:07Z</dcterms:created>
  <dcterms:modified xsi:type="dcterms:W3CDTF">2026-07-30T10:37:15Z</dcterms:modified>
</cp:coreProperties>
</file>